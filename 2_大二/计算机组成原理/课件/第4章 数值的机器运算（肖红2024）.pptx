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3"/>
    <p:sldMasterId id="2147483674" r:id="rId4"/>
    <p:sldMasterId id="2147483687" r:id="rId5"/>
    <p:sldMasterId id="2147483700" r:id="rId6"/>
  </p:sldMasterIdLst>
  <p:notesMasterIdLst>
    <p:notesMasterId r:id="rId8"/>
  </p:notesMasterIdLst>
  <p:handoutMasterIdLst>
    <p:handoutMasterId r:id="rId147"/>
  </p:handoutMasterIdLst>
  <p:sldIdLst>
    <p:sldId id="257" r:id="rId7"/>
    <p:sldId id="258" r:id="rId9"/>
    <p:sldId id="417" r:id="rId10"/>
    <p:sldId id="418" r:id="rId11"/>
    <p:sldId id="420" r:id="rId12"/>
    <p:sldId id="421" r:id="rId13"/>
    <p:sldId id="422" r:id="rId14"/>
    <p:sldId id="423" r:id="rId15"/>
    <p:sldId id="424" r:id="rId16"/>
    <p:sldId id="425" r:id="rId17"/>
    <p:sldId id="426" r:id="rId18"/>
    <p:sldId id="427" r:id="rId19"/>
    <p:sldId id="428" r:id="rId20"/>
    <p:sldId id="722" r:id="rId21"/>
    <p:sldId id="430" r:id="rId22"/>
    <p:sldId id="432" r:id="rId23"/>
    <p:sldId id="433" r:id="rId24"/>
    <p:sldId id="434" r:id="rId25"/>
    <p:sldId id="435" r:id="rId26"/>
    <p:sldId id="436" r:id="rId27"/>
    <p:sldId id="437" r:id="rId28"/>
    <p:sldId id="438" r:id="rId29"/>
    <p:sldId id="439" r:id="rId30"/>
    <p:sldId id="440" r:id="rId31"/>
    <p:sldId id="441" r:id="rId32"/>
    <p:sldId id="442" r:id="rId33"/>
    <p:sldId id="443" r:id="rId34"/>
    <p:sldId id="444" r:id="rId35"/>
    <p:sldId id="445" r:id="rId36"/>
    <p:sldId id="446" r:id="rId37"/>
    <p:sldId id="447" r:id="rId38"/>
    <p:sldId id="448" r:id="rId39"/>
    <p:sldId id="470" r:id="rId40"/>
    <p:sldId id="471" r:id="rId41"/>
    <p:sldId id="616" r:id="rId42"/>
    <p:sldId id="615" r:id="rId43"/>
    <p:sldId id="449" r:id="rId44"/>
    <p:sldId id="451" r:id="rId45"/>
    <p:sldId id="452" r:id="rId46"/>
    <p:sldId id="453" r:id="rId47"/>
    <p:sldId id="454" r:id="rId48"/>
    <p:sldId id="456" r:id="rId49"/>
    <p:sldId id="457" r:id="rId50"/>
    <p:sldId id="458" r:id="rId51"/>
    <p:sldId id="459" r:id="rId52"/>
    <p:sldId id="488" r:id="rId53"/>
    <p:sldId id="494" r:id="rId54"/>
    <p:sldId id="495" r:id="rId55"/>
    <p:sldId id="496" r:id="rId56"/>
    <p:sldId id="497" r:id="rId57"/>
    <p:sldId id="498" r:id="rId58"/>
    <p:sldId id="499" r:id="rId59"/>
    <p:sldId id="500" r:id="rId60"/>
    <p:sldId id="501" r:id="rId61"/>
    <p:sldId id="502" r:id="rId62"/>
    <p:sldId id="503" r:id="rId63"/>
    <p:sldId id="504" r:id="rId64"/>
    <p:sldId id="505" r:id="rId65"/>
    <p:sldId id="506" r:id="rId66"/>
    <p:sldId id="507" r:id="rId67"/>
    <p:sldId id="508" r:id="rId68"/>
    <p:sldId id="509" r:id="rId69"/>
    <p:sldId id="530" r:id="rId70"/>
    <p:sldId id="510" r:id="rId71"/>
    <p:sldId id="489" r:id="rId72"/>
    <p:sldId id="490" r:id="rId73"/>
    <p:sldId id="491" r:id="rId74"/>
    <p:sldId id="492" r:id="rId75"/>
    <p:sldId id="493" r:id="rId76"/>
    <p:sldId id="511" r:id="rId77"/>
    <p:sldId id="512" r:id="rId78"/>
    <p:sldId id="513" r:id="rId79"/>
    <p:sldId id="514" r:id="rId80"/>
    <p:sldId id="515" r:id="rId81"/>
    <p:sldId id="516" r:id="rId82"/>
    <p:sldId id="517" r:id="rId83"/>
    <p:sldId id="518" r:id="rId84"/>
    <p:sldId id="553" r:id="rId85"/>
    <p:sldId id="519" r:id="rId86"/>
    <p:sldId id="520" r:id="rId87"/>
    <p:sldId id="521" r:id="rId88"/>
    <p:sldId id="531" r:id="rId89"/>
    <p:sldId id="522" r:id="rId90"/>
    <p:sldId id="523" r:id="rId91"/>
    <p:sldId id="524" r:id="rId92"/>
    <p:sldId id="525" r:id="rId93"/>
    <p:sldId id="526" r:id="rId94"/>
    <p:sldId id="527" r:id="rId95"/>
    <p:sldId id="528" r:id="rId96"/>
    <p:sldId id="529" r:id="rId97"/>
    <p:sldId id="532" r:id="rId98"/>
    <p:sldId id="533" r:id="rId99"/>
    <p:sldId id="534" r:id="rId100"/>
    <p:sldId id="535" r:id="rId101"/>
    <p:sldId id="536" r:id="rId102"/>
    <p:sldId id="537" r:id="rId103"/>
    <p:sldId id="540" r:id="rId104"/>
    <p:sldId id="541" r:id="rId105"/>
    <p:sldId id="542" r:id="rId106"/>
    <p:sldId id="543" r:id="rId107"/>
    <p:sldId id="544" r:id="rId108"/>
    <p:sldId id="545" r:id="rId109"/>
    <p:sldId id="546" r:id="rId110"/>
    <p:sldId id="547" r:id="rId111"/>
    <p:sldId id="548" r:id="rId112"/>
    <p:sldId id="549" r:id="rId113"/>
    <p:sldId id="551" r:id="rId114"/>
    <p:sldId id="552" r:id="rId115"/>
    <p:sldId id="554" r:id="rId116"/>
    <p:sldId id="555" r:id="rId117"/>
    <p:sldId id="556" r:id="rId118"/>
    <p:sldId id="557" r:id="rId119"/>
    <p:sldId id="558" r:id="rId120"/>
    <p:sldId id="559" r:id="rId121"/>
    <p:sldId id="560" r:id="rId122"/>
    <p:sldId id="562" r:id="rId123"/>
    <p:sldId id="564" r:id="rId124"/>
    <p:sldId id="565" r:id="rId125"/>
    <p:sldId id="566" r:id="rId126"/>
    <p:sldId id="567" r:id="rId127"/>
    <p:sldId id="568" r:id="rId128"/>
    <p:sldId id="569" r:id="rId129"/>
    <p:sldId id="570" r:id="rId130"/>
    <p:sldId id="571" r:id="rId131"/>
    <p:sldId id="572" r:id="rId132"/>
    <p:sldId id="573" r:id="rId133"/>
    <p:sldId id="574" r:id="rId134"/>
    <p:sldId id="576" r:id="rId135"/>
    <p:sldId id="577" r:id="rId136"/>
    <p:sldId id="578" r:id="rId137"/>
    <p:sldId id="579" r:id="rId138"/>
    <p:sldId id="580" r:id="rId139"/>
    <p:sldId id="581" r:id="rId140"/>
    <p:sldId id="582" r:id="rId141"/>
    <p:sldId id="583" r:id="rId142"/>
    <p:sldId id="584" r:id="rId143"/>
    <p:sldId id="719" r:id="rId144"/>
    <p:sldId id="721" r:id="rId145"/>
    <p:sldId id="847" r:id="rId146"/>
  </p:sldIdLst>
  <p:sldSz cx="9144000" cy="6858000" type="screen4x3"/>
  <p:notesSz cx="6858000" cy="9144000"/>
  <p:custDataLst>
    <p:tags r:id="rId151"/>
  </p:custDataLst>
  <p:defaultTextStyle>
    <a:defPPr>
      <a:defRPr lang="en-US"/>
    </a:defPPr>
    <a:lvl1pPr marL="0" lvl="0"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9pPr>
  </p:defaultTextStyle>
  <p:extLst>
    <p:ext uri="{EFAFB233-063F-42B5-8137-9DF3F51BA10A}">
      <p15:sldGuideLst xmlns:p15="http://schemas.microsoft.com/office/powerpoint/2012/main">
        <p15:guide id="1" orient="horz" pos="2197"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0000"/>
    <a:srgbClr val="9900FF"/>
    <a:srgbClr val="0000FF"/>
    <a:srgbClr val="000000"/>
    <a:srgbClr val="000066"/>
    <a:srgbClr val="CC3300"/>
    <a:srgbClr val="DDDDDD"/>
    <a:srgbClr val="66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646"/>
    <p:restoredTop sz="94063"/>
  </p:normalViewPr>
  <p:slideViewPr>
    <p:cSldViewPr showGuides="1">
      <p:cViewPr varScale="1">
        <p:scale>
          <a:sx n="64" d="100"/>
          <a:sy n="64" d="100"/>
        </p:scale>
        <p:origin x="1110" y="66"/>
      </p:cViewPr>
      <p:guideLst>
        <p:guide orient="horz" pos="2197"/>
        <p:guide pos="2880"/>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66" d="100"/>
        <a:sy n="66" d="100"/>
      </p:scale>
      <p:origin x="0" y="18518"/>
    </p:cViewPr>
  </p:sorterViewPr>
  <p:gridSpacing cx="72008" cy="72008"/>
</p:viewPr>
</file>

<file path=ppt/_rels/presentation.xml.rels><?xml version="1.0" encoding="UTF-8" standalone="yes"?>
<Relationships xmlns="http://schemas.openxmlformats.org/package/2006/relationships"><Relationship Id="rId99" Type="http://schemas.openxmlformats.org/officeDocument/2006/relationships/slide" Target="slides/slide92.xml"/><Relationship Id="rId98" Type="http://schemas.openxmlformats.org/officeDocument/2006/relationships/slide" Target="slides/slide91.xml"/><Relationship Id="rId97" Type="http://schemas.openxmlformats.org/officeDocument/2006/relationships/slide" Target="slides/slide90.xml"/><Relationship Id="rId96" Type="http://schemas.openxmlformats.org/officeDocument/2006/relationships/slide" Target="slides/slide89.xml"/><Relationship Id="rId95" Type="http://schemas.openxmlformats.org/officeDocument/2006/relationships/slide" Target="slides/slide88.xml"/><Relationship Id="rId94" Type="http://schemas.openxmlformats.org/officeDocument/2006/relationships/slide" Target="slides/slide87.xml"/><Relationship Id="rId93" Type="http://schemas.openxmlformats.org/officeDocument/2006/relationships/slide" Target="slides/slide86.xml"/><Relationship Id="rId92" Type="http://schemas.openxmlformats.org/officeDocument/2006/relationships/slide" Target="slides/slide85.xml"/><Relationship Id="rId91" Type="http://schemas.openxmlformats.org/officeDocument/2006/relationships/slide" Target="slides/slide84.xml"/><Relationship Id="rId90" Type="http://schemas.openxmlformats.org/officeDocument/2006/relationships/slide" Target="slides/slide83.xml"/><Relationship Id="rId9" Type="http://schemas.openxmlformats.org/officeDocument/2006/relationships/slide" Target="slides/slide2.xml"/><Relationship Id="rId89" Type="http://schemas.openxmlformats.org/officeDocument/2006/relationships/slide" Target="slides/slide82.xml"/><Relationship Id="rId88" Type="http://schemas.openxmlformats.org/officeDocument/2006/relationships/slide" Target="slides/slide81.xml"/><Relationship Id="rId87" Type="http://schemas.openxmlformats.org/officeDocument/2006/relationships/slide" Target="slides/slide80.xml"/><Relationship Id="rId86" Type="http://schemas.openxmlformats.org/officeDocument/2006/relationships/slide" Target="slides/slide79.xml"/><Relationship Id="rId85" Type="http://schemas.openxmlformats.org/officeDocument/2006/relationships/slide" Target="slides/slide78.xml"/><Relationship Id="rId84" Type="http://schemas.openxmlformats.org/officeDocument/2006/relationships/slide" Target="slides/slide77.xml"/><Relationship Id="rId83" Type="http://schemas.openxmlformats.org/officeDocument/2006/relationships/slide" Target="slides/slide76.xml"/><Relationship Id="rId82" Type="http://schemas.openxmlformats.org/officeDocument/2006/relationships/slide" Target="slides/slide75.xml"/><Relationship Id="rId81" Type="http://schemas.openxmlformats.org/officeDocument/2006/relationships/slide" Target="slides/slide74.xml"/><Relationship Id="rId80" Type="http://schemas.openxmlformats.org/officeDocument/2006/relationships/slide" Target="slides/slide73.xml"/><Relationship Id="rId8" Type="http://schemas.openxmlformats.org/officeDocument/2006/relationships/notesMaster" Target="notesMasters/notesMaster1.xml"/><Relationship Id="rId79" Type="http://schemas.openxmlformats.org/officeDocument/2006/relationships/slide" Target="slides/slide72.xml"/><Relationship Id="rId78" Type="http://schemas.openxmlformats.org/officeDocument/2006/relationships/slide" Target="slides/slide71.xml"/><Relationship Id="rId77" Type="http://schemas.openxmlformats.org/officeDocument/2006/relationships/slide" Target="slides/slide70.xml"/><Relationship Id="rId76" Type="http://schemas.openxmlformats.org/officeDocument/2006/relationships/slide" Target="slides/slide69.xml"/><Relationship Id="rId75" Type="http://schemas.openxmlformats.org/officeDocument/2006/relationships/slide" Target="slides/slide68.xml"/><Relationship Id="rId74" Type="http://schemas.openxmlformats.org/officeDocument/2006/relationships/slide" Target="slides/slide67.xml"/><Relationship Id="rId73" Type="http://schemas.openxmlformats.org/officeDocument/2006/relationships/slide" Target="slides/slide66.xml"/><Relationship Id="rId72" Type="http://schemas.openxmlformats.org/officeDocument/2006/relationships/slide" Target="slides/slide65.xml"/><Relationship Id="rId71" Type="http://schemas.openxmlformats.org/officeDocument/2006/relationships/slide" Target="slides/slide64.xml"/><Relationship Id="rId70" Type="http://schemas.openxmlformats.org/officeDocument/2006/relationships/slide" Target="slides/slide63.xml"/><Relationship Id="rId7" Type="http://schemas.openxmlformats.org/officeDocument/2006/relationships/slide" Target="slides/slide1.xml"/><Relationship Id="rId69" Type="http://schemas.openxmlformats.org/officeDocument/2006/relationships/slide" Target="slides/slide62.xml"/><Relationship Id="rId68" Type="http://schemas.openxmlformats.org/officeDocument/2006/relationships/slide" Target="slides/slide61.xml"/><Relationship Id="rId67" Type="http://schemas.openxmlformats.org/officeDocument/2006/relationships/slide" Target="slides/slide60.xml"/><Relationship Id="rId66" Type="http://schemas.openxmlformats.org/officeDocument/2006/relationships/slide" Target="slides/slide59.xml"/><Relationship Id="rId65" Type="http://schemas.openxmlformats.org/officeDocument/2006/relationships/slide" Target="slides/slide58.xml"/><Relationship Id="rId64" Type="http://schemas.openxmlformats.org/officeDocument/2006/relationships/slide" Target="slides/slide57.xml"/><Relationship Id="rId63" Type="http://schemas.openxmlformats.org/officeDocument/2006/relationships/slide" Target="slides/slide56.xml"/><Relationship Id="rId62" Type="http://schemas.openxmlformats.org/officeDocument/2006/relationships/slide" Target="slides/slide55.xml"/><Relationship Id="rId61" Type="http://schemas.openxmlformats.org/officeDocument/2006/relationships/slide" Target="slides/slide54.xml"/><Relationship Id="rId60" Type="http://schemas.openxmlformats.org/officeDocument/2006/relationships/slide" Target="slides/slide53.xml"/><Relationship Id="rId6" Type="http://schemas.openxmlformats.org/officeDocument/2006/relationships/slideMaster" Target="slideMasters/slideMaster5.xml"/><Relationship Id="rId59" Type="http://schemas.openxmlformats.org/officeDocument/2006/relationships/slide" Target="slides/slide52.xml"/><Relationship Id="rId58" Type="http://schemas.openxmlformats.org/officeDocument/2006/relationships/slide" Target="slides/slide51.xml"/><Relationship Id="rId57" Type="http://schemas.openxmlformats.org/officeDocument/2006/relationships/slide" Target="slides/slide50.xml"/><Relationship Id="rId56" Type="http://schemas.openxmlformats.org/officeDocument/2006/relationships/slide" Target="slides/slide49.xml"/><Relationship Id="rId55" Type="http://schemas.openxmlformats.org/officeDocument/2006/relationships/slide" Target="slides/slide48.xml"/><Relationship Id="rId54" Type="http://schemas.openxmlformats.org/officeDocument/2006/relationships/slide" Target="slides/slide47.xml"/><Relationship Id="rId53" Type="http://schemas.openxmlformats.org/officeDocument/2006/relationships/slide" Target="slides/slide46.xml"/><Relationship Id="rId52" Type="http://schemas.openxmlformats.org/officeDocument/2006/relationships/slide" Target="slides/slide45.xml"/><Relationship Id="rId51" Type="http://schemas.openxmlformats.org/officeDocument/2006/relationships/slide" Target="slides/slide44.xml"/><Relationship Id="rId50" Type="http://schemas.openxmlformats.org/officeDocument/2006/relationships/slide" Target="slides/slide43.xml"/><Relationship Id="rId5" Type="http://schemas.openxmlformats.org/officeDocument/2006/relationships/slideMaster" Target="slideMasters/slideMaster4.xml"/><Relationship Id="rId49" Type="http://schemas.openxmlformats.org/officeDocument/2006/relationships/slide" Target="slides/slide42.xml"/><Relationship Id="rId48" Type="http://schemas.openxmlformats.org/officeDocument/2006/relationships/slide" Target="slides/slide41.xml"/><Relationship Id="rId47" Type="http://schemas.openxmlformats.org/officeDocument/2006/relationships/slide" Target="slides/slide40.xml"/><Relationship Id="rId46" Type="http://schemas.openxmlformats.org/officeDocument/2006/relationships/slide" Target="slides/slide39.xml"/><Relationship Id="rId45" Type="http://schemas.openxmlformats.org/officeDocument/2006/relationships/slide" Target="slides/slide38.xml"/><Relationship Id="rId44" Type="http://schemas.openxmlformats.org/officeDocument/2006/relationships/slide" Target="slides/slide37.xml"/><Relationship Id="rId43" Type="http://schemas.openxmlformats.org/officeDocument/2006/relationships/slide" Target="slides/slide36.xml"/><Relationship Id="rId42" Type="http://schemas.openxmlformats.org/officeDocument/2006/relationships/slide" Target="slides/slide35.xml"/><Relationship Id="rId41" Type="http://schemas.openxmlformats.org/officeDocument/2006/relationships/slide" Target="slides/slide34.xml"/><Relationship Id="rId40" Type="http://schemas.openxmlformats.org/officeDocument/2006/relationships/slide" Target="slides/slide33.xml"/><Relationship Id="rId4" Type="http://schemas.openxmlformats.org/officeDocument/2006/relationships/slideMaster" Target="slideMasters/slideMaster3.xml"/><Relationship Id="rId39" Type="http://schemas.openxmlformats.org/officeDocument/2006/relationships/slide" Target="slides/slide32.xml"/><Relationship Id="rId38" Type="http://schemas.openxmlformats.org/officeDocument/2006/relationships/slide" Target="slides/slide31.xml"/><Relationship Id="rId37" Type="http://schemas.openxmlformats.org/officeDocument/2006/relationships/slide" Target="slides/slide30.xml"/><Relationship Id="rId36" Type="http://schemas.openxmlformats.org/officeDocument/2006/relationships/slide" Target="slides/slide29.xml"/><Relationship Id="rId35" Type="http://schemas.openxmlformats.org/officeDocument/2006/relationships/slide" Target="slides/slide28.xml"/><Relationship Id="rId34" Type="http://schemas.openxmlformats.org/officeDocument/2006/relationships/slide" Target="slides/slide27.xml"/><Relationship Id="rId33" Type="http://schemas.openxmlformats.org/officeDocument/2006/relationships/slide" Target="slides/slide26.xml"/><Relationship Id="rId32" Type="http://schemas.openxmlformats.org/officeDocument/2006/relationships/slide" Target="slides/slide25.xml"/><Relationship Id="rId31" Type="http://schemas.openxmlformats.org/officeDocument/2006/relationships/slide" Target="slides/slide24.xml"/><Relationship Id="rId30" Type="http://schemas.openxmlformats.org/officeDocument/2006/relationships/slide" Target="slides/slide23.xml"/><Relationship Id="rId3" Type="http://schemas.openxmlformats.org/officeDocument/2006/relationships/slideMaster" Target="slideMasters/slideMaster2.xml"/><Relationship Id="rId29" Type="http://schemas.openxmlformats.org/officeDocument/2006/relationships/slide" Target="slides/slide22.xml"/><Relationship Id="rId28" Type="http://schemas.openxmlformats.org/officeDocument/2006/relationships/slide" Target="slides/slide21.xml"/><Relationship Id="rId27" Type="http://schemas.openxmlformats.org/officeDocument/2006/relationships/slide" Target="slides/slide20.xml"/><Relationship Id="rId26" Type="http://schemas.openxmlformats.org/officeDocument/2006/relationships/slide" Target="slides/slide19.xml"/><Relationship Id="rId25" Type="http://schemas.openxmlformats.org/officeDocument/2006/relationships/slide" Target="slides/slide18.xml"/><Relationship Id="rId24" Type="http://schemas.openxmlformats.org/officeDocument/2006/relationships/slide" Target="slides/slide17.xml"/><Relationship Id="rId23" Type="http://schemas.openxmlformats.org/officeDocument/2006/relationships/slide" Target="slides/slide16.xml"/><Relationship Id="rId22" Type="http://schemas.openxmlformats.org/officeDocument/2006/relationships/slide" Target="slides/slide15.xml"/><Relationship Id="rId21" Type="http://schemas.openxmlformats.org/officeDocument/2006/relationships/slide" Target="slides/slide14.xml"/><Relationship Id="rId20" Type="http://schemas.openxmlformats.org/officeDocument/2006/relationships/slide" Target="slides/slide13.xml"/><Relationship Id="rId2" Type="http://schemas.openxmlformats.org/officeDocument/2006/relationships/theme" Target="theme/theme1.xml"/><Relationship Id="rId19" Type="http://schemas.openxmlformats.org/officeDocument/2006/relationships/slide" Target="slides/slide12.xml"/><Relationship Id="rId18" Type="http://schemas.openxmlformats.org/officeDocument/2006/relationships/slide" Target="slides/slide11.xml"/><Relationship Id="rId17" Type="http://schemas.openxmlformats.org/officeDocument/2006/relationships/slide" Target="slides/slide10.xml"/><Relationship Id="rId16" Type="http://schemas.openxmlformats.org/officeDocument/2006/relationships/slide" Target="slides/slide9.xml"/><Relationship Id="rId151" Type="http://schemas.openxmlformats.org/officeDocument/2006/relationships/tags" Target="tags/tag15.xml"/><Relationship Id="rId150" Type="http://schemas.openxmlformats.org/officeDocument/2006/relationships/tableStyles" Target="tableStyles.xml"/><Relationship Id="rId15" Type="http://schemas.openxmlformats.org/officeDocument/2006/relationships/slide" Target="slides/slide8.xml"/><Relationship Id="rId149" Type="http://schemas.openxmlformats.org/officeDocument/2006/relationships/viewProps" Target="viewProps.xml"/><Relationship Id="rId148" Type="http://schemas.openxmlformats.org/officeDocument/2006/relationships/presProps" Target="presProps.xml"/><Relationship Id="rId147" Type="http://schemas.openxmlformats.org/officeDocument/2006/relationships/handoutMaster" Target="handoutMasters/handoutMaster1.xml"/><Relationship Id="rId146" Type="http://schemas.openxmlformats.org/officeDocument/2006/relationships/slide" Target="slides/slide139.xml"/><Relationship Id="rId145" Type="http://schemas.openxmlformats.org/officeDocument/2006/relationships/slide" Target="slides/slide138.xml"/><Relationship Id="rId144" Type="http://schemas.openxmlformats.org/officeDocument/2006/relationships/slide" Target="slides/slide137.xml"/><Relationship Id="rId143" Type="http://schemas.openxmlformats.org/officeDocument/2006/relationships/slide" Target="slides/slide136.xml"/><Relationship Id="rId142" Type="http://schemas.openxmlformats.org/officeDocument/2006/relationships/slide" Target="slides/slide135.xml"/><Relationship Id="rId141" Type="http://schemas.openxmlformats.org/officeDocument/2006/relationships/slide" Target="slides/slide134.xml"/><Relationship Id="rId140" Type="http://schemas.openxmlformats.org/officeDocument/2006/relationships/slide" Target="slides/slide133.xml"/><Relationship Id="rId14" Type="http://schemas.openxmlformats.org/officeDocument/2006/relationships/slide" Target="slides/slide7.xml"/><Relationship Id="rId139" Type="http://schemas.openxmlformats.org/officeDocument/2006/relationships/slide" Target="slides/slide132.xml"/><Relationship Id="rId138" Type="http://schemas.openxmlformats.org/officeDocument/2006/relationships/slide" Target="slides/slide131.xml"/><Relationship Id="rId137" Type="http://schemas.openxmlformats.org/officeDocument/2006/relationships/slide" Target="slides/slide130.xml"/><Relationship Id="rId136" Type="http://schemas.openxmlformats.org/officeDocument/2006/relationships/slide" Target="slides/slide129.xml"/><Relationship Id="rId135" Type="http://schemas.openxmlformats.org/officeDocument/2006/relationships/slide" Target="slides/slide128.xml"/><Relationship Id="rId134" Type="http://schemas.openxmlformats.org/officeDocument/2006/relationships/slide" Target="slides/slide127.xml"/><Relationship Id="rId133" Type="http://schemas.openxmlformats.org/officeDocument/2006/relationships/slide" Target="slides/slide126.xml"/><Relationship Id="rId132" Type="http://schemas.openxmlformats.org/officeDocument/2006/relationships/slide" Target="slides/slide125.xml"/><Relationship Id="rId131" Type="http://schemas.openxmlformats.org/officeDocument/2006/relationships/slide" Target="slides/slide124.xml"/><Relationship Id="rId130" Type="http://schemas.openxmlformats.org/officeDocument/2006/relationships/slide" Target="slides/slide123.xml"/><Relationship Id="rId13" Type="http://schemas.openxmlformats.org/officeDocument/2006/relationships/slide" Target="slides/slide6.xml"/><Relationship Id="rId129" Type="http://schemas.openxmlformats.org/officeDocument/2006/relationships/slide" Target="slides/slide122.xml"/><Relationship Id="rId128" Type="http://schemas.openxmlformats.org/officeDocument/2006/relationships/slide" Target="slides/slide121.xml"/><Relationship Id="rId127" Type="http://schemas.openxmlformats.org/officeDocument/2006/relationships/slide" Target="slides/slide120.xml"/><Relationship Id="rId126" Type="http://schemas.openxmlformats.org/officeDocument/2006/relationships/slide" Target="slides/slide119.xml"/><Relationship Id="rId125" Type="http://schemas.openxmlformats.org/officeDocument/2006/relationships/slide" Target="slides/slide118.xml"/><Relationship Id="rId124" Type="http://schemas.openxmlformats.org/officeDocument/2006/relationships/slide" Target="slides/slide117.xml"/><Relationship Id="rId123" Type="http://schemas.openxmlformats.org/officeDocument/2006/relationships/slide" Target="slides/slide116.xml"/><Relationship Id="rId122" Type="http://schemas.openxmlformats.org/officeDocument/2006/relationships/slide" Target="slides/slide115.xml"/><Relationship Id="rId121" Type="http://schemas.openxmlformats.org/officeDocument/2006/relationships/slide" Target="slides/slide114.xml"/><Relationship Id="rId120" Type="http://schemas.openxmlformats.org/officeDocument/2006/relationships/slide" Target="slides/slide113.xml"/><Relationship Id="rId12" Type="http://schemas.openxmlformats.org/officeDocument/2006/relationships/slide" Target="slides/slide5.xml"/><Relationship Id="rId119" Type="http://schemas.openxmlformats.org/officeDocument/2006/relationships/slide" Target="slides/slide112.xml"/><Relationship Id="rId118" Type="http://schemas.openxmlformats.org/officeDocument/2006/relationships/slide" Target="slides/slide111.xml"/><Relationship Id="rId117" Type="http://schemas.openxmlformats.org/officeDocument/2006/relationships/slide" Target="slides/slide110.xml"/><Relationship Id="rId116" Type="http://schemas.openxmlformats.org/officeDocument/2006/relationships/slide" Target="slides/slide109.xml"/><Relationship Id="rId115" Type="http://schemas.openxmlformats.org/officeDocument/2006/relationships/slide" Target="slides/slide108.xml"/><Relationship Id="rId114" Type="http://schemas.openxmlformats.org/officeDocument/2006/relationships/slide" Target="slides/slide107.xml"/><Relationship Id="rId113" Type="http://schemas.openxmlformats.org/officeDocument/2006/relationships/slide" Target="slides/slide106.xml"/><Relationship Id="rId112" Type="http://schemas.openxmlformats.org/officeDocument/2006/relationships/slide" Target="slides/slide105.xml"/><Relationship Id="rId111" Type="http://schemas.openxmlformats.org/officeDocument/2006/relationships/slide" Target="slides/slide104.xml"/><Relationship Id="rId110" Type="http://schemas.openxmlformats.org/officeDocument/2006/relationships/slide" Target="slides/slide103.xml"/><Relationship Id="rId11" Type="http://schemas.openxmlformats.org/officeDocument/2006/relationships/slide" Target="slides/slide4.xml"/><Relationship Id="rId109" Type="http://schemas.openxmlformats.org/officeDocument/2006/relationships/slide" Target="slides/slide102.xml"/><Relationship Id="rId108" Type="http://schemas.openxmlformats.org/officeDocument/2006/relationships/slide" Target="slides/slide101.xml"/><Relationship Id="rId107" Type="http://schemas.openxmlformats.org/officeDocument/2006/relationships/slide" Target="slides/slide100.xml"/><Relationship Id="rId106" Type="http://schemas.openxmlformats.org/officeDocument/2006/relationships/slide" Target="slides/slide99.xml"/><Relationship Id="rId105" Type="http://schemas.openxmlformats.org/officeDocument/2006/relationships/slide" Target="slides/slide98.xml"/><Relationship Id="rId104" Type="http://schemas.openxmlformats.org/officeDocument/2006/relationships/slide" Target="slides/slide97.xml"/><Relationship Id="rId103" Type="http://schemas.openxmlformats.org/officeDocument/2006/relationships/slide" Target="slides/slide96.xml"/><Relationship Id="rId102" Type="http://schemas.openxmlformats.org/officeDocument/2006/relationships/slide" Target="slides/slide95.xml"/><Relationship Id="rId101" Type="http://schemas.openxmlformats.org/officeDocument/2006/relationships/slide" Target="slides/slide94.xml"/><Relationship Id="rId100" Type="http://schemas.openxmlformats.org/officeDocument/2006/relationships/slide" Target="slides/slide93.xml"/><Relationship Id="rId10" Type="http://schemas.openxmlformats.org/officeDocument/2006/relationships/slide" Target="slides/slide3.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image" Target="../media/image20.png"/></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23.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24.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26.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2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30.wmf"/><Relationship Id="rId2" Type="http://schemas.openxmlformats.org/officeDocument/2006/relationships/image" Target="../media/image29.wmf"/><Relationship Id="rId1" Type="http://schemas.openxmlformats.org/officeDocument/2006/relationships/image" Target="../media/image28.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30.wmf"/><Relationship Id="rId1" Type="http://schemas.openxmlformats.org/officeDocument/2006/relationships/image" Target="../media/image29.w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33.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32.wmf"/><Relationship Id="rId1" Type="http://schemas.openxmlformats.org/officeDocument/2006/relationships/image" Target="../media/image34.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35.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32.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39.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40.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41.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42.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43.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44.w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46.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854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7"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8"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8549"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DC25071E-51F5-422F-8E87-D5B02406D556}"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6626"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27"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2292" name="Rectangle 4"/>
          <p:cNvSpPr>
            <a:spLocks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26629"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单击此处编辑母版文本样式</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第二级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第三级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第四级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t>第五级</a:t>
            </a:r>
            <a:endPar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0"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l"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6631"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eaLnBrk="1" hangingPunct="1">
              <a:defRPr kumimoji="1" sz="1200">
                <a:solidFill>
                  <a:schemeClr val="tx1"/>
                </a:solidFill>
                <a:latin typeface="Times New Roman" panose="02020603050405020304" pitchFamily="18" charset="0"/>
                <a:ea typeface="宋体" panose="02010600030101010101" pitchFamily="2" charset="-122"/>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29C28F7E-B274-48B1-8CF8-0E627C4188CF}" type="slidenum">
              <a:rPr kumimoji="1" lang="zh-CN" altLang="en-US"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rPr>
            </a:fld>
            <a:endParaRPr kumimoji="1" lang="en-US" altLang="zh-CN" sz="12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5.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6.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7.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8.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9.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1.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
        <p:nvSpPr>
          <p:cNvPr id="14338" name="Rectangle 2"/>
          <p:cNvSpPr>
            <a:spLocks noTextEdit="1"/>
          </p:cNvSpPr>
          <p:nvPr>
            <p:ph type="sldImg"/>
          </p:nvPr>
        </p:nvSpPr>
        <p:spPr>
          <a:solidFill>
            <a:srgbClr val="FFFFFF"/>
          </a:solidFill>
        </p:spPr>
      </p:sp>
      <p:sp>
        <p:nvSpPr>
          <p:cNvPr id="14339" name="Rectangle 3"/>
          <p:cNvSpPr/>
          <p:nvPr>
            <p:ph type="body"/>
          </p:nvPr>
        </p:nvSpPr>
        <p:spPr>
          <a:solidFill>
            <a:srgbClr val="FFFFFF"/>
          </a:solidFill>
          <a:ln>
            <a:solidFill>
              <a:srgbClr val="000000"/>
            </a:solidFill>
            <a:miter/>
          </a:ln>
        </p:spPr>
        <p:txBody>
          <a:bodyPr wrap="square" lIns="91440" tIns="45720" rIns="91440" bIns="45720" anchor="t" anchorCtr="0"/>
          <a:p>
            <a:pPr lvl="0" eaLnBrk="1" hangingPunct="1"/>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支持哪些功能的算数逻辑运算？数据表示的方法：原码、补码？串行还是</a:t>
            </a:r>
            <a:r>
              <a:rPr lang="zh-CN" altLang="en-US"/>
              <a:t>并行？</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一位全加器：三个输入和两个</a:t>
            </a:r>
            <a:r>
              <a:rPr lang="zh-CN" altLang="en-US"/>
              <a:t>输出</a:t>
            </a:r>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变补：连符号位一起取反</a:t>
            </a:r>
            <a:r>
              <a:rPr lang="en-US" altLang="zh-CN"/>
              <a:t>+1</a:t>
            </a:r>
            <a:endParaRPr lang="en-US" alt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7" name="幻灯片图像占位符 1"/>
          <p:cNvSpPr>
            <a:spLocks noGrp="1" noRot="1" noChangeAspect="1" noTextEdit="1"/>
          </p:cNvSpPr>
          <p:nvPr>
            <p:ph type="sldImg"/>
          </p:nvPr>
        </p:nvSpPr>
        <p:spPr/>
      </p:sp>
      <p:sp>
        <p:nvSpPr>
          <p:cNvPr id="39938" name="备注占位符 2"/>
          <p:cNvSpPr>
            <a:spLocks noGrp="1"/>
          </p:cNvSpPr>
          <p:nvPr>
            <p:ph type="body"/>
          </p:nvPr>
        </p:nvSpPr>
        <p:spPr/>
        <p:txBody>
          <a:bodyPr wrap="square" lIns="91440" tIns="45720" rIns="91440" bIns="45720" anchor="t" anchorCtr="0"/>
          <a:p>
            <a:pPr lvl="0"/>
            <a:r>
              <a:rPr lang="zh-CN" altLang="en-US" dirty="0"/>
              <a:t>补码加法运算的方法：符号位参与运算；</a:t>
            </a:r>
            <a:endParaRPr lang="zh-CN" altLang="en-US" dirty="0"/>
          </a:p>
        </p:txBody>
      </p:sp>
      <p:sp>
        <p:nvSpPr>
          <p:cNvPr id="3993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5" name="幻灯片图像占位符 1"/>
          <p:cNvSpPr>
            <a:spLocks noGrp="1" noRot="1" noChangeAspect="1" noTextEdit="1"/>
          </p:cNvSpPr>
          <p:nvPr>
            <p:ph type="sldImg"/>
          </p:nvPr>
        </p:nvSpPr>
        <p:spPr/>
      </p:sp>
      <p:sp>
        <p:nvSpPr>
          <p:cNvPr id="41986" name="备注占位符 2"/>
          <p:cNvSpPr>
            <a:spLocks noGrp="1"/>
          </p:cNvSpPr>
          <p:nvPr>
            <p:ph type="body"/>
          </p:nvPr>
        </p:nvSpPr>
        <p:spPr/>
        <p:txBody>
          <a:bodyPr wrap="square" lIns="91440" tIns="45720" rIns="91440" bIns="45720" anchor="t" anchorCtr="0"/>
          <a:p>
            <a:pPr marL="228600" lvl="0" indent="-228600">
              <a:buFontTx/>
              <a:buAutoNum type="arabicPeriod"/>
            </a:pPr>
            <a:r>
              <a:rPr lang="zh-CN" altLang="en-US" dirty="0"/>
              <a:t>减法换成加法做；</a:t>
            </a:r>
            <a:endParaRPr lang="en-US" altLang="zh-CN" dirty="0"/>
          </a:p>
          <a:p>
            <a:pPr marL="228600" lvl="0" indent="-228600">
              <a:buFontTx/>
              <a:buAutoNum type="arabicPeriod"/>
            </a:pPr>
            <a:r>
              <a:rPr lang="en-US" altLang="zh-CN" dirty="0"/>
              <a:t>-Y</a:t>
            </a:r>
            <a:r>
              <a:rPr lang="zh-CN" altLang="en-US" dirty="0"/>
              <a:t>的补码，</a:t>
            </a:r>
            <a:r>
              <a:rPr lang="en-US" altLang="zh-CN" dirty="0"/>
              <a:t>Y</a:t>
            </a:r>
            <a:r>
              <a:rPr lang="zh-CN" altLang="en-US" dirty="0"/>
              <a:t>可能为正也可能为负，采用同一种方法求补；</a:t>
            </a:r>
            <a:endParaRPr lang="en-US" altLang="zh-CN" dirty="0"/>
          </a:p>
          <a:p>
            <a:pPr marL="228600" lvl="0" indent="-228600">
              <a:buFontTx/>
              <a:buAutoNum type="arabicPeriod"/>
            </a:pPr>
            <a:r>
              <a:rPr lang="zh-CN" altLang="en-US" dirty="0"/>
              <a:t>变补时符号位也参与运算；</a:t>
            </a:r>
            <a:endParaRPr lang="zh-CN" altLang="en-US" dirty="0"/>
          </a:p>
        </p:txBody>
      </p:sp>
      <p:sp>
        <p:nvSpPr>
          <p:cNvPr id="4198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3" name="幻灯片图像占位符 1"/>
          <p:cNvSpPr>
            <a:spLocks noGrp="1" noRot="1" noChangeAspect="1" noTextEdit="1"/>
          </p:cNvSpPr>
          <p:nvPr>
            <p:ph type="sldImg"/>
          </p:nvPr>
        </p:nvSpPr>
        <p:spPr/>
      </p:sp>
      <p:sp>
        <p:nvSpPr>
          <p:cNvPr id="44034" name="备注占位符 2"/>
          <p:cNvSpPr>
            <a:spLocks noGrp="1"/>
          </p:cNvSpPr>
          <p:nvPr>
            <p:ph type="body"/>
          </p:nvPr>
        </p:nvSpPr>
        <p:spPr/>
        <p:txBody>
          <a:bodyPr wrap="square" lIns="91440" tIns="45720" rIns="91440" bIns="45720" anchor="t" anchorCtr="0"/>
          <a:p>
            <a:pPr lvl="0"/>
            <a:r>
              <a:rPr lang="zh-CN" altLang="en-US" dirty="0"/>
              <a:t>从例子可以看出，当</a:t>
            </a:r>
            <a:r>
              <a:rPr lang="en-US" altLang="zh-CN" dirty="0"/>
              <a:t>Y</a:t>
            </a:r>
            <a:r>
              <a:rPr lang="zh-CN" altLang="en-US" dirty="0"/>
              <a:t>是负数时，</a:t>
            </a:r>
            <a:r>
              <a:rPr lang="en-US" altLang="zh-CN" dirty="0"/>
              <a:t>-Y</a:t>
            </a:r>
            <a:r>
              <a:rPr lang="zh-CN" altLang="en-US" dirty="0"/>
              <a:t>变补的结果相当于</a:t>
            </a:r>
            <a:r>
              <a:rPr lang="en-US" altLang="zh-CN" dirty="0"/>
              <a:t>Y</a:t>
            </a:r>
            <a:r>
              <a:rPr lang="zh-CN" altLang="en-US" dirty="0"/>
              <a:t>本身。</a:t>
            </a:r>
            <a:endParaRPr lang="zh-CN" altLang="en-US" dirty="0"/>
          </a:p>
        </p:txBody>
      </p:sp>
      <p:sp>
        <p:nvSpPr>
          <p:cNvPr id="4403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5" name="幻灯片图像占位符 1"/>
          <p:cNvSpPr>
            <a:spLocks noGrp="1" noRot="1" noChangeAspect="1" noTextEdit="1"/>
          </p:cNvSpPr>
          <p:nvPr>
            <p:ph type="sldImg"/>
          </p:nvPr>
        </p:nvSpPr>
        <p:spPr/>
      </p:sp>
      <p:sp>
        <p:nvSpPr>
          <p:cNvPr id="47106" name="备注占位符 2"/>
          <p:cNvSpPr>
            <a:spLocks noGrp="1"/>
          </p:cNvSpPr>
          <p:nvPr>
            <p:ph type="body"/>
          </p:nvPr>
        </p:nvSpPr>
        <p:spPr/>
        <p:txBody>
          <a:bodyPr wrap="square" lIns="91440" tIns="45720" rIns="91440" bIns="45720" anchor="t" anchorCtr="0"/>
          <a:p>
            <a:pPr marL="228600" lvl="0" indent="-228600">
              <a:buFontTx/>
              <a:buAutoNum type="arabicPeriod"/>
            </a:pPr>
            <a:r>
              <a:rPr lang="zh-CN" altLang="en-US" dirty="0"/>
              <a:t>符号位参与运算；</a:t>
            </a:r>
            <a:endParaRPr lang="en-US" altLang="zh-CN" dirty="0"/>
          </a:p>
          <a:p>
            <a:pPr marL="228600" lvl="0" indent="-228600">
              <a:buFontTx/>
              <a:buAutoNum type="arabicPeriod"/>
            </a:pPr>
            <a:r>
              <a:rPr lang="zh-CN" altLang="en-US" dirty="0"/>
              <a:t>如果没有意外情况（溢出），结果的符号位仍然表示正确的符号；</a:t>
            </a:r>
            <a:endParaRPr lang="zh-CN" altLang="en-US" dirty="0"/>
          </a:p>
        </p:txBody>
      </p:sp>
      <p:sp>
        <p:nvSpPr>
          <p:cNvPr id="4710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3" name="幻灯片图像占位符 1"/>
          <p:cNvSpPr>
            <a:spLocks noGrp="1" noRot="1" noChangeAspect="1" noTextEdit="1"/>
          </p:cNvSpPr>
          <p:nvPr>
            <p:ph type="sldImg"/>
          </p:nvPr>
        </p:nvSpPr>
        <p:spPr/>
      </p:sp>
      <p:sp>
        <p:nvSpPr>
          <p:cNvPr id="49154" name="备注占位符 2"/>
          <p:cNvSpPr>
            <a:spLocks noGrp="1"/>
          </p:cNvSpPr>
          <p:nvPr>
            <p:ph type="body"/>
          </p:nvPr>
        </p:nvSpPr>
        <p:spPr/>
        <p:txBody>
          <a:bodyPr wrap="square" lIns="91440" tIns="45720" rIns="91440" bIns="45720" anchor="t" anchorCtr="0"/>
          <a:p>
            <a:pPr lvl="0"/>
            <a:r>
              <a:rPr lang="zh-CN" altLang="en-US" dirty="0"/>
              <a:t>减法变成加法做</a:t>
            </a:r>
            <a:endParaRPr lang="zh-CN" altLang="en-US" dirty="0"/>
          </a:p>
        </p:txBody>
      </p:sp>
      <p:sp>
        <p:nvSpPr>
          <p:cNvPr id="4915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1" name="幻灯片图像占位符 1"/>
          <p:cNvSpPr>
            <a:spLocks noGrp="1" noRot="1" noChangeAspect="1" noTextEdit="1"/>
          </p:cNvSpPr>
          <p:nvPr>
            <p:ph type="sldImg"/>
          </p:nvPr>
        </p:nvSpPr>
        <p:spPr/>
      </p:sp>
      <p:sp>
        <p:nvSpPr>
          <p:cNvPr id="51202" name="备注占位符 2"/>
          <p:cNvSpPr>
            <a:spLocks noGrp="1"/>
          </p:cNvSpPr>
          <p:nvPr>
            <p:ph type="body"/>
          </p:nvPr>
        </p:nvSpPr>
        <p:spPr/>
        <p:txBody>
          <a:bodyPr wrap="square" lIns="91440" tIns="45720" rIns="91440" bIns="45720" anchor="t" anchorCtr="0"/>
          <a:p>
            <a:pPr marL="228600" lvl="0" indent="-228600">
              <a:buFontTx/>
              <a:buAutoNum type="arabicPeriod"/>
            </a:pPr>
            <a:r>
              <a:rPr lang="zh-CN" altLang="en-US" dirty="0"/>
              <a:t>一位符号表示正负；</a:t>
            </a:r>
            <a:endParaRPr lang="en-US" altLang="zh-CN" dirty="0"/>
          </a:p>
          <a:p>
            <a:pPr marL="228600" lvl="0" indent="-228600">
              <a:buFontTx/>
              <a:buAutoNum type="arabicPeriod"/>
            </a:pPr>
            <a:r>
              <a:rPr lang="zh-CN" altLang="en-US" dirty="0"/>
              <a:t>多位符号可以表示更多的信息；</a:t>
            </a:r>
            <a:endParaRPr lang="zh-CN" altLang="en-US" dirty="0"/>
          </a:p>
        </p:txBody>
      </p:sp>
      <p:sp>
        <p:nvSpPr>
          <p:cNvPr id="51203"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3249" name="幻灯片图像占位符 1"/>
          <p:cNvSpPr>
            <a:spLocks noGrp="1" noRot="1" noChangeAspect="1" noTextEdit="1"/>
          </p:cNvSpPr>
          <p:nvPr>
            <p:ph type="sldImg"/>
          </p:nvPr>
        </p:nvSpPr>
        <p:spPr/>
      </p:sp>
      <p:sp>
        <p:nvSpPr>
          <p:cNvPr id="53250" name="备注占位符 2"/>
          <p:cNvSpPr>
            <a:spLocks noGrp="1"/>
          </p:cNvSpPr>
          <p:nvPr>
            <p:ph type="body"/>
          </p:nvPr>
        </p:nvSpPr>
        <p:spPr/>
        <p:txBody>
          <a:bodyPr wrap="square" lIns="91440" tIns="45720" rIns="91440" bIns="45720" anchor="t" anchorCtr="0"/>
          <a:p>
            <a:pPr marL="228600" lvl="0" indent="-228600">
              <a:buFontTx/>
              <a:buAutoNum type="arabicPeriod"/>
            </a:pPr>
            <a:r>
              <a:rPr lang="en-US" altLang="zh-CN" dirty="0"/>
              <a:t>11+7=18</a:t>
            </a:r>
            <a:r>
              <a:rPr lang="zh-CN" altLang="en-US" dirty="0"/>
              <a:t>，溢出；</a:t>
            </a:r>
            <a:endParaRPr lang="en-US" altLang="zh-CN" dirty="0"/>
          </a:p>
          <a:p>
            <a:pPr marL="228600" lvl="0" indent="-228600">
              <a:buFontTx/>
              <a:buAutoNum type="arabicPeriod"/>
            </a:pPr>
            <a:r>
              <a:rPr lang="zh-CN" altLang="en-US" dirty="0"/>
              <a:t>表现在计算结果上：两个正数相加，结果的符号为</a:t>
            </a:r>
            <a:r>
              <a:rPr lang="en-US" altLang="zh-CN" dirty="0"/>
              <a:t>1</a:t>
            </a:r>
            <a:endParaRPr lang="zh-CN" altLang="en-US" dirty="0"/>
          </a:p>
        </p:txBody>
      </p:sp>
      <p:sp>
        <p:nvSpPr>
          <p:cNvPr id="5325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5297" name="幻灯片图像占位符 1"/>
          <p:cNvSpPr>
            <a:spLocks noGrp="1" noRot="1" noChangeAspect="1" noTextEdit="1"/>
          </p:cNvSpPr>
          <p:nvPr>
            <p:ph type="sldImg"/>
          </p:nvPr>
        </p:nvSpPr>
        <p:spPr/>
      </p:sp>
      <p:sp>
        <p:nvSpPr>
          <p:cNvPr id="55298" name="备注占位符 2"/>
          <p:cNvSpPr>
            <a:spLocks noGrp="1"/>
          </p:cNvSpPr>
          <p:nvPr>
            <p:ph type="body"/>
          </p:nvPr>
        </p:nvSpPr>
        <p:spPr/>
        <p:txBody>
          <a:bodyPr wrap="square" lIns="91440" tIns="45720" rIns="91440" bIns="45720" anchor="t" anchorCtr="0"/>
          <a:p>
            <a:pPr lvl="0"/>
            <a:r>
              <a:rPr lang="zh-CN" altLang="en-US" dirty="0"/>
              <a:t>什么情况下产生溢出？溢出时运算结果如何？</a:t>
            </a:r>
            <a:endParaRPr lang="zh-CN" altLang="en-US" dirty="0"/>
          </a:p>
        </p:txBody>
      </p:sp>
      <p:sp>
        <p:nvSpPr>
          <p:cNvPr id="5529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734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57346" name="Rectangle 2"/>
          <p:cNvSpPr>
            <a:spLocks noRot="1" noTextEdit="1"/>
          </p:cNvSpPr>
          <p:nvPr>
            <p:ph type="sldImg"/>
          </p:nvPr>
        </p:nvSpPr>
        <p:spPr/>
      </p:sp>
      <p:sp>
        <p:nvSpPr>
          <p:cNvPr id="5734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939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59394" name="Rectangle 2"/>
          <p:cNvSpPr>
            <a:spLocks noRot="1" noTextEdit="1"/>
          </p:cNvSpPr>
          <p:nvPr>
            <p:ph type="sldImg"/>
          </p:nvPr>
        </p:nvSpPr>
        <p:spPr/>
      </p:sp>
      <p:sp>
        <p:nvSpPr>
          <p:cNvPr id="59395" name="Rectangle 3"/>
          <p:cNvSpPr>
            <a:spLocks noGrp="1"/>
          </p:cNvSpPr>
          <p:nvPr>
            <p:ph type="body"/>
          </p:nvPr>
        </p:nvSpPr>
        <p:spPr/>
        <p:txBody>
          <a:bodyPr wrap="square" lIns="91440" tIns="45720" rIns="91440" bIns="45720" anchor="t" anchorCtr="0"/>
          <a:p>
            <a:pPr marL="228600" lvl="0" indent="-228600" eaLnBrk="1" hangingPunct="1">
              <a:buFontTx/>
              <a:buAutoNum type="arabicPeriod"/>
            </a:pPr>
            <a:r>
              <a:rPr lang="zh-CN" altLang="en-US" dirty="0"/>
              <a:t>符号位扩充为</a:t>
            </a:r>
            <a:r>
              <a:rPr lang="en-US" altLang="zh-CN" dirty="0"/>
              <a:t>2</a:t>
            </a:r>
            <a:r>
              <a:rPr lang="zh-CN" altLang="en-US" dirty="0"/>
              <a:t>位，可以有四种不同的编码，表示</a:t>
            </a:r>
            <a:r>
              <a:rPr lang="en-US" altLang="zh-CN" dirty="0"/>
              <a:t>4</a:t>
            </a:r>
            <a:r>
              <a:rPr lang="zh-CN" altLang="en-US" dirty="0"/>
              <a:t>种不同的情况：是否溢出？结果符号？</a:t>
            </a:r>
            <a:endParaRPr lang="en-US" altLang="zh-CN" dirty="0"/>
          </a:p>
          <a:p>
            <a:pPr marL="228600" lvl="0" indent="-228600" eaLnBrk="1" hangingPunct="1">
              <a:buFontTx/>
              <a:buAutoNum type="arabicPeriod"/>
            </a:pPr>
            <a:r>
              <a:rPr lang="zh-CN" altLang="en-US" dirty="0"/>
              <a:t>定义与补码的定义一样，模为</a:t>
            </a:r>
            <a:r>
              <a:rPr lang="en-US" altLang="zh-CN" dirty="0"/>
              <a:t>4</a:t>
            </a:r>
            <a:endParaRPr lang="zh-CN" altLang="zh-CN"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3489" name="幻灯片图像占位符 1"/>
          <p:cNvSpPr>
            <a:spLocks noGrp="1" noRot="1" noChangeAspect="1" noTextEdit="1"/>
          </p:cNvSpPr>
          <p:nvPr>
            <p:ph type="sldImg"/>
          </p:nvPr>
        </p:nvSpPr>
        <p:spPr/>
      </p:sp>
      <p:sp>
        <p:nvSpPr>
          <p:cNvPr id="63490" name="备注占位符 2"/>
          <p:cNvSpPr>
            <a:spLocks noGrp="1"/>
          </p:cNvSpPr>
          <p:nvPr>
            <p:ph type="body"/>
          </p:nvPr>
        </p:nvSpPr>
        <p:spPr/>
        <p:txBody>
          <a:bodyPr wrap="square" lIns="91440" tIns="45720" rIns="91440" bIns="45720" anchor="t" anchorCtr="0"/>
          <a:p>
            <a:pPr lvl="0"/>
            <a:r>
              <a:rPr lang="zh-CN" altLang="en-US" dirty="0"/>
              <a:t>减法实际上有一个变补的过程</a:t>
            </a:r>
            <a:endParaRPr lang="zh-CN" altLang="en-US" dirty="0"/>
          </a:p>
        </p:txBody>
      </p:sp>
      <p:sp>
        <p:nvSpPr>
          <p:cNvPr id="63491"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5537" name="幻灯片图像占位符 1"/>
          <p:cNvSpPr>
            <a:spLocks noGrp="1" noRot="1" noChangeAspect="1" noTextEdit="1"/>
          </p:cNvSpPr>
          <p:nvPr>
            <p:ph type="sldImg"/>
          </p:nvPr>
        </p:nvSpPr>
        <p:spPr/>
      </p:sp>
      <p:sp>
        <p:nvSpPr>
          <p:cNvPr id="65538" name="备注占位符 2"/>
          <p:cNvSpPr>
            <a:spLocks noGrp="1"/>
          </p:cNvSpPr>
          <p:nvPr>
            <p:ph type="body"/>
          </p:nvPr>
        </p:nvSpPr>
        <p:spPr/>
        <p:txBody>
          <a:bodyPr wrap="square" lIns="91440" tIns="45720" rIns="91440" bIns="45720" anchor="t" anchorCtr="0"/>
          <a:p>
            <a:pPr lvl="0"/>
            <a:r>
              <a:rPr lang="zh-CN" altLang="en-US" dirty="0"/>
              <a:t>乘除运算过程需要移位</a:t>
            </a:r>
            <a:endParaRPr lang="zh-CN" altLang="en-US" dirty="0"/>
          </a:p>
        </p:txBody>
      </p:sp>
      <p:sp>
        <p:nvSpPr>
          <p:cNvPr id="65539"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7585" name="幻灯片图像占位符 1"/>
          <p:cNvSpPr>
            <a:spLocks noGrp="1" noRot="1" noChangeAspect="1" noTextEdit="1"/>
          </p:cNvSpPr>
          <p:nvPr>
            <p:ph type="sldImg"/>
          </p:nvPr>
        </p:nvSpPr>
        <p:spPr/>
      </p:sp>
      <p:sp>
        <p:nvSpPr>
          <p:cNvPr id="67586" name="备注占位符 2"/>
          <p:cNvSpPr>
            <a:spLocks noGrp="1"/>
          </p:cNvSpPr>
          <p:nvPr>
            <p:ph type="body"/>
          </p:nvPr>
        </p:nvSpPr>
        <p:spPr/>
        <p:txBody>
          <a:bodyPr wrap="square" lIns="91440" tIns="45720" rIns="91440" bIns="45720" anchor="t" anchorCtr="0"/>
          <a:p>
            <a:pPr lvl="0"/>
            <a:r>
              <a:rPr lang="zh-CN" altLang="en-US" dirty="0"/>
              <a:t>原码移位，去掉符号位后，依然表示真值的绝对值</a:t>
            </a:r>
            <a:endParaRPr lang="zh-CN" altLang="en-US" dirty="0"/>
          </a:p>
        </p:txBody>
      </p:sp>
      <p:sp>
        <p:nvSpPr>
          <p:cNvPr id="6758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69633" name="幻灯片图像占位符 1"/>
          <p:cNvSpPr>
            <a:spLocks noGrp="1" noRot="1" noChangeAspect="1" noTextEdit="1"/>
          </p:cNvSpPr>
          <p:nvPr>
            <p:ph type="sldImg"/>
          </p:nvPr>
        </p:nvSpPr>
        <p:spPr/>
      </p:sp>
      <p:sp>
        <p:nvSpPr>
          <p:cNvPr id="69634" name="备注占位符 2"/>
          <p:cNvSpPr>
            <a:spLocks noGrp="1"/>
          </p:cNvSpPr>
          <p:nvPr>
            <p:ph type="body"/>
          </p:nvPr>
        </p:nvSpPr>
        <p:spPr/>
        <p:txBody>
          <a:bodyPr wrap="square" lIns="91440" tIns="45720" rIns="91440" bIns="45720" anchor="t" anchorCtr="0"/>
          <a:p>
            <a:pPr lvl="0"/>
            <a:r>
              <a:rPr lang="zh-CN" altLang="en-US" dirty="0"/>
              <a:t>补码移位，符号位不变，移位后依然是补码表示</a:t>
            </a:r>
            <a:endParaRPr lang="zh-CN" altLang="en-US" dirty="0"/>
          </a:p>
        </p:txBody>
      </p:sp>
      <p:sp>
        <p:nvSpPr>
          <p:cNvPr id="6963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2705" name="幻灯片图像占位符 1"/>
          <p:cNvSpPr>
            <a:spLocks noGrp="1" noRot="1" noChangeAspect="1" noTextEdit="1"/>
          </p:cNvSpPr>
          <p:nvPr>
            <p:ph type="sldImg"/>
          </p:nvPr>
        </p:nvSpPr>
        <p:spPr/>
      </p:sp>
      <p:sp>
        <p:nvSpPr>
          <p:cNvPr id="72706" name="备注占位符 2"/>
          <p:cNvSpPr>
            <a:spLocks noGrp="1"/>
          </p:cNvSpPr>
          <p:nvPr>
            <p:ph type="body"/>
          </p:nvPr>
        </p:nvSpPr>
        <p:spPr/>
        <p:txBody>
          <a:bodyPr wrap="square" lIns="91440" tIns="45720" rIns="91440" bIns="45720" anchor="t" anchorCtr="0"/>
          <a:p>
            <a:pPr lvl="0"/>
            <a:endParaRPr lang="zh-CN" altLang="en-US" dirty="0"/>
          </a:p>
        </p:txBody>
      </p:sp>
      <p:sp>
        <p:nvSpPr>
          <p:cNvPr id="7270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78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77826" name="Rectangle 2"/>
          <p:cNvSpPr>
            <a:spLocks noRot="1" noTextEdit="1"/>
          </p:cNvSpPr>
          <p:nvPr>
            <p:ph type="sldImg"/>
          </p:nvPr>
        </p:nvSpPr>
        <p:spPr/>
      </p:sp>
      <p:sp>
        <p:nvSpPr>
          <p:cNvPr id="7782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79873" name="幻灯片图像占位符 1"/>
          <p:cNvSpPr>
            <a:spLocks noGrp="1" noRot="1" noChangeAspect="1" noTextEdit="1"/>
          </p:cNvSpPr>
          <p:nvPr>
            <p:ph type="sldImg"/>
          </p:nvPr>
        </p:nvSpPr>
        <p:spPr/>
      </p:sp>
      <p:sp>
        <p:nvSpPr>
          <p:cNvPr id="79874" name="备注占位符 2"/>
          <p:cNvSpPr>
            <a:spLocks noGrp="1"/>
          </p:cNvSpPr>
          <p:nvPr>
            <p:ph type="body"/>
          </p:nvPr>
        </p:nvSpPr>
        <p:spPr/>
        <p:txBody>
          <a:bodyPr wrap="square" lIns="91440" tIns="45720" rIns="91440" bIns="45720" anchor="t" anchorCtr="0"/>
          <a:p>
            <a:pPr lvl="0"/>
            <a:r>
              <a:rPr lang="zh-CN" altLang="en-US" dirty="0"/>
              <a:t>一次处理一位；处理</a:t>
            </a:r>
            <a:r>
              <a:rPr lang="en-US" altLang="zh-CN" dirty="0"/>
              <a:t>N</a:t>
            </a:r>
            <a:r>
              <a:rPr lang="zh-CN" altLang="en-US" dirty="0"/>
              <a:t>次</a:t>
            </a:r>
            <a:endParaRPr lang="zh-CN" altLang="en-US" dirty="0"/>
          </a:p>
        </p:txBody>
      </p:sp>
      <p:sp>
        <p:nvSpPr>
          <p:cNvPr id="7987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5" name="幻灯片图像占位符 1"/>
          <p:cNvSpPr>
            <a:spLocks noGrp="1" noRot="1" noChangeAspect="1" noTextEdit="1"/>
          </p:cNvSpPr>
          <p:nvPr>
            <p:ph type="sldImg"/>
          </p:nvPr>
        </p:nvSpPr>
        <p:spPr/>
      </p:sp>
      <p:sp>
        <p:nvSpPr>
          <p:cNvPr id="82946" name="备注占位符 2"/>
          <p:cNvSpPr>
            <a:spLocks noGrp="1"/>
          </p:cNvSpPr>
          <p:nvPr>
            <p:ph type="body"/>
          </p:nvPr>
        </p:nvSpPr>
        <p:spPr/>
        <p:txBody>
          <a:bodyPr wrap="square" lIns="91440" tIns="45720" rIns="91440" bIns="45720" anchor="t" anchorCtr="0"/>
          <a:p>
            <a:pPr marL="228600" lvl="0" indent="-228600">
              <a:buFontTx/>
              <a:buAutoNum type="arabicPeriod"/>
            </a:pPr>
            <a:r>
              <a:rPr lang="zh-CN" altLang="en-US" dirty="0"/>
              <a:t>寄存器长度一样；</a:t>
            </a:r>
            <a:endParaRPr lang="en-US" altLang="zh-CN" dirty="0"/>
          </a:p>
          <a:p>
            <a:pPr marL="228600" lvl="0" indent="-228600">
              <a:buFontTx/>
              <a:buAutoNum type="arabicPeriod"/>
            </a:pPr>
            <a:r>
              <a:rPr lang="zh-CN" altLang="en-US" dirty="0"/>
              <a:t>乘积的结果</a:t>
            </a:r>
            <a:r>
              <a:rPr lang="en-US" altLang="zh-CN" dirty="0"/>
              <a:t>2n</a:t>
            </a:r>
            <a:r>
              <a:rPr lang="zh-CN" altLang="en-US" dirty="0"/>
              <a:t>，需要两个寄存器拼接在一起存放；</a:t>
            </a:r>
            <a:endParaRPr lang="zh-CN" altLang="en-US" dirty="0"/>
          </a:p>
        </p:txBody>
      </p:sp>
      <p:sp>
        <p:nvSpPr>
          <p:cNvPr id="8294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84993" name="幻灯片图像占位符 1"/>
          <p:cNvSpPr>
            <a:spLocks noGrp="1" noRot="1" noChangeAspect="1" noTextEdit="1"/>
          </p:cNvSpPr>
          <p:nvPr>
            <p:ph type="sldImg"/>
          </p:nvPr>
        </p:nvSpPr>
        <p:spPr/>
      </p:sp>
      <p:sp>
        <p:nvSpPr>
          <p:cNvPr id="84994" name="备注占位符 2"/>
          <p:cNvSpPr>
            <a:spLocks noGrp="1"/>
          </p:cNvSpPr>
          <p:nvPr>
            <p:ph type="body"/>
          </p:nvPr>
        </p:nvSpPr>
        <p:spPr/>
        <p:txBody>
          <a:bodyPr wrap="square" lIns="91440" tIns="45720" rIns="91440" bIns="45720" anchor="t" anchorCtr="0"/>
          <a:p>
            <a:pPr lvl="0"/>
            <a:r>
              <a:rPr lang="zh-CN" altLang="en-US" dirty="0"/>
              <a:t>根据乘数的最低位决定是否加上被乘数</a:t>
            </a:r>
            <a:endParaRPr lang="zh-CN" altLang="en-US" dirty="0"/>
          </a:p>
        </p:txBody>
      </p:sp>
      <p:sp>
        <p:nvSpPr>
          <p:cNvPr id="8499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按照原码规则进行计算，计算结果需要校正。校正的统一表达式：</a:t>
            </a:r>
            <a:r>
              <a:rPr lang="zh-CN" altLang="en-US"/>
              <a:t>负数符号位的权值</a:t>
            </a:r>
            <a:r>
              <a:rPr lang="zh-CN" altLang="en-US"/>
              <a:t>为负</a:t>
            </a:r>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1377"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01378" name="Rectangle 2"/>
          <p:cNvSpPr>
            <a:spLocks noRot="1" noTextEdit="1"/>
          </p:cNvSpPr>
          <p:nvPr>
            <p:ph type="sldImg"/>
          </p:nvPr>
        </p:nvSpPr>
        <p:spPr/>
      </p:sp>
      <p:sp>
        <p:nvSpPr>
          <p:cNvPr id="101379"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3425"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03426" name="Rectangle 2"/>
          <p:cNvSpPr>
            <a:spLocks noRot="1" noTextEdit="1"/>
          </p:cNvSpPr>
          <p:nvPr>
            <p:ph type="sldImg"/>
          </p:nvPr>
        </p:nvSpPr>
        <p:spPr/>
      </p:sp>
      <p:sp>
        <p:nvSpPr>
          <p:cNvPr id="103427"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5473"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05474" name="Rectangle 2"/>
          <p:cNvSpPr>
            <a:spLocks noRot="1" noTextEdit="1"/>
          </p:cNvSpPr>
          <p:nvPr>
            <p:ph type="sldImg"/>
          </p:nvPr>
        </p:nvSpPr>
        <p:spPr/>
      </p:sp>
      <p:sp>
        <p:nvSpPr>
          <p:cNvPr id="105475" name="Rectangle 3"/>
          <p:cNvSpPr>
            <a:spLocks noGrp="1"/>
          </p:cNvSpPr>
          <p:nvPr>
            <p:ph type="body"/>
          </p:nvPr>
        </p:nvSpPr>
        <p:spPr/>
        <p:txBody>
          <a:bodyPr wrap="square" lIns="91440" tIns="45720" rIns="91440" bIns="45720" anchor="t" anchorCtr="0"/>
          <a:p>
            <a:pPr lvl="0" eaLnBrk="1" hangingPunct="1"/>
            <a:r>
              <a:rPr lang="zh-CN" altLang="en-US" dirty="0"/>
              <a:t>从乘法计算的过程来看，首先要有</a:t>
            </a:r>
            <a:r>
              <a:rPr lang="en-US" altLang="zh-CN" dirty="0"/>
              <a:t>AiBj</a:t>
            </a:r>
            <a:r>
              <a:rPr lang="zh-CN" altLang="en-US" dirty="0"/>
              <a:t>的结果，再做加法</a:t>
            </a:r>
            <a:endParaRPr lang="zh-CN" altLang="zh-CN" dirty="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7521"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07522" name="Rectangle 2"/>
          <p:cNvSpPr>
            <a:spLocks noRot="1" noTextEdit="1"/>
          </p:cNvSpPr>
          <p:nvPr>
            <p:ph type="sldImg"/>
          </p:nvPr>
        </p:nvSpPr>
        <p:spPr/>
      </p:sp>
      <p:sp>
        <p:nvSpPr>
          <p:cNvPr id="107523"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9569" name="Rectangle 7"/>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en-US" altLang="zh-CN" sz="1200" dirty="0">
                <a:solidFill>
                  <a:schemeClr val="tx1"/>
                </a:solidFill>
                <a:latin typeface="Times New Roman" panose="02020603050405020304" pitchFamily="18" charset="0"/>
                <a:ea typeface="宋体" panose="02010600030101010101" pitchFamily="2" charset="-122"/>
              </a:rPr>
            </a:fld>
            <a:endParaRPr lang="en-US" altLang="zh-CN" sz="1200" dirty="0">
              <a:solidFill>
                <a:schemeClr val="tx1"/>
              </a:solidFill>
              <a:latin typeface="Times New Roman" panose="02020603050405020304" pitchFamily="18" charset="0"/>
              <a:ea typeface="宋体" panose="02010600030101010101" pitchFamily="2" charset="-122"/>
            </a:endParaRPr>
          </a:p>
        </p:txBody>
      </p:sp>
      <p:sp>
        <p:nvSpPr>
          <p:cNvPr id="109570" name="Rectangle 2"/>
          <p:cNvSpPr>
            <a:spLocks noRot="1" noTextEdit="1"/>
          </p:cNvSpPr>
          <p:nvPr>
            <p:ph type="sldImg"/>
          </p:nvPr>
        </p:nvSpPr>
        <p:spPr/>
      </p:sp>
      <p:sp>
        <p:nvSpPr>
          <p:cNvPr id="109571" name="Rectangle 3"/>
          <p:cNvSpPr>
            <a:spLocks noGrp="1"/>
          </p:cNvSpPr>
          <p:nvPr>
            <p:ph type="body"/>
          </p:nvPr>
        </p:nvSpPr>
        <p:spPr/>
        <p:txBody>
          <a:bodyPr wrap="square" lIns="91440" tIns="45720" rIns="91440" bIns="45720" anchor="t" anchorCtr="0"/>
          <a:p>
            <a:pPr lvl="0" eaLnBrk="1" hangingPunct="1"/>
            <a:endParaRPr lang="zh-CN" altLang="zh-CN" dirty="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5713" name="幻灯片图像占位符 1"/>
          <p:cNvSpPr>
            <a:spLocks noGrp="1" noRot="1" noChangeAspect="1" noTextEdit="1"/>
          </p:cNvSpPr>
          <p:nvPr>
            <p:ph type="sldImg"/>
          </p:nvPr>
        </p:nvSpPr>
        <p:spPr/>
      </p:sp>
      <p:sp>
        <p:nvSpPr>
          <p:cNvPr id="115714" name="备注占位符 2"/>
          <p:cNvSpPr>
            <a:spLocks noGrp="1"/>
          </p:cNvSpPr>
          <p:nvPr>
            <p:ph type="body"/>
          </p:nvPr>
        </p:nvSpPr>
        <p:spPr/>
        <p:txBody>
          <a:bodyPr wrap="square" lIns="91440" tIns="45720" rIns="91440" bIns="45720" anchor="t" anchorCtr="0"/>
          <a:p>
            <a:pPr lvl="0"/>
            <a:r>
              <a:rPr lang="zh-CN" altLang="en-US" dirty="0"/>
              <a:t>使得下一次的部分余数的计算直接在上一次的部分余数的基础上简单进行</a:t>
            </a:r>
            <a:endParaRPr lang="zh-CN" altLang="en-US" dirty="0"/>
          </a:p>
        </p:txBody>
      </p:sp>
      <p:sp>
        <p:nvSpPr>
          <p:cNvPr id="115715"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23905" name="幻灯片图像占位符 1"/>
          <p:cNvSpPr>
            <a:spLocks noGrp="1" noRot="1" noChangeAspect="1" noTextEdit="1"/>
          </p:cNvSpPr>
          <p:nvPr>
            <p:ph type="sldImg"/>
          </p:nvPr>
        </p:nvSpPr>
        <p:spPr/>
      </p:sp>
      <p:sp>
        <p:nvSpPr>
          <p:cNvPr id="123906" name="备注占位符 2"/>
          <p:cNvSpPr>
            <a:spLocks noGrp="1"/>
          </p:cNvSpPr>
          <p:nvPr>
            <p:ph type="body"/>
          </p:nvPr>
        </p:nvSpPr>
        <p:spPr/>
        <p:txBody>
          <a:bodyPr wrap="square" lIns="91440" tIns="45720" rIns="91440" bIns="45720" anchor="t" anchorCtr="0"/>
          <a:p>
            <a:pPr lvl="0"/>
            <a:r>
              <a:rPr lang="en-US" altLang="zh-CN" dirty="0"/>
              <a:t>A</a:t>
            </a:r>
            <a:r>
              <a:rPr lang="zh-CN" altLang="en-US" dirty="0"/>
              <a:t>和</a:t>
            </a:r>
            <a:r>
              <a:rPr lang="en-US" altLang="zh-CN" dirty="0"/>
              <a:t>C</a:t>
            </a:r>
            <a:r>
              <a:rPr lang="zh-CN" altLang="en-US" dirty="0"/>
              <a:t>级联，</a:t>
            </a:r>
            <a:r>
              <a:rPr lang="en-US" altLang="zh-CN" dirty="0"/>
              <a:t>C</a:t>
            </a:r>
            <a:r>
              <a:rPr lang="zh-CN" altLang="en-US" dirty="0"/>
              <a:t>左移移入</a:t>
            </a:r>
            <a:r>
              <a:rPr lang="en-US" altLang="zh-CN" dirty="0"/>
              <a:t>0</a:t>
            </a:r>
            <a:endParaRPr lang="zh-CN" altLang="en-US" dirty="0"/>
          </a:p>
        </p:txBody>
      </p:sp>
      <p:sp>
        <p:nvSpPr>
          <p:cNvPr id="123907" name="灯片编号占位符 3"/>
          <p:cNvSpPr txBox="1">
            <a:spLocks noGrp="1"/>
          </p:cNvSpPr>
          <p:nvPr>
            <p:ph type="sldNum" sz="quarter"/>
          </p:nvPr>
        </p:nvSpPr>
        <p:spPr>
          <a:xfrm>
            <a:off x="3886200" y="8686800"/>
            <a:ext cx="2971800" cy="457200"/>
          </a:xfrm>
          <a:prstGeom prst="rect">
            <a:avLst/>
          </a:prstGeom>
          <a:noFill/>
          <a:ln w="9525">
            <a:noFill/>
          </a:ln>
        </p:spPr>
        <p:txBody>
          <a:bodyPr vert="horz" wrap="square" lIns="91440" tIns="45720" rIns="91440" bIns="45720" anchor="b" anchorCtr="0"/>
          <a:p>
            <a:pPr lvl="0" algn="r"/>
            <a:fld id="{9A0DB2DC-4C9A-4742-B13C-FB6460FD3503}" type="slidenum">
              <a:rPr lang="zh-CN" altLang="en-US" sz="1200" dirty="0">
                <a:solidFill>
                  <a:schemeClr val="tx1"/>
                </a:solidFill>
                <a:latin typeface="Times New Roman" panose="02020603050405020304" pitchFamily="18" charset="0"/>
                <a:ea typeface="宋体" panose="02010600030101010101" pitchFamily="2" charset="-122"/>
              </a:rPr>
            </a:fld>
            <a:endParaRPr lang="zh-CN" altLang="en-US" sz="1200"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p:nvPr>
        </p:nvSpPr>
        <p:spPr/>
      </p:sp>
      <p:sp>
        <p:nvSpPr>
          <p:cNvPr id="3" name="文本占位符 2"/>
          <p:cNvSpPr>
            <a:spLocks noGrp="1"/>
          </p:cNvSpPr>
          <p:nvPr>
            <p:ph type="body" idx="3"/>
          </p:nvPr>
        </p:nvSpPr>
        <p:spPr/>
        <p:txBody>
          <a:bodyPr/>
          <a:p>
            <a:r>
              <a:rPr lang="zh-CN" altLang="en-US"/>
              <a:t>用尾数和阶码表示的结果：尾数需要根据阶码进行调整后计算，阶码以大的</a:t>
            </a:r>
            <a:r>
              <a:rPr lang="zh-CN" altLang="en-US"/>
              <a:t>为准</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标题，文本与内容">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301625" y="381000"/>
            <a:ext cx="8540750" cy="744538"/>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sz="half" idx="1"/>
          </p:nvPr>
        </p:nvSpPr>
        <p:spPr>
          <a:xfrm>
            <a:off x="301625" y="1268413"/>
            <a:ext cx="4194175" cy="5113337"/>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268413"/>
            <a:ext cx="4194175" cy="5113337"/>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Rectangle 4"/>
          <p:cNvSpPr>
            <a:spLocks noGrp="1" noChangeArrowheads="1"/>
          </p:cNvSpPr>
          <p:nvPr>
            <p:ph type="dt" sz="half" idx="12"/>
          </p:nvPr>
        </p:nvSpPr>
        <p:spPr>
          <a:xfrm>
            <a:off x="250825" y="638175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Rectangle 5"/>
          <p:cNvSpPr>
            <a:spLocks noGrp="1" noChangeArrowheads="1"/>
          </p:cNvSpPr>
          <p:nvPr>
            <p:ph type="ftr" sz="quarter" idx="3"/>
          </p:nvPr>
        </p:nvSpPr>
        <p:spPr>
          <a:xfrm>
            <a:off x="3132138" y="6381750"/>
            <a:ext cx="2895600"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Rectangle 6"/>
          <p:cNvSpPr>
            <a:spLocks noGrp="1" noChangeArrowheads="1"/>
          </p:cNvSpPr>
          <p:nvPr>
            <p:ph type="sldNum" sz="quarter" idx="4"/>
          </p:nvPr>
        </p:nvSpPr>
        <p:spPr>
          <a:xfrm>
            <a:off x="6588125" y="6381750"/>
            <a:ext cx="2289175" cy="476250"/>
          </a:xfrm>
          <a:prstGeom prst="rect">
            <a:avLst/>
          </a:prstGeom>
        </p:spPr>
        <p:txBody>
          <a:bodyPr/>
          <a:lstStyle>
            <a:lvl1pPr>
              <a:defRPr/>
            </a:lvl1pPr>
          </a:lstStyle>
          <a:p>
            <a:pPr marL="0" marR="0" lvl="0" indent="0" algn="l" defTabSz="914400" rtl="0" eaLnBrk="0" fontAlgn="base" latinLnBrk="0" hangingPunct="0">
              <a:lnSpc>
                <a:spcPct val="100000"/>
              </a:lnSpc>
              <a:spcBef>
                <a:spcPct val="0"/>
              </a:spcBef>
              <a:spcAft>
                <a:spcPct val="0"/>
              </a:spcAft>
              <a:buClrTx/>
              <a:buSzTx/>
              <a:buFontTx/>
              <a:buNone/>
              <a:defRPr/>
            </a:pPr>
            <a:fld id="{89424AD2-A4B3-43D2-B9F7-C12F9153282E}" type="slidenum">
              <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rPr>
            </a:fld>
            <a:endParaRPr kumimoji="0" lang="en-US" altLang="zh-CN" sz="18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447800"/>
            <a:ext cx="4038600" cy="4800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7" name="日期占位符 6"/>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8" name="页脚占位符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9" name="灯片编号占位符 8"/>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日期占位符 2"/>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4" name="页脚占位符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5" name="灯片编号占位符 4"/>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3" name="页脚占位符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4" name="灯片编号占位符 3"/>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
        <p:nvSpPr>
          <p:cNvPr id="5" name="日期占位符 4"/>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6" name="页脚占位符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7" name="灯片编号占位符 6"/>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533400"/>
            <a:ext cx="2057400" cy="5715000"/>
          </a:xfr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533400"/>
            <a:ext cx="6019800" cy="5715000"/>
          </a:xfr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日期占位符 3"/>
          <p:cNvSpPr>
            <a:spLocks noGrp="1"/>
          </p:cNvSpPr>
          <p:nvPr>
            <p:ph type="dt" sz="half" idx="10"/>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5" name="页脚占位符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6" name="灯片编号占位符 5"/>
          <p:cNvSpPr>
            <a:spLocks noGrp="1"/>
          </p:cNvSpPr>
          <p:nvPr>
            <p:ph type="sldNum" sz="quarter" idx="12"/>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副标题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pPr fontAlgn="base"/>
            <a:r>
              <a:rPr lang="zh-CN" altLang="en-US" strike="noStrike" noProof="1"/>
              <a:t>单击此处编辑母版副标题样式</a:t>
            </a:r>
            <a:endParaRPr lang="zh-CN" altLang="en-US" strike="noStrike" noProof="1"/>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457200" y="1600200"/>
            <a:ext cx="8229600" cy="4525963"/>
          </a:xfrm>
          <a:prstGeom prst="rect">
            <a:avLst/>
          </a:prstGeom>
        </p:spPr>
        <p:txBody>
          <a:body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a:prstGeom prst="rect">
            <a:avLst/>
          </a:prstGeom>
        </p:spPr>
        <p:txBody>
          <a:bodyPr anchor="t"/>
          <a:lstStyle>
            <a:lvl1pPr algn="l">
              <a:defRPr sz="4000" b="1" cap="all"/>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内容占位符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lvl1pPr>
              <a:defRPr/>
            </a:lvl1pPr>
          </a:lstStyle>
          <a:p>
            <a:pPr fontAlgn="base"/>
            <a:r>
              <a:rPr lang="zh-CN" altLang="en-US" strike="noStrike" noProof="1"/>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4" name="内容占位符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a:t>单击此处编辑母版文本样式</a:t>
            </a:r>
            <a:endParaRPr lang="zh-CN" altLang="en-US" strike="noStrike" noProof="1"/>
          </a:p>
        </p:txBody>
      </p:sp>
      <p:sp>
        <p:nvSpPr>
          <p:cNvPr id="6" name="内容占位符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
        <p:nvSpPr>
          <p:cNvPr id="4" name="文本占位符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a:prstGeom prst="rect">
            <a:avLst/>
          </a:prstGeom>
        </p:spPr>
        <p:txBody>
          <a:bodyPr anchor="b"/>
          <a:lstStyle>
            <a:lvl1pPr algn="l">
              <a:defRPr sz="2000" b="1"/>
            </a:lvl1pPr>
          </a:lstStyle>
          <a:p>
            <a:pPr fontAlgn="base"/>
            <a:r>
              <a:rPr lang="zh-CN" altLang="en-US" strike="noStrike" noProof="1"/>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3200" b="1" i="0" u="none" strike="noStrike" kern="0" cap="none" spc="0" normalizeH="0" baseline="0" noProof="0">
                <a:ln>
                  <a:noFill/>
                </a:ln>
                <a:solidFill>
                  <a:schemeClr val="hlink"/>
                </a:solidFill>
                <a:effectLst/>
                <a:uLnTx/>
                <a:uFillTx/>
                <a:latin typeface="+mn-lt"/>
                <a:ea typeface="+mn-ea"/>
                <a:cs typeface="+mn-cs"/>
              </a:rPr>
              <a:t>单击图标添加图片</a:t>
            </a:r>
            <a:endParaRPr kumimoji="0" lang="zh-CN" altLang="en-US" sz="3200" b="1" i="0" u="none" strike="noStrike" kern="0" cap="none" spc="0" normalizeH="0" baseline="0" noProof="0">
              <a:ln>
                <a:noFill/>
              </a:ln>
              <a:solidFill>
                <a:schemeClr val="hlink"/>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a:t>单击此处编辑母版文本样式</a:t>
            </a:r>
            <a:endParaRPr lang="zh-CN" altLang="en-US" strike="noStrike" noProof="1"/>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a:prstGeom prst="rect">
            <a:avLst/>
          </a:prstGeom>
        </p:spPr>
        <p:txBody>
          <a:bodyPr/>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1600200"/>
            <a:ext cx="8229600" cy="4525963"/>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a:prstGeom prst="rect">
            <a:avLst/>
          </a:prstGeom>
        </p:spPr>
        <p:txBody>
          <a:bodyPr vert="eaVert"/>
          <a:lstStyle/>
          <a:p>
            <a:pPr fontAlgn="base"/>
            <a:r>
              <a:rPr lang="zh-CN" altLang="en-US" strike="noStrike" noProof="1"/>
              <a:t>单击此处编辑母版标题样式</a:t>
            </a:r>
            <a:endParaRPr lang="zh-CN" altLang="en-US" strike="noStrike" noProof="1"/>
          </a:p>
        </p:txBody>
      </p:sp>
      <p:sp>
        <p:nvSpPr>
          <p:cNvPr id="3" name="竖排文字占位符 2"/>
          <p:cNvSpPr>
            <a:spLocks noGrp="1"/>
          </p:cNvSpPr>
          <p:nvPr>
            <p:ph type="body" orient="vert" idx="1"/>
          </p:nvPr>
        </p:nvSpPr>
        <p:spPr>
          <a:xfrm>
            <a:off x="457200" y="274638"/>
            <a:ext cx="6019800" cy="5851525"/>
          </a:xfrm>
          <a:prstGeom prst="rect">
            <a:avLst/>
          </a:prstGeom>
        </p:spPr>
        <p:txBody>
          <a:bodyPr vert="eaVert"/>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zh-CN" altLang="en-US" strike="noStrike" noProof="1"/>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1_Title and Content">
    <p:bg>
      <p:bgPr>
        <a:blipFill rotWithShape="0">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7772400" cy="914400"/>
          </a:xfrm>
          <a:prstGeom prst="rect">
            <a:avLst/>
          </a:prstGeom>
        </p:spPr>
        <p:txBody>
          <a:bodyPr/>
          <a:lstStyle>
            <a:lvl1pPr>
              <a:defRPr>
                <a:ea typeface="华文中宋" panose="02010600040101010101" charset="-122"/>
              </a:defRPr>
            </a:lvl1pPr>
          </a:lstStyle>
          <a:p>
            <a:pPr fontAlgn="base"/>
            <a:r>
              <a:rPr lang="zh-CN" altLang="en-US" strike="noStrike" noProof="1"/>
              <a:t>单击此处编辑母版标题样式</a:t>
            </a:r>
            <a:endParaRPr lang="en-US" strike="noStrike" noProof="1" dirty="0"/>
          </a:p>
        </p:txBody>
      </p:sp>
      <p:sp>
        <p:nvSpPr>
          <p:cNvPr id="6" name="Text Placeholder 5"/>
          <p:cNvSpPr>
            <a:spLocks noGrp="1"/>
          </p:cNvSpPr>
          <p:nvPr>
            <p:ph type="body" sz="quarter" idx="10"/>
          </p:nvPr>
        </p:nvSpPr>
        <p:spPr>
          <a:xfrm>
            <a:off x="381000" y="1411552"/>
            <a:ext cx="8382000" cy="2210862"/>
          </a:xfrm>
          <a:prstGeom prst="rect">
            <a:avLst/>
          </a:prstGeom>
        </p:spPr>
        <p:txBody>
          <a:bodyPr/>
          <a:lstStyle>
            <a:lvl1pPr>
              <a:lnSpc>
                <a:spcPct val="90000"/>
              </a:lnSpc>
              <a:defRPr>
                <a:ea typeface="华文中宋" panose="02010600040101010101" charset="-122"/>
              </a:defRPr>
            </a:lvl1pPr>
            <a:lvl2pPr>
              <a:lnSpc>
                <a:spcPct val="90000"/>
              </a:lnSpc>
              <a:defRPr>
                <a:ea typeface="华文中宋" panose="02010600040101010101" charset="-122"/>
              </a:defRPr>
            </a:lvl2pPr>
            <a:lvl3pPr>
              <a:lnSpc>
                <a:spcPct val="90000"/>
              </a:lnSpc>
              <a:defRPr>
                <a:ea typeface="华文中宋" panose="02010600040101010101" charset="-122"/>
              </a:defRPr>
            </a:lvl3pPr>
            <a:lvl4pPr>
              <a:lnSpc>
                <a:spcPct val="90000"/>
              </a:lnSpc>
              <a:defRPr>
                <a:ea typeface="华文中宋" panose="02010600040101010101" charset="-122"/>
              </a:defRPr>
            </a:lvl4pPr>
            <a:lvl5pPr>
              <a:lnSpc>
                <a:spcPct val="90000"/>
              </a:lnSpc>
              <a:defRPr>
                <a:ea typeface="华文中宋" panose="02010600040101010101" charset="-122"/>
              </a:defRPr>
            </a:lvl5pPr>
          </a:lstStyle>
          <a:p>
            <a:pPr lvl="0" fontAlgn="base"/>
            <a:r>
              <a:rPr lang="zh-CN" altLang="en-US" strike="noStrike" noProof="1"/>
              <a:t>单击此处编辑母版文本样式</a:t>
            </a:r>
            <a:endParaRPr lang="zh-CN" altLang="en-US" strike="noStrike" noProof="1"/>
          </a:p>
          <a:p>
            <a:pPr lvl="1" fontAlgn="base"/>
            <a:r>
              <a:rPr lang="zh-CN" altLang="en-US" strike="noStrike" noProof="1"/>
              <a:t>第二级</a:t>
            </a:r>
            <a:endParaRPr lang="zh-CN" altLang="en-US" strike="noStrike" noProof="1"/>
          </a:p>
          <a:p>
            <a:pPr lvl="2" fontAlgn="base"/>
            <a:r>
              <a:rPr lang="zh-CN" altLang="en-US" strike="noStrike" noProof="1"/>
              <a:t>第三级</a:t>
            </a:r>
            <a:endParaRPr lang="zh-CN" altLang="en-US" strike="noStrike" noProof="1"/>
          </a:p>
          <a:p>
            <a:pPr lvl="3" fontAlgn="base"/>
            <a:r>
              <a:rPr lang="zh-CN" altLang="en-US" strike="noStrike" noProof="1"/>
              <a:t>第四级</a:t>
            </a:r>
            <a:endParaRPr lang="zh-CN" altLang="en-US" strike="noStrike" noProof="1"/>
          </a:p>
          <a:p>
            <a:pPr lvl="4" fontAlgn="base"/>
            <a:r>
              <a:rPr lang="zh-CN" altLang="en-US" strike="noStrike" noProof="1"/>
              <a:t>第五级</a:t>
            </a:r>
            <a:endParaRPr lang="en-US" strike="noStrike" noProof="1" dirty="0"/>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1.jpeg"/><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2.xml"/><Relationship Id="rId8" Type="http://schemas.openxmlformats.org/officeDocument/2006/relationships/slideLayout" Target="../slideLayouts/slideLayout21.xml"/><Relationship Id="rId7" Type="http://schemas.openxmlformats.org/officeDocument/2006/relationships/slideLayout" Target="../slideLayouts/slideLayout20.xml"/><Relationship Id="rId6" Type="http://schemas.openxmlformats.org/officeDocument/2006/relationships/slideLayout" Target="../slideLayouts/slideLayout19.xml"/><Relationship Id="rId5" Type="http://schemas.openxmlformats.org/officeDocument/2006/relationships/slideLayout" Target="../slideLayouts/slideLayout18.xml"/><Relationship Id="rId4" Type="http://schemas.openxmlformats.org/officeDocument/2006/relationships/slideLayout" Target="../slideLayouts/slideLayout17.xml"/><Relationship Id="rId3" Type="http://schemas.openxmlformats.org/officeDocument/2006/relationships/slideLayout" Target="../slideLayouts/slideLayout16.xml"/><Relationship Id="rId2" Type="http://schemas.openxmlformats.org/officeDocument/2006/relationships/slideLayout" Target="../slideLayouts/slideLayout15.xml"/><Relationship Id="rId13" Type="http://schemas.openxmlformats.org/officeDocument/2006/relationships/theme" Target="../theme/theme2.xml"/><Relationship Id="rId12" Type="http://schemas.openxmlformats.org/officeDocument/2006/relationships/image" Target="../media/image2.jpeg"/><Relationship Id="rId11" Type="http://schemas.openxmlformats.org/officeDocument/2006/relationships/slideLayout" Target="../slideLayouts/slideLayout24.xml"/><Relationship Id="rId10" Type="http://schemas.openxmlformats.org/officeDocument/2006/relationships/slideLayout" Target="../slideLayouts/slideLayout23.xml"/><Relationship Id="rId1"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3.xml"/><Relationship Id="rId8" Type="http://schemas.openxmlformats.org/officeDocument/2006/relationships/slideLayout" Target="../slideLayouts/slideLayout32.xml"/><Relationship Id="rId7" Type="http://schemas.openxmlformats.org/officeDocument/2006/relationships/slideLayout" Target="../slideLayouts/slideLayout31.xml"/><Relationship Id="rId6" Type="http://schemas.openxmlformats.org/officeDocument/2006/relationships/slideLayout" Target="../slideLayouts/slideLayout30.xml"/><Relationship Id="rId5" Type="http://schemas.openxmlformats.org/officeDocument/2006/relationships/slideLayout" Target="../slideLayouts/slideLayout29.xml"/><Relationship Id="rId4" Type="http://schemas.openxmlformats.org/officeDocument/2006/relationships/slideLayout" Target="../slideLayouts/slideLayout28.xml"/><Relationship Id="rId3" Type="http://schemas.openxmlformats.org/officeDocument/2006/relationships/slideLayout" Target="../slideLayouts/slideLayout27.xml"/><Relationship Id="rId2" Type="http://schemas.openxmlformats.org/officeDocument/2006/relationships/slideLayout" Target="../slideLayouts/slideLayout26.xml"/><Relationship Id="rId14" Type="http://schemas.openxmlformats.org/officeDocument/2006/relationships/theme" Target="../theme/theme3.xml"/><Relationship Id="rId13" Type="http://schemas.openxmlformats.org/officeDocument/2006/relationships/image" Target="../media/image1.jpeg"/><Relationship Id="rId12" Type="http://schemas.openxmlformats.org/officeDocument/2006/relationships/slideLayout" Target="../slideLayouts/slideLayout36.xml"/><Relationship Id="rId11" Type="http://schemas.openxmlformats.org/officeDocument/2006/relationships/slideLayout" Target="../slideLayouts/slideLayout35.xml"/><Relationship Id="rId10" Type="http://schemas.openxmlformats.org/officeDocument/2006/relationships/slideLayout" Target="../slideLayouts/slideLayout34.xml"/><Relationship Id="rId1"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4" Type="http://schemas.openxmlformats.org/officeDocument/2006/relationships/theme" Target="../theme/theme4.xml"/><Relationship Id="rId13" Type="http://schemas.openxmlformats.org/officeDocument/2006/relationships/image" Target="../media/image1.jpeg"/><Relationship Id="rId12" Type="http://schemas.openxmlformats.org/officeDocument/2006/relationships/slideLayout" Target="../slideLayouts/slideLayout48.xml"/><Relationship Id="rId11" Type="http://schemas.openxmlformats.org/officeDocument/2006/relationships/slideLayout" Target="../slideLayouts/slideLayout47.xml"/><Relationship Id="rId10" Type="http://schemas.openxmlformats.org/officeDocument/2006/relationships/slideLayout" Target="../slideLayouts/slideLayout46.xml"/><Relationship Id="rId1" Type="http://schemas.openxmlformats.org/officeDocument/2006/relationships/slideLayout" Target="../slideLayouts/slideLayout37.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57.xml"/><Relationship Id="rId8" Type="http://schemas.openxmlformats.org/officeDocument/2006/relationships/slideLayout" Target="../slideLayouts/slideLayout56.xml"/><Relationship Id="rId7" Type="http://schemas.openxmlformats.org/officeDocument/2006/relationships/slideLayout" Target="../slideLayouts/slideLayout55.xml"/><Relationship Id="rId6" Type="http://schemas.openxmlformats.org/officeDocument/2006/relationships/slideLayout" Target="../slideLayouts/slideLayout54.xml"/><Relationship Id="rId5" Type="http://schemas.openxmlformats.org/officeDocument/2006/relationships/slideLayout" Target="../slideLayouts/slideLayout53.xml"/><Relationship Id="rId4" Type="http://schemas.openxmlformats.org/officeDocument/2006/relationships/slideLayout" Target="../slideLayouts/slideLayout52.xml"/><Relationship Id="rId3" Type="http://schemas.openxmlformats.org/officeDocument/2006/relationships/slideLayout" Target="../slideLayouts/slideLayout51.xml"/><Relationship Id="rId2" Type="http://schemas.openxmlformats.org/officeDocument/2006/relationships/slideLayout" Target="../slideLayouts/slideLayout50.xml"/><Relationship Id="rId14" Type="http://schemas.openxmlformats.org/officeDocument/2006/relationships/theme" Target="../theme/theme5.xml"/><Relationship Id="rId13" Type="http://schemas.openxmlformats.org/officeDocument/2006/relationships/image" Target="../media/image1.jpeg"/><Relationship Id="rId12" Type="http://schemas.openxmlformats.org/officeDocument/2006/relationships/slideLayout" Target="../slideLayouts/slideLayout60.xml"/><Relationship Id="rId11" Type="http://schemas.openxmlformats.org/officeDocument/2006/relationships/slideLayout" Target="../slideLayouts/slideLayout59.xml"/><Relationship Id="rId10" Type="http://schemas.openxmlformats.org/officeDocument/2006/relationships/slideLayout" Target="../slideLayouts/slideLayout58.xml"/><Relationship Id="rId1"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4"/>
          <a:stretch>
            <a:fillRect/>
          </a:stretch>
        </a:blipFill>
        <a:effectLst/>
      </p:bgPr>
    </p:bg>
    <p:spTree>
      <p:nvGrpSpPr>
        <p:cNvPr id="1" name=""/>
        <p:cNvGrpSpPr/>
        <p:nvPr/>
      </p:nvGrpSpPr>
      <p:grpSpPr/>
      <p:sp>
        <p:nvSpPr>
          <p:cNvPr id="1026"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2"/>
          <a:stretch>
            <a:fillRect/>
          </a:stretch>
        </a:blipFill>
        <a:effectLst/>
      </p:bgPr>
    </p:bg>
    <p:spTree>
      <p:nvGrpSpPr>
        <p:cNvPr id="1" name=""/>
        <p:cNvGrpSpPr/>
        <p:nvPr/>
      </p:nvGrpSpPr>
      <p:grpSpPr/>
      <p:sp>
        <p:nvSpPr>
          <p:cNvPr id="2050" name="Rectangle 3"/>
          <p:cNvSpPr>
            <a:spLocks noGrp="1"/>
          </p:cNvSpPr>
          <p:nvPr>
            <p:ph type="body"/>
          </p:nvPr>
        </p:nvSpPr>
        <p:spPr>
          <a:xfrm>
            <a:off x="457200" y="1447800"/>
            <a:ext cx="8229600" cy="4800600"/>
          </a:xfrm>
          <a:prstGeom prst="rect">
            <a:avLst/>
          </a:prstGeom>
          <a:noFill/>
          <a:ln w="9525">
            <a:noFill/>
          </a:ln>
        </p:spPr>
        <p:txBody>
          <a:bodyPr anchor="t" anchorCtr="0"/>
          <a:p>
            <a:pPr lvl="0"/>
            <a:r>
              <a:rPr lang="zh-CN" altLang="en-US" dirty="0"/>
              <a:t>单击此处编辑母版文本样式</a:t>
            </a:r>
            <a:endParaRPr lang="zh-CN" altLang="en-US" dirty="0"/>
          </a:p>
          <a:p>
            <a:pPr lvl="1" indent="-285750"/>
            <a:r>
              <a:rPr lang="zh-CN" altLang="en-US" dirty="0"/>
              <a:t>第二级</a:t>
            </a:r>
            <a:endParaRPr lang="zh-CN" altLang="en-US" dirty="0"/>
          </a:p>
          <a:p>
            <a:pPr lvl="2" indent="-228600"/>
            <a:r>
              <a:rPr lang="zh-CN" altLang="en-US" dirty="0"/>
              <a:t>第三级</a:t>
            </a:r>
            <a:endParaRPr lang="zh-CN" altLang="en-US" dirty="0"/>
          </a:p>
          <a:p>
            <a:pPr lvl="3" indent="-228600"/>
            <a:r>
              <a:rPr lang="zh-CN" altLang="en-US" dirty="0"/>
              <a:t>第四级</a:t>
            </a:r>
            <a:endParaRPr lang="zh-CN" altLang="en-US" dirty="0"/>
          </a:p>
          <a:p>
            <a:pPr lvl="4" indent="-228600"/>
            <a:r>
              <a:rPr lang="zh-CN" altLang="en-US" dirty="0"/>
              <a:t>第五级</a:t>
            </a:r>
            <a:endParaRPr lang="zh-CN" altLang="en-US" dirty="0"/>
          </a:p>
        </p:txBody>
      </p:sp>
      <p:sp>
        <p:nvSpPr>
          <p:cNvPr id="2051" name="Rectangle 2"/>
          <p:cNvSpPr>
            <a:spLocks noGrp="1"/>
          </p:cNvSpPr>
          <p:nvPr>
            <p:ph type="title"/>
          </p:nvPr>
        </p:nvSpPr>
        <p:spPr>
          <a:xfrm>
            <a:off x="457200" y="533400"/>
            <a:ext cx="7696200" cy="563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2052" name="Rectangle 4"/>
          <p:cNvSpPr>
            <a:spLocks noGrp="1" noChangeArrowheads="1"/>
          </p:cNvSpPr>
          <p:nvPr>
            <p:ph type="dt" sz="half" idx="2"/>
          </p:nvPr>
        </p:nvSpPr>
        <p:spPr bwMode="auto">
          <a:xfrm>
            <a:off x="457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
        <p:nvSpPr>
          <p:cNvPr id="2053" name="Rectangle 5"/>
          <p:cNvSpPr>
            <a:spLocks noGrp="1" noChangeArrowheads="1"/>
          </p:cNvSpPr>
          <p:nvPr>
            <p:ph type="ftr" sz="quarter" idx="3"/>
          </p:nvPr>
        </p:nvSpPr>
        <p:spPr bwMode="auto">
          <a:xfrm>
            <a:off x="3124200" y="6477000"/>
            <a:ext cx="2895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accent2"/>
              </a:solidFill>
              <a:effectLst/>
              <a:uLnTx/>
              <a:uFillTx/>
              <a:latin typeface="Arial" panose="020B0604020202020204" pitchFamily="34" charset="0"/>
              <a:ea typeface="华文行楷" panose="02010800040101010101" pitchFamily="2" charset="-122"/>
              <a:cs typeface="+mn-cs"/>
            </a:endParaRPr>
          </a:p>
        </p:txBody>
      </p:sp>
      <p:sp>
        <p:nvSpPr>
          <p:cNvPr id="2054" name="Rectangle 6"/>
          <p:cNvSpPr>
            <a:spLocks noGrp="1" noChangeArrowheads="1"/>
          </p:cNvSpPr>
          <p:nvPr>
            <p:ph type="sldNum" sz="quarter" idx="4"/>
          </p:nvPr>
        </p:nvSpPr>
        <p:spPr bwMode="auto">
          <a:xfrm>
            <a:off x="6553200" y="6477000"/>
            <a:ext cx="21336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ctr" eaLnBrk="1" hangingPunct="1">
              <a:defRPr sz="1200">
                <a:solidFill>
                  <a:schemeClr val="bg1"/>
                </a:solidFill>
              </a:defRPr>
            </a:lvl1pPr>
          </a:lstStyle>
          <a:p>
            <a:pPr marL="0" marR="0" lvl="0" indent="0" algn="ctr" defTabSz="914400" rtl="0" eaLnBrk="1" fontAlgn="base" latinLnBrk="0" hangingPunct="1">
              <a:lnSpc>
                <a:spcPct val="100000"/>
              </a:lnSpc>
              <a:spcBef>
                <a:spcPct val="0"/>
              </a:spcBef>
              <a:spcAft>
                <a:spcPct val="0"/>
              </a:spcAft>
              <a:buClrTx/>
              <a:buSzTx/>
              <a:buFontTx/>
              <a:buNone/>
              <a:defRPr/>
            </a:pPr>
            <a:fld id="{3F71FE3B-AD93-411A-8A80-06CD8749B443}" type="slidenum">
              <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rPr>
            </a:fld>
            <a:endParaRPr kumimoji="0" lang="en-US" sz="1200" b="0" i="0" u="none" strike="noStrike" kern="1200" cap="none" spc="0" normalizeH="0" baseline="0" noProof="0">
              <a:ln>
                <a:noFill/>
              </a:ln>
              <a:solidFill>
                <a:schemeClr val="bg1"/>
              </a:solidFill>
              <a:effectLst/>
              <a:uLnTx/>
              <a:uFillTx/>
              <a:latin typeface="Arial" panose="020B0604020202020204" pitchFamily="34" charset="0"/>
              <a:ea typeface="华文行楷" panose="02010800040101010101" pitchFamily="2" charset="-122"/>
              <a:cs typeface="+mn-cs"/>
            </a:endParaRPr>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3074"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4098"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rotWithShape="0">
          <a:blip r:embed="rId13"/>
          <a:stretch>
            <a:fillRect/>
          </a:stretch>
        </a:blipFill>
        <a:effectLst/>
      </p:bgPr>
    </p:bg>
    <p:spTree>
      <p:nvGrpSpPr>
        <p:cNvPr id="1" name=""/>
        <p:cNvGrpSpPr/>
        <p:nvPr/>
      </p:nvGrpSpPr>
      <p:grpSpPr/>
      <p:sp>
        <p:nvSpPr>
          <p:cNvPr id="5122" name="Line 87"/>
          <p:cNvSpPr/>
          <p:nvPr/>
        </p:nvSpPr>
        <p:spPr>
          <a:xfrm>
            <a:off x="225425" y="1054100"/>
            <a:ext cx="7461250" cy="0"/>
          </a:xfrm>
          <a:prstGeom prst="line">
            <a:avLst/>
          </a:prstGeom>
          <a:ln w="38100" cap="flat" cmpd="sng">
            <a:solidFill>
              <a:srgbClr val="003366"/>
            </a:solidFill>
            <a:prstDash val="solid"/>
            <a:round/>
            <a:headEnd type="none" w="med" len="med"/>
            <a:tailEnd type="none" w="med" len="med"/>
          </a:ln>
        </p:spPr>
      </p:sp>
    </p:spTree>
  </p:cSld>
  <p:clrMap bg1="lt1" tx1="dk1" bg2="lt2" tx2="dk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Lst>
  <p:hf sldNum="0" hdr="0" ftr="0" dt="0"/>
  <p:txStyles>
    <p:titleStyle>
      <a:lvl1pPr algn="l" rtl="0" eaLnBrk="0" fontAlgn="base" hangingPunct="0">
        <a:spcBef>
          <a:spcPct val="0"/>
        </a:spcBef>
        <a:spcAft>
          <a:spcPct val="0"/>
        </a:spcAft>
        <a:defRPr sz="3200" b="1">
          <a:solidFill>
            <a:schemeClr val="tx2"/>
          </a:solidFill>
          <a:latin typeface="+mj-lt"/>
          <a:ea typeface="+mj-ea"/>
          <a:cs typeface="+mj-cs"/>
        </a:defRPr>
      </a:lvl1pPr>
      <a:lvl2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200" b="1">
          <a:solidFill>
            <a:schemeClr val="tx2"/>
          </a:solidFill>
          <a:latin typeface="黑体" panose="02010609060101010101" pitchFamily="49" charset="-122"/>
          <a:ea typeface="黑体" panose="02010609060101010101" pitchFamily="49" charset="-122"/>
        </a:defRPr>
      </a:lvl5pPr>
      <a:lvl6pPr marL="4572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6pPr>
      <a:lvl7pPr marL="9144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7pPr>
      <a:lvl8pPr marL="13716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8pPr>
      <a:lvl9pPr marL="1828800" algn="l" rtl="0" eaLnBrk="1" fontAlgn="base" hangingPunct="1">
        <a:spcBef>
          <a:spcPct val="0"/>
        </a:spcBef>
        <a:spcAft>
          <a:spcPct val="0"/>
        </a:spcAft>
        <a:defRPr sz="3200" b="1">
          <a:solidFill>
            <a:schemeClr val="tx2"/>
          </a:solidFill>
          <a:latin typeface="黑体" panose="02010609060101010101" pitchFamily="49" charset="-122"/>
          <a:ea typeface="黑体" panose="02010609060101010101" pitchFamily="49"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3.wmf"/><Relationship Id="rId1"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2.xml"/><Relationship Id="rId2" Type="http://schemas.openxmlformats.org/officeDocument/2006/relationships/image" Target="../media/image5.wmf"/><Relationship Id="rId1" Type="http://schemas.openxmlformats.org/officeDocument/2006/relationships/oleObject" Target="../embeddings/oleObject2.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4" Type="http://schemas.openxmlformats.org/officeDocument/2006/relationships/vmlDrawing" Target="../drawings/vmlDrawing3.vml"/><Relationship Id="rId3" Type="http://schemas.openxmlformats.org/officeDocument/2006/relationships/slideLayout" Target="../slideLayouts/slideLayout2.xml"/><Relationship Id="rId2" Type="http://schemas.openxmlformats.org/officeDocument/2006/relationships/image" Target="../media/image6.wmf"/><Relationship Id="rId1" Type="http://schemas.openxmlformats.org/officeDocument/2006/relationships/oleObject" Target="../embeddings/oleObject3.bin"/></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2.xml"/><Relationship Id="rId2" Type="http://schemas.openxmlformats.org/officeDocument/2006/relationships/image" Target="../media/image7.wmf"/><Relationship Id="rId1"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2.xml"/><Relationship Id="rId2" Type="http://schemas.openxmlformats.org/officeDocument/2006/relationships/image" Target="../media/image8.wmf"/><Relationship Id="rId1" Type="http://schemas.openxmlformats.org/officeDocument/2006/relationships/oleObject" Target="../embeddings/oleObject5.bin"/></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4" Type="http://schemas.openxmlformats.org/officeDocument/2006/relationships/vmlDrawing" Target="../drawings/vmlDrawing6.vml"/><Relationship Id="rId3" Type="http://schemas.openxmlformats.org/officeDocument/2006/relationships/slideLayout" Target="../slideLayouts/slideLayout2.xml"/><Relationship Id="rId2" Type="http://schemas.openxmlformats.org/officeDocument/2006/relationships/image" Target="../media/image9.wmf"/><Relationship Id="rId1" Type="http://schemas.openxmlformats.org/officeDocument/2006/relationships/oleObject" Target="../embeddings/oleObject6.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8" Type="http://schemas.openxmlformats.org/officeDocument/2006/relationships/notesSlide" Target="../notesSlides/notesSlide17.xml"/><Relationship Id="rId7" Type="http://schemas.openxmlformats.org/officeDocument/2006/relationships/slideLayout" Target="../slideLayouts/slideLayout2.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1.png"/><Relationship Id="rId1" Type="http://schemas.openxmlformats.org/officeDocument/2006/relationships/image" Target="../media/image10.png"/></Relationships>
</file>

<file path=ppt/slides/_rels/slide36.xml.rels><?xml version="1.0" encoding="UTF-8" standalone="yes"?>
<Relationships xmlns="http://schemas.openxmlformats.org/package/2006/relationships"><Relationship Id="rId4" Type="http://schemas.openxmlformats.org/officeDocument/2006/relationships/vmlDrawing" Target="../drawings/vmlDrawing7.vml"/><Relationship Id="rId3" Type="http://schemas.openxmlformats.org/officeDocument/2006/relationships/slideLayout" Target="../slideLayouts/slideLayout2.xml"/><Relationship Id="rId2" Type="http://schemas.openxmlformats.org/officeDocument/2006/relationships/image" Target="../media/image12.wmf"/><Relationship Id="rId1" Type="http://schemas.openxmlformats.org/officeDocument/2006/relationships/oleObject" Target="../embeddings/oleObject7.bin"/></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13.emf"/></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emf"/></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4" Type="http://schemas.openxmlformats.org/officeDocument/2006/relationships/vmlDrawing" Target="../drawings/vmlDrawing8.vml"/><Relationship Id="rId3" Type="http://schemas.openxmlformats.org/officeDocument/2006/relationships/slideLayout" Target="../slideLayouts/slideLayout2.xml"/><Relationship Id="rId2" Type="http://schemas.openxmlformats.org/officeDocument/2006/relationships/image" Target="../media/image15.wmf"/><Relationship Id="rId1" Type="http://schemas.openxmlformats.org/officeDocument/2006/relationships/oleObject" Target="../embeddings/oleObject8.bin"/></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7.emf"/><Relationship Id="rId1" Type="http://schemas.openxmlformats.org/officeDocument/2006/relationships/image" Target="../media/image16.emf"/></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xml"/><Relationship Id="rId7" Type="http://schemas.openxmlformats.org/officeDocument/2006/relationships/tags" Target="../tags/tag13.xml"/><Relationship Id="rId6" Type="http://schemas.openxmlformats.org/officeDocument/2006/relationships/tags" Target="../tags/tag12.xml"/><Relationship Id="rId5" Type="http://schemas.openxmlformats.org/officeDocument/2006/relationships/tags" Target="../tags/tag11.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0" Type="http://schemas.openxmlformats.org/officeDocument/2006/relationships/notesSlide" Target="../notesSlides/notesSlide29.xml"/><Relationship Id="rId1" Type="http://schemas.openxmlformats.org/officeDocument/2006/relationships/tags" Target="../tags/tag7.xml"/></Relationships>
</file>

<file path=ppt/slides/_rels/slide66.xml.rels><?xml version="1.0" encoding="UTF-8" standalone="yes"?>
<Relationships xmlns="http://schemas.openxmlformats.org/package/2006/relationships"><Relationship Id="rId5" Type="http://schemas.openxmlformats.org/officeDocument/2006/relationships/notesSlide" Target="../notesSlides/notesSlide30.xml"/><Relationship Id="rId4" Type="http://schemas.openxmlformats.org/officeDocument/2006/relationships/vmlDrawing" Target="../drawings/vmlDrawing9.vml"/><Relationship Id="rId3" Type="http://schemas.openxmlformats.org/officeDocument/2006/relationships/slideLayout" Target="../slideLayouts/slideLayout13.xml"/><Relationship Id="rId2" Type="http://schemas.openxmlformats.org/officeDocument/2006/relationships/image" Target="../media/image18.wmf"/><Relationship Id="rId1" Type="http://schemas.openxmlformats.org/officeDocument/2006/relationships/oleObject" Target="../embeddings/oleObject9.bin"/></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69.xml.rels><?xml version="1.0" encoding="UTF-8" standalone="yes"?>
<Relationships xmlns="http://schemas.openxmlformats.org/package/2006/relationships"><Relationship Id="rId7" Type="http://schemas.openxmlformats.org/officeDocument/2006/relationships/notesSlide" Target="../notesSlides/notesSlide33.xml"/><Relationship Id="rId6" Type="http://schemas.openxmlformats.org/officeDocument/2006/relationships/vmlDrawing" Target="../drawings/vmlDrawing10.vml"/><Relationship Id="rId5" Type="http://schemas.openxmlformats.org/officeDocument/2006/relationships/slideLayout" Target="../slideLayouts/slideLayout2.xml"/><Relationship Id="rId4" Type="http://schemas.openxmlformats.org/officeDocument/2006/relationships/image" Target="../media/image21.wmf"/><Relationship Id="rId3" Type="http://schemas.openxmlformats.org/officeDocument/2006/relationships/oleObject" Target="../embeddings/oleObject11.bin"/><Relationship Id="rId2" Type="http://schemas.openxmlformats.org/officeDocument/2006/relationships/image" Target="../media/image20.png"/><Relationship Id="rId1" Type="http://schemas.openxmlformats.org/officeDocument/2006/relationships/oleObject" Target="../embeddings/oleObject10.bin"/></Relationships>
</file>

<file path=ppt/slides/_rels/slide7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2.png"/></Relationships>
</file>

<file path=ppt/slides/_rels/slide71.xml.rels><?xml version="1.0" encoding="UTF-8" standalone="yes"?>
<Relationships xmlns="http://schemas.openxmlformats.org/package/2006/relationships"><Relationship Id="rId4" Type="http://schemas.openxmlformats.org/officeDocument/2006/relationships/vmlDrawing" Target="../drawings/vmlDrawing11.vml"/><Relationship Id="rId3" Type="http://schemas.openxmlformats.org/officeDocument/2006/relationships/slideLayout" Target="../slideLayouts/slideLayout2.xml"/><Relationship Id="rId2" Type="http://schemas.openxmlformats.org/officeDocument/2006/relationships/image" Target="../media/image23.wmf"/><Relationship Id="rId1" Type="http://schemas.openxmlformats.org/officeDocument/2006/relationships/oleObject" Target="../embeddings/oleObject12.bin"/></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4" Type="http://schemas.openxmlformats.org/officeDocument/2006/relationships/vmlDrawing" Target="../drawings/vmlDrawing12.vml"/><Relationship Id="rId3" Type="http://schemas.openxmlformats.org/officeDocument/2006/relationships/slideLayout" Target="../slideLayouts/slideLayout2.xml"/><Relationship Id="rId2" Type="http://schemas.openxmlformats.org/officeDocument/2006/relationships/image" Target="../media/image24.wmf"/><Relationship Id="rId1" Type="http://schemas.openxmlformats.org/officeDocument/2006/relationships/oleObject" Target="../embeddings/oleObject13.bin"/></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5.png"/></Relationships>
</file>

<file path=ppt/slides/_rels/slide79.xml.rels><?xml version="1.0" encoding="UTF-8" standalone="yes"?>
<Relationships xmlns="http://schemas.openxmlformats.org/package/2006/relationships"><Relationship Id="rId4" Type="http://schemas.openxmlformats.org/officeDocument/2006/relationships/vmlDrawing" Target="../drawings/vmlDrawing13.vml"/><Relationship Id="rId3" Type="http://schemas.openxmlformats.org/officeDocument/2006/relationships/slideLayout" Target="../slideLayouts/slideLayout2.xml"/><Relationship Id="rId2" Type="http://schemas.openxmlformats.org/officeDocument/2006/relationships/image" Target="../media/image26.emf"/><Relationship Id="rId1" Type="http://schemas.openxmlformats.org/officeDocument/2006/relationships/oleObject" Target="../embeddings/oleObject14.bin"/></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4" Type="http://schemas.openxmlformats.org/officeDocument/2006/relationships/vmlDrawing" Target="../drawings/vmlDrawing14.vml"/><Relationship Id="rId3" Type="http://schemas.openxmlformats.org/officeDocument/2006/relationships/slideLayout" Target="../slideLayouts/slideLayout2.xml"/><Relationship Id="rId2" Type="http://schemas.openxmlformats.org/officeDocument/2006/relationships/image" Target="../media/image27.wmf"/><Relationship Id="rId1" Type="http://schemas.openxmlformats.org/officeDocument/2006/relationships/oleObject" Target="../embeddings/oleObject15.bin"/></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9" Type="http://schemas.openxmlformats.org/officeDocument/2006/relationships/vmlDrawing" Target="../drawings/vmlDrawing15.vml"/><Relationship Id="rId8" Type="http://schemas.openxmlformats.org/officeDocument/2006/relationships/slideLayout" Target="../slideLayouts/slideLayout2.xml"/><Relationship Id="rId7" Type="http://schemas.openxmlformats.org/officeDocument/2006/relationships/image" Target="../media/image31.png"/><Relationship Id="rId6" Type="http://schemas.openxmlformats.org/officeDocument/2006/relationships/image" Target="../media/image30.wmf"/><Relationship Id="rId5" Type="http://schemas.openxmlformats.org/officeDocument/2006/relationships/oleObject" Target="../embeddings/oleObject18.bin"/><Relationship Id="rId4" Type="http://schemas.openxmlformats.org/officeDocument/2006/relationships/image" Target="../media/image29.wmf"/><Relationship Id="rId3" Type="http://schemas.openxmlformats.org/officeDocument/2006/relationships/oleObject" Target="../embeddings/oleObject17.bin"/><Relationship Id="rId2" Type="http://schemas.openxmlformats.org/officeDocument/2006/relationships/image" Target="../media/image28.wmf"/><Relationship Id="rId10" Type="http://schemas.openxmlformats.org/officeDocument/2006/relationships/notesSlide" Target="../notesSlides/notesSlide36.xml"/><Relationship Id="rId1" Type="http://schemas.openxmlformats.org/officeDocument/2006/relationships/oleObject" Target="../embeddings/oleObject16.bin"/></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4" Type="http://schemas.openxmlformats.org/officeDocument/2006/relationships/vmlDrawing" Target="../drawings/vmlDrawing16.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19.bin"/></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6" Type="http://schemas.openxmlformats.org/officeDocument/2006/relationships/vmlDrawing" Target="../drawings/vmlDrawing17.vml"/><Relationship Id="rId5" Type="http://schemas.openxmlformats.org/officeDocument/2006/relationships/slideLayout" Target="../slideLayouts/slideLayout2.xml"/><Relationship Id="rId4" Type="http://schemas.openxmlformats.org/officeDocument/2006/relationships/image" Target="../media/image30.wmf"/><Relationship Id="rId3" Type="http://schemas.openxmlformats.org/officeDocument/2006/relationships/oleObject" Target="../embeddings/oleObject21.bin"/><Relationship Id="rId2" Type="http://schemas.openxmlformats.org/officeDocument/2006/relationships/image" Target="../media/image29.wmf"/><Relationship Id="rId1" Type="http://schemas.openxmlformats.org/officeDocument/2006/relationships/oleObject" Target="../embeddings/oleObject20.bin"/></Relationships>
</file>

<file path=ppt/slides/_rels/slide102.xml.rels><?xml version="1.0" encoding="UTF-8" standalone="yes"?>
<Relationships xmlns="http://schemas.openxmlformats.org/package/2006/relationships"><Relationship Id="rId4" Type="http://schemas.openxmlformats.org/officeDocument/2006/relationships/vmlDrawing" Target="../drawings/vmlDrawing18.vml"/><Relationship Id="rId3" Type="http://schemas.openxmlformats.org/officeDocument/2006/relationships/slideLayout" Target="../slideLayouts/slideLayout2.xml"/><Relationship Id="rId2" Type="http://schemas.openxmlformats.org/officeDocument/2006/relationships/image" Target="../media/image33.wmf"/><Relationship Id="rId1" Type="http://schemas.openxmlformats.org/officeDocument/2006/relationships/oleObject" Target="../embeddings/oleObject22.bin"/></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8" Type="http://schemas.openxmlformats.org/officeDocument/2006/relationships/vmlDrawing" Target="../drawings/vmlDrawing19.vml"/><Relationship Id="rId7" Type="http://schemas.openxmlformats.org/officeDocument/2006/relationships/slideLayout" Target="../slideLayouts/slideLayout2.xml"/><Relationship Id="rId6" Type="http://schemas.openxmlformats.org/officeDocument/2006/relationships/oleObject" Target="../embeddings/oleObject26.bin"/><Relationship Id="rId5" Type="http://schemas.openxmlformats.org/officeDocument/2006/relationships/oleObject" Target="../embeddings/oleObject25.bin"/><Relationship Id="rId4" Type="http://schemas.openxmlformats.org/officeDocument/2006/relationships/image" Target="../media/image32.wmf"/><Relationship Id="rId3" Type="http://schemas.openxmlformats.org/officeDocument/2006/relationships/oleObject" Target="../embeddings/oleObject24.bin"/><Relationship Id="rId2" Type="http://schemas.openxmlformats.org/officeDocument/2006/relationships/image" Target="../media/image34.wmf"/><Relationship Id="rId1" Type="http://schemas.openxmlformats.org/officeDocument/2006/relationships/oleObject" Target="../embeddings/oleObject23.bin"/></Relationships>
</file>

<file path=ppt/slides/_rels/slide105.xml.rels><?xml version="1.0" encoding="UTF-8" standalone="yes"?>
<Relationships xmlns="http://schemas.openxmlformats.org/package/2006/relationships"><Relationship Id="rId4" Type="http://schemas.openxmlformats.org/officeDocument/2006/relationships/vmlDrawing" Target="../drawings/vmlDrawing20.vml"/><Relationship Id="rId3" Type="http://schemas.openxmlformats.org/officeDocument/2006/relationships/slideLayout" Target="../slideLayouts/slideLayout2.xml"/><Relationship Id="rId2" Type="http://schemas.openxmlformats.org/officeDocument/2006/relationships/image" Target="../media/image35.wmf"/><Relationship Id="rId1" Type="http://schemas.openxmlformats.org/officeDocument/2006/relationships/oleObject" Target="../embeddings/oleObject27.bin"/></Relationships>
</file>

<file path=ppt/slides/_rels/slide106.xml.rels><?xml version="1.0" encoding="UTF-8" standalone="yes"?>
<Relationships xmlns="http://schemas.openxmlformats.org/package/2006/relationships"><Relationship Id="rId4" Type="http://schemas.openxmlformats.org/officeDocument/2006/relationships/vmlDrawing" Target="../drawings/vmlDrawing21.vml"/><Relationship Id="rId3" Type="http://schemas.openxmlformats.org/officeDocument/2006/relationships/slideLayout" Target="../slideLayouts/slideLayout2.xml"/><Relationship Id="rId2" Type="http://schemas.openxmlformats.org/officeDocument/2006/relationships/image" Target="../media/image32.wmf"/><Relationship Id="rId1" Type="http://schemas.openxmlformats.org/officeDocument/2006/relationships/oleObject" Target="../embeddings/oleObject28.bin"/></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6.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7.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8.png"/></Relationships>
</file>

<file path=ppt/slides/_rels/slide116.xml.rels><?xml version="1.0" encoding="UTF-8" standalone="yes"?>
<Relationships xmlns="http://schemas.openxmlformats.org/package/2006/relationships"><Relationship Id="rId4" Type="http://schemas.openxmlformats.org/officeDocument/2006/relationships/vmlDrawing" Target="../drawings/vmlDrawing22.vml"/><Relationship Id="rId3" Type="http://schemas.openxmlformats.org/officeDocument/2006/relationships/slideLayout" Target="../slideLayouts/slideLayout2.xml"/><Relationship Id="rId2" Type="http://schemas.openxmlformats.org/officeDocument/2006/relationships/image" Target="../media/image39.wmf"/><Relationship Id="rId1" Type="http://schemas.openxmlformats.org/officeDocument/2006/relationships/oleObject" Target="../embeddings/oleObject29.bin"/></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4" Type="http://schemas.openxmlformats.org/officeDocument/2006/relationships/vmlDrawing" Target="../drawings/vmlDrawing23.vml"/><Relationship Id="rId3" Type="http://schemas.openxmlformats.org/officeDocument/2006/relationships/slideLayout" Target="../slideLayouts/slideLayout2.xml"/><Relationship Id="rId2" Type="http://schemas.openxmlformats.org/officeDocument/2006/relationships/image" Target="../media/image40.wmf"/><Relationship Id="rId1" Type="http://schemas.openxmlformats.org/officeDocument/2006/relationships/oleObject" Target="../embeddings/oleObject30.bin"/></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4" Type="http://schemas.openxmlformats.org/officeDocument/2006/relationships/vmlDrawing" Target="../drawings/vmlDrawing24.vml"/><Relationship Id="rId3" Type="http://schemas.openxmlformats.org/officeDocument/2006/relationships/slideLayout" Target="../slideLayouts/slideLayout2.xml"/><Relationship Id="rId2" Type="http://schemas.openxmlformats.org/officeDocument/2006/relationships/image" Target="../media/image41.wmf"/><Relationship Id="rId1" Type="http://schemas.openxmlformats.org/officeDocument/2006/relationships/oleObject" Target="../embeddings/oleObject31.bin"/></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4" Type="http://schemas.openxmlformats.org/officeDocument/2006/relationships/vmlDrawing" Target="../drawings/vmlDrawing25.vml"/><Relationship Id="rId3" Type="http://schemas.openxmlformats.org/officeDocument/2006/relationships/slideLayout" Target="../slideLayouts/slideLayout2.xml"/><Relationship Id="rId2" Type="http://schemas.openxmlformats.org/officeDocument/2006/relationships/image" Target="../media/image42.wmf"/><Relationship Id="rId1" Type="http://schemas.openxmlformats.org/officeDocument/2006/relationships/oleObject" Target="../embeddings/oleObject32.bin"/></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4" Type="http://schemas.openxmlformats.org/officeDocument/2006/relationships/vmlDrawing" Target="../drawings/vmlDrawing26.vml"/><Relationship Id="rId3" Type="http://schemas.openxmlformats.org/officeDocument/2006/relationships/slideLayout" Target="../slideLayouts/slideLayout2.xml"/><Relationship Id="rId2" Type="http://schemas.openxmlformats.org/officeDocument/2006/relationships/image" Target="../media/image43.wmf"/><Relationship Id="rId1" Type="http://schemas.openxmlformats.org/officeDocument/2006/relationships/oleObject" Target="../embeddings/oleObject33.bin"/></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4" Type="http://schemas.openxmlformats.org/officeDocument/2006/relationships/vmlDrawing" Target="../drawings/vmlDrawing27.vml"/><Relationship Id="rId3" Type="http://schemas.openxmlformats.org/officeDocument/2006/relationships/slideLayout" Target="../slideLayouts/slideLayout2.xml"/><Relationship Id="rId2" Type="http://schemas.openxmlformats.org/officeDocument/2006/relationships/image" Target="../media/image44.wmf"/><Relationship Id="rId1" Type="http://schemas.openxmlformats.org/officeDocument/2006/relationships/oleObject" Target="../embeddings/oleObject34.bin"/></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4" Type="http://schemas.openxmlformats.org/officeDocument/2006/relationships/vmlDrawing" Target="../drawings/vmlDrawing28.vml"/><Relationship Id="rId3" Type="http://schemas.openxmlformats.org/officeDocument/2006/relationships/slideLayout" Target="../slideLayouts/slideLayout2.xml"/><Relationship Id="rId2" Type="http://schemas.openxmlformats.org/officeDocument/2006/relationships/image" Target="../media/image45.wmf"/><Relationship Id="rId1" Type="http://schemas.openxmlformats.org/officeDocument/2006/relationships/oleObject" Target="../embeddings/oleObject35.bin"/></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4" Type="http://schemas.openxmlformats.org/officeDocument/2006/relationships/vmlDrawing" Target="../drawings/vmlDrawing29.vml"/><Relationship Id="rId3" Type="http://schemas.openxmlformats.org/officeDocument/2006/relationships/slideLayout" Target="../slideLayouts/slideLayout2.xml"/><Relationship Id="rId2" Type="http://schemas.openxmlformats.org/officeDocument/2006/relationships/image" Target="../media/image46.wmf"/><Relationship Id="rId1" Type="http://schemas.openxmlformats.org/officeDocument/2006/relationships/oleObject" Target="../embeddings/oleObject36.bin"/></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7.png"/></Relationships>
</file>

<file path=ppt/slides/_rels/slide1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8.png"/></Relationships>
</file>

<file path=ppt/slides/_rels/slide1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539750" y="1917065"/>
            <a:ext cx="8336280" cy="2707005"/>
          </a:xfrm>
          <a:prstGeom prst="rect">
            <a:avLst/>
          </a:prstGeom>
          <a:noFill/>
        </p:spPr>
        <p:txBody>
          <a:bodyPr wrap="square" rtlCol="0" anchor="t">
            <a:spAutoFit/>
          </a:bodyPr>
          <a:p>
            <a:pPr marL="0" marR="0" lvl="0" indent="0" algn="l" defTabSz="914400" rtl="0" eaLnBrk="1" fontAlgn="base" latinLnBrk="0" hangingPunct="1">
              <a:lnSpc>
                <a:spcPct val="100000"/>
              </a:lnSpc>
              <a:spcBef>
                <a:spcPct val="0"/>
              </a:spcBef>
              <a:spcAft>
                <a:spcPct val="0"/>
              </a:spcAft>
              <a:buClrTx/>
              <a:buSzTx/>
              <a:buFontTx/>
              <a:buNone/>
              <a:defRPr/>
            </a:pPr>
            <a: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t>中国计算机学会</a:t>
            </a:r>
            <a:b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36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t>“21世纪大学本科计算机专业系列教材”</a:t>
            </a: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br>
              <a:rPr lang="zh-CN" altLang="en-US" sz="3200" b="1" kern="0" noProof="0" dirty="0">
                <a:ln>
                  <a:noFill/>
                </a:ln>
                <a:solidFill>
                  <a:srgbClr val="CC0000"/>
                </a:solidFill>
                <a:effectLst/>
                <a:uLnTx/>
                <a:uFillTx/>
                <a:latin typeface="微软雅黑" panose="020B0503020204020204" charset="-122"/>
                <a:ea typeface="微软雅黑" panose="020B0503020204020204" charset="-122"/>
                <a:cs typeface="Times New Roman" panose="02020603050405020304" pitchFamily="18" charset="0"/>
                <a:sym typeface="+mn-ea"/>
              </a:rPr>
            </a:br>
            <a:r>
              <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rPr>
              <a:t>计算机组成原理</a:t>
            </a:r>
            <a:endParaRPr lang="zh-CN" altLang="en-US" sz="6600" b="1" kern="0" noProof="0" dirty="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Times New Roman" panose="02020603050405020304" pitchFamily="18" charset="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5698" name="Rectangle 2"/>
          <p:cNvSpPr>
            <a:spLocks noGrp="1" noChangeArrowheads="1"/>
          </p:cNvSpPr>
          <p:nvPr>
            <p:ph type="ctrTitle"/>
          </p:nvPr>
        </p:nvSpPr>
        <p:spPr>
          <a:xfrm>
            <a:off x="762000" y="1600200"/>
            <a:ext cx="7772400" cy="2971800"/>
          </a:xfrm>
        </p:spPr>
        <p:txBody>
          <a:bodyPr/>
          <a:lstStyle/>
          <a:p>
            <a:pPr marL="0" marR="0" lvl="0" indent="0" algn="l" defTabSz="914400" rtl="0" eaLnBrk="1" fontAlgn="base" latinLnBrk="0" hangingPunct="1">
              <a:lnSpc>
                <a:spcPct val="140000"/>
              </a:lnSpc>
              <a:spcBef>
                <a:spcPct val="0"/>
              </a:spcBef>
              <a:spcAft>
                <a:spcPct val="0"/>
              </a:spcAft>
              <a:buClrTx/>
              <a:buSzTx/>
              <a:buFontTx/>
              <a:buNone/>
              <a:defRPr/>
            </a:pPr>
            <a:r>
              <a:rPr kumimoji="0" lang="zh-CN" altLang="en-US" sz="8000" b="1" i="0" u="none" strike="noStrike" kern="0" cap="none" spc="0" normalizeH="0" baseline="0" noProof="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rPr>
              <a:t>第4章</a:t>
            </a:r>
            <a:br>
              <a:rPr kumimoji="0" lang="zh-CN" altLang="en-US" sz="8000" b="1" i="0" u="none" strike="noStrike" kern="0" cap="none" spc="0" normalizeH="0" baseline="0" noProof="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rPr>
            </a:br>
            <a:r>
              <a:rPr kumimoji="0" lang="zh-CN" altLang="en-US" sz="8000" b="1" i="0" u="none" strike="noStrike" kern="0" cap="none" spc="0" normalizeH="0" baseline="0" noProof="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rPr>
              <a:t>数值的机器运算</a:t>
            </a:r>
            <a:endParaRPr kumimoji="0" lang="en-US" altLang="zh-CN" sz="8000" b="1" i="0" u="none" strike="noStrike" kern="0" cap="none" spc="0" normalizeH="0" baseline="0" noProof="0">
              <a:ln>
                <a:noFill/>
              </a:ln>
              <a:solidFill>
                <a:schemeClr val="tx2"/>
              </a:solidFill>
              <a:effectLst>
                <a:outerShdw blurRad="38100" dist="38100" dir="2700000" algn="tl">
                  <a:srgbClr val="C0C0C0"/>
                </a:outerShdw>
              </a:effectLst>
              <a:uLnTx/>
              <a:uFillTx/>
              <a:latin typeface="微软雅黑" panose="020B0503020204020204" charset="-122"/>
              <a:ea typeface="微软雅黑" panose="020B0503020204020204" charset="-122"/>
              <a:cs typeface="微软雅黑" panose="020B0503020204020204" charset="-122"/>
            </a:endParaRPr>
          </a:p>
        </p:txBody>
      </p:sp>
      <p:sp>
        <p:nvSpPr>
          <p:cNvPr id="15362" name="灯片编号占位符 5"/>
          <p:cNvSpPr txBox="1">
            <a:spLocks noGrp="1"/>
          </p:cNvSpPr>
          <p:nvPr>
            <p:ph type="sldNum" sz="quarter"/>
          </p:nvPr>
        </p:nvSpPr>
        <p:spPr>
          <a:xfrm>
            <a:off x="7239000" y="6248400"/>
            <a:ext cx="1905000" cy="457200"/>
          </a:xfrm>
          <a:prstGeom prst="rect">
            <a:avLst/>
          </a:prstGeom>
          <a:noFill/>
          <a:ln w="9525">
            <a:noFill/>
          </a:ln>
        </p:spPr>
        <p:txBody>
          <a:bodyPr anchor="t" anchorCtr="0"/>
          <a:lstStyle>
            <a:lvl1pPr marL="0" lvl="0" indent="0" algn="l" defTabSz="914400" rtl="0" eaLnBrk="1" fontAlgn="base" latinLnBrk="0" hangingPunct="1">
              <a:lnSpc>
                <a:spcPct val="100000"/>
              </a:lnSpc>
              <a:spcBef>
                <a:spcPct val="0"/>
              </a:spcBef>
              <a:spcAft>
                <a:spcPct val="0"/>
              </a:spcAft>
              <a:buNone/>
              <a:defRPr sz="1800" b="0" i="0" u="none" kern="1200" baseline="0">
                <a:solidFill>
                  <a:schemeClr val="accent2"/>
                </a:solidFill>
                <a:latin typeface="Arial" panose="020B0604020202020204" pitchFamily="34" charset="0"/>
                <a:ea typeface="华文行楷" panose="02010800040101010101" pitchFamily="2" charset="-122"/>
              </a:defRPr>
            </a:lvl1pPr>
            <a:lvl2pPr marL="457200" lvl="1"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b="0" i="0" u="none" kern="1200" baseline="0">
                <a:solidFill>
                  <a:schemeClr val="accent2"/>
                </a:solidFill>
                <a:latin typeface="Arial" panose="020B0604020202020204" pitchFamily="34" charset="0"/>
                <a:ea typeface="华文行楷" panose="02010800040101010101" pitchFamily="2" charset="-122"/>
                <a:cs typeface="+mn-cs"/>
              </a:defRPr>
            </a:lvl5pPr>
          </a:lstStyle>
          <a:p>
            <a:pPr lvl="0" algn="ctr"/>
            <a:fld id="{9A0DB2DC-4C9A-4742-B13C-FB6460FD3503}" type="slidenum">
              <a:rPr lang="zh-CN" altLang="en-US" sz="1800" dirty="0">
                <a:solidFill>
                  <a:schemeClr val="tx1"/>
                </a:solidFill>
                <a:latin typeface="微软雅黑" panose="020B0503020204020204" charset="-122"/>
                <a:ea typeface="微软雅黑" panose="020B0503020204020204" charset="-122"/>
              </a:rPr>
            </a:fld>
            <a:endParaRPr lang="zh-CN" altLang="en-US" sz="1800" dirty="0">
              <a:solidFill>
                <a:schemeClr val="tx1"/>
              </a:solidFill>
              <a:latin typeface="微软雅黑" panose="020B0503020204020204" charset="-122"/>
              <a:ea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5" name="标题 1"/>
          <p:cNvSpPr>
            <a:spLocks noGrp="1"/>
          </p:cNvSpPr>
          <p:nvPr>
            <p:ph type="title"/>
          </p:nvPr>
        </p:nvSpPr>
        <p:spPr>
          <a:noFill/>
          <a:ln>
            <a:noFill/>
          </a:ln>
        </p:spPr>
        <p:txBody>
          <a:bodyPr anchor="t" anchorCtr="0"/>
          <a:p>
            <a:pPr eaLnBrk="1" hangingPunct="1"/>
            <a:r>
              <a:rPr lang="zh-CN" altLang="en-US" dirty="0"/>
              <a:t>运算器</a:t>
            </a:r>
            <a:endParaRPr lang="zh-CN" altLang="en-US" dirty="0"/>
          </a:p>
        </p:txBody>
      </p:sp>
      <p:sp>
        <p:nvSpPr>
          <p:cNvPr id="16386" name="内容占位符 2"/>
          <p:cNvSpPr>
            <a:spLocks noGrp="1"/>
          </p:cNvSpPr>
          <p:nvPr>
            <p:ph idx="1"/>
          </p:nvPr>
        </p:nvSpPr>
        <p:spPr>
          <a:noFill/>
          <a:ln>
            <a:noFill/>
          </a:ln>
        </p:spPr>
        <p:txBody>
          <a:bodyPr anchor="t" anchorCtr="0"/>
          <a:p>
            <a:pPr eaLnBrk="1" latinLnBrk="0" hangingPunct="1">
              <a:spcBef>
                <a:spcPts val="1200"/>
              </a:spcBef>
            </a:pPr>
            <a:r>
              <a:rPr lang="zh-CN" altLang="en-US" dirty="0"/>
              <a:t>计算机进行算术运算和逻辑运算的主要部件；</a:t>
            </a:r>
            <a:endParaRPr lang="zh-CN" altLang="en-US" dirty="0"/>
          </a:p>
          <a:p>
            <a:pPr eaLnBrk="1" latinLnBrk="0" hangingPunct="1">
              <a:spcBef>
                <a:spcPts val="2400"/>
              </a:spcBef>
            </a:pPr>
            <a:r>
              <a:rPr lang="zh-CN" altLang="en-US" dirty="0"/>
              <a:t>运算器的逻辑结构取决于：</a:t>
            </a:r>
            <a:endParaRPr lang="zh-CN" altLang="en-US" dirty="0"/>
          </a:p>
          <a:p>
            <a:pPr lvl="1" eaLnBrk="1" latinLnBrk="0" hangingPunct="1">
              <a:spcBef>
                <a:spcPts val="1200"/>
              </a:spcBef>
            </a:pPr>
            <a:r>
              <a:rPr lang="zh-CN" altLang="en-US" sz="2400" dirty="0"/>
              <a:t>指令系统；</a:t>
            </a:r>
            <a:endParaRPr lang="zh-CN" altLang="en-US" sz="2400" dirty="0"/>
          </a:p>
          <a:p>
            <a:pPr lvl="1" eaLnBrk="1" latinLnBrk="0" hangingPunct="1">
              <a:spcBef>
                <a:spcPts val="1200"/>
              </a:spcBef>
            </a:pPr>
            <a:r>
              <a:rPr lang="zh-CN" altLang="en-US" sz="2400" dirty="0"/>
              <a:t>数据表示方法；</a:t>
            </a:r>
            <a:endParaRPr lang="zh-CN" altLang="en-US" sz="2400" dirty="0"/>
          </a:p>
          <a:p>
            <a:pPr lvl="1" eaLnBrk="1" latinLnBrk="0" hangingPunct="1">
              <a:spcBef>
                <a:spcPts val="1200"/>
              </a:spcBef>
            </a:pPr>
            <a:r>
              <a:rPr lang="zh-CN" altLang="en-US" sz="2400" dirty="0"/>
              <a:t>运算方法等。</a:t>
            </a:r>
            <a:endParaRPr lang="en-US" altLang="zh-CN" dirty="0"/>
          </a:p>
          <a:p>
            <a:pPr eaLnBrk="1" hangingPunct="1">
              <a:spcBef>
                <a:spcPts val="1800"/>
              </a:spcBef>
            </a:pPr>
            <a:r>
              <a:rPr lang="zh-CN" altLang="en-US" dirty="0"/>
              <a:t>本章主要讨论数值数据在计算机中：</a:t>
            </a:r>
            <a:endParaRPr lang="zh-CN" altLang="en-US" dirty="0"/>
          </a:p>
          <a:p>
            <a:pPr lvl="1" eaLnBrk="1" latinLnBrk="0" hangingPunct="1">
              <a:spcBef>
                <a:spcPts val="1200"/>
              </a:spcBef>
              <a:buSzTx/>
            </a:pPr>
            <a:r>
              <a:rPr lang="zh-CN" altLang="en-US" sz="2400" dirty="0"/>
              <a:t>实现算术运算和逻辑运算的方法；</a:t>
            </a:r>
            <a:endParaRPr lang="zh-CN" altLang="en-US" sz="2400" dirty="0"/>
          </a:p>
          <a:p>
            <a:pPr lvl="1" eaLnBrk="1" latinLnBrk="0" hangingPunct="1">
              <a:spcBef>
                <a:spcPts val="1200"/>
              </a:spcBef>
              <a:buSzTx/>
            </a:pPr>
            <a:r>
              <a:rPr lang="zh-CN" altLang="en-US" sz="2400" dirty="0"/>
              <a:t>运算部件的基本结构和工作原理。</a:t>
            </a:r>
            <a:r>
              <a:rPr lang="zh-CN" altLang="en-US" dirty="0"/>
              <a:t> </a:t>
            </a:r>
            <a:endParaRPr lang="zh-CN"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9" name="标题 1"/>
          <p:cNvSpPr>
            <a:spLocks noGrp="1"/>
          </p:cNvSpPr>
          <p:nvPr>
            <p:ph type="title"/>
          </p:nvPr>
        </p:nvSpPr>
        <p:spPr>
          <a:noFill/>
          <a:ln>
            <a:noFill/>
          </a:ln>
        </p:spPr>
        <p:txBody>
          <a:bodyPr anchor="t" anchorCtr="0"/>
          <a:p>
            <a:pPr eaLnBrk="1" hangingPunct="1"/>
            <a:r>
              <a:rPr lang="zh-CN" altLang="en-US" dirty="0"/>
              <a:t>本章学习内容</a:t>
            </a:r>
            <a:endParaRPr lang="zh-CN" altLang="en-US" dirty="0"/>
          </a:p>
        </p:txBody>
      </p:sp>
      <p:sp>
        <p:nvSpPr>
          <p:cNvPr id="17410" name="内容占位符 2"/>
          <p:cNvSpPr>
            <a:spLocks noGrp="1"/>
          </p:cNvSpPr>
          <p:nvPr>
            <p:ph idx="1"/>
          </p:nvPr>
        </p:nvSpPr>
        <p:spPr>
          <a:xfrm>
            <a:off x="423863" y="1417638"/>
            <a:ext cx="8229600" cy="4781550"/>
          </a:xfrm>
          <a:noFill/>
          <a:ln>
            <a:noFill/>
          </a:ln>
        </p:spPr>
        <p:txBody>
          <a:bodyPr anchor="t" anchorCtr="0"/>
          <a:p>
            <a:pPr eaLnBrk="1" hangingPunct="1"/>
            <a:r>
              <a:rPr lang="en-US" altLang="zh-CN" dirty="0">
                <a:latin typeface="Times New Roman" panose="02020603050405020304" pitchFamily="18" charset="0"/>
              </a:rPr>
              <a:t>4.1 </a:t>
            </a:r>
            <a:r>
              <a:rPr lang="zh-CN" altLang="en-US" dirty="0">
                <a:latin typeface="Times New Roman" panose="02020603050405020304" pitchFamily="18" charset="0"/>
              </a:rPr>
              <a:t>基本算术运算的实现</a:t>
            </a:r>
            <a:endParaRPr lang="zh-CN" altLang="en-US" dirty="0">
              <a:latin typeface="Times New Roman" panose="02020603050405020304" pitchFamily="18" charset="0"/>
            </a:endParaRPr>
          </a:p>
          <a:p>
            <a:pPr eaLnBrk="1" hangingPunct="1"/>
            <a:r>
              <a:rPr lang="en-US" altLang="zh-CN" dirty="0">
                <a:latin typeface="Times New Roman" panose="02020603050405020304" pitchFamily="18" charset="0"/>
              </a:rPr>
              <a:t>4.2 </a:t>
            </a:r>
            <a:r>
              <a:rPr lang="zh-CN" altLang="en-US" dirty="0">
                <a:latin typeface="Times New Roman" panose="02020603050405020304" pitchFamily="18" charset="0"/>
              </a:rPr>
              <a:t>定点加减运算</a:t>
            </a:r>
            <a:endParaRPr lang="zh-CN" altLang="en-US" dirty="0">
              <a:latin typeface="Times New Roman" panose="02020603050405020304" pitchFamily="18" charset="0"/>
            </a:endParaRPr>
          </a:p>
          <a:p>
            <a:pPr eaLnBrk="1" hangingPunct="1"/>
            <a:r>
              <a:rPr lang="en-US" altLang="zh-CN" dirty="0">
                <a:latin typeface="Times New Roman" panose="02020603050405020304" pitchFamily="18" charset="0"/>
              </a:rPr>
              <a:t>4.3 </a:t>
            </a:r>
            <a:r>
              <a:rPr lang="zh-CN" altLang="en-US" dirty="0">
                <a:latin typeface="Times New Roman" panose="02020603050405020304" pitchFamily="18" charset="0"/>
              </a:rPr>
              <a:t>带符号数的移位和舍入操作</a:t>
            </a:r>
            <a:endParaRPr lang="zh-CN" altLang="en-US" dirty="0">
              <a:latin typeface="Times New Roman" panose="02020603050405020304" pitchFamily="18" charset="0"/>
            </a:endParaRPr>
          </a:p>
          <a:p>
            <a:pPr eaLnBrk="1" hangingPunct="1"/>
            <a:r>
              <a:rPr lang="en-US" altLang="zh-CN" dirty="0">
                <a:latin typeface="Times New Roman" panose="02020603050405020304" pitchFamily="18" charset="0"/>
              </a:rPr>
              <a:t>4.4 </a:t>
            </a:r>
            <a:r>
              <a:rPr lang="zh-CN" altLang="en-US" dirty="0">
                <a:latin typeface="Times New Roman" panose="02020603050405020304" pitchFamily="18" charset="0"/>
              </a:rPr>
              <a:t>定点乘法运算</a:t>
            </a:r>
            <a:endParaRPr lang="zh-CN" altLang="en-US" dirty="0">
              <a:latin typeface="Times New Roman" panose="02020603050405020304" pitchFamily="18" charset="0"/>
            </a:endParaRPr>
          </a:p>
          <a:p>
            <a:pPr eaLnBrk="1" hangingPunct="1"/>
            <a:r>
              <a:rPr lang="en-US" altLang="zh-CN" dirty="0">
                <a:latin typeface="Times New Roman" panose="02020603050405020304" pitchFamily="18" charset="0"/>
              </a:rPr>
              <a:t>4.5 </a:t>
            </a:r>
            <a:r>
              <a:rPr lang="zh-CN" altLang="en-US" dirty="0">
                <a:latin typeface="Times New Roman" panose="02020603050405020304" pitchFamily="18" charset="0"/>
              </a:rPr>
              <a:t>定点除法运算</a:t>
            </a:r>
            <a:endParaRPr lang="zh-CN" altLang="en-US" dirty="0">
              <a:latin typeface="Times New Roman" panose="02020603050405020304" pitchFamily="18" charset="0"/>
            </a:endParaRPr>
          </a:p>
          <a:p>
            <a:pPr eaLnBrk="1" hangingPunct="1"/>
            <a:r>
              <a:rPr lang="en-US" altLang="zh-CN" dirty="0">
                <a:latin typeface="Times New Roman" panose="02020603050405020304" pitchFamily="18" charset="0"/>
              </a:rPr>
              <a:t>4.6 </a:t>
            </a:r>
            <a:r>
              <a:rPr lang="zh-CN" altLang="en-US" dirty="0">
                <a:latin typeface="Times New Roman" panose="02020603050405020304" pitchFamily="18" charset="0"/>
              </a:rPr>
              <a:t>规格化浮点运算</a:t>
            </a:r>
            <a:endParaRPr lang="zh-CN" altLang="en-US" dirty="0">
              <a:latin typeface="Times New Roman" panose="02020603050405020304" pitchFamily="18" charset="0"/>
            </a:endParaRPr>
          </a:p>
          <a:p>
            <a:pPr eaLnBrk="1" hangingPunct="1"/>
            <a:r>
              <a:rPr lang="en-US" altLang="zh-CN" dirty="0">
                <a:latin typeface="Times New Roman" panose="02020603050405020304" pitchFamily="18" charset="0"/>
              </a:rPr>
              <a:t>4.7 </a:t>
            </a:r>
            <a:r>
              <a:rPr lang="zh-CN" altLang="en-US" dirty="0">
                <a:latin typeface="Times New Roman" panose="02020603050405020304" pitchFamily="18" charset="0"/>
              </a:rPr>
              <a:t>十进制整数的加法运算</a:t>
            </a:r>
            <a:endParaRPr lang="zh-CN" altLang="en-US" dirty="0">
              <a:latin typeface="Times New Roman" panose="02020603050405020304" pitchFamily="18" charset="0"/>
            </a:endParaRPr>
          </a:p>
          <a:p>
            <a:pPr eaLnBrk="1" hangingPunct="1"/>
            <a:r>
              <a:rPr lang="en-US" altLang="zh-CN" dirty="0">
                <a:latin typeface="Times New Roman" panose="02020603050405020304" pitchFamily="18" charset="0"/>
              </a:rPr>
              <a:t>4.8 </a:t>
            </a:r>
            <a:r>
              <a:rPr lang="zh-CN" altLang="en-US" dirty="0">
                <a:latin typeface="Times New Roman" panose="02020603050405020304" pitchFamily="18" charset="0"/>
              </a:rPr>
              <a:t>逻辑运算与实现</a:t>
            </a:r>
            <a:endParaRPr lang="zh-CN" altLang="en-US" dirty="0">
              <a:latin typeface="Times New Roman" panose="02020603050405020304" pitchFamily="18" charset="0"/>
            </a:endParaRPr>
          </a:p>
          <a:p>
            <a:pPr eaLnBrk="1" hangingPunct="1"/>
            <a:r>
              <a:rPr lang="en-US" altLang="zh-CN" dirty="0">
                <a:latin typeface="Times New Roman" panose="02020603050405020304" pitchFamily="18" charset="0"/>
              </a:rPr>
              <a:t>4.9 </a:t>
            </a:r>
            <a:r>
              <a:rPr lang="zh-CN" altLang="en-US" dirty="0">
                <a:latin typeface="Times New Roman" panose="02020603050405020304" pitchFamily="18" charset="0"/>
              </a:rPr>
              <a:t>运算器的基本组成与实例</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4.1  </a:t>
            </a:r>
            <a:r>
              <a:rPr lang="zh-CN" altLang="en-US" dirty="0">
                <a:latin typeface="Times New Roman" panose="02020603050405020304" pitchFamily="18" charset="0"/>
              </a:rPr>
              <a:t>基本算术运算的实现</a:t>
            </a:r>
            <a:endParaRPr lang="zh-CN" altLang="en-US" dirty="0">
              <a:latin typeface="Times New Roman" panose="02020603050405020304" pitchFamily="18" charset="0"/>
            </a:endParaRPr>
          </a:p>
        </p:txBody>
      </p:sp>
      <p:sp>
        <p:nvSpPr>
          <p:cNvPr id="19458" name="内容占位符 2"/>
          <p:cNvSpPr>
            <a:spLocks noGrp="1"/>
          </p:cNvSpPr>
          <p:nvPr>
            <p:ph idx="1"/>
          </p:nvPr>
        </p:nvSpPr>
        <p:spPr>
          <a:noFill/>
          <a:ln>
            <a:noFill/>
          </a:ln>
        </p:spPr>
        <p:txBody>
          <a:bodyPr anchor="t" anchorCtr="0"/>
          <a:p>
            <a:pPr eaLnBrk="1" hangingPunct="1"/>
            <a:r>
              <a:rPr lang="zh-CN" altLang="en-US" dirty="0">
                <a:solidFill>
                  <a:srgbClr val="FF0000"/>
                </a:solidFill>
                <a:latin typeface="Times New Roman" panose="02020603050405020304" pitchFamily="18" charset="0"/>
              </a:rPr>
              <a:t>加法运算：</a:t>
            </a:r>
            <a:endParaRPr lang="zh-CN" altLang="en-US" dirty="0">
              <a:solidFill>
                <a:srgbClr val="FF0000"/>
              </a:solidFill>
              <a:latin typeface="Times New Roman" panose="02020603050405020304" pitchFamily="18" charset="0"/>
            </a:endParaRPr>
          </a:p>
          <a:p>
            <a:pPr lvl="1" eaLnBrk="1" latinLnBrk="0" hangingPunct="1">
              <a:spcBef>
                <a:spcPts val="1200"/>
              </a:spcBef>
            </a:pPr>
            <a:r>
              <a:rPr lang="zh-CN" altLang="en-US" dirty="0">
                <a:latin typeface="Times New Roman" panose="02020603050405020304" pitchFamily="18" charset="0"/>
              </a:rPr>
              <a:t>是计算机中</a:t>
            </a:r>
            <a:r>
              <a:rPr lang="zh-CN" altLang="en-US" dirty="0">
                <a:solidFill>
                  <a:srgbClr val="FF0000"/>
                </a:solidFill>
                <a:latin typeface="Times New Roman" panose="02020603050405020304" pitchFamily="18" charset="0"/>
              </a:rPr>
              <a:t>最基本的算术运算</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eaLnBrk="1" latinLnBrk="0" hangingPunct="1">
              <a:spcBef>
                <a:spcPts val="1200"/>
              </a:spcBef>
            </a:pPr>
            <a:r>
              <a:rPr lang="zh-CN" altLang="en-US" dirty="0">
                <a:latin typeface="Times New Roman" panose="02020603050405020304" pitchFamily="18" charset="0"/>
              </a:rPr>
              <a:t>加、减、乘、除运算都可以归结为加法运算。</a:t>
            </a:r>
            <a:endParaRPr lang="zh-CN" altLang="en-US" dirty="0">
              <a:latin typeface="Times New Roman" panose="02020603050405020304" pitchFamily="18" charset="0"/>
            </a:endParaRPr>
          </a:p>
          <a:p>
            <a:pPr eaLnBrk="1" latinLnBrk="0" hangingPunct="1">
              <a:spcBef>
                <a:spcPts val="2400"/>
              </a:spcBef>
            </a:pPr>
            <a:r>
              <a:rPr lang="zh-CN" altLang="en-US" dirty="0">
                <a:latin typeface="Times New Roman" panose="02020603050405020304" pitchFamily="18" charset="0"/>
              </a:rPr>
              <a:t>加法器：</a:t>
            </a:r>
            <a:endParaRPr lang="zh-CN" altLang="en-US" dirty="0">
              <a:latin typeface="Times New Roman" panose="02020603050405020304" pitchFamily="18" charset="0"/>
            </a:endParaRPr>
          </a:p>
          <a:p>
            <a:pPr lvl="1" eaLnBrk="1" latinLnBrk="0" hangingPunct="1">
              <a:spcBef>
                <a:spcPts val="1200"/>
              </a:spcBef>
              <a:buSzTx/>
            </a:pPr>
            <a:r>
              <a:rPr lang="zh-CN" altLang="en-US" dirty="0">
                <a:latin typeface="Times New Roman" panose="02020603050405020304" pitchFamily="18" charset="0"/>
              </a:rPr>
              <a:t>最基本的运算部件；</a:t>
            </a:r>
            <a:endParaRPr lang="zh-CN" altLang="en-US" dirty="0">
              <a:latin typeface="Times New Roman" panose="02020603050405020304" pitchFamily="18" charset="0"/>
            </a:endParaRPr>
          </a:p>
          <a:p>
            <a:pPr lvl="1" eaLnBrk="1" latinLnBrk="0" hangingPunct="1">
              <a:spcBef>
                <a:spcPts val="1200"/>
              </a:spcBef>
              <a:buSzTx/>
            </a:pPr>
            <a:r>
              <a:rPr lang="zh-CN" altLang="en-US" dirty="0">
                <a:latin typeface="Times New Roman" panose="02020603050405020304" pitchFamily="18" charset="0"/>
              </a:rPr>
              <a:t>关键问题：</a:t>
            </a:r>
            <a:r>
              <a:rPr lang="zh-CN" altLang="en-US" dirty="0">
                <a:solidFill>
                  <a:srgbClr val="FF0000"/>
                </a:solidFill>
                <a:latin typeface="Times New Roman" panose="02020603050405020304" pitchFamily="18" charset="0"/>
              </a:rPr>
              <a:t>并行加法器</a:t>
            </a:r>
            <a:r>
              <a:rPr lang="zh-CN" altLang="en-US" dirty="0">
                <a:latin typeface="Times New Roman" panose="02020603050405020304" pitchFamily="18" charset="0"/>
              </a:rPr>
              <a:t>的进位问题。</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4.1.1  </a:t>
            </a:r>
            <a:r>
              <a:rPr lang="zh-CN" altLang="en-US" dirty="0">
                <a:latin typeface="Times New Roman" panose="02020603050405020304" pitchFamily="18" charset="0"/>
              </a:rPr>
              <a:t>加法器 </a:t>
            </a:r>
            <a:endParaRPr lang="zh-CN" altLang="en-US" dirty="0">
              <a:latin typeface="Times New Roman" panose="02020603050405020304" pitchFamily="18" charset="0"/>
            </a:endParaRPr>
          </a:p>
        </p:txBody>
      </p:sp>
      <p:sp>
        <p:nvSpPr>
          <p:cNvPr id="20482" name="内容占位符 2"/>
          <p:cNvSpPr>
            <a:spLocks noGrp="1"/>
          </p:cNvSpPr>
          <p:nvPr>
            <p:ph idx="1"/>
          </p:nvPr>
        </p:nvSpPr>
        <p:spPr>
          <a:xfrm>
            <a:off x="457200" y="1628775"/>
            <a:ext cx="4402138" cy="4330700"/>
          </a:xfrm>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全加器</a:t>
            </a:r>
            <a:endParaRPr lang="zh-CN" altLang="en-US" dirty="0">
              <a:latin typeface="Times New Roman" panose="02020603050405020304" pitchFamily="18" charset="0"/>
            </a:endParaRPr>
          </a:p>
          <a:p>
            <a:pPr lvl="1" eaLnBrk="1" latinLnBrk="0" hangingPunct="1">
              <a:spcBef>
                <a:spcPts val="2400"/>
              </a:spcBef>
            </a:pPr>
            <a:r>
              <a:rPr lang="zh-CN" altLang="en-US" sz="2400" dirty="0">
                <a:latin typeface="Times New Roman" panose="02020603050405020304" pitchFamily="18" charset="0"/>
              </a:rPr>
              <a:t>全加器（</a:t>
            </a:r>
            <a:r>
              <a:rPr lang="en-US" altLang="zh-CN" sz="2400" dirty="0">
                <a:latin typeface="Times New Roman" panose="02020603050405020304" pitchFamily="18" charset="0"/>
              </a:rPr>
              <a:t>FA</a:t>
            </a:r>
            <a:r>
              <a:rPr lang="zh-CN" altLang="en-US" sz="2400" dirty="0">
                <a:latin typeface="Times New Roman" panose="02020603050405020304" pitchFamily="18" charset="0"/>
              </a:rPr>
              <a:t>）是最基本的加法单元；</a:t>
            </a:r>
            <a:endParaRPr lang="en-US" altLang="zh-CN" sz="2400" dirty="0">
              <a:latin typeface="Times New Roman" panose="02020603050405020304" pitchFamily="18" charset="0"/>
            </a:endParaRPr>
          </a:p>
          <a:p>
            <a:pPr lvl="1" eaLnBrk="1" latinLnBrk="0" hangingPunct="1">
              <a:spcBef>
                <a:spcPts val="2400"/>
              </a:spcBef>
            </a:pPr>
            <a:r>
              <a:rPr lang="zh-CN" altLang="en-US" sz="2400" dirty="0">
                <a:latin typeface="Times New Roman" panose="02020603050405020304" pitchFamily="18" charset="0"/>
              </a:rPr>
              <a:t>三个输入量：操作数</a:t>
            </a:r>
            <a:r>
              <a:rPr lang="en-US" altLang="zh-CN" sz="2400" dirty="0">
                <a:latin typeface="Times New Roman" panose="02020603050405020304" pitchFamily="18" charset="0"/>
              </a:rPr>
              <a:t>Ai</a:t>
            </a:r>
            <a:r>
              <a:rPr lang="zh-CN" altLang="en-US" sz="2400" dirty="0">
                <a:latin typeface="Times New Roman" panose="02020603050405020304" pitchFamily="18" charset="0"/>
              </a:rPr>
              <a:t>和</a:t>
            </a:r>
            <a:r>
              <a:rPr lang="en-US" altLang="zh-CN" sz="2400" dirty="0">
                <a:latin typeface="Times New Roman" panose="02020603050405020304" pitchFamily="18" charset="0"/>
              </a:rPr>
              <a:t>Bi</a:t>
            </a:r>
            <a:r>
              <a:rPr lang="zh-CN" altLang="en-US" sz="2400" dirty="0">
                <a:latin typeface="Times New Roman" panose="02020603050405020304" pitchFamily="18" charset="0"/>
              </a:rPr>
              <a:t>、低位传来的进位</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i-1</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eaLnBrk="1" latinLnBrk="0" hangingPunct="1">
              <a:spcBef>
                <a:spcPts val="2400"/>
              </a:spcBef>
            </a:pPr>
            <a:r>
              <a:rPr lang="zh-CN" altLang="en-US" sz="2400" dirty="0">
                <a:latin typeface="Times New Roman" panose="02020603050405020304" pitchFamily="18" charset="0"/>
              </a:rPr>
              <a:t>两个输出量：本位和</a:t>
            </a:r>
            <a:r>
              <a:rPr lang="en-US" altLang="zh-CN" sz="2400" dirty="0">
                <a:latin typeface="Times New Roman" panose="02020603050405020304" pitchFamily="18" charset="0"/>
              </a:rPr>
              <a:t>Si</a:t>
            </a:r>
            <a:r>
              <a:rPr lang="zh-CN" altLang="en-US" sz="2400" dirty="0">
                <a:latin typeface="Times New Roman" panose="02020603050405020304" pitchFamily="18" charset="0"/>
              </a:rPr>
              <a:t>、向高位的进位</a:t>
            </a:r>
            <a:r>
              <a:rPr lang="en-US" altLang="zh-CN" sz="2400" dirty="0">
                <a:latin typeface="Times New Roman" panose="02020603050405020304" pitchFamily="18" charset="0"/>
              </a:rPr>
              <a:t>Ci</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eaLnBrk="1" hangingPunct="1"/>
            <a:endParaRPr lang="zh-CN" altLang="en-US" sz="2400" dirty="0">
              <a:latin typeface="Times New Roman" panose="02020603050405020304" pitchFamily="18" charset="0"/>
            </a:endParaRPr>
          </a:p>
        </p:txBody>
      </p:sp>
      <p:graphicFrame>
        <p:nvGraphicFramePr>
          <p:cNvPr id="20483" name="Object 4"/>
          <p:cNvGraphicFramePr>
            <a:graphicFrameLocks noChangeAspect="1"/>
          </p:cNvGraphicFramePr>
          <p:nvPr/>
        </p:nvGraphicFramePr>
        <p:xfrm>
          <a:off x="4629150" y="1546225"/>
          <a:ext cx="4411663" cy="3403600"/>
        </p:xfrm>
        <a:graphic>
          <a:graphicData uri="http://schemas.openxmlformats.org/presentationml/2006/ole">
            <mc:AlternateContent xmlns:mc="http://schemas.openxmlformats.org/markup-compatibility/2006">
              <mc:Choice xmlns:v="urn:schemas-microsoft-com:vml" Requires="v">
                <p:oleObj spid="_x0000_s3076" name="" r:id="rId1" imgW="1912620" imgH="1480820" progId="Visio.Drawing.6">
                  <p:embed/>
                </p:oleObj>
              </mc:Choice>
              <mc:Fallback>
                <p:oleObj name="" r:id="rId1" imgW="1912620" imgH="1480820" progId="Visio.Drawing.6">
                  <p:embed/>
                  <p:pic>
                    <p:nvPicPr>
                      <p:cNvPr id="0" name="图片 3075"/>
                      <p:cNvPicPr/>
                      <p:nvPr/>
                    </p:nvPicPr>
                    <p:blipFill>
                      <a:blip r:embed="rId2"/>
                      <a:stretch>
                        <a:fillRect/>
                      </a:stretch>
                    </p:blipFill>
                    <p:spPr>
                      <a:xfrm>
                        <a:off x="4629150" y="1546225"/>
                        <a:ext cx="4411663" cy="3403600"/>
                      </a:xfrm>
                      <a:prstGeom prst="rect">
                        <a:avLst/>
                      </a:prstGeom>
                      <a:noFill/>
                      <a:ln w="38100">
                        <a:noFill/>
                        <a:miter/>
                      </a:ln>
                    </p:spPr>
                  </p:pic>
                </p:oleObj>
              </mc:Fallback>
            </mc:AlternateContent>
          </a:graphicData>
        </a:graphic>
      </p:graphicFrame>
      <p:sp>
        <p:nvSpPr>
          <p:cNvPr id="5" name="矩形 4"/>
          <p:cNvSpPr/>
          <p:nvPr/>
        </p:nvSpPr>
        <p:spPr>
          <a:xfrm>
            <a:off x="5345113" y="4883150"/>
            <a:ext cx="2978150" cy="400050"/>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hlink"/>
                </a:solidFill>
                <a:effectLst/>
                <a:uLnTx/>
                <a:uFillTx/>
                <a:latin typeface="Times New Roman" panose="02020603050405020304" pitchFamily="18" charset="0"/>
                <a:ea typeface="黑体" panose="02010609060101010101" pitchFamily="49" charset="-122"/>
                <a:cs typeface="Times New Roman" panose="02020603050405020304" pitchFamily="18" charset="0"/>
              </a:rPr>
              <a:t>图</a:t>
            </a:r>
            <a:r>
              <a:rPr kumimoji="0" lang="en-US" altLang="zh-CN" sz="2000" b="1" i="0" u="none" strike="noStrike" kern="1200" cap="none" spc="0" normalizeH="0" baseline="0" noProof="0" dirty="0">
                <a:ln>
                  <a:noFill/>
                </a:ln>
                <a:solidFill>
                  <a:schemeClr val="hlink"/>
                </a:solidFill>
                <a:effectLst/>
                <a:uLnTx/>
                <a:uFillTx/>
                <a:latin typeface="Times New Roman" panose="02020603050405020304" pitchFamily="18" charset="0"/>
                <a:ea typeface="黑体" panose="02010609060101010101" pitchFamily="49" charset="-122"/>
                <a:cs typeface="Times New Roman" panose="02020603050405020304" pitchFamily="18" charset="0"/>
              </a:rPr>
              <a:t>4-1 </a:t>
            </a:r>
            <a:r>
              <a:rPr kumimoji="0" lang="zh-CN" altLang="en-US" sz="2000" b="1" i="0" u="none" strike="noStrike" kern="1200" cap="none" spc="0" normalizeH="0" baseline="0" noProof="0" dirty="0">
                <a:ln>
                  <a:noFill/>
                </a:ln>
                <a:solidFill>
                  <a:schemeClr val="hlink"/>
                </a:solidFill>
                <a:effectLst/>
                <a:uLnTx/>
                <a:uFillTx/>
                <a:latin typeface="Times New Roman" panose="02020603050405020304" pitchFamily="18" charset="0"/>
                <a:ea typeface="黑体" panose="02010609060101010101" pitchFamily="49" charset="-122"/>
                <a:cs typeface="Times New Roman" panose="02020603050405020304" pitchFamily="18" charset="0"/>
              </a:rPr>
              <a:t>全加器的逻辑框图 </a:t>
            </a:r>
            <a:endParaRPr kumimoji="0" lang="zh-CN" altLang="en-US" sz="2000" b="1" i="0" u="none" strike="noStrike" kern="1200" cap="none" spc="0" normalizeH="0" baseline="0" noProof="0" dirty="0">
              <a:ln>
                <a:noFill/>
              </a:ln>
              <a:solidFill>
                <a:schemeClr val="hlin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5" name="标题 1"/>
          <p:cNvSpPr>
            <a:spLocks noGrp="1"/>
          </p:cNvSpPr>
          <p:nvPr>
            <p:ph type="title"/>
          </p:nvPr>
        </p:nvSpPr>
        <p:spPr>
          <a:noFill/>
          <a:ln>
            <a:noFill/>
          </a:ln>
        </p:spPr>
        <p:txBody>
          <a:bodyPr anchor="t" anchorCtr="0"/>
          <a:p>
            <a:pPr eaLnBrk="1" hangingPunct="1"/>
            <a:r>
              <a:rPr lang="zh-CN" altLang="en-US" dirty="0"/>
              <a:t>全加器真值表及逻辑表达式</a:t>
            </a:r>
            <a:endParaRPr lang="zh-CN" altLang="en-US" dirty="0"/>
          </a:p>
        </p:txBody>
      </p:sp>
      <p:pic>
        <p:nvPicPr>
          <p:cNvPr id="21506" name="图片 36"/>
          <p:cNvPicPr>
            <a:picLocks noChangeAspect="1"/>
          </p:cNvPicPr>
          <p:nvPr/>
        </p:nvPicPr>
        <p:blipFill>
          <a:blip r:embed="rId1"/>
          <a:stretch>
            <a:fillRect/>
          </a:stretch>
        </p:blipFill>
        <p:spPr>
          <a:xfrm>
            <a:off x="1619250" y="1092200"/>
            <a:ext cx="5100638" cy="3530600"/>
          </a:xfrm>
          <a:prstGeom prst="rect">
            <a:avLst/>
          </a:prstGeom>
          <a:noFill/>
          <a:ln w="9525">
            <a:noFill/>
          </a:ln>
        </p:spPr>
      </p:pic>
      <p:sp>
        <p:nvSpPr>
          <p:cNvPr id="38" name="矩形 37"/>
          <p:cNvSpPr/>
          <p:nvPr/>
        </p:nvSpPr>
        <p:spPr>
          <a:xfrm>
            <a:off x="1187450" y="4556125"/>
            <a:ext cx="6337300" cy="1766888"/>
          </a:xfrm>
          <a:prstGeom prst="rect">
            <a:avLst/>
          </a:prstGeom>
        </p:spPr>
        <p:txBody>
          <a:bodyPr>
            <a:spAutoFit/>
          </a:bodyPr>
          <a:lstStyle/>
          <a:p>
            <a:pPr marL="342900" marR="0" lvl="0" indent="-342900" algn="l" defTabSz="914400" rtl="0" eaLnBrk="1" fontAlgn="base" latinLnBrk="0" hangingPunct="1">
              <a:lnSpc>
                <a:spcPct val="100000"/>
              </a:lnSpc>
              <a:spcBef>
                <a:spcPct val="20000"/>
              </a:spcBef>
              <a:spcAft>
                <a:spcPct val="0"/>
              </a:spcAft>
              <a:buClrTx/>
              <a:buSzTx/>
              <a:buFontTx/>
              <a:buNone/>
              <a:defRPr/>
            </a:pPr>
            <a:r>
              <a:rPr kumimoji="0" lang="zh-CN" altLang="en-US"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全加器的逻辑表达式为：</a:t>
            </a:r>
            <a:endParaRPr kumimoji="0" lang="zh-CN" altLang="en-US" sz="28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Tx/>
              <a:buSzTx/>
              <a:buFontTx/>
              <a:buNone/>
              <a:defRPr/>
            </a:pPr>
            <a:r>
              <a:rPr kumimoji="1" lang="zh-CN" altLang="en-US" sz="3200" b="1" i="0" u="none" strike="noStrike" kern="0" cap="none" spc="0" normalizeH="0" baseline="0" noProof="0" dirty="0">
                <a:ln>
                  <a:noFill/>
                </a:ln>
                <a:solidFill>
                  <a:srgbClr val="000000"/>
                </a:solidFill>
                <a:effectLst/>
                <a:uLnTx/>
                <a:uFillTx/>
                <a:latin typeface="Times New Roman" panose="02020603050405020304"/>
                <a:ea typeface="宋体" panose="02010600030101010101" pitchFamily="2" charset="-122"/>
                <a:cs typeface="Times New Roman" panose="02020603050405020304" pitchFamily="18" charset="0"/>
              </a:rPr>
              <a:t>            </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S</a:t>
            </a:r>
            <a:r>
              <a:rPr kumimoji="1" lang="en-US" altLang="zh-CN" sz="3200" b="1" i="0" u="none" strike="noStrike" kern="0" cap="none" spc="0" normalizeH="0" baseline="-3000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=A</a:t>
            </a:r>
            <a:r>
              <a:rPr kumimoji="1" lang="en-US" altLang="zh-CN" sz="3200" b="1" i="0" u="none" strike="noStrike" kern="0" cap="none" spc="0" normalizeH="0" baseline="-3000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mn-cs"/>
              </a:rPr>
              <a:t>⊕</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B</a:t>
            </a:r>
            <a:r>
              <a:rPr kumimoji="1" lang="en-US" altLang="zh-CN" sz="3200" b="1" i="0" u="none" strike="noStrike" kern="0" cap="none" spc="0" normalizeH="0" baseline="-3000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mn-cs"/>
              </a:rPr>
              <a:t>⊕</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C</a:t>
            </a:r>
            <a:r>
              <a:rPr kumimoji="1" lang="en-US" altLang="zh-CN" sz="3200" b="1" i="0" u="none" strike="noStrike" kern="0" cap="none" spc="0" normalizeH="0" baseline="-3000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i-1</a:t>
            </a:r>
            <a:endParaRPr kumimoji="1" lang="en-US" altLang="zh-CN" sz="3200" b="1" i="0" u="none" strike="noStrike" kern="0" cap="none" spc="0" normalizeH="0" baseline="0" noProof="0" dirty="0">
              <a:ln>
                <a:noFill/>
              </a:ln>
              <a:solidFill>
                <a:srgbClr val="FF3300"/>
              </a:solidFill>
              <a:effectLst/>
              <a:uLnTx/>
              <a:uFillTx/>
              <a:latin typeface="宋体" panose="02010600030101010101" pitchFamily="2" charset="-122"/>
              <a:ea typeface="宋体" panose="02010600030101010101" pitchFamily="2" charset="-122"/>
              <a:cs typeface="+mn-cs"/>
            </a:endParaRPr>
          </a:p>
          <a:p>
            <a:pPr marL="342900" marR="0" lvl="0" indent="-342900" algn="just" defTabSz="914400" rtl="0" eaLnBrk="1" fontAlgn="base" latinLnBrk="0" hangingPunct="1">
              <a:lnSpc>
                <a:spcPct val="100000"/>
              </a:lnSpc>
              <a:spcBef>
                <a:spcPct val="20000"/>
              </a:spcBef>
              <a:spcAft>
                <a:spcPct val="0"/>
              </a:spcAft>
              <a:buClrTx/>
              <a:buSzTx/>
              <a:buFontTx/>
              <a:buNone/>
              <a:defRPr/>
            </a:pP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            C</a:t>
            </a:r>
            <a:r>
              <a:rPr kumimoji="1" lang="en-US" altLang="zh-CN" sz="3200" b="1" i="0" u="none" strike="noStrike" kern="0" cap="none" spc="0" normalizeH="0" baseline="-3000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A</a:t>
            </a:r>
            <a:r>
              <a:rPr kumimoji="1" lang="en-US" altLang="zh-CN" sz="3200" b="1" i="0" u="none" strike="noStrike" kern="0" cap="none" spc="0" normalizeH="0" baseline="-30000" noProof="0" dirty="0" err="1">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B</a:t>
            </a:r>
            <a:r>
              <a:rPr kumimoji="1" lang="en-US" altLang="zh-CN" sz="3200" b="1" i="0" u="none" strike="noStrike" kern="0" cap="none" spc="0" normalizeH="0" baseline="-30000" noProof="0" dirty="0" err="1">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A</a:t>
            </a:r>
            <a:r>
              <a:rPr kumimoji="1" lang="en-US" altLang="zh-CN" sz="3200" b="1" i="0" u="none" strike="noStrike" kern="0" cap="none" spc="0" normalizeH="0" baseline="-30000" noProof="0" dirty="0" err="1">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a:ea typeface="宋体" panose="02010600030101010101" pitchFamily="2" charset="-122"/>
                <a:cs typeface="+mn-cs"/>
              </a:rPr>
              <a:t>⊕</a:t>
            </a:r>
            <a:r>
              <a:rPr kumimoji="1" lang="en-US" altLang="zh-CN" sz="3200" b="1" i="0" u="none" strike="noStrike" kern="0" cap="none" spc="0" normalizeH="0" baseline="0" noProof="0" dirty="0" err="1">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B</a:t>
            </a:r>
            <a:r>
              <a:rPr kumimoji="1" lang="en-US" altLang="zh-CN" sz="3200" b="1" i="0" u="none" strike="noStrike" kern="0" cap="none" spc="0" normalizeH="0" baseline="-30000" noProof="0" dirty="0" err="1">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a:t>
            </a:r>
            <a:r>
              <a:rPr kumimoji="1" lang="en-US" altLang="zh-CN" sz="3200" b="1" i="0" u="none" strike="noStrike" kern="0" cap="none" spc="0" normalizeH="0" baseline="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)C</a:t>
            </a:r>
            <a:r>
              <a:rPr kumimoji="1" lang="en-US" altLang="zh-CN" sz="3200" b="1" i="0" u="none" strike="noStrike" kern="0" cap="none" spc="0" normalizeH="0" baseline="-3000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rPr>
              <a:t>i-1</a:t>
            </a:r>
            <a:endParaRPr kumimoji="1" lang="en-US" altLang="zh-CN" sz="3200" b="1" i="0" u="none" strike="noStrike" kern="0" cap="none" spc="0" normalizeH="0" baseline="-30000" noProof="0" dirty="0">
              <a:ln>
                <a:noFill/>
              </a:ln>
              <a:solidFill>
                <a:srgbClr val="FF3300"/>
              </a:solidFill>
              <a:effectLst/>
              <a:uLnTx/>
              <a:uFillTx/>
              <a:latin typeface="Times New Roman" panose="02020603050405020304"/>
              <a:ea typeface="宋体" panose="02010600030101010101" pitchFamily="2" charset="-122"/>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2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串行加法器与并行加法器</a:t>
            </a:r>
            <a:endParaRPr lang="zh-CN" altLang="en-US" dirty="0">
              <a:latin typeface="Times New Roman" panose="02020603050405020304" pitchFamily="18" charset="0"/>
            </a:endParaRPr>
          </a:p>
        </p:txBody>
      </p:sp>
      <p:sp>
        <p:nvSpPr>
          <p:cNvPr id="22530" name="内容占位符 2"/>
          <p:cNvSpPr>
            <a:spLocks noGrp="1"/>
          </p:cNvSpPr>
          <p:nvPr>
            <p:ph idx="1"/>
          </p:nvPr>
        </p:nvSpPr>
        <p:spPr>
          <a:noFill/>
          <a:ln>
            <a:noFill/>
          </a:ln>
        </p:spPr>
        <p:txBody>
          <a:bodyPr anchor="t" anchorCtr="0"/>
          <a:p>
            <a:pPr eaLnBrk="1" hangingPunct="1"/>
            <a:r>
              <a:rPr lang="zh-CN" altLang="en-US" dirty="0">
                <a:solidFill>
                  <a:srgbClr val="FF0000"/>
                </a:solidFill>
                <a:latin typeface="Times New Roman" panose="02020603050405020304" pitchFamily="18" charset="0"/>
              </a:rPr>
              <a:t>串行</a:t>
            </a:r>
            <a:r>
              <a:rPr lang="zh-CN" altLang="en-US" dirty="0">
                <a:latin typeface="Times New Roman" panose="02020603050405020304" pitchFamily="18" charset="0"/>
              </a:rPr>
              <a:t>加法器：</a:t>
            </a:r>
            <a:endParaRPr lang="en-US" altLang="zh-CN"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一个全加器，数据</a:t>
            </a:r>
            <a:r>
              <a:rPr lang="zh-CN" altLang="en-US" sz="2400" dirty="0">
                <a:solidFill>
                  <a:srgbClr val="FF0000"/>
                </a:solidFill>
                <a:latin typeface="Times New Roman" panose="02020603050405020304" pitchFamily="18" charset="0"/>
              </a:rPr>
              <a:t>逐位</a:t>
            </a:r>
            <a:r>
              <a:rPr lang="zh-CN" altLang="en-US" sz="2400" dirty="0">
                <a:latin typeface="Times New Roman" panose="02020603050405020304" pitchFamily="18" charset="0"/>
              </a:rPr>
              <a:t>串行送入进行运算；</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器件少、成本低；</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运算速度慢，很少采用。</a:t>
            </a:r>
            <a:endParaRPr lang="zh-CN" altLang="en-US" dirty="0">
              <a:latin typeface="Times New Roman" panose="02020603050405020304" pitchFamily="18" charset="0"/>
            </a:endParaRPr>
          </a:p>
          <a:p>
            <a:pPr eaLnBrk="1" latinLnBrk="0" hangingPunct="1">
              <a:spcBef>
                <a:spcPts val="2400"/>
              </a:spcBef>
            </a:pPr>
            <a:r>
              <a:rPr lang="zh-CN" altLang="en-US" dirty="0">
                <a:solidFill>
                  <a:srgbClr val="FF0000"/>
                </a:solidFill>
                <a:latin typeface="Times New Roman" panose="02020603050405020304" pitchFamily="18" charset="0"/>
              </a:rPr>
              <a:t>并行</a:t>
            </a:r>
            <a:r>
              <a:rPr lang="zh-CN" altLang="en-US" dirty="0">
                <a:latin typeface="Times New Roman" panose="02020603050405020304" pitchFamily="18" charset="0"/>
              </a:rPr>
              <a:t>加法器：</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由多个全加器组成，数据的各位</a:t>
            </a:r>
            <a:r>
              <a:rPr lang="zh-CN" altLang="en-US" sz="2400" dirty="0">
                <a:solidFill>
                  <a:srgbClr val="FF0000"/>
                </a:solidFill>
                <a:latin typeface="Times New Roman" panose="02020603050405020304" pitchFamily="18" charset="0"/>
              </a:rPr>
              <a:t>同时</a:t>
            </a:r>
            <a:r>
              <a:rPr lang="zh-CN" altLang="en-US" sz="2400" dirty="0">
                <a:latin typeface="Times New Roman" panose="02020603050405020304" pitchFamily="18" charset="0"/>
              </a:rPr>
              <a:t>运算；</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其位数的多少取决于机器的字长。</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串行加法器与并行加法器（续）</a:t>
            </a:r>
            <a:endParaRPr lang="zh-CN" altLang="en-US" dirty="0">
              <a:latin typeface="Times New Roman" panose="02020603050405020304" pitchFamily="18" charset="0"/>
            </a:endParaRPr>
          </a:p>
        </p:txBody>
      </p:sp>
      <p:sp>
        <p:nvSpPr>
          <p:cNvPr id="23554" name="内容占位符 2"/>
          <p:cNvSpPr>
            <a:spLocks noGrp="1"/>
          </p:cNvSpPr>
          <p:nvPr>
            <p:ph idx="1"/>
          </p:nvPr>
        </p:nvSpPr>
        <p:spPr>
          <a:xfrm>
            <a:off x="457200" y="1417638"/>
            <a:ext cx="8229600" cy="4708525"/>
          </a:xfrm>
          <a:noFill/>
          <a:ln>
            <a:noFill/>
          </a:ln>
        </p:spPr>
        <p:txBody>
          <a:bodyPr anchor="t" anchorCtr="0"/>
          <a:p>
            <a:pPr eaLnBrk="1" hangingPunct="1"/>
            <a:r>
              <a:rPr lang="zh-CN" altLang="en-US" dirty="0">
                <a:latin typeface="Times New Roman" panose="02020603050405020304" pitchFamily="18" charset="0"/>
              </a:rPr>
              <a:t>并行加法器存在</a:t>
            </a:r>
            <a:r>
              <a:rPr lang="zh-CN" altLang="en-US" dirty="0">
                <a:solidFill>
                  <a:srgbClr val="CC0000"/>
                </a:solidFill>
                <a:latin typeface="Times New Roman" panose="02020603050405020304" pitchFamily="18" charset="0"/>
              </a:rPr>
              <a:t>最长运算时间</a:t>
            </a:r>
            <a:r>
              <a:rPr lang="zh-CN" altLang="en-US" dirty="0">
                <a:latin typeface="Times New Roman" panose="02020603050405020304" pitchFamily="18" charset="0"/>
              </a:rPr>
              <a:t>问题：</a:t>
            </a:r>
            <a:endParaRPr lang="en-US" altLang="zh-CN"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操作数各位同时提供，低位</a:t>
            </a:r>
            <a:r>
              <a:rPr lang="zh-CN" altLang="en-US" sz="2400" dirty="0">
                <a:solidFill>
                  <a:srgbClr val="FF0000"/>
                </a:solidFill>
                <a:latin typeface="Times New Roman" panose="02020603050405020304" pitchFamily="18" charset="0"/>
              </a:rPr>
              <a:t>进位</a:t>
            </a:r>
            <a:r>
              <a:rPr lang="zh-CN" altLang="en-US" sz="2400" dirty="0">
                <a:latin typeface="Times New Roman" panose="02020603050405020304" pitchFamily="18" charset="0"/>
              </a:rPr>
              <a:t>影响高位运算结果；</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最低位产生的进位将逐位影响至最高位；</a:t>
            </a:r>
            <a:endParaRPr lang="en-US" altLang="zh-CN"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主要由</a:t>
            </a:r>
            <a:r>
              <a:rPr lang="zh-CN" altLang="en-US" sz="2400" dirty="0">
                <a:solidFill>
                  <a:srgbClr val="FF0000"/>
                </a:solidFill>
                <a:latin typeface="Times New Roman" panose="02020603050405020304" pitchFamily="18" charset="0"/>
              </a:rPr>
              <a:t>进位信号传递时间决定</a:t>
            </a:r>
            <a:r>
              <a:rPr lang="zh-CN" altLang="en-US" sz="2400" dirty="0">
                <a:latin typeface="Times New Roman" panose="02020603050405020304" pitchFamily="18" charset="0"/>
              </a:rPr>
              <a:t>，求和延迟是次要因素。</a:t>
            </a:r>
            <a:endParaRPr lang="en-US" altLang="zh-CN" sz="2400" dirty="0">
              <a:latin typeface="Times New Roman" panose="02020603050405020304" pitchFamily="18" charset="0"/>
            </a:endParaRPr>
          </a:p>
          <a:p>
            <a:pPr eaLnBrk="1" latinLnBrk="0" hangingPunct="1">
              <a:spcBef>
                <a:spcPts val="2400"/>
              </a:spcBef>
            </a:pPr>
            <a:r>
              <a:rPr lang="zh-CN" altLang="en-US" dirty="0">
                <a:latin typeface="Times New Roman" panose="02020603050405020304" pitchFamily="18" charset="0"/>
              </a:rPr>
              <a:t>提高并行加法器速度的关键：</a:t>
            </a:r>
            <a:endParaRPr lang="zh-CN" altLang="en-US" dirty="0">
              <a:latin typeface="Times New Roman" panose="02020603050405020304" pitchFamily="18" charset="0"/>
            </a:endParaRPr>
          </a:p>
          <a:p>
            <a:pPr lvl="1" eaLnBrk="1" hangingPunct="1">
              <a:spcBef>
                <a:spcPts val="1800"/>
              </a:spcBef>
            </a:pPr>
            <a:r>
              <a:rPr lang="zh-CN" altLang="en-US" dirty="0">
                <a:latin typeface="Times New Roman" panose="02020603050405020304" pitchFamily="18" charset="0"/>
                <a:cs typeface="+mn-ea"/>
              </a:rPr>
              <a:t>尽量加快</a:t>
            </a:r>
            <a:r>
              <a:rPr lang="zh-CN" altLang="en-US" dirty="0">
                <a:solidFill>
                  <a:srgbClr val="FF0000"/>
                </a:solidFill>
                <a:latin typeface="Times New Roman" panose="02020603050405020304" pitchFamily="18" charset="0"/>
              </a:rPr>
              <a:t>进位产生和传递的速度</a:t>
            </a:r>
            <a:r>
              <a:rPr lang="zh-CN" altLang="en-US" dirty="0">
                <a:latin typeface="Times New Roman" panose="02020603050405020304" pitchFamily="18" charset="0"/>
              </a:rPr>
              <a:t>。</a:t>
            </a:r>
            <a:endParaRPr lang="zh-CN" altLang="en-US" dirty="0">
              <a:latin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4.1.2 </a:t>
            </a:r>
            <a:r>
              <a:rPr lang="zh-CN" altLang="en-US" dirty="0">
                <a:latin typeface="Times New Roman" panose="02020603050405020304" pitchFamily="18" charset="0"/>
              </a:rPr>
              <a:t>进位的产生和传递</a:t>
            </a:r>
            <a:endParaRPr lang="zh-CN" altLang="en-US" dirty="0">
              <a:latin typeface="Times New Roman" panose="02020603050405020304" pitchFamily="18" charset="0"/>
            </a:endParaRPr>
          </a:p>
        </p:txBody>
      </p:sp>
      <p:sp>
        <p:nvSpPr>
          <p:cNvPr id="24578" name="内容占位符 2"/>
          <p:cNvSpPr>
            <a:spLocks noGrp="1"/>
          </p:cNvSpPr>
          <p:nvPr>
            <p:ph idx="1"/>
          </p:nvPr>
        </p:nvSpPr>
        <p:spPr>
          <a:noFill/>
          <a:ln>
            <a:noFill/>
          </a:ln>
        </p:spPr>
        <p:txBody>
          <a:bodyPr anchor="t" anchorCtr="0"/>
          <a:p>
            <a:pPr eaLnBrk="1" hangingPunct="1"/>
            <a:r>
              <a:rPr lang="zh-CN" altLang="en-US" dirty="0">
                <a:solidFill>
                  <a:srgbClr val="FF0000"/>
                </a:solidFill>
                <a:latin typeface="Times New Roman" panose="02020603050405020304" pitchFamily="18" charset="0"/>
              </a:rPr>
              <a:t>进位链：</a:t>
            </a:r>
            <a:endParaRPr lang="zh-CN" altLang="en-US" dirty="0">
              <a:solidFill>
                <a:srgbClr val="FF0000"/>
              </a:solidFill>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每一个全加器都有进位输入和进位输出；</a:t>
            </a:r>
            <a:endParaRPr lang="en-US" altLang="zh-CN"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传递进位信号的逻辑线路连接构成进位网络；</a:t>
            </a:r>
            <a:endParaRPr lang="zh-CN" altLang="en-US"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进位表达式为：</a:t>
            </a:r>
            <a:r>
              <a:rPr lang="en-US" altLang="zh-CN" dirty="0">
                <a:solidFill>
                  <a:srgbClr val="FF0000"/>
                </a:solidFill>
                <a:latin typeface="Times New Roman" panose="02020603050405020304" pitchFamily="18" charset="0"/>
              </a:rPr>
              <a:t>C</a:t>
            </a:r>
            <a:r>
              <a:rPr lang="en-US" altLang="zh-CN"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rPr>
              <a:t>=A</a:t>
            </a:r>
            <a:r>
              <a:rPr lang="en-US" altLang="zh-CN"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rPr>
              <a:t>B</a:t>
            </a:r>
            <a:r>
              <a:rPr lang="en-US" altLang="zh-CN"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rPr>
              <a:t>+(A</a:t>
            </a:r>
            <a:r>
              <a:rPr lang="en-US" altLang="zh-CN"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rPr>
              <a:t>⊕B</a:t>
            </a:r>
            <a:r>
              <a:rPr lang="en-US" altLang="zh-CN"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rPr>
              <a:t>)C</a:t>
            </a:r>
            <a:r>
              <a:rPr lang="en-US" altLang="zh-CN" baseline="-25000" dirty="0">
                <a:solidFill>
                  <a:srgbClr val="FF0000"/>
                </a:solidFill>
                <a:latin typeface="Times New Roman" panose="02020603050405020304" pitchFamily="18" charset="0"/>
              </a:rPr>
              <a:t>i-1</a:t>
            </a:r>
            <a:r>
              <a:rPr lang="zh-CN" altLang="en-US" baseline="-25000" dirty="0">
                <a:solidFill>
                  <a:srgbClr val="FF0000"/>
                </a:solidFill>
                <a:latin typeface="Times New Roman" panose="02020603050405020304" pitchFamily="18" charset="0"/>
              </a:rPr>
              <a:t>，</a:t>
            </a:r>
            <a:r>
              <a:rPr lang="zh-CN" altLang="en-US" dirty="0">
                <a:latin typeface="Times New Roman" panose="02020603050405020304" pitchFamily="18" charset="0"/>
              </a:rPr>
              <a:t>其中：</a:t>
            </a:r>
            <a:endParaRPr lang="en-US" altLang="zh-CN" baseline="-25000" dirty="0">
              <a:solidFill>
                <a:srgbClr val="FF0000"/>
              </a:solidFill>
              <a:latin typeface="Times New Roman" panose="02020603050405020304" pitchFamily="18" charset="0"/>
            </a:endParaRPr>
          </a:p>
          <a:p>
            <a:pPr lvl="2" eaLnBrk="1" latinLnBrk="0" hangingPunct="1">
              <a:spcBef>
                <a:spcPts val="1200"/>
              </a:spcBef>
            </a:pPr>
            <a:r>
              <a:rPr lang="en-US" altLang="zh-CN" dirty="0">
                <a:latin typeface="Times New Roman" panose="02020603050405020304" pitchFamily="18" charset="0"/>
              </a:rPr>
              <a:t>G</a:t>
            </a:r>
            <a:r>
              <a:rPr lang="en-US" altLang="zh-CN" baseline="-25000" dirty="0">
                <a:latin typeface="Times New Roman" panose="02020603050405020304" pitchFamily="18" charset="0"/>
              </a:rPr>
              <a:t>i</a:t>
            </a:r>
            <a:r>
              <a:rPr lang="en-US" altLang="zh-CN" dirty="0">
                <a:latin typeface="Times New Roman" panose="02020603050405020304" pitchFamily="18" charset="0"/>
              </a:rPr>
              <a:t>=A</a:t>
            </a:r>
            <a:r>
              <a:rPr lang="en-US" altLang="zh-CN" baseline="-25000" dirty="0">
                <a:latin typeface="Times New Roman" panose="02020603050405020304" pitchFamily="18" charset="0"/>
              </a:rPr>
              <a:t>i</a:t>
            </a:r>
            <a:r>
              <a:rPr lang="en-US" altLang="zh-CN" dirty="0">
                <a:latin typeface="Times New Roman" panose="02020603050405020304" pitchFamily="18" charset="0"/>
              </a:rPr>
              <a:t>B</a:t>
            </a:r>
            <a:r>
              <a:rPr lang="en-US" altLang="zh-CN" baseline="-25000" dirty="0">
                <a:latin typeface="Times New Roman" panose="02020603050405020304" pitchFamily="18" charset="0"/>
              </a:rPr>
              <a:t>i</a:t>
            </a:r>
            <a:r>
              <a:rPr lang="zh-CN" altLang="en-US" dirty="0">
                <a:latin typeface="Times New Roman" panose="02020603050405020304" pitchFamily="18" charset="0"/>
              </a:rPr>
              <a:t>为进位产生函数；</a:t>
            </a:r>
            <a:endParaRPr lang="zh-CN" altLang="en-US" dirty="0">
              <a:latin typeface="Times New Roman" panose="02020603050405020304" pitchFamily="18" charset="0"/>
            </a:endParaRPr>
          </a:p>
          <a:p>
            <a:pPr lvl="2" eaLnBrk="1" latinLnBrk="0" hangingPunct="1">
              <a:spcBef>
                <a:spcPts val="1200"/>
              </a:spcBef>
            </a:pPr>
            <a:r>
              <a:rPr lang="en-US" altLang="zh-CN" dirty="0">
                <a:latin typeface="Times New Roman" panose="02020603050405020304" pitchFamily="18" charset="0"/>
              </a:rPr>
              <a:t>P</a:t>
            </a:r>
            <a:r>
              <a:rPr lang="en-US" altLang="zh-CN" baseline="-25000" dirty="0">
                <a:latin typeface="Times New Roman" panose="02020603050405020304" pitchFamily="18" charset="0"/>
              </a:rPr>
              <a:t>i</a:t>
            </a:r>
            <a:r>
              <a:rPr lang="en-US" altLang="zh-CN" dirty="0">
                <a:latin typeface="Times New Roman" panose="02020603050405020304" pitchFamily="18" charset="0"/>
              </a:rPr>
              <a:t>=A</a:t>
            </a:r>
            <a:r>
              <a:rPr lang="en-US" altLang="zh-CN" baseline="-25000" dirty="0">
                <a:latin typeface="Times New Roman" panose="02020603050405020304" pitchFamily="18" charset="0"/>
              </a:rPr>
              <a:t>i</a:t>
            </a:r>
            <a:r>
              <a:rPr lang="en-US" altLang="zh-CN" dirty="0">
                <a:latin typeface="Times New Roman" panose="02020603050405020304" pitchFamily="18" charset="0"/>
              </a:rPr>
              <a:t>⊕B</a:t>
            </a:r>
            <a:r>
              <a:rPr lang="en-US" altLang="zh-CN" baseline="-25000" dirty="0">
                <a:latin typeface="Times New Roman" panose="02020603050405020304" pitchFamily="18" charset="0"/>
              </a:rPr>
              <a:t>i</a:t>
            </a:r>
            <a:r>
              <a:rPr lang="zh-CN" altLang="en-US" dirty="0">
                <a:latin typeface="Times New Roman" panose="02020603050405020304" pitchFamily="18" charset="0"/>
              </a:rPr>
              <a:t>为进位传递函数；</a:t>
            </a:r>
            <a:endParaRPr lang="zh-CN" altLang="en-US"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进位表达式：</a:t>
            </a:r>
            <a:r>
              <a:rPr lang="en-US" altLang="zh-CN" dirty="0">
                <a:solidFill>
                  <a:srgbClr val="FF0000"/>
                </a:solidFill>
                <a:latin typeface="Times New Roman" panose="02020603050405020304" pitchFamily="18" charset="0"/>
              </a:rPr>
              <a:t>C</a:t>
            </a:r>
            <a:r>
              <a:rPr lang="en-US" altLang="zh-CN"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rPr>
              <a:t>=G</a:t>
            </a:r>
            <a:r>
              <a:rPr lang="en-US" altLang="zh-CN"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rPr>
              <a:t>+P</a:t>
            </a:r>
            <a:r>
              <a:rPr lang="en-US" altLang="zh-CN" baseline="-25000" dirty="0">
                <a:solidFill>
                  <a:srgbClr val="FF0000"/>
                </a:solidFill>
                <a:latin typeface="Times New Roman" panose="02020603050405020304" pitchFamily="18" charset="0"/>
              </a:rPr>
              <a:t>i</a:t>
            </a:r>
            <a:r>
              <a:rPr lang="en-US" altLang="zh-CN" dirty="0">
                <a:solidFill>
                  <a:srgbClr val="FF0000"/>
                </a:solidFill>
                <a:latin typeface="Times New Roman" panose="02020603050405020304" pitchFamily="18" charset="0"/>
              </a:rPr>
              <a:t>C</a:t>
            </a:r>
            <a:r>
              <a:rPr lang="en-US" altLang="zh-CN" baseline="-25000" dirty="0">
                <a:solidFill>
                  <a:srgbClr val="FF0000"/>
                </a:solidFill>
                <a:latin typeface="Times New Roman" panose="02020603050405020304" pitchFamily="18" charset="0"/>
              </a:rPr>
              <a:t>i-1</a:t>
            </a:r>
            <a:r>
              <a:rPr lang="zh-CN" altLang="en-US" baseline="-25000" dirty="0">
                <a:solidFill>
                  <a:srgbClr val="FF0000"/>
                </a:solidFill>
                <a:latin typeface="Times New Roman" panose="02020603050405020304" pitchFamily="18" charset="0"/>
              </a:rPr>
              <a:t>。</a:t>
            </a:r>
            <a:endParaRPr lang="zh-CN" altLang="en-US" baseline="-25000" dirty="0">
              <a:solidFill>
                <a:srgbClr val="FF0000"/>
              </a:solidFill>
              <a:latin typeface="Times New Roman" panose="02020603050405020304" pitchFamily="18" charset="0"/>
              <a:ea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1"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串行进位的并行加法器 </a:t>
            </a:r>
            <a:endParaRPr lang="zh-CN" altLang="en-US" dirty="0">
              <a:latin typeface="Times New Roman" panose="02020603050405020304" pitchFamily="18" charset="0"/>
            </a:endParaRPr>
          </a:p>
        </p:txBody>
      </p:sp>
      <p:sp>
        <p:nvSpPr>
          <p:cNvPr id="25602" name="内容占位符 2"/>
          <p:cNvSpPr>
            <a:spLocks noGrp="1"/>
          </p:cNvSpPr>
          <p:nvPr>
            <p:ph idx="1"/>
          </p:nvPr>
        </p:nvSpPr>
        <p:spPr>
          <a:xfrm>
            <a:off x="1084263" y="4079875"/>
            <a:ext cx="6121400" cy="2419350"/>
          </a:xfrm>
          <a:noFill/>
          <a:ln>
            <a:noFill/>
          </a:ln>
        </p:spPr>
        <p:txBody>
          <a:bodyPr anchor="t" anchorCtr="0"/>
          <a:p>
            <a:pPr lvl="1" eaLnBrk="1" hangingPunct="1"/>
            <a:r>
              <a:rPr lang="zh-CN" altLang="en-US" dirty="0">
                <a:latin typeface="Times New Roman" panose="02020603050405020304" pitchFamily="18" charset="0"/>
              </a:rPr>
              <a:t>其中：</a:t>
            </a:r>
            <a:endParaRPr lang="en-US" altLang="zh-CN" dirty="0">
              <a:latin typeface="Times New Roman" panose="02020603050405020304" pitchFamily="18" charset="0"/>
            </a:endParaRPr>
          </a:p>
          <a:p>
            <a:pPr lvl="2" eaLnBrk="1" hangingPunct="1"/>
            <a:r>
              <a:rPr lang="en-US" altLang="zh-CN" dirty="0">
                <a:latin typeface="Times New Roman" panose="02020603050405020304" pitchFamily="18" charset="0"/>
              </a:rPr>
              <a:t>C</a:t>
            </a:r>
            <a:r>
              <a:rPr lang="en-US" altLang="zh-CN" baseline="-25000" dirty="0">
                <a:latin typeface="Times New Roman" panose="02020603050405020304" pitchFamily="18" charset="0"/>
              </a:rPr>
              <a:t>1</a:t>
            </a:r>
            <a:r>
              <a:rPr lang="en-US" altLang="zh-CN" dirty="0">
                <a:latin typeface="Times New Roman" panose="02020603050405020304" pitchFamily="18" charset="0"/>
              </a:rPr>
              <a:t>=G</a:t>
            </a:r>
            <a:r>
              <a:rPr lang="en-US" altLang="zh-CN" baseline="-25000" dirty="0">
                <a:latin typeface="Times New Roman" panose="02020603050405020304" pitchFamily="18" charset="0"/>
              </a:rPr>
              <a:t>1</a:t>
            </a:r>
            <a:r>
              <a:rPr lang="en-US" altLang="zh-CN" dirty="0">
                <a:latin typeface="Times New Roman" panose="02020603050405020304" pitchFamily="18" charset="0"/>
              </a:rPr>
              <a:t>+P</a:t>
            </a:r>
            <a:r>
              <a:rPr lang="en-US" altLang="zh-CN" baseline="-25000" dirty="0">
                <a:latin typeface="Times New Roman" panose="02020603050405020304" pitchFamily="18" charset="0"/>
              </a:rPr>
              <a:t>1</a:t>
            </a:r>
            <a:r>
              <a:rPr lang="en-US" altLang="zh-CN" dirty="0">
                <a:latin typeface="Times New Roman" panose="02020603050405020304" pitchFamily="18" charset="0"/>
              </a:rPr>
              <a:t>C</a:t>
            </a:r>
            <a:r>
              <a:rPr lang="en-US" altLang="zh-CN" baseline="-25000" dirty="0">
                <a:latin typeface="Times New Roman" panose="02020603050405020304" pitchFamily="18" charset="0"/>
              </a:rPr>
              <a:t>0</a:t>
            </a:r>
            <a:endParaRPr lang="en-US" altLang="zh-CN" baseline="-25000" dirty="0">
              <a:latin typeface="Times New Roman" panose="02020603050405020304" pitchFamily="18" charset="0"/>
            </a:endParaRPr>
          </a:p>
          <a:p>
            <a:pPr lvl="2" eaLnBrk="1" hangingPunct="1"/>
            <a:r>
              <a:rPr lang="en-US" altLang="zh-CN" dirty="0">
                <a:latin typeface="Times New Roman" panose="02020603050405020304" pitchFamily="18" charset="0"/>
              </a:rPr>
              <a:t>C</a:t>
            </a:r>
            <a:r>
              <a:rPr lang="en-US" altLang="zh-CN" baseline="-25000" dirty="0">
                <a:latin typeface="Times New Roman" panose="02020603050405020304" pitchFamily="18" charset="0"/>
              </a:rPr>
              <a:t>2</a:t>
            </a:r>
            <a:r>
              <a:rPr lang="en-US" altLang="zh-CN" dirty="0">
                <a:latin typeface="Times New Roman" panose="02020603050405020304" pitchFamily="18" charset="0"/>
              </a:rPr>
              <a:t>=G</a:t>
            </a:r>
            <a:r>
              <a:rPr lang="en-US" altLang="zh-CN" baseline="-25000" dirty="0">
                <a:latin typeface="Times New Roman" panose="02020603050405020304" pitchFamily="18" charset="0"/>
              </a:rPr>
              <a:t>2</a:t>
            </a:r>
            <a:r>
              <a:rPr lang="en-US" altLang="zh-CN" dirty="0">
                <a:latin typeface="Times New Roman" panose="02020603050405020304" pitchFamily="18" charset="0"/>
              </a:rPr>
              <a:t>+P</a:t>
            </a:r>
            <a:r>
              <a:rPr lang="en-US" altLang="zh-CN" baseline="-25000" dirty="0">
                <a:latin typeface="Times New Roman" panose="02020603050405020304" pitchFamily="18" charset="0"/>
              </a:rPr>
              <a:t>2</a:t>
            </a:r>
            <a:r>
              <a:rPr lang="en-US" altLang="zh-CN" dirty="0">
                <a:latin typeface="Times New Roman" panose="02020603050405020304" pitchFamily="18" charset="0"/>
              </a:rPr>
              <a:t>C</a:t>
            </a:r>
            <a:r>
              <a:rPr lang="en-US" altLang="zh-CN" baseline="-25000" dirty="0">
                <a:latin typeface="Times New Roman" panose="02020603050405020304" pitchFamily="18" charset="0"/>
              </a:rPr>
              <a:t>1</a:t>
            </a:r>
            <a:endParaRPr lang="en-US" altLang="zh-CN" baseline="-25000" dirty="0">
              <a:latin typeface="Times New Roman" panose="02020603050405020304" pitchFamily="18" charset="0"/>
            </a:endParaRPr>
          </a:p>
          <a:p>
            <a:pPr lvl="2" eaLnBrk="1" hangingPunct="1"/>
            <a:r>
              <a:rPr lang="en-US" altLang="zh-CN" dirty="0">
                <a:latin typeface="Times New Roman" panose="02020603050405020304" pitchFamily="18" charset="0"/>
              </a:rPr>
              <a:t>┇</a:t>
            </a:r>
            <a:endParaRPr lang="en-US" altLang="zh-CN" dirty="0">
              <a:latin typeface="Times New Roman" panose="02020603050405020304" pitchFamily="18" charset="0"/>
            </a:endParaRPr>
          </a:p>
          <a:p>
            <a:pPr lvl="2" eaLnBrk="1" hangingPunct="1"/>
            <a:r>
              <a:rPr lang="en-US" altLang="zh-CN" dirty="0">
                <a:latin typeface="Times New Roman" panose="02020603050405020304" pitchFamily="18" charset="0"/>
              </a:rPr>
              <a:t>C</a:t>
            </a:r>
            <a:r>
              <a:rPr lang="en-US" altLang="zh-CN" baseline="-25000" dirty="0">
                <a:latin typeface="Times New Roman" panose="02020603050405020304" pitchFamily="18" charset="0"/>
              </a:rPr>
              <a:t>n</a:t>
            </a:r>
            <a:r>
              <a:rPr lang="en-US" altLang="zh-CN" dirty="0">
                <a:latin typeface="Times New Roman" panose="02020603050405020304" pitchFamily="18" charset="0"/>
              </a:rPr>
              <a:t>=G</a:t>
            </a:r>
            <a:r>
              <a:rPr lang="en-US" altLang="zh-CN" baseline="-25000" dirty="0">
                <a:latin typeface="Times New Roman" panose="02020603050405020304" pitchFamily="18" charset="0"/>
              </a:rPr>
              <a:t>n</a:t>
            </a:r>
            <a:r>
              <a:rPr lang="en-US" altLang="zh-CN" dirty="0">
                <a:latin typeface="Times New Roman" panose="02020603050405020304" pitchFamily="18" charset="0"/>
              </a:rPr>
              <a:t>+P</a:t>
            </a:r>
            <a:r>
              <a:rPr lang="en-US" altLang="zh-CN" baseline="-25000" dirty="0">
                <a:latin typeface="Times New Roman" panose="02020603050405020304" pitchFamily="18" charset="0"/>
              </a:rPr>
              <a:t>n</a:t>
            </a:r>
            <a:r>
              <a:rPr lang="en-US" altLang="zh-CN" dirty="0">
                <a:latin typeface="Times New Roman" panose="02020603050405020304" pitchFamily="18" charset="0"/>
              </a:rPr>
              <a:t>C</a:t>
            </a:r>
            <a:r>
              <a:rPr lang="en-US" altLang="zh-CN" baseline="-25000" dirty="0">
                <a:latin typeface="Times New Roman" panose="02020603050405020304" pitchFamily="18" charset="0"/>
              </a:rPr>
              <a:t>n-1</a:t>
            </a:r>
            <a:r>
              <a:rPr lang="en-US" altLang="zh-CN" dirty="0">
                <a:latin typeface="Times New Roman" panose="02020603050405020304" pitchFamily="18" charset="0"/>
              </a:rPr>
              <a:t> </a:t>
            </a:r>
            <a:endParaRPr lang="en-US" altLang="zh-CN" dirty="0">
              <a:latin typeface="Times New Roman" panose="02020603050405020304" pitchFamily="18" charset="0"/>
            </a:endParaRPr>
          </a:p>
          <a:p>
            <a:pPr eaLnBrk="1" hangingPunct="1"/>
            <a:endParaRPr lang="en-US" altLang="zh-CN" dirty="0">
              <a:latin typeface="Times New Roman" panose="02020603050405020304" pitchFamily="18" charset="0"/>
            </a:endParaRPr>
          </a:p>
        </p:txBody>
      </p:sp>
      <p:graphicFrame>
        <p:nvGraphicFramePr>
          <p:cNvPr id="25603" name="Object 5"/>
          <p:cNvGraphicFramePr>
            <a:graphicFrameLocks noChangeAspect="1"/>
          </p:cNvGraphicFramePr>
          <p:nvPr/>
        </p:nvGraphicFramePr>
        <p:xfrm>
          <a:off x="1012825" y="1066800"/>
          <a:ext cx="7519988" cy="2613025"/>
        </p:xfrm>
        <a:graphic>
          <a:graphicData uri="http://schemas.openxmlformats.org/presentationml/2006/ole">
            <mc:AlternateContent xmlns:mc="http://schemas.openxmlformats.org/markup-compatibility/2006">
              <mc:Choice xmlns:v="urn:schemas-microsoft-com:vml" Requires="v">
                <p:oleObj spid="_x0000_s3078" name="" r:id="rId1" imgW="3441700" imgH="1193800" progId="Visio.Drawing.6">
                  <p:embed/>
                </p:oleObj>
              </mc:Choice>
              <mc:Fallback>
                <p:oleObj name="" r:id="rId1" imgW="3441700" imgH="1193800" progId="Visio.Drawing.6">
                  <p:embed/>
                  <p:pic>
                    <p:nvPicPr>
                      <p:cNvPr id="0" name="图片 3077"/>
                      <p:cNvPicPr/>
                      <p:nvPr/>
                    </p:nvPicPr>
                    <p:blipFill>
                      <a:blip r:embed="rId2"/>
                      <a:stretch>
                        <a:fillRect/>
                      </a:stretch>
                    </p:blipFill>
                    <p:spPr>
                      <a:xfrm>
                        <a:off x="1012825" y="1066800"/>
                        <a:ext cx="7519988" cy="2613025"/>
                      </a:xfrm>
                      <a:prstGeom prst="rect">
                        <a:avLst/>
                      </a:prstGeom>
                      <a:noFill/>
                      <a:ln w="38100">
                        <a:noFill/>
                        <a:miter/>
                      </a:ln>
                    </p:spPr>
                  </p:pic>
                </p:oleObj>
              </mc:Fallback>
            </mc:AlternateContent>
          </a:graphicData>
        </a:graphic>
      </p:graphicFrame>
      <p:sp>
        <p:nvSpPr>
          <p:cNvPr id="5" name="矩形 4"/>
          <p:cNvSpPr/>
          <p:nvPr/>
        </p:nvSpPr>
        <p:spPr>
          <a:xfrm>
            <a:off x="2876550" y="3679825"/>
            <a:ext cx="3543300" cy="400050"/>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en-US" sz="20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a:t>
            </a:r>
            <a:r>
              <a:rPr kumimoji="0" lang="en-US" altLang="zh-CN" sz="20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4-3 </a:t>
            </a:r>
            <a:r>
              <a:rPr kumimoji="0" lang="zh-CN" altLang="en-US" sz="20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串行进位的并行加法器</a:t>
            </a:r>
            <a:endParaRPr kumimoji="0" lang="zh-CN" altLang="en-US" sz="2000" b="1" i="0" u="none" strike="noStrike" kern="120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4.1.2 </a:t>
            </a:r>
            <a:r>
              <a:rPr lang="zh-CN" altLang="en-US" dirty="0">
                <a:latin typeface="Times New Roman" panose="02020603050405020304" pitchFamily="18" charset="0"/>
              </a:rPr>
              <a:t>进位的产生和传递（续） </a:t>
            </a:r>
            <a:endParaRPr lang="zh-CN" altLang="en-US" dirty="0">
              <a:latin typeface="Times New Roman" panose="02020603050405020304" pitchFamily="18" charset="0"/>
              <a:ea typeface="Times New Roman" panose="02020603050405020304" pitchFamily="18" charset="0"/>
            </a:endParaRPr>
          </a:p>
        </p:txBody>
      </p:sp>
      <p:sp>
        <p:nvSpPr>
          <p:cNvPr id="26626"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串行进位的并行加法器的</a:t>
            </a:r>
            <a:r>
              <a:rPr lang="zh-CN" altLang="en-US" dirty="0">
                <a:solidFill>
                  <a:srgbClr val="FF0000"/>
                </a:solidFill>
                <a:latin typeface="Times New Roman" panose="02020603050405020304" pitchFamily="18" charset="0"/>
              </a:rPr>
              <a:t>总延迟时间：</a:t>
            </a:r>
            <a:endParaRPr lang="zh-CN" altLang="en-US" dirty="0">
              <a:solidFill>
                <a:srgbClr val="FF0000"/>
              </a:solidFill>
              <a:latin typeface="Times New Roman" panose="02020603050405020304" pitchFamily="18" charset="0"/>
            </a:endParaRPr>
          </a:p>
          <a:p>
            <a:pPr lvl="1" eaLnBrk="1" latinLnBrk="0" hangingPunct="1">
              <a:spcBef>
                <a:spcPts val="1800"/>
              </a:spcBef>
            </a:pPr>
            <a:r>
              <a:rPr lang="zh-CN" altLang="en-US" dirty="0">
                <a:solidFill>
                  <a:srgbClr val="FF0000"/>
                </a:solidFill>
                <a:latin typeface="Times New Roman" panose="02020603050405020304" pitchFamily="18" charset="0"/>
              </a:rPr>
              <a:t>与字长成正比</a:t>
            </a:r>
            <a:r>
              <a:rPr lang="zh-CN" altLang="en-US" dirty="0">
                <a:latin typeface="Times New Roman" panose="02020603050405020304" pitchFamily="18" charset="0"/>
              </a:rPr>
              <a:t>，字长越长，总延迟时间就越长。</a:t>
            </a:r>
            <a:endParaRPr lang="en-US" altLang="zh-CN"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将一级“与门”、“或门”的延迟时间定为</a:t>
            </a:r>
            <a:r>
              <a:rPr lang="en-US" altLang="zh-CN" dirty="0">
                <a:latin typeface="Times New Roman" panose="02020603050405020304" pitchFamily="18" charset="0"/>
              </a:rPr>
              <a:t>t</a:t>
            </a:r>
            <a:r>
              <a:rPr lang="en-US" altLang="zh-CN" baseline="-25000" dirty="0">
                <a:latin typeface="Times New Roman" panose="02020603050405020304" pitchFamily="18" charset="0"/>
              </a:rPr>
              <a:t>y</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每一级全加器的进位延迟时间为</a:t>
            </a:r>
            <a:r>
              <a:rPr lang="en-US" altLang="zh-CN" dirty="0">
                <a:latin typeface="Times New Roman" panose="02020603050405020304" pitchFamily="18" charset="0"/>
              </a:rPr>
              <a:t>2t</a:t>
            </a:r>
            <a:r>
              <a:rPr lang="en-US" altLang="zh-CN" baseline="-25000" dirty="0">
                <a:latin typeface="Times New Roman" panose="02020603050405020304" pitchFamily="18" charset="0"/>
              </a:rPr>
              <a:t>y</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在字长为</a:t>
            </a:r>
            <a:r>
              <a:rPr lang="en-US" altLang="zh-CN" dirty="0">
                <a:latin typeface="Times New Roman" panose="02020603050405020304" pitchFamily="18" charset="0"/>
              </a:rPr>
              <a:t>n</a:t>
            </a:r>
            <a:r>
              <a:rPr lang="zh-CN" altLang="en-US" dirty="0">
                <a:latin typeface="Times New Roman" panose="02020603050405020304" pitchFamily="18" charset="0"/>
              </a:rPr>
              <a:t>位的情况下：</a:t>
            </a:r>
            <a:endParaRPr lang="zh-CN" altLang="en-US"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若不考虑</a:t>
            </a:r>
            <a:r>
              <a:rPr lang="en-US" altLang="zh-CN" dirty="0">
                <a:latin typeface="Times New Roman" panose="02020603050405020304" pitchFamily="18" charset="0"/>
              </a:rPr>
              <a:t>Gi</a:t>
            </a:r>
            <a:r>
              <a:rPr lang="zh-CN" altLang="en-US" dirty="0">
                <a:latin typeface="Times New Roman" panose="02020603050405020304" pitchFamily="18" charset="0"/>
              </a:rPr>
              <a:t>、</a:t>
            </a:r>
            <a:r>
              <a:rPr lang="en-US" altLang="zh-CN" dirty="0">
                <a:latin typeface="Times New Roman" panose="02020603050405020304" pitchFamily="18" charset="0"/>
              </a:rPr>
              <a:t>Pi</a:t>
            </a:r>
            <a:r>
              <a:rPr lang="zh-CN" altLang="en-US" dirty="0">
                <a:latin typeface="Times New Roman" panose="02020603050405020304" pitchFamily="18" charset="0"/>
              </a:rPr>
              <a:t>的形成时间；</a:t>
            </a:r>
            <a:endParaRPr lang="zh-CN" altLang="en-US"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从</a:t>
            </a:r>
            <a:r>
              <a:rPr lang="en-US" altLang="zh-CN" dirty="0">
                <a:latin typeface="Times New Roman" panose="02020603050405020304" pitchFamily="18" charset="0"/>
              </a:rPr>
              <a:t>C</a:t>
            </a:r>
            <a:r>
              <a:rPr lang="en-US" altLang="zh-CN" baseline="-25000" dirty="0">
                <a:latin typeface="Times New Roman" panose="02020603050405020304" pitchFamily="18" charset="0"/>
              </a:rPr>
              <a:t>0</a:t>
            </a:r>
            <a:r>
              <a:rPr lang="en-US" altLang="zh-CN" dirty="0">
                <a:latin typeface="Times New Roman" panose="02020603050405020304" pitchFamily="18" charset="0"/>
              </a:rPr>
              <a:t>→C</a:t>
            </a:r>
            <a:r>
              <a:rPr lang="en-US" altLang="zh-CN" baseline="-25000" dirty="0">
                <a:latin typeface="Times New Roman" panose="02020603050405020304" pitchFamily="18" charset="0"/>
              </a:rPr>
              <a:t>n</a:t>
            </a:r>
            <a:r>
              <a:rPr lang="zh-CN" altLang="en-US" dirty="0">
                <a:latin typeface="Times New Roman" panose="02020603050405020304" pitchFamily="18" charset="0"/>
              </a:rPr>
              <a:t>的最长延迟时间为</a:t>
            </a:r>
            <a:r>
              <a:rPr lang="en-US" altLang="zh-CN" dirty="0">
                <a:latin typeface="Times New Roman" panose="02020603050405020304" pitchFamily="18" charset="0"/>
              </a:rPr>
              <a:t>2nt</a:t>
            </a:r>
            <a:r>
              <a:rPr lang="en-US" altLang="zh-CN" baseline="-25000" dirty="0">
                <a:latin typeface="Times New Roman" panose="02020603050405020304" pitchFamily="18" charset="0"/>
              </a:rPr>
              <a:t>y</a:t>
            </a:r>
            <a:r>
              <a:rPr lang="zh-CN" altLang="en-US" dirty="0">
                <a:latin typeface="Times New Roman" panose="02020603050405020304" pitchFamily="18" charset="0"/>
              </a:rPr>
              <a:t>。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49" name="标题 1"/>
          <p:cNvSpPr>
            <a:spLocks noGrp="1"/>
          </p:cNvSpPr>
          <p:nvPr>
            <p:ph type="title"/>
          </p:nvPr>
        </p:nvSpPr>
        <p:spPr>
          <a:xfrm>
            <a:off x="457200" y="274638"/>
            <a:ext cx="8229600" cy="706437"/>
          </a:xfrm>
          <a:noFill/>
          <a:ln>
            <a:noFill/>
          </a:ln>
        </p:spPr>
        <p:txBody>
          <a:bodyPr anchor="t" anchorCtr="0"/>
          <a:p>
            <a:pPr eaLnBrk="1" hangingPunct="1"/>
            <a:r>
              <a:rPr lang="en-US" altLang="zh-CN" dirty="0">
                <a:latin typeface="Times New Roman" panose="02020603050405020304" pitchFamily="18" charset="0"/>
              </a:rPr>
              <a:t>4.1.3 </a:t>
            </a:r>
            <a:r>
              <a:rPr lang="zh-CN" altLang="en-US" dirty="0">
                <a:latin typeface="Times New Roman" panose="02020603050405020304" pitchFamily="18" charset="0"/>
              </a:rPr>
              <a:t>并行加法器的快速进位 </a:t>
            </a:r>
            <a:endParaRPr lang="zh-CN" altLang="en-US" dirty="0">
              <a:latin typeface="Times New Roman" panose="02020603050405020304" pitchFamily="18" charset="0"/>
              <a:ea typeface="Times New Roman" panose="02020603050405020304" pitchFamily="18" charset="0"/>
            </a:endParaRPr>
          </a:p>
        </p:txBody>
      </p:sp>
      <p:sp>
        <p:nvSpPr>
          <p:cNvPr id="3" name="内容占位符 2"/>
          <p:cNvSpPr>
            <a:spLocks noGrp="1"/>
          </p:cNvSpPr>
          <p:nvPr>
            <p:ph idx="1"/>
          </p:nvPr>
        </p:nvSpPr>
        <p:spPr>
          <a:xfrm>
            <a:off x="457200" y="1417638"/>
            <a:ext cx="8362950" cy="4964113"/>
          </a:xfrm>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并行进位</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方式</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又叫先行进位、同时进位</a:t>
            </a:r>
            <a:endParaRPr kumimoji="0" lang="zh-CN" altLang="en-US" sz="32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12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1" i="0" u="none" strike="noStrike" kern="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1" i="0" u="none" strike="noStrike" kern="0" cap="none" spc="0" normalizeH="0" baseline="0" noProof="0" dirty="0">
              <a:ln>
                <a:noFill/>
              </a:ln>
              <a:solidFill>
                <a:schemeClr val="accent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从C</a:t>
            </a:r>
            <a:r>
              <a:rPr kumimoji="0" lang="zh-CN" altLang="en-US" sz="28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0</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→C</a:t>
            </a:r>
            <a:r>
              <a:rPr kumimoji="0" lang="zh-CN" altLang="en-US" sz="28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n</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的最长延迟时间为2ty，与字长无关</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随着加法器位数的增加，C</a:t>
            </a:r>
            <a:r>
              <a:rPr kumimoji="0" lang="zh-CN" altLang="en-US" sz="2800" b="0" i="0" u="none" strike="noStrike" kern="0" cap="none" spc="0" normalizeH="0" baseline="-25000" noProof="1" dirty="0">
                <a:solidFill>
                  <a:schemeClr val="tx1"/>
                </a:solidFill>
                <a:latin typeface="Times New Roman" panose="02020603050405020304" pitchFamily="18" charset="0"/>
                <a:ea typeface="+mn-ea"/>
                <a:cs typeface="Times New Roman" panose="02020603050405020304" pitchFamily="18" charset="0"/>
              </a:rPr>
              <a:t>i</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电路结构很复杂。</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16</a:t>
            </a:r>
            <a:r>
              <a:rPr lang="zh-CN" altLang="en-US" dirty="0">
                <a:latin typeface="Times New Roman" panose="02020603050405020304" pitchFamily="18" charset="0"/>
              </a:rPr>
              <a:t>位单级先行进位加法器</a:t>
            </a:r>
            <a:endParaRPr lang="zh-CN" altLang="en-US" dirty="0">
              <a:latin typeface="Times New Roman" panose="02020603050405020304" pitchFamily="18" charset="0"/>
              <a:ea typeface="Times New Roman" panose="02020603050405020304" pitchFamily="18" charset="0"/>
            </a:endParaRPr>
          </a:p>
        </p:txBody>
      </p:sp>
      <p:graphicFrame>
        <p:nvGraphicFramePr>
          <p:cNvPr id="29698" name="Object 4"/>
          <p:cNvGraphicFramePr>
            <a:graphicFrameLocks noChangeAspect="1"/>
          </p:cNvGraphicFramePr>
          <p:nvPr/>
        </p:nvGraphicFramePr>
        <p:xfrm>
          <a:off x="0" y="1557338"/>
          <a:ext cx="9144000" cy="3000375"/>
        </p:xfrm>
        <a:graphic>
          <a:graphicData uri="http://schemas.openxmlformats.org/presentationml/2006/ole">
            <mc:AlternateContent xmlns:mc="http://schemas.openxmlformats.org/markup-compatibility/2006">
              <mc:Choice xmlns:v="urn:schemas-microsoft-com:vml" Requires="v">
                <p:oleObj spid="_x0000_s3110" name="" r:id="rId1" imgW="3832860" imgH="1259840" progId="Visio.Drawing.6">
                  <p:embed/>
                </p:oleObj>
              </mc:Choice>
              <mc:Fallback>
                <p:oleObj name="" r:id="rId1" imgW="3832860" imgH="1259840" progId="Visio.Drawing.6">
                  <p:embed/>
                  <p:pic>
                    <p:nvPicPr>
                      <p:cNvPr id="0" name="图片 3109"/>
                      <p:cNvPicPr/>
                      <p:nvPr/>
                    </p:nvPicPr>
                    <p:blipFill>
                      <a:blip r:embed="rId2"/>
                      <a:stretch>
                        <a:fillRect/>
                      </a:stretch>
                    </p:blipFill>
                    <p:spPr>
                      <a:xfrm>
                        <a:off x="0" y="1557338"/>
                        <a:ext cx="9144000" cy="3000375"/>
                      </a:xfrm>
                      <a:prstGeom prst="rect">
                        <a:avLst/>
                      </a:prstGeom>
                      <a:noFill/>
                      <a:ln w="38100">
                        <a:noFill/>
                        <a:miter/>
                      </a:ln>
                    </p:spPr>
                  </p:pic>
                </p:oleObj>
              </mc:Fallback>
            </mc:AlternateContent>
          </a:graphicData>
        </a:graphic>
      </p:graphicFrame>
      <p:sp>
        <p:nvSpPr>
          <p:cNvPr id="5" name="Rectangle 6"/>
          <p:cNvSpPr txBox="1">
            <a:spLocks noChangeArrowheads="1"/>
          </p:cNvSpPr>
          <p:nvPr/>
        </p:nvSpPr>
        <p:spPr>
          <a:xfrm>
            <a:off x="1619250" y="5105400"/>
            <a:ext cx="6153150" cy="555625"/>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图4-4  16位单级先行进位加法器</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solidFill>
                  <a:srgbClr val="FF0000"/>
                </a:solidFill>
                <a:latin typeface="Times New Roman" panose="02020603050405020304" pitchFamily="18" charset="0"/>
              </a:rPr>
              <a:t>分组并行</a:t>
            </a:r>
            <a:r>
              <a:rPr lang="zh-CN" altLang="en-US" dirty="0">
                <a:latin typeface="Times New Roman" panose="02020603050405020304" pitchFamily="18" charset="0"/>
              </a:rPr>
              <a:t>进位方式</a:t>
            </a:r>
            <a:endParaRPr lang="zh-CN" altLang="en-US" dirty="0">
              <a:latin typeface="Times New Roman" panose="02020603050405020304" pitchFamily="18" charset="0"/>
              <a:ea typeface="Times New Roman" panose="02020603050405020304" pitchFamily="18" charset="0"/>
            </a:endParaRPr>
          </a:p>
        </p:txBody>
      </p:sp>
      <p:sp>
        <p:nvSpPr>
          <p:cNvPr id="28674" name="内容占位符 2"/>
          <p:cNvSpPr>
            <a:spLocks noGrp="1"/>
          </p:cNvSpPr>
          <p:nvPr>
            <p:ph idx="1"/>
          </p:nvPr>
        </p:nvSpPr>
        <p:spPr>
          <a:noFill/>
          <a:ln>
            <a:noFill/>
          </a:ln>
        </p:spPr>
        <p:txBody>
          <a:bodyPr anchor="t" anchorCtr="0"/>
          <a:p>
            <a:pPr eaLnBrk="1" hangingPunct="1"/>
            <a:r>
              <a:rPr lang="zh-CN" altLang="en-US" dirty="0">
                <a:solidFill>
                  <a:srgbClr val="FF0000"/>
                </a:solidFill>
              </a:rPr>
              <a:t>单级先行进位</a:t>
            </a:r>
            <a:r>
              <a:rPr lang="zh-CN" altLang="en-US" dirty="0"/>
              <a:t>方式（</a:t>
            </a:r>
            <a:r>
              <a:rPr lang="zh-CN" altLang="en-US" dirty="0">
                <a:solidFill>
                  <a:srgbClr val="FF0000"/>
                </a:solidFill>
              </a:rPr>
              <a:t>组内并行、组间串行</a:t>
            </a:r>
            <a:r>
              <a:rPr lang="zh-CN" altLang="en-US" dirty="0"/>
              <a:t>）</a:t>
            </a:r>
            <a:endParaRPr lang="zh-CN" altLang="en-US" dirty="0"/>
          </a:p>
          <a:p>
            <a:pPr lvl="1" eaLnBrk="1" latinLnBrk="0" hangingPunct="1">
              <a:spcBef>
                <a:spcPts val="1800"/>
              </a:spcBef>
            </a:pPr>
            <a:r>
              <a:rPr lang="zh-CN" altLang="en-US" sz="2400" dirty="0">
                <a:latin typeface="Times New Roman" panose="02020603050405020304" pitchFamily="18" charset="0"/>
              </a:rPr>
              <a:t>以</a:t>
            </a:r>
            <a:r>
              <a:rPr lang="en-US" altLang="zh-CN" sz="2400" dirty="0">
                <a:latin typeface="Times New Roman" panose="02020603050405020304" pitchFamily="18" charset="0"/>
              </a:rPr>
              <a:t>16</a:t>
            </a:r>
            <a:r>
              <a:rPr lang="zh-CN" altLang="en-US" sz="2400" dirty="0">
                <a:latin typeface="Times New Roman" panose="02020603050405020304" pitchFamily="18" charset="0"/>
              </a:rPr>
              <a:t>位加法器为例，可分为</a:t>
            </a:r>
            <a:r>
              <a:rPr lang="en-US" altLang="zh-CN" sz="2400" dirty="0">
                <a:latin typeface="Times New Roman" panose="02020603050405020304" pitchFamily="18" charset="0"/>
              </a:rPr>
              <a:t>4</a:t>
            </a:r>
            <a:r>
              <a:rPr lang="zh-CN" altLang="en-US" sz="2400" dirty="0">
                <a:latin typeface="Times New Roman" panose="02020603050405020304" pitchFamily="18" charset="0"/>
              </a:rPr>
              <a:t>组，每组</a:t>
            </a:r>
            <a:r>
              <a:rPr lang="en-US" altLang="zh-CN" sz="2400" dirty="0">
                <a:latin typeface="Times New Roman" panose="02020603050405020304" pitchFamily="18" charset="0"/>
              </a:rPr>
              <a:t>4</a:t>
            </a:r>
            <a:r>
              <a:rPr lang="zh-CN" altLang="en-US" sz="2400" dirty="0">
                <a:latin typeface="Times New Roman" panose="02020603050405020304" pitchFamily="18" charset="0"/>
              </a:rPr>
              <a:t>位；</a:t>
            </a:r>
            <a:endParaRPr lang="zh-CN" altLang="en-US" sz="2400" dirty="0">
              <a:latin typeface="Times New Roman" panose="02020603050405020304" pitchFamily="18" charset="0"/>
            </a:endParaRPr>
          </a:p>
          <a:p>
            <a:pPr lvl="1" eaLnBrk="1" latinLnBrk="0" hangingPunct="1">
              <a:spcBef>
                <a:spcPts val="1800"/>
              </a:spcBef>
            </a:pPr>
            <a:r>
              <a:rPr lang="zh-CN" altLang="en-US" sz="2400" dirty="0">
                <a:latin typeface="Times New Roman" panose="02020603050405020304" pitchFamily="18" charset="0"/>
              </a:rPr>
              <a:t>第一小组</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3</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4</a:t>
            </a:r>
            <a:r>
              <a:rPr lang="zh-CN" altLang="en-US" sz="2400" dirty="0">
                <a:latin typeface="Times New Roman" panose="02020603050405020304" pitchFamily="18" charset="0"/>
              </a:rPr>
              <a:t>同时产生；</a:t>
            </a:r>
            <a:endParaRPr lang="zh-CN" altLang="en-US" sz="2400" dirty="0">
              <a:latin typeface="Times New Roman" panose="02020603050405020304" pitchFamily="18" charset="0"/>
            </a:endParaRPr>
          </a:p>
          <a:p>
            <a:pPr lvl="1" eaLnBrk="1" latinLnBrk="0" hangingPunct="1">
              <a:spcBef>
                <a:spcPts val="1800"/>
              </a:spcBef>
            </a:pPr>
            <a:r>
              <a:rPr lang="en-US" altLang="zh-CN" sz="2400" dirty="0">
                <a:latin typeface="Times New Roman" panose="02020603050405020304" pitchFamily="18" charset="0"/>
              </a:rPr>
              <a:t>4</a:t>
            </a:r>
            <a:r>
              <a:rPr lang="zh-CN" altLang="en-US" sz="2400" dirty="0">
                <a:latin typeface="Times New Roman" panose="02020603050405020304" pitchFamily="18" charset="0"/>
              </a:rPr>
              <a:t>位先行进位电路</a:t>
            </a:r>
            <a:r>
              <a:rPr lang="en-US" altLang="zh-CN" sz="2400" dirty="0">
                <a:latin typeface="Times New Roman" panose="02020603050405020304" pitchFamily="18" charset="0"/>
              </a:rPr>
              <a:t>CLA</a:t>
            </a:r>
            <a:r>
              <a:rPr lang="zh-CN" altLang="en-US" sz="2400" dirty="0">
                <a:latin typeface="Times New Roman" panose="02020603050405020304" pitchFamily="18" charset="0"/>
              </a:rPr>
              <a:t>，延迟时间</a:t>
            </a:r>
            <a:r>
              <a:rPr lang="en-US" altLang="zh-CN" sz="2400" dirty="0">
                <a:latin typeface="Times New Roman" panose="02020603050405020304" pitchFamily="18" charset="0"/>
              </a:rPr>
              <a:t>2t</a:t>
            </a:r>
            <a:r>
              <a:rPr lang="en-US" altLang="zh-CN" sz="2400" baseline="-25000" dirty="0">
                <a:latin typeface="Times New Roman" panose="02020603050405020304" pitchFamily="18" charset="0"/>
              </a:rPr>
              <a:t>y</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800"/>
              </a:spcBef>
            </a:pPr>
            <a:r>
              <a:rPr lang="en-US" altLang="zh-CN" sz="2400" dirty="0">
                <a:latin typeface="Times New Roman" panose="02020603050405020304" pitchFamily="18" charset="0"/>
              </a:rPr>
              <a:t>4</a:t>
            </a:r>
            <a:r>
              <a:rPr lang="zh-CN" altLang="en-US" sz="2400" dirty="0">
                <a:latin typeface="Times New Roman" panose="02020603050405020304" pitchFamily="18" charset="0"/>
              </a:rPr>
              <a:t>位</a:t>
            </a:r>
            <a:r>
              <a:rPr lang="en-US" altLang="zh-CN" sz="2400" dirty="0">
                <a:latin typeface="Times New Roman" panose="02020603050405020304" pitchFamily="18" charset="0"/>
              </a:rPr>
              <a:t>CLA</a:t>
            </a:r>
            <a:r>
              <a:rPr lang="zh-CN" altLang="en-US" sz="2400" dirty="0">
                <a:latin typeface="Times New Roman" panose="02020603050405020304" pitchFamily="18" charset="0"/>
              </a:rPr>
              <a:t>电路</a:t>
            </a:r>
            <a:r>
              <a:rPr lang="en-US" altLang="zh-CN" sz="2400" dirty="0">
                <a:latin typeface="Times New Roman" panose="02020603050405020304" pitchFamily="18" charset="0"/>
              </a:rPr>
              <a:t>+</a:t>
            </a:r>
            <a:r>
              <a:rPr lang="zh-CN" altLang="en-US" sz="2400" dirty="0">
                <a:latin typeface="Times New Roman" panose="02020603050405020304" pitchFamily="18" charset="0"/>
              </a:rPr>
              <a:t>求和电路可以构成</a:t>
            </a:r>
            <a:r>
              <a:rPr lang="en-US" altLang="zh-CN" sz="2400" dirty="0">
                <a:latin typeface="Times New Roman" panose="02020603050405020304" pitchFamily="18" charset="0"/>
              </a:rPr>
              <a:t>4</a:t>
            </a:r>
            <a:r>
              <a:rPr lang="zh-CN" altLang="en-US" sz="2400" dirty="0">
                <a:latin typeface="Times New Roman" panose="02020603050405020304" pitchFamily="18" charset="0"/>
              </a:rPr>
              <a:t>位的</a:t>
            </a:r>
            <a:r>
              <a:rPr lang="en-US" altLang="zh-CN" sz="2400" dirty="0">
                <a:latin typeface="Times New Roman" panose="02020603050405020304" pitchFamily="18" charset="0"/>
              </a:rPr>
              <a:t>CLA</a:t>
            </a:r>
            <a:r>
              <a:rPr lang="zh-CN" altLang="en-US" sz="2400" dirty="0">
                <a:latin typeface="Times New Roman" panose="02020603050405020304" pitchFamily="18" charset="0"/>
              </a:rPr>
              <a:t>加法器；</a:t>
            </a:r>
            <a:endParaRPr lang="en-US" altLang="zh-CN" sz="2400" dirty="0">
              <a:latin typeface="Times New Roman" panose="02020603050405020304" pitchFamily="18" charset="0"/>
            </a:endParaRPr>
          </a:p>
          <a:p>
            <a:pPr lvl="1" eaLnBrk="1" latinLnBrk="0" hangingPunct="1">
              <a:spcBef>
                <a:spcPts val="1800"/>
              </a:spcBef>
            </a:pPr>
            <a:r>
              <a:rPr lang="en-US" altLang="zh-CN" sz="2400" dirty="0">
                <a:latin typeface="Times New Roman" panose="02020603050405020304" pitchFamily="18" charset="0"/>
              </a:rPr>
              <a:t>4</a:t>
            </a:r>
            <a:r>
              <a:rPr lang="zh-CN" altLang="en-US" sz="2400" dirty="0">
                <a:latin typeface="Times New Roman" panose="02020603050405020304" pitchFamily="18" charset="0"/>
              </a:rPr>
              <a:t>个</a:t>
            </a:r>
            <a:r>
              <a:rPr lang="en-US" altLang="zh-CN" sz="2400" dirty="0">
                <a:latin typeface="Times New Roman" panose="02020603050405020304" pitchFamily="18" charset="0"/>
              </a:rPr>
              <a:t>CLA</a:t>
            </a:r>
            <a:r>
              <a:rPr lang="zh-CN" altLang="en-US" sz="2400" dirty="0">
                <a:latin typeface="Times New Roman" panose="02020603050405020304" pitchFamily="18" charset="0"/>
              </a:rPr>
              <a:t>加法器，可以构成</a:t>
            </a:r>
            <a:r>
              <a:rPr lang="en-US" altLang="zh-CN" sz="2400" dirty="0">
                <a:latin typeface="Times New Roman" panose="02020603050405020304" pitchFamily="18" charset="0"/>
              </a:rPr>
              <a:t>16</a:t>
            </a:r>
            <a:r>
              <a:rPr lang="zh-CN" altLang="en-US" sz="2400" dirty="0">
                <a:latin typeface="Times New Roman" panose="02020603050405020304" pitchFamily="18" charset="0"/>
              </a:rPr>
              <a:t>位的单级先行进位加法器。 </a:t>
            </a:r>
            <a:endParaRPr lang="zh-CN" altLang="en-US" sz="2400" dirty="0">
              <a:latin typeface="Times New Roman" panose="02020603050405020304" pitchFamily="18" charset="0"/>
            </a:endParaRPr>
          </a:p>
          <a:p>
            <a:pPr eaLnBrk="1" hangingPunct="1"/>
            <a:endParaRPr lang="zh-CN"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16</a:t>
            </a:r>
            <a:r>
              <a:rPr lang="zh-CN" altLang="en-US" dirty="0">
                <a:latin typeface="Times New Roman" panose="02020603050405020304" pitchFamily="18" charset="0"/>
              </a:rPr>
              <a:t>位单级先行进位时间图</a:t>
            </a:r>
            <a:endParaRPr lang="zh-CN" altLang="en-US" dirty="0">
              <a:latin typeface="Times New Roman" panose="02020603050405020304" pitchFamily="18" charset="0"/>
              <a:ea typeface="Times New Roman" panose="02020603050405020304" pitchFamily="18" charset="0"/>
            </a:endParaRPr>
          </a:p>
        </p:txBody>
      </p:sp>
      <p:graphicFrame>
        <p:nvGraphicFramePr>
          <p:cNvPr id="30722" name="Object 4"/>
          <p:cNvGraphicFramePr>
            <a:graphicFrameLocks noChangeAspect="1"/>
          </p:cNvGraphicFramePr>
          <p:nvPr/>
        </p:nvGraphicFramePr>
        <p:xfrm>
          <a:off x="1066800" y="1230313"/>
          <a:ext cx="7010400" cy="4408487"/>
        </p:xfrm>
        <a:graphic>
          <a:graphicData uri="http://schemas.openxmlformats.org/presentationml/2006/ole">
            <mc:AlternateContent xmlns:mc="http://schemas.openxmlformats.org/markup-compatibility/2006">
              <mc:Choice xmlns:v="urn:schemas-microsoft-com:vml" Requires="v">
                <p:oleObj spid="_x0000_s3109" name="" r:id="rId1" imgW="2545080" imgH="1600200" progId="Visio.Drawing.6">
                  <p:embed/>
                </p:oleObj>
              </mc:Choice>
              <mc:Fallback>
                <p:oleObj name="" r:id="rId1" imgW="2545080" imgH="1600200" progId="Visio.Drawing.6">
                  <p:embed/>
                  <p:pic>
                    <p:nvPicPr>
                      <p:cNvPr id="0" name="图片 3108"/>
                      <p:cNvPicPr/>
                      <p:nvPr/>
                    </p:nvPicPr>
                    <p:blipFill>
                      <a:blip r:embed="rId2"/>
                      <a:stretch>
                        <a:fillRect/>
                      </a:stretch>
                    </p:blipFill>
                    <p:spPr>
                      <a:xfrm>
                        <a:off x="1066800" y="1230313"/>
                        <a:ext cx="7010400" cy="4408487"/>
                      </a:xfrm>
                      <a:prstGeom prst="rect">
                        <a:avLst/>
                      </a:prstGeom>
                      <a:noFill/>
                      <a:ln w="38100">
                        <a:noFill/>
                        <a:miter/>
                      </a:ln>
                    </p:spPr>
                  </p:pic>
                </p:oleObj>
              </mc:Fallback>
            </mc:AlternateContent>
          </a:graphicData>
        </a:graphic>
      </p:graphicFrame>
      <p:sp>
        <p:nvSpPr>
          <p:cNvPr id="30723" name="Rectangle 7"/>
          <p:cNvSpPr>
            <a:spLocks noGrp="1"/>
          </p:cNvSpPr>
          <p:nvPr>
            <p:ph idx="1"/>
          </p:nvPr>
        </p:nvSpPr>
        <p:spPr>
          <a:xfrm>
            <a:off x="685800" y="5638800"/>
            <a:ext cx="7772400" cy="609600"/>
          </a:xfrm>
          <a:noFill/>
          <a:ln>
            <a:noFill/>
          </a:ln>
        </p:spPr>
        <p:txBody>
          <a:bodyPr anchor="t" anchorCtr="0"/>
          <a:p>
            <a:pPr algn="ctr" eaLnBrk="1" hangingPunct="1">
              <a:buFontTx/>
              <a:buNone/>
            </a:pPr>
            <a:r>
              <a:rPr lang="zh-CN" altLang="en-US" sz="2400" dirty="0">
                <a:latin typeface="Times New Roman" panose="02020603050405020304" pitchFamily="18" charset="0"/>
              </a:rPr>
              <a:t>图4-5  </a:t>
            </a:r>
            <a:r>
              <a:rPr lang="en-US" altLang="zh-CN" sz="2400" dirty="0">
                <a:latin typeface="Times New Roman" panose="02020603050405020304" pitchFamily="18" charset="0"/>
              </a:rPr>
              <a:t>16</a:t>
            </a:r>
            <a:r>
              <a:rPr lang="zh-CN" altLang="en-US" sz="2400" dirty="0">
                <a:latin typeface="Times New Roman" panose="02020603050405020304" pitchFamily="18" charset="0"/>
              </a:rPr>
              <a:t>位单级先行进位时间图</a:t>
            </a:r>
            <a:endParaRPr lang="en-US" altLang="zh-CN"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solidFill>
                  <a:srgbClr val="FF0000"/>
                </a:solidFill>
                <a:latin typeface="Times New Roman" panose="02020603050405020304" pitchFamily="18" charset="0"/>
              </a:rPr>
              <a:t>分组并行</a:t>
            </a:r>
            <a:r>
              <a:rPr lang="zh-CN" altLang="en-US" dirty="0">
                <a:latin typeface="Times New Roman" panose="02020603050405020304" pitchFamily="18" charset="0"/>
              </a:rPr>
              <a:t>进位方式（续）</a:t>
            </a:r>
            <a:endParaRPr lang="zh-CN" altLang="en-US" dirty="0">
              <a:latin typeface="Times New Roman" panose="02020603050405020304" pitchFamily="18" charset="0"/>
            </a:endParaRPr>
          </a:p>
        </p:txBody>
      </p:sp>
      <p:sp>
        <p:nvSpPr>
          <p:cNvPr id="3" name="内容占位符 2"/>
          <p:cNvSpPr>
            <a:spLocks noGrp="1"/>
          </p:cNvSpPr>
          <p:nvPr>
            <p:ph idx="1"/>
          </p:nvPr>
        </p:nvSpPr>
        <p:spPr>
          <a:xfrm>
            <a:off x="457200" y="1417638"/>
            <a:ext cx="8229600" cy="4891088"/>
          </a:xfrm>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多级先行进位</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方式（</a:t>
            </a: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组内并行、组间并行</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以字长为</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位的加法器为例；</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第一小组的进位输出</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可以变成两个与项相或：</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其中：</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P1*=P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Gi*</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称为</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组进位产生函数</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Pi*</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称为</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组进位传递函数</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69" name="标题 1"/>
          <p:cNvSpPr>
            <a:spLocks noGrp="1"/>
          </p:cNvSpPr>
          <p:nvPr>
            <p:ph type="title"/>
          </p:nvPr>
        </p:nvSpPr>
        <p:spPr>
          <a:noFill/>
          <a:ln>
            <a:noFill/>
          </a:ln>
        </p:spPr>
        <p:txBody>
          <a:bodyPr anchor="t" anchorCtr="0"/>
          <a:p>
            <a:pPr eaLnBrk="1" hangingPunct="1"/>
            <a:r>
              <a:rPr lang="en-US" altLang="zh-CN" dirty="0"/>
              <a:t>2.</a:t>
            </a:r>
            <a:r>
              <a:rPr lang="zh-CN" altLang="en-US" dirty="0"/>
              <a:t>分组并行进位方式（续）</a:t>
            </a:r>
            <a:endParaRPr lang="zh-CN" altLang="en-US" dirty="0"/>
          </a:p>
        </p:txBody>
      </p:sp>
      <p:sp>
        <p:nvSpPr>
          <p:cNvPr id="3" name="内容占位符 2"/>
          <p:cNvSpPr>
            <a:spLocks noGrp="1"/>
          </p:cNvSpPr>
          <p:nvPr>
            <p:ph idx="1"/>
          </p:nvPr>
        </p:nvSpPr>
        <p:spPr>
          <a:xfrm>
            <a:off x="457200" y="1417638"/>
            <a:ext cx="8229600" cy="2443163"/>
          </a:xfrm>
        </p:spPr>
        <p:txBody>
          <a:bodyPr/>
          <a:lstStyle/>
          <a:p>
            <a:pPr marL="342900" marR="0" lvl="0" indent="-342900" algn="l" defTabSz="914400" rtl="0" eaLnBrk="1" fontAlgn="base" latinLnBrk="0" hangingPunct="1">
              <a:lnSpc>
                <a:spcPct val="100000"/>
              </a:lnSpc>
              <a:spcBef>
                <a:spcPct val="20000"/>
              </a:spcBef>
              <a:spcAft>
                <a:spcPct val="0"/>
              </a:spcAft>
              <a:buClr>
                <a:schemeClr val="tx1">
                  <a:lumMod val="60000"/>
                  <a:lumOff val="40000"/>
                </a:schemeClr>
              </a:buClr>
              <a:buSzPct val="60000"/>
              <a:buFont typeface="Wingdings" panose="05000000000000000000" pitchFamily="2" charset="2"/>
              <a:buChar char="n"/>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依次类推，可以得到：</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hlink"/>
                </a:solidFill>
                <a:effectLst/>
                <a:uLnTx/>
                <a:uFillTx/>
                <a:latin typeface="+mn-lt"/>
                <a:ea typeface="+mn-ea"/>
                <a:cs typeface="+mn-cs"/>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8</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22630" marR="0" lvl="0" indent="-97155"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16</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*P</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*C</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4" name="矩形 3"/>
          <p:cNvSpPr/>
          <p:nvPr/>
        </p:nvSpPr>
        <p:spPr>
          <a:xfrm>
            <a:off x="457200" y="3933825"/>
            <a:ext cx="7848600" cy="1660525"/>
          </a:xfrm>
          <a:prstGeom prst="rect">
            <a:avLst/>
          </a:prstGeom>
        </p:spPr>
        <p:txBody>
          <a:bodyPr>
            <a:spAutoFit/>
          </a:bodyPr>
          <a:lstStyle/>
          <a:p>
            <a:pPr marL="342900" marR="0" lvl="0" indent="-342900" algn="l" defTabSz="914400" rtl="0" eaLnBrk="1" fontAlgn="base" latinLnBrk="0" hangingPunct="1">
              <a:lnSpc>
                <a:spcPct val="100000"/>
              </a:lnSpc>
              <a:spcBef>
                <a:spcPts val="1800"/>
              </a:spcBef>
              <a:spcAft>
                <a:spcPct val="0"/>
              </a:spcAft>
              <a:buClr>
                <a:schemeClr val="tx1">
                  <a:lumMod val="60000"/>
                  <a:lumOff val="40000"/>
                </a:schemeClr>
              </a:buClr>
              <a:buSzPct val="60000"/>
              <a:buFont typeface="Wingdings" panose="05000000000000000000" pitchFamily="2" charset="2"/>
              <a:buChar char="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成组先行进位电路</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BCLA，</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其延迟时间是2</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ty</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1800"/>
              </a:spcBef>
              <a:spcAft>
                <a:spcPct val="0"/>
              </a:spcAft>
              <a:buClr>
                <a:schemeClr val="tx1">
                  <a:lumMod val="60000"/>
                  <a:lumOff val="40000"/>
                </a:schemeClr>
              </a:buClr>
              <a:buSzPct val="60000"/>
              <a:buFont typeface="Wingdings" panose="05000000000000000000" pitchFamily="2" charset="2"/>
              <a:buChar char="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4位的</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BCLA</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电路</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求和电路可以构成4位</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BCLA</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加法器；</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1800"/>
              </a:spcBef>
              <a:spcAft>
                <a:spcPct val="0"/>
              </a:spcAft>
              <a:buClr>
                <a:schemeClr val="tx1">
                  <a:lumMod val="60000"/>
                  <a:lumOff val="40000"/>
                </a:schemeClr>
              </a:buClr>
              <a:buSzPct val="60000"/>
              <a:buFont typeface="Wingdings" panose="05000000000000000000" pitchFamily="2" charset="2"/>
              <a:buChar char="n"/>
              <a:defRPr/>
            </a:pP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4个</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BCLA</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加法器</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1个</a:t>
            </a:r>
            <a:r>
              <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CLA=</a:t>
            </a:r>
            <a:r>
              <a:rPr kumimoji="0" lang="zh-CN" altLang="en-US"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16位两级先行进位加法器。 </a:t>
            </a:r>
            <a:endParaRPr kumimoji="0" lang="en-US" altLang="zh-CN" sz="24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16</a:t>
            </a:r>
            <a:r>
              <a:rPr lang="zh-CN" altLang="en-US" dirty="0">
                <a:latin typeface="Times New Roman" panose="02020603050405020304" pitchFamily="18" charset="0"/>
              </a:rPr>
              <a:t>位两级先行进位加法器</a:t>
            </a:r>
            <a:endParaRPr lang="zh-CN" altLang="en-US" dirty="0">
              <a:latin typeface="Times New Roman" panose="02020603050405020304" pitchFamily="18" charset="0"/>
              <a:ea typeface="Times New Roman" panose="02020603050405020304" pitchFamily="18" charset="0"/>
            </a:endParaRPr>
          </a:p>
        </p:txBody>
      </p:sp>
      <p:graphicFrame>
        <p:nvGraphicFramePr>
          <p:cNvPr id="33794" name="Object 4"/>
          <p:cNvGraphicFramePr>
            <a:graphicFrameLocks noChangeAspect="1"/>
          </p:cNvGraphicFramePr>
          <p:nvPr/>
        </p:nvGraphicFramePr>
        <p:xfrm>
          <a:off x="179388" y="1390650"/>
          <a:ext cx="9144000" cy="3860800"/>
        </p:xfrm>
        <a:graphic>
          <a:graphicData uri="http://schemas.openxmlformats.org/presentationml/2006/ole">
            <mc:AlternateContent xmlns:mc="http://schemas.openxmlformats.org/markup-compatibility/2006">
              <mc:Choice xmlns:v="urn:schemas-microsoft-com:vml" Requires="v">
                <p:oleObj spid="_x0000_s3076" name="" r:id="rId1" imgW="4023360" imgH="1704340" progId="Visio.Drawing.6">
                  <p:embed/>
                </p:oleObj>
              </mc:Choice>
              <mc:Fallback>
                <p:oleObj name="" r:id="rId1" imgW="4023360" imgH="1704340" progId="Visio.Drawing.6">
                  <p:embed/>
                  <p:pic>
                    <p:nvPicPr>
                      <p:cNvPr id="0" name="图片 3075"/>
                      <p:cNvPicPr/>
                      <p:nvPr/>
                    </p:nvPicPr>
                    <p:blipFill>
                      <a:blip r:embed="rId2"/>
                      <a:stretch>
                        <a:fillRect/>
                      </a:stretch>
                    </p:blipFill>
                    <p:spPr>
                      <a:xfrm>
                        <a:off x="179388" y="1390650"/>
                        <a:ext cx="9144000" cy="3860800"/>
                      </a:xfrm>
                      <a:prstGeom prst="rect">
                        <a:avLst/>
                      </a:prstGeom>
                      <a:noFill/>
                      <a:ln w="38100">
                        <a:noFill/>
                        <a:miter/>
                      </a:ln>
                    </p:spPr>
                  </p:pic>
                </p:oleObj>
              </mc:Fallback>
            </mc:AlternateContent>
          </a:graphicData>
        </a:graphic>
      </p:graphicFrame>
      <p:sp>
        <p:nvSpPr>
          <p:cNvPr id="5" name="Rectangle 6"/>
          <p:cNvSpPr txBox="1">
            <a:spLocks noChangeArrowheads="1"/>
          </p:cNvSpPr>
          <p:nvPr/>
        </p:nvSpPr>
        <p:spPr>
          <a:xfrm>
            <a:off x="685800" y="5373688"/>
            <a:ext cx="7772400" cy="60960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图4-6  16位两级先行进位加法器</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分组并行进位方式（续）</a:t>
            </a:r>
            <a:endParaRPr lang="zh-CN" altLang="en-US" dirty="0">
              <a:latin typeface="Times New Roman" panose="02020603050405020304" pitchFamily="18" charset="0"/>
            </a:endParaRPr>
          </a:p>
        </p:txBody>
      </p:sp>
      <p:sp>
        <p:nvSpPr>
          <p:cNvPr id="34818" name="内容占位符 2"/>
          <p:cNvSpPr>
            <a:spLocks noGrp="1"/>
          </p:cNvSpPr>
          <p:nvPr>
            <p:ph idx="1"/>
          </p:nvPr>
        </p:nvSpPr>
        <p:spPr>
          <a:noFill/>
          <a:ln>
            <a:noFill/>
          </a:ln>
        </p:spPr>
        <p:txBody>
          <a:bodyPr anchor="t" anchorCtr="0"/>
          <a:p>
            <a:pPr eaLnBrk="1" hangingPunct="1">
              <a:spcBef>
                <a:spcPts val="1800"/>
              </a:spcBef>
            </a:pPr>
            <a:r>
              <a:rPr lang="zh-CN" altLang="en-US" dirty="0">
                <a:latin typeface="Times New Roman" panose="02020603050405020304" pitchFamily="18" charset="0"/>
              </a:rPr>
              <a:t>加法器的最长进位延迟时间：</a:t>
            </a:r>
            <a:endParaRPr lang="en-US" altLang="zh-CN"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不考虑</a:t>
            </a:r>
            <a:r>
              <a:rPr lang="en-US" altLang="zh-CN" sz="2400" dirty="0">
                <a:latin typeface="Times New Roman" panose="02020603050405020304" pitchFamily="18" charset="0"/>
              </a:rPr>
              <a:t>Gi</a:t>
            </a:r>
            <a:r>
              <a:rPr lang="zh-CN" altLang="en-US" sz="2400" dirty="0">
                <a:latin typeface="Times New Roman" panose="02020603050405020304" pitchFamily="18" charset="0"/>
              </a:rPr>
              <a:t>、</a:t>
            </a:r>
            <a:r>
              <a:rPr lang="en-US" altLang="zh-CN" sz="2400" dirty="0">
                <a:latin typeface="Times New Roman" panose="02020603050405020304" pitchFamily="18" charset="0"/>
              </a:rPr>
              <a:t>Pi</a:t>
            </a:r>
            <a:r>
              <a:rPr lang="zh-CN" altLang="en-US" sz="2400" dirty="0">
                <a:latin typeface="Times New Roman" panose="02020603050405020304" pitchFamily="18" charset="0"/>
              </a:rPr>
              <a:t>的形成时间；</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经过</a:t>
            </a:r>
            <a:r>
              <a:rPr lang="en-US" altLang="zh-CN" sz="2400" dirty="0">
                <a:latin typeface="Times New Roman" panose="02020603050405020304" pitchFamily="18" charset="0"/>
              </a:rPr>
              <a:t>2ty</a:t>
            </a:r>
            <a:r>
              <a:rPr lang="zh-CN" altLang="en-US" sz="2400" dirty="0">
                <a:latin typeface="Times New Roman" panose="02020603050405020304" pitchFamily="18" charset="0"/>
              </a:rPr>
              <a:t>产生</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2</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3</a:t>
            </a:r>
            <a:r>
              <a:rPr lang="zh-CN" altLang="en-US" sz="2400" dirty="0">
                <a:latin typeface="Times New Roman" panose="02020603050405020304" pitchFamily="18" charset="0"/>
              </a:rPr>
              <a:t>及所有组</a:t>
            </a:r>
            <a:r>
              <a:rPr lang="en-US" altLang="zh-CN" sz="2400" dirty="0">
                <a:latin typeface="Times New Roman" panose="02020603050405020304" pitchFamily="18" charset="0"/>
              </a:rPr>
              <a:t>Gi*</a:t>
            </a:r>
            <a:r>
              <a:rPr lang="zh-CN" altLang="en-US" sz="2400" dirty="0">
                <a:latin typeface="Times New Roman" panose="02020603050405020304" pitchFamily="18" charset="0"/>
              </a:rPr>
              <a:t>和</a:t>
            </a:r>
            <a:r>
              <a:rPr lang="en-US" altLang="zh-CN" sz="2400" dirty="0">
                <a:latin typeface="Times New Roman" panose="02020603050405020304" pitchFamily="18" charset="0"/>
              </a:rPr>
              <a:t>Pi*</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再经过</a:t>
            </a:r>
            <a:r>
              <a:rPr lang="en-US" altLang="zh-CN" sz="2400" dirty="0">
                <a:latin typeface="Times New Roman" panose="02020603050405020304" pitchFamily="18" charset="0"/>
              </a:rPr>
              <a:t>2ty</a:t>
            </a:r>
            <a:r>
              <a:rPr lang="zh-CN" altLang="en-US" sz="2400" dirty="0">
                <a:latin typeface="Times New Roman" panose="02020603050405020304" pitchFamily="18" charset="0"/>
              </a:rPr>
              <a:t>，由</a:t>
            </a:r>
            <a:r>
              <a:rPr lang="en-US" altLang="zh-CN" sz="2400" dirty="0">
                <a:latin typeface="Times New Roman" panose="02020603050405020304" pitchFamily="18" charset="0"/>
              </a:rPr>
              <a:t>CLA</a:t>
            </a:r>
            <a:r>
              <a:rPr lang="zh-CN" altLang="en-US" sz="2400" dirty="0">
                <a:latin typeface="Times New Roman" panose="02020603050405020304" pitchFamily="18" charset="0"/>
              </a:rPr>
              <a:t>电路产生</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4</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8</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12</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16</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再经过</a:t>
            </a:r>
            <a:r>
              <a:rPr lang="en-US" altLang="zh-CN" sz="2400" dirty="0">
                <a:latin typeface="Times New Roman" panose="02020603050405020304" pitchFamily="18" charset="0"/>
              </a:rPr>
              <a:t>2ty</a:t>
            </a:r>
            <a:r>
              <a:rPr lang="zh-CN" altLang="en-US" sz="2400" dirty="0">
                <a:latin typeface="Times New Roman" panose="02020603050405020304" pitchFamily="18" charset="0"/>
              </a:rPr>
              <a:t>后，产生</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5</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7</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9</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11</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13</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15</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加法器的最长进位延迟时间是</a:t>
            </a:r>
            <a:r>
              <a:rPr lang="en-US" altLang="zh-CN" sz="2400" dirty="0">
                <a:latin typeface="Times New Roman" panose="02020603050405020304" pitchFamily="18" charset="0"/>
              </a:rPr>
              <a:t>6ty</a:t>
            </a:r>
            <a:r>
              <a:rPr lang="zh-CN" altLang="en-US" sz="2400" dirty="0">
                <a:latin typeface="Times New Roman" panose="02020603050405020304" pitchFamily="18" charset="0"/>
              </a:rPr>
              <a:t>。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16</a:t>
            </a:r>
            <a:r>
              <a:rPr lang="zh-CN" altLang="en-US" dirty="0">
                <a:latin typeface="Times New Roman" panose="02020603050405020304" pitchFamily="18" charset="0"/>
              </a:rPr>
              <a:t>位两级先行进位时间图</a:t>
            </a:r>
            <a:endParaRPr lang="zh-CN" altLang="en-US" dirty="0">
              <a:latin typeface="Times New Roman" panose="02020603050405020304" pitchFamily="18" charset="0"/>
              <a:ea typeface="Times New Roman" panose="02020603050405020304" pitchFamily="18" charset="0"/>
            </a:endParaRPr>
          </a:p>
        </p:txBody>
      </p:sp>
      <p:graphicFrame>
        <p:nvGraphicFramePr>
          <p:cNvPr id="35842" name="Object 4"/>
          <p:cNvGraphicFramePr>
            <a:graphicFrameLocks noChangeAspect="1"/>
          </p:cNvGraphicFramePr>
          <p:nvPr/>
        </p:nvGraphicFramePr>
        <p:xfrm>
          <a:off x="1258888" y="1246188"/>
          <a:ext cx="7427912" cy="4090987"/>
        </p:xfrm>
        <a:graphic>
          <a:graphicData uri="http://schemas.openxmlformats.org/presentationml/2006/ole">
            <mc:AlternateContent xmlns:mc="http://schemas.openxmlformats.org/markup-compatibility/2006">
              <mc:Choice xmlns:v="urn:schemas-microsoft-com:vml" Requires="v">
                <p:oleObj spid="_x0000_s3077" name="" r:id="rId1" imgW="2545080" imgH="1402080" progId="Visio.Drawing.6">
                  <p:embed/>
                </p:oleObj>
              </mc:Choice>
              <mc:Fallback>
                <p:oleObj name="" r:id="rId1" imgW="2545080" imgH="1402080" progId="Visio.Drawing.6">
                  <p:embed/>
                  <p:pic>
                    <p:nvPicPr>
                      <p:cNvPr id="0" name="图片 3076"/>
                      <p:cNvPicPr/>
                      <p:nvPr/>
                    </p:nvPicPr>
                    <p:blipFill>
                      <a:blip r:embed="rId2"/>
                      <a:stretch>
                        <a:fillRect/>
                      </a:stretch>
                    </p:blipFill>
                    <p:spPr>
                      <a:xfrm>
                        <a:off x="1258888" y="1246188"/>
                        <a:ext cx="7427912" cy="4090987"/>
                      </a:xfrm>
                      <a:prstGeom prst="rect">
                        <a:avLst/>
                      </a:prstGeom>
                      <a:noFill/>
                      <a:ln w="38100">
                        <a:noFill/>
                        <a:miter/>
                      </a:ln>
                    </p:spPr>
                  </p:pic>
                </p:oleObj>
              </mc:Fallback>
            </mc:AlternateContent>
          </a:graphicData>
        </a:graphic>
      </p:graphicFrame>
      <p:sp>
        <p:nvSpPr>
          <p:cNvPr id="5" name="Rectangle 6"/>
          <p:cNvSpPr txBox="1">
            <a:spLocks noChangeArrowheads="1"/>
          </p:cNvSpPr>
          <p:nvPr/>
        </p:nvSpPr>
        <p:spPr>
          <a:xfrm>
            <a:off x="914400" y="5445125"/>
            <a:ext cx="7772400" cy="762000"/>
          </a:xfrm>
          <a:prstGeom prst="rect">
            <a:avLst/>
          </a:prstGeom>
        </p:spPr>
        <p:txBody>
          <a:bodyPr/>
          <a:lstStyle>
            <a:lvl1pPr marL="342900" indent="-342900" algn="l" rtl="0" eaLnBrk="1" fontAlgn="base" hangingPunct="1">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1" fontAlgn="base" hangingPunct="1">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1" fontAlgn="base" hangingPunct="1">
              <a:spcBef>
                <a:spcPct val="20000"/>
              </a:spcBef>
              <a:spcAft>
                <a:spcPct val="0"/>
              </a:spcAft>
              <a:buClr>
                <a:schemeClr val="tx1"/>
              </a:buClr>
              <a:buChar char="•"/>
              <a:defRPr sz="2400">
                <a:solidFill>
                  <a:schemeClr val="tx1"/>
                </a:solidFill>
                <a:latin typeface="+mn-lt"/>
                <a:ea typeface="+mn-ea"/>
              </a:defRPr>
            </a:lvl3pPr>
            <a:lvl4pPr marL="1600200" indent="-228600" algn="l" rtl="0" eaLnBrk="1" fontAlgn="base" hangingPunct="1">
              <a:spcBef>
                <a:spcPct val="20000"/>
              </a:spcBef>
              <a:spcAft>
                <a:spcPct val="0"/>
              </a:spcAft>
              <a:buChar char="–"/>
              <a:defRPr sz="2000">
                <a:solidFill>
                  <a:schemeClr val="tx1"/>
                </a:solidFill>
                <a:latin typeface="+mn-lt"/>
                <a:ea typeface="+mn-ea"/>
              </a:defRPr>
            </a:lvl4pPr>
            <a:lvl5pPr marL="2057400" indent="-228600" algn="l" rtl="0" eaLnBrk="1" fontAlgn="base" hangingPunct="1">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图4-7  16位两级先行进位时间图</a:t>
            </a: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4.2 </a:t>
            </a:r>
            <a:r>
              <a:rPr lang="zh-CN" altLang="en-US" dirty="0">
                <a:latin typeface="Times New Roman" panose="02020603050405020304" pitchFamily="18" charset="0"/>
              </a:rPr>
              <a:t>定点加减运算</a:t>
            </a:r>
            <a:endParaRPr lang="zh-CN" altLang="en-US" dirty="0">
              <a:latin typeface="Times New Roman" panose="02020603050405020304" pitchFamily="18" charset="0"/>
            </a:endParaRPr>
          </a:p>
        </p:txBody>
      </p:sp>
      <p:sp>
        <p:nvSpPr>
          <p:cNvPr id="36866"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定点数的加减运算：</a:t>
            </a:r>
            <a:endParaRPr lang="zh-CN" altLang="en-US" dirty="0">
              <a:latin typeface="Times New Roman" panose="02020603050405020304" pitchFamily="18" charset="0"/>
            </a:endParaRPr>
          </a:p>
          <a:p>
            <a:pPr lvl="1" indent="0" eaLnBrk="1" latinLnBrk="0" hangingPunct="1">
              <a:spcBef>
                <a:spcPts val="1800"/>
              </a:spcBef>
            </a:pPr>
            <a:r>
              <a:rPr lang="zh-CN" altLang="en-US" dirty="0">
                <a:latin typeface="Times New Roman" panose="02020603050405020304" pitchFamily="18" charset="0"/>
              </a:rPr>
              <a:t>包括原码、补码和反码</a:t>
            </a:r>
            <a:r>
              <a:rPr lang="en-US" altLang="zh-CN" dirty="0">
                <a:latin typeface="Times New Roman" panose="02020603050405020304" pitchFamily="18" charset="0"/>
              </a:rPr>
              <a:t>3</a:t>
            </a:r>
            <a:r>
              <a:rPr lang="zh-CN" altLang="en-US" dirty="0">
                <a:latin typeface="Times New Roman" panose="02020603050405020304" pitchFamily="18" charset="0"/>
              </a:rPr>
              <a:t>种带符号数；</a:t>
            </a:r>
            <a:endParaRPr lang="zh-CN" altLang="en-US" dirty="0">
              <a:latin typeface="Times New Roman" panose="02020603050405020304" pitchFamily="18" charset="0"/>
            </a:endParaRPr>
          </a:p>
          <a:p>
            <a:pPr lvl="1" indent="0" eaLnBrk="1" latinLnBrk="0" hangingPunct="1">
              <a:spcBef>
                <a:spcPts val="1800"/>
              </a:spcBef>
            </a:pPr>
            <a:r>
              <a:rPr lang="zh-CN" altLang="en-US" dirty="0">
                <a:latin typeface="Times New Roman" panose="02020603050405020304" pitchFamily="18" charset="0"/>
              </a:rPr>
              <a:t>其中补码加减运算实现起来最方便。</a:t>
            </a:r>
            <a:endParaRPr lang="zh-CN" altLang="en-US" dirty="0">
              <a:latin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89"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a:t>
            </a:r>
            <a:r>
              <a:rPr lang="en-US" altLang="zh-CN" dirty="0">
                <a:latin typeface="Times New Roman" panose="02020603050405020304" pitchFamily="18" charset="0"/>
              </a:rPr>
              <a:t>4.2.1 </a:t>
            </a:r>
            <a:r>
              <a:rPr lang="zh-CN" altLang="en-US" dirty="0">
                <a:latin typeface="Times New Roman" panose="02020603050405020304" pitchFamily="18" charset="0"/>
              </a:rPr>
              <a:t>原码加减运算 </a:t>
            </a:r>
            <a:endParaRPr lang="zh-CN" altLang="en-US" dirty="0">
              <a:latin typeface="Times New Roman" panose="02020603050405020304" pitchFamily="18" charset="0"/>
              <a:ea typeface="Times New Roman" panose="02020603050405020304" pitchFamily="18" charset="0"/>
            </a:endParaRPr>
          </a:p>
        </p:txBody>
      </p:sp>
      <p:sp>
        <p:nvSpPr>
          <p:cNvPr id="37890" name="内容占位符 2"/>
          <p:cNvSpPr>
            <a:spLocks noGrp="1"/>
          </p:cNvSpPr>
          <p:nvPr>
            <p:ph idx="1"/>
          </p:nvPr>
        </p:nvSpPr>
        <p:spPr>
          <a:xfrm>
            <a:off x="457200" y="1417638"/>
            <a:ext cx="8229600" cy="4708525"/>
          </a:xfrm>
          <a:noFill/>
          <a:ln>
            <a:noFill/>
          </a:ln>
        </p:spPr>
        <p:txBody>
          <a:bodyPr anchor="t" anchorCtr="0"/>
          <a:p>
            <a:pPr eaLnBrk="1" hangingPunct="1"/>
            <a:r>
              <a:rPr lang="zh-CN" altLang="en-US" dirty="0">
                <a:latin typeface="Times New Roman" panose="02020603050405020304" pitchFamily="18" charset="0"/>
              </a:rPr>
              <a:t>原码加减运算规则：</a:t>
            </a:r>
            <a:endParaRPr lang="zh-CN" altLang="en-US"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⑴参加运算的操作数取其绝对值；</a:t>
            </a:r>
            <a:endParaRPr lang="zh-CN" altLang="en-US"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⑵若做加法，则两数直接相加</a:t>
            </a:r>
            <a:r>
              <a:rPr lang="en-US" altLang="zh-CN" sz="2400" dirty="0">
                <a:latin typeface="Times New Roman" panose="02020603050405020304" pitchFamily="18" charset="0"/>
              </a:rPr>
              <a:t>;</a:t>
            </a:r>
            <a:r>
              <a:rPr lang="zh-CN" altLang="en-US" sz="2400" dirty="0">
                <a:solidFill>
                  <a:srgbClr val="FF0000"/>
                </a:solidFill>
                <a:latin typeface="Times New Roman" panose="02020603050405020304" pitchFamily="18" charset="0"/>
              </a:rPr>
              <a:t>若做减法，则将减数先变一次补，再进行加法运算</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⑶运算之后，可能有两种情况：</a:t>
            </a:r>
            <a:endParaRPr lang="zh-CN" altLang="en-US" sz="2400" dirty="0">
              <a:latin typeface="Times New Roman" panose="02020603050405020304" pitchFamily="18" charset="0"/>
            </a:endParaRPr>
          </a:p>
          <a:p>
            <a:pPr lvl="2" eaLnBrk="1" hangingPunct="1"/>
            <a:r>
              <a:rPr lang="zh-CN" altLang="en-US" sz="2000" dirty="0">
                <a:latin typeface="Times New Roman" panose="02020603050405020304" pitchFamily="18" charset="0"/>
              </a:rPr>
              <a:t>①有进位，结果为正，即得到正确的结果。</a:t>
            </a:r>
            <a:endParaRPr lang="zh-CN" altLang="en-US" sz="2000" dirty="0">
              <a:latin typeface="Times New Roman" panose="02020603050405020304" pitchFamily="18" charset="0"/>
            </a:endParaRPr>
          </a:p>
          <a:p>
            <a:pPr lvl="2" eaLnBrk="1" hangingPunct="1"/>
            <a:r>
              <a:rPr lang="zh-CN" altLang="en-US" sz="2000" dirty="0">
                <a:latin typeface="Times New Roman" panose="02020603050405020304" pitchFamily="18" charset="0"/>
              </a:rPr>
              <a:t>②</a:t>
            </a:r>
            <a:r>
              <a:rPr lang="zh-CN" altLang="en-US" sz="2000" dirty="0">
                <a:solidFill>
                  <a:srgbClr val="FF0000"/>
                </a:solidFill>
                <a:latin typeface="Times New Roman" panose="02020603050405020304" pitchFamily="18" charset="0"/>
              </a:rPr>
              <a:t>无进位，结果为负，则应再变一次补，才能得到正确的结果</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⑷结果加上符号位。</a:t>
            </a:r>
            <a:endParaRPr lang="zh-CN" altLang="en-US" sz="2400" dirty="0">
              <a:latin typeface="Times New Roman" panose="02020603050405020304" pitchFamily="18" charset="0"/>
            </a:endParaRPr>
          </a:p>
          <a:p>
            <a:pPr lvl="1" eaLnBrk="1" hangingPunct="1">
              <a:spcBef>
                <a:spcPts val="1200"/>
              </a:spcBef>
            </a:pPr>
            <a:r>
              <a:rPr lang="zh-CN" altLang="en-US" sz="2400" dirty="0">
                <a:latin typeface="Times New Roman" panose="02020603050405020304" pitchFamily="18" charset="0"/>
              </a:rPr>
              <a:t>通常，把运算之前的变补称为前变补，运算之后的变补称为后变补。 </a:t>
            </a:r>
            <a:endParaRPr lang="zh-CN" altLang="en-US" sz="2400" dirty="0">
              <a:latin typeface="Times New Roman" panose="02020603050405020304" pitchFamily="18" charset="0"/>
            </a:endParaRPr>
          </a:p>
          <a:p>
            <a:pPr eaLnBrk="1" hangingPunct="1"/>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4.2.2 </a:t>
            </a:r>
            <a:r>
              <a:rPr lang="zh-CN" altLang="en-US" dirty="0">
                <a:latin typeface="Times New Roman" panose="02020603050405020304" pitchFamily="18" charset="0"/>
              </a:rPr>
              <a:t>补码加减运算</a:t>
            </a:r>
            <a:endParaRPr lang="zh-CN" altLang="en-US" dirty="0">
              <a:latin typeface="Times New Roman" panose="02020603050405020304" pitchFamily="18" charset="0"/>
              <a:ea typeface="Times New Roman" panose="02020603050405020304" pitchFamily="18" charset="0"/>
            </a:endParaRPr>
          </a:p>
        </p:txBody>
      </p:sp>
      <p:sp>
        <p:nvSpPr>
          <p:cNvPr id="38914" name="内容占位符 2"/>
          <p:cNvSpPr>
            <a:spLocks noGrp="1"/>
          </p:cNvSpPr>
          <p:nvPr>
            <p:ph idx="1"/>
          </p:nvPr>
        </p:nvSpPr>
        <p:spPr>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补码加法</a:t>
            </a:r>
            <a:endParaRPr lang="zh-CN" altLang="en-US"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两个补码表示的数相加；</a:t>
            </a:r>
            <a:endParaRPr lang="zh-CN" altLang="en-US" sz="2400" dirty="0">
              <a:latin typeface="Times New Roman" panose="02020603050405020304" pitchFamily="18" charset="0"/>
            </a:endParaRPr>
          </a:p>
          <a:p>
            <a:pPr lvl="1" eaLnBrk="1" hangingPunct="1">
              <a:spcBef>
                <a:spcPts val="1800"/>
              </a:spcBef>
            </a:pPr>
            <a:r>
              <a:rPr lang="zh-CN" altLang="en-US" sz="2400" dirty="0">
                <a:solidFill>
                  <a:srgbClr val="FF0000"/>
                </a:solidFill>
                <a:latin typeface="Times New Roman" panose="02020603050405020304" pitchFamily="18" charset="0"/>
              </a:rPr>
              <a:t>符号位参加运算，且两数和的补码等于两数补码之和；</a:t>
            </a:r>
            <a:endParaRPr lang="zh-CN" altLang="en-US" sz="2400" dirty="0">
              <a:latin typeface="Times New Roman" panose="02020603050405020304" pitchFamily="18" charset="0"/>
            </a:endParaRPr>
          </a:p>
          <a:p>
            <a:pPr lvl="1" eaLnBrk="1" hangingPunct="1">
              <a:spcBef>
                <a:spcPts val="1800"/>
              </a:spcBef>
            </a:pPr>
            <a:r>
              <a:rPr lang="en-US" altLang="zh-CN" sz="2400" dirty="0">
                <a:latin typeface="Times New Roman" panose="02020603050405020304" pitchFamily="18" charset="0"/>
              </a:rPr>
              <a:t>[X+Y]</a:t>
            </a:r>
            <a:r>
              <a:rPr lang="zh-CN" altLang="en-US" sz="2400" baseline="-25000" dirty="0">
                <a:latin typeface="Times New Roman" panose="02020603050405020304" pitchFamily="18" charset="0"/>
              </a:rPr>
              <a:t>补</a:t>
            </a:r>
            <a:r>
              <a:rPr lang="en-US" altLang="zh-CN" sz="2400" dirty="0">
                <a:latin typeface="Times New Roman" panose="02020603050405020304" pitchFamily="18" charset="0"/>
              </a:rPr>
              <a:t>=[X]</a:t>
            </a:r>
            <a:r>
              <a:rPr lang="zh-CN" altLang="en-US" sz="2400" baseline="-25000" dirty="0">
                <a:latin typeface="Times New Roman" panose="02020603050405020304" pitchFamily="18" charset="0"/>
              </a:rPr>
              <a:t>补</a:t>
            </a:r>
            <a:r>
              <a:rPr lang="en-US" altLang="zh-CN" sz="2400" dirty="0">
                <a:latin typeface="Times New Roman" panose="02020603050405020304" pitchFamily="18" charset="0"/>
              </a:rPr>
              <a:t>+[Y]</a:t>
            </a:r>
            <a:r>
              <a:rPr lang="zh-CN" altLang="en-US" sz="2400" baseline="-25000" dirty="0">
                <a:latin typeface="Times New Roman" panose="02020603050405020304" pitchFamily="18" charset="0"/>
              </a:rPr>
              <a:t>补。</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4.2.2 </a:t>
            </a:r>
            <a:r>
              <a:rPr lang="zh-CN" altLang="en-US" dirty="0">
                <a:latin typeface="Times New Roman" panose="02020603050405020304" pitchFamily="18" charset="0"/>
              </a:rPr>
              <a:t>补码加减运算</a:t>
            </a:r>
            <a:endParaRPr lang="zh-CN" altLang="en-US" dirty="0">
              <a:latin typeface="Times New Roman" panose="02020603050405020304" pitchFamily="18" charset="0"/>
              <a:ea typeface="Times New Roman" panose="02020603050405020304" pitchFamily="18" charset="0"/>
            </a:endParaRPr>
          </a:p>
        </p:txBody>
      </p:sp>
      <p:sp>
        <p:nvSpPr>
          <p:cNvPr id="40962" name="内容占位符 2"/>
          <p:cNvSpPr>
            <a:spLocks noGrp="1"/>
          </p:cNvSpPr>
          <p:nvPr>
            <p:ph idx="1"/>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 补码减法：</a:t>
            </a:r>
            <a:endParaRPr lang="zh-CN" altLang="en-US" dirty="0">
              <a:latin typeface="Times New Roman" panose="02020603050405020304" pitchFamily="18" charset="0"/>
            </a:endParaRPr>
          </a:p>
          <a:p>
            <a:pPr lvl="1" eaLnBrk="1" latinLnBrk="0" hangingPunct="1">
              <a:spcBef>
                <a:spcPts val="1800"/>
              </a:spcBef>
            </a:pPr>
            <a:r>
              <a:rPr lang="en-US" altLang="zh-CN" sz="2400" dirty="0">
                <a:latin typeface="Times New Roman" panose="02020603050405020304" pitchFamily="18" charset="0"/>
              </a:rPr>
              <a:t>[X-Y]</a:t>
            </a:r>
            <a:r>
              <a:rPr lang="zh-CN" altLang="en-US" sz="2400" baseline="-25000" dirty="0">
                <a:latin typeface="Times New Roman" panose="02020603050405020304" pitchFamily="18" charset="0"/>
              </a:rPr>
              <a:t>补</a:t>
            </a:r>
            <a:r>
              <a:rPr lang="en-US" altLang="zh-CN" sz="2400" dirty="0">
                <a:latin typeface="Times New Roman" panose="02020603050405020304" pitchFamily="18" charset="0"/>
              </a:rPr>
              <a:t>=[X+(-Y)]</a:t>
            </a:r>
            <a:r>
              <a:rPr lang="zh-CN" altLang="en-US" sz="2400" baseline="-25000" dirty="0">
                <a:latin typeface="Times New Roman" panose="02020603050405020304" pitchFamily="18" charset="0"/>
              </a:rPr>
              <a:t>补</a:t>
            </a:r>
            <a:r>
              <a:rPr lang="en-US" altLang="zh-CN" sz="2400" dirty="0">
                <a:latin typeface="Times New Roman" panose="02020603050405020304" pitchFamily="18" charset="0"/>
              </a:rPr>
              <a:t>=[X]</a:t>
            </a:r>
            <a:r>
              <a:rPr lang="zh-CN" altLang="en-US" sz="2400" baseline="-25000" dirty="0">
                <a:latin typeface="Times New Roman" panose="02020603050405020304" pitchFamily="18" charset="0"/>
              </a:rPr>
              <a:t>补</a:t>
            </a:r>
            <a:r>
              <a:rPr lang="en-US" altLang="zh-CN" sz="2400" dirty="0">
                <a:latin typeface="Times New Roman" panose="02020603050405020304" pitchFamily="18" charset="0"/>
              </a:rPr>
              <a:t>+[-Y]</a:t>
            </a:r>
            <a:r>
              <a:rPr lang="zh-CN" altLang="en-US" sz="2400" baseline="-25000" dirty="0">
                <a:latin typeface="Times New Roman" panose="02020603050405020304" pitchFamily="18" charset="0"/>
              </a:rPr>
              <a:t>补；</a:t>
            </a:r>
            <a:endParaRPr lang="zh-CN" altLang="en-US" sz="2400" baseline="-25000" dirty="0">
              <a:latin typeface="Times New Roman" panose="02020603050405020304" pitchFamily="18" charset="0"/>
            </a:endParaRPr>
          </a:p>
          <a:p>
            <a:pPr lvl="1" eaLnBrk="1" latinLnBrk="0" hangingPunct="1">
              <a:spcBef>
                <a:spcPts val="1800"/>
              </a:spcBef>
            </a:pPr>
            <a:r>
              <a:rPr lang="zh-CN" altLang="en-US" sz="2400" dirty="0">
                <a:latin typeface="Times New Roman" panose="02020603050405020304" pitchFamily="18" charset="0"/>
              </a:rPr>
              <a:t>只要求得</a:t>
            </a:r>
            <a:r>
              <a:rPr lang="en-US" altLang="zh-CN" sz="2400" dirty="0">
                <a:latin typeface="Times New Roman" panose="02020603050405020304" pitchFamily="18" charset="0"/>
              </a:rPr>
              <a:t>[-Y]</a:t>
            </a:r>
            <a:r>
              <a:rPr lang="zh-CN" altLang="en-US" sz="2400" baseline="-25000" dirty="0">
                <a:latin typeface="Times New Roman" panose="02020603050405020304" pitchFamily="18" charset="0"/>
              </a:rPr>
              <a:t>补</a:t>
            </a:r>
            <a:r>
              <a:rPr lang="zh-CN" altLang="en-US" sz="2400" dirty="0">
                <a:latin typeface="Times New Roman" panose="02020603050405020304" pitchFamily="18" charset="0"/>
              </a:rPr>
              <a:t>，就可以变减法为加法；</a:t>
            </a:r>
            <a:endParaRPr lang="en-US" altLang="zh-CN" sz="2400" dirty="0">
              <a:latin typeface="Times New Roman" panose="02020603050405020304" pitchFamily="18" charset="0"/>
            </a:endParaRPr>
          </a:p>
          <a:p>
            <a:pPr lvl="1" eaLnBrk="1" latinLnBrk="0" hangingPunct="1">
              <a:spcBef>
                <a:spcPts val="1800"/>
              </a:spcBef>
            </a:pPr>
            <a:r>
              <a:rPr lang="zh-CN" altLang="en-US" sz="2400" dirty="0">
                <a:latin typeface="Times New Roman" panose="02020603050405020304" pitchFamily="18" charset="0"/>
              </a:rPr>
              <a:t>不管</a:t>
            </a:r>
            <a:r>
              <a:rPr lang="en-US" altLang="zh-CN" sz="2400" dirty="0">
                <a:latin typeface="Times New Roman" panose="02020603050405020304" pitchFamily="18" charset="0"/>
              </a:rPr>
              <a:t>Y</a:t>
            </a:r>
            <a:r>
              <a:rPr lang="zh-CN" altLang="en-US" sz="2400" dirty="0">
                <a:latin typeface="Times New Roman" panose="02020603050405020304" pitchFamily="18" charset="0"/>
              </a:rPr>
              <a:t>的真值为正或负，由</a:t>
            </a:r>
            <a:r>
              <a:rPr lang="en-US" altLang="zh-CN" sz="2400" dirty="0">
                <a:latin typeface="Times New Roman" panose="02020603050405020304" pitchFamily="18" charset="0"/>
              </a:rPr>
              <a:t>[Y]</a:t>
            </a:r>
            <a:r>
              <a:rPr lang="zh-CN" altLang="en-US" sz="2400" baseline="-25000" dirty="0">
                <a:latin typeface="Times New Roman" panose="02020603050405020304" pitchFamily="18" charset="0"/>
              </a:rPr>
              <a:t>补</a:t>
            </a:r>
            <a:r>
              <a:rPr lang="zh-CN" altLang="en-US" sz="2400" dirty="0">
                <a:latin typeface="Times New Roman" panose="02020603050405020304" pitchFamily="18" charset="0"/>
              </a:rPr>
              <a:t>求</a:t>
            </a:r>
            <a:r>
              <a:rPr lang="en-US" altLang="zh-CN" sz="2400" dirty="0">
                <a:latin typeface="Times New Roman" panose="02020603050405020304" pitchFamily="18" charset="0"/>
              </a:rPr>
              <a:t>[-Y]</a:t>
            </a:r>
            <a:r>
              <a:rPr lang="zh-CN" altLang="en-US" sz="2400" baseline="-25000" dirty="0">
                <a:latin typeface="Times New Roman" panose="02020603050405020304" pitchFamily="18" charset="0"/>
              </a:rPr>
              <a:t>补</a:t>
            </a:r>
            <a:r>
              <a:rPr lang="zh-CN" altLang="en-US" sz="2400" dirty="0">
                <a:latin typeface="Times New Roman" panose="02020603050405020304" pitchFamily="18" charset="0"/>
              </a:rPr>
              <a:t>的方法：</a:t>
            </a:r>
            <a:endParaRPr lang="en-US" altLang="zh-CN" sz="2400" dirty="0">
              <a:latin typeface="Times New Roman" panose="02020603050405020304" pitchFamily="18" charset="0"/>
            </a:endParaRPr>
          </a:p>
          <a:p>
            <a:pPr lvl="2" eaLnBrk="1" hangingPunct="1">
              <a:spcBef>
                <a:spcPts val="1200"/>
              </a:spcBef>
            </a:pPr>
            <a:r>
              <a:rPr lang="zh-CN" altLang="en-US" sz="2000" dirty="0">
                <a:solidFill>
                  <a:srgbClr val="FF0000"/>
                </a:solidFill>
                <a:latin typeface="Times New Roman" panose="02020603050405020304" pitchFamily="18" charset="0"/>
              </a:rPr>
              <a:t>将</a:t>
            </a:r>
            <a:r>
              <a:rPr lang="en-US" altLang="zh-CN" sz="2000" dirty="0">
                <a:solidFill>
                  <a:srgbClr val="FF0000"/>
                </a:solidFill>
                <a:latin typeface="Times New Roman" panose="02020603050405020304" pitchFamily="18" charset="0"/>
              </a:rPr>
              <a:t>[Y]</a:t>
            </a:r>
            <a:r>
              <a:rPr lang="zh-CN" altLang="en-US" sz="2000" baseline="-25000" dirty="0">
                <a:solidFill>
                  <a:srgbClr val="FF0000"/>
                </a:solidFill>
                <a:latin typeface="Times New Roman" panose="02020603050405020304" pitchFamily="18" charset="0"/>
              </a:rPr>
              <a:t>补</a:t>
            </a:r>
            <a:r>
              <a:rPr lang="zh-CN" altLang="en-US" sz="2000" dirty="0">
                <a:solidFill>
                  <a:srgbClr val="FF0000"/>
                </a:solidFill>
                <a:latin typeface="Times New Roman" panose="02020603050405020304" pitchFamily="18" charset="0"/>
              </a:rPr>
              <a:t>连同符号位一起求反</a:t>
            </a:r>
            <a:r>
              <a:rPr lang="zh-CN" altLang="en-US" sz="2000" dirty="0">
                <a:latin typeface="Times New Roman" panose="02020603050405020304" pitchFamily="18" charset="0"/>
              </a:rPr>
              <a:t>，末尾加“</a:t>
            </a:r>
            <a:r>
              <a:rPr lang="en-US" altLang="zh-CN" sz="2000" dirty="0">
                <a:latin typeface="Times New Roman" panose="02020603050405020304" pitchFamily="18" charset="0"/>
              </a:rPr>
              <a:t>1” </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1" eaLnBrk="1" latinLnBrk="0" hangingPunct="1">
              <a:spcBef>
                <a:spcPts val="1800"/>
              </a:spcBef>
            </a:pPr>
            <a:r>
              <a:rPr lang="en-US" altLang="zh-CN" sz="2400" dirty="0">
                <a:solidFill>
                  <a:schemeClr val="tx1"/>
                </a:solidFill>
                <a:latin typeface="Times New Roman" panose="02020603050405020304" pitchFamily="18" charset="0"/>
              </a:rPr>
              <a:t>[-Y]</a:t>
            </a:r>
            <a:r>
              <a:rPr lang="zh-CN" altLang="en-US" sz="2400" baseline="-25000" dirty="0">
                <a:solidFill>
                  <a:schemeClr val="tx1"/>
                </a:solidFill>
                <a:latin typeface="Times New Roman" panose="02020603050405020304" pitchFamily="18" charset="0"/>
              </a:rPr>
              <a:t>补</a:t>
            </a:r>
            <a:r>
              <a:rPr lang="zh-CN" altLang="en-US" sz="2400" dirty="0">
                <a:solidFill>
                  <a:schemeClr val="tx1"/>
                </a:solidFill>
                <a:latin typeface="Times New Roman" panose="02020603050405020304" pitchFamily="18" charset="0"/>
              </a:rPr>
              <a:t>被称为</a:t>
            </a:r>
            <a:r>
              <a:rPr lang="en-US" altLang="zh-CN" sz="2400" dirty="0">
                <a:solidFill>
                  <a:schemeClr val="tx1"/>
                </a:solidFill>
                <a:latin typeface="Times New Roman" panose="02020603050405020304" pitchFamily="18" charset="0"/>
              </a:rPr>
              <a:t>[Y]</a:t>
            </a:r>
            <a:r>
              <a:rPr lang="zh-CN" altLang="en-US" sz="2400" baseline="-25000" dirty="0">
                <a:solidFill>
                  <a:schemeClr val="tx1"/>
                </a:solidFill>
                <a:latin typeface="Times New Roman" panose="02020603050405020304" pitchFamily="18" charset="0"/>
              </a:rPr>
              <a:t>补</a:t>
            </a:r>
            <a:r>
              <a:rPr lang="zh-CN" altLang="en-US" sz="2400" dirty="0">
                <a:solidFill>
                  <a:schemeClr val="tx1"/>
                </a:solidFill>
                <a:latin typeface="Times New Roman" panose="02020603050405020304" pitchFamily="18" charset="0"/>
              </a:rPr>
              <a:t>的</a:t>
            </a:r>
            <a:r>
              <a:rPr lang="zh-CN" altLang="en-US" sz="2400" dirty="0">
                <a:solidFill>
                  <a:srgbClr val="FF0000"/>
                </a:solidFill>
                <a:latin typeface="Times New Roman" panose="02020603050405020304" pitchFamily="18" charset="0"/>
              </a:rPr>
              <a:t>机器负数</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800"/>
              </a:spcBef>
            </a:pPr>
            <a:r>
              <a:rPr lang="zh-CN" altLang="en-US" sz="2400" dirty="0">
                <a:solidFill>
                  <a:srgbClr val="FF0000"/>
                </a:solidFill>
                <a:latin typeface="Times New Roman" panose="02020603050405020304" pitchFamily="18" charset="0"/>
              </a:rPr>
              <a:t>由</a:t>
            </a:r>
            <a:r>
              <a:rPr lang="en-US" altLang="zh-CN" sz="2400" dirty="0">
                <a:solidFill>
                  <a:srgbClr val="FF0000"/>
                </a:solidFill>
                <a:latin typeface="Times New Roman" panose="02020603050405020304" pitchFamily="18" charset="0"/>
              </a:rPr>
              <a:t>[Y]</a:t>
            </a:r>
            <a:r>
              <a:rPr lang="zh-CN" altLang="en-US" sz="2400" baseline="-25000" dirty="0">
                <a:solidFill>
                  <a:srgbClr val="FF0000"/>
                </a:solidFill>
                <a:latin typeface="Times New Roman" panose="02020603050405020304" pitchFamily="18" charset="0"/>
              </a:rPr>
              <a:t>补</a:t>
            </a:r>
            <a:r>
              <a:rPr lang="zh-CN" altLang="en-US" sz="2400" dirty="0">
                <a:solidFill>
                  <a:srgbClr val="FF0000"/>
                </a:solidFill>
                <a:latin typeface="Times New Roman" panose="02020603050405020304" pitchFamily="18" charset="0"/>
              </a:rPr>
              <a:t>求</a:t>
            </a:r>
            <a:r>
              <a:rPr lang="en-US" altLang="zh-CN" sz="2400" dirty="0">
                <a:solidFill>
                  <a:srgbClr val="FF0000"/>
                </a:solidFill>
                <a:latin typeface="Times New Roman" panose="02020603050405020304" pitchFamily="18" charset="0"/>
              </a:rPr>
              <a:t>[-Y]</a:t>
            </a:r>
            <a:r>
              <a:rPr lang="zh-CN" altLang="en-US" sz="2400" baseline="-25000" dirty="0">
                <a:solidFill>
                  <a:srgbClr val="FF0000"/>
                </a:solidFill>
                <a:latin typeface="Times New Roman" panose="02020603050405020304" pitchFamily="18" charset="0"/>
              </a:rPr>
              <a:t>补</a:t>
            </a:r>
            <a:r>
              <a:rPr lang="zh-CN" altLang="en-US" sz="2400" dirty="0">
                <a:solidFill>
                  <a:srgbClr val="FF0000"/>
                </a:solidFill>
                <a:latin typeface="Times New Roman" panose="02020603050405020304" pitchFamily="18" charset="0"/>
              </a:rPr>
              <a:t>的过程</a:t>
            </a:r>
            <a:r>
              <a:rPr lang="zh-CN" altLang="en-US" sz="2400" dirty="0">
                <a:latin typeface="Times New Roman" panose="02020603050405020304" pitchFamily="18" charset="0"/>
              </a:rPr>
              <a:t>称为对</a:t>
            </a:r>
            <a:r>
              <a:rPr lang="en-US" altLang="zh-CN" sz="2400" dirty="0">
                <a:latin typeface="Times New Roman" panose="02020603050405020304" pitchFamily="18" charset="0"/>
              </a:rPr>
              <a:t>[Y]</a:t>
            </a:r>
            <a:r>
              <a:rPr lang="zh-CN" altLang="en-US" sz="2400" baseline="-25000" dirty="0">
                <a:latin typeface="Times New Roman" panose="02020603050405020304" pitchFamily="18" charset="0"/>
              </a:rPr>
              <a:t>补</a:t>
            </a:r>
            <a:r>
              <a:rPr lang="zh-CN" altLang="en-US" sz="2400" dirty="0">
                <a:solidFill>
                  <a:srgbClr val="FF0000"/>
                </a:solidFill>
                <a:latin typeface="Times New Roman" panose="02020603050405020304" pitchFamily="18" charset="0"/>
              </a:rPr>
              <a:t>变补</a:t>
            </a:r>
            <a:r>
              <a:rPr lang="zh-CN" altLang="en-US" sz="2400" dirty="0">
                <a:latin typeface="Times New Roman" panose="02020603050405020304" pitchFamily="18" charset="0"/>
              </a:rPr>
              <a:t>（求补）：</a:t>
            </a:r>
            <a:endParaRPr lang="en-US" altLang="zh-CN" sz="2400" dirty="0">
              <a:latin typeface="Times New Roman" panose="02020603050405020304" pitchFamily="18" charset="0"/>
            </a:endParaRPr>
          </a:p>
          <a:p>
            <a:pPr lvl="2" eaLnBrk="1" hangingPunct="1">
              <a:spcBef>
                <a:spcPts val="1200"/>
              </a:spcBef>
            </a:pPr>
            <a:r>
              <a:rPr lang="en-US" altLang="zh-CN" sz="2000" dirty="0">
                <a:latin typeface="Times New Roman" panose="02020603050405020304" pitchFamily="18" charset="0"/>
              </a:rPr>
              <a:t>[-Y]</a:t>
            </a:r>
            <a:r>
              <a:rPr lang="zh-CN" altLang="en-US" sz="2000" baseline="-25000" dirty="0">
                <a:latin typeface="Times New Roman" panose="02020603050405020304" pitchFamily="18" charset="0"/>
              </a:rPr>
              <a:t>补</a:t>
            </a:r>
            <a:r>
              <a:rPr lang="en-US" altLang="zh-CN" sz="2000" dirty="0">
                <a:latin typeface="Times New Roman" panose="02020603050405020304" pitchFamily="18" charset="0"/>
              </a:rPr>
              <a:t>=[[Y]</a:t>
            </a:r>
            <a:r>
              <a:rPr lang="zh-CN" altLang="en-US" sz="2000" baseline="-25000" dirty="0">
                <a:latin typeface="Times New Roman" panose="02020603050405020304" pitchFamily="18" charset="0"/>
              </a:rPr>
              <a:t>补</a:t>
            </a:r>
            <a:r>
              <a:rPr lang="en-US" altLang="zh-CN" sz="2000" dirty="0">
                <a:latin typeface="Times New Roman" panose="02020603050405020304" pitchFamily="18" charset="0"/>
              </a:rPr>
              <a:t>]</a:t>
            </a:r>
            <a:r>
              <a:rPr lang="zh-CN" altLang="en-US" sz="2000" baseline="-25000" dirty="0">
                <a:latin typeface="Times New Roman" panose="02020603050405020304" pitchFamily="18" charset="0"/>
              </a:rPr>
              <a:t>变补</a:t>
            </a:r>
            <a:endParaRPr lang="zh-CN" altLang="en-US" sz="2000" baseline="-250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0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补码减法（续）</a:t>
            </a:r>
            <a:endParaRPr lang="zh-CN" altLang="en-US" dirty="0">
              <a:latin typeface="Times New Roman" panose="02020603050405020304" pitchFamily="18" charset="0"/>
            </a:endParaRPr>
          </a:p>
        </p:txBody>
      </p:sp>
      <p:sp>
        <p:nvSpPr>
          <p:cNvPr id="3" name="内容占位符 2"/>
          <p:cNvSpPr>
            <a:spLocks noGrp="1"/>
          </p:cNvSpPr>
          <p:nvPr>
            <p:ph idx="1"/>
          </p:nvPr>
        </p:nvSpPr>
        <p:spPr>
          <a:xfrm>
            <a:off x="457200" y="1417638"/>
            <a:ext cx="8229600" cy="4708525"/>
          </a:xfrm>
        </p:spPr>
        <p:txBody>
          <a:bodyPr/>
          <a:lstStyle/>
          <a:p>
            <a:pPr marL="342900" marR="0" lvl="0" indent="-342900" algn="l" defTabSz="914400" rtl="0" eaLnBrk="1" fontAlgn="base" latinLnBrk="0" hangingPunct="1">
              <a:lnSpc>
                <a:spcPct val="100000"/>
              </a:lnSpc>
              <a:spcBef>
                <a:spcPts val="12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“某数的补码表示”与“变补”：</a:t>
            </a:r>
            <a:endPar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一个负数由原码转换成补码时，符号位不</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变；</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4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n-ea"/>
              </a:rPr>
              <a:t>变补则不论正负，一律连同符号位变反</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n-ea"/>
              </a:rPr>
              <a:t>，</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末位加“</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a:t>
            </a:r>
            <a:endPar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sym typeface="+mn-ea"/>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[Y]</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补</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表示的真值为正，则变补后</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[-Y]</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补</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sym typeface="+mn-ea"/>
              </a:rPr>
              <a:t>为负，反之亦然。</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例</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Y=-0.0110</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原</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=1.0110</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=1.1010</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=0.0110</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例</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Y=0.0110</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原</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=0.0110</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=0.0110</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=1.1010</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a:t>
            </a:r>
            <a:r>
              <a:rPr lang="zh-CN" altLang="en-US" dirty="0">
                <a:latin typeface="Times New Roman" panose="02020603050405020304" pitchFamily="18" charset="0"/>
              </a:rPr>
              <a:t>补码加减运算规则</a:t>
            </a:r>
            <a:endParaRPr lang="zh-CN" altLang="en-US" dirty="0">
              <a:latin typeface="Times New Roman" panose="02020603050405020304" pitchFamily="18" charset="0"/>
              <a:ea typeface="Times New Roman" panose="02020603050405020304" pitchFamily="18" charset="0"/>
            </a:endParaRPr>
          </a:p>
        </p:txBody>
      </p:sp>
      <p:sp>
        <p:nvSpPr>
          <p:cNvPr id="45058" name="内容占位符 2"/>
          <p:cNvSpPr>
            <a:spLocks noGrp="1"/>
          </p:cNvSpPr>
          <p:nvPr>
            <p:ph idx="1"/>
          </p:nvPr>
        </p:nvSpPr>
        <p:spPr>
          <a:noFill/>
          <a:ln>
            <a:noFill/>
          </a:ln>
        </p:spPr>
        <p:txBody>
          <a:bodyPr anchor="t" anchorCtr="0"/>
          <a:p>
            <a:pPr eaLnBrk="1" hangingPunct="1">
              <a:spcBef>
                <a:spcPts val="1800"/>
              </a:spcBef>
            </a:pPr>
            <a:r>
              <a:rPr lang="zh-CN" altLang="en-US" dirty="0">
                <a:latin typeface="Times New Roman" panose="02020603050405020304" pitchFamily="18" charset="0"/>
              </a:rPr>
              <a:t>参加运算的两个</a:t>
            </a:r>
            <a:r>
              <a:rPr lang="zh-CN" altLang="en-US" dirty="0">
                <a:solidFill>
                  <a:srgbClr val="FF0000"/>
                </a:solidFill>
                <a:latin typeface="Times New Roman" panose="02020603050405020304" pitchFamily="18" charset="0"/>
              </a:rPr>
              <a:t>操作数均用补码表示</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eaLnBrk="1" hangingPunct="1">
              <a:spcBef>
                <a:spcPts val="1800"/>
              </a:spcBef>
            </a:pPr>
            <a:r>
              <a:rPr lang="zh-CN" altLang="en-US" dirty="0">
                <a:solidFill>
                  <a:srgbClr val="FF0000"/>
                </a:solidFill>
                <a:latin typeface="Times New Roman" panose="02020603050405020304" pitchFamily="18" charset="0"/>
              </a:rPr>
              <a:t>符号位作为数的一部分参加运算</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若做</a:t>
            </a:r>
            <a:r>
              <a:rPr lang="zh-CN" altLang="en-US" dirty="0">
                <a:latin typeface="Times New Roman" panose="02020603050405020304" pitchFamily="18" charset="0"/>
              </a:rPr>
              <a:t>加法：则两数直接相加；</a:t>
            </a:r>
            <a:endParaRPr lang="zh-CN" altLang="en-US"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若做减法：则将被减数与减数的</a:t>
            </a:r>
            <a:r>
              <a:rPr lang="zh-CN" altLang="en-US" dirty="0">
                <a:solidFill>
                  <a:srgbClr val="FF0000"/>
                </a:solidFill>
                <a:latin typeface="Times New Roman" panose="02020603050405020304" pitchFamily="18" charset="0"/>
              </a:rPr>
              <a:t>机器负数</a:t>
            </a:r>
            <a:r>
              <a:rPr lang="zh-CN" altLang="en-US" dirty="0">
                <a:latin typeface="Times New Roman" panose="02020603050405020304" pitchFamily="18" charset="0"/>
              </a:rPr>
              <a:t>相加；</a:t>
            </a:r>
            <a:endParaRPr lang="zh-CN" altLang="en-US"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运算</a:t>
            </a:r>
            <a:r>
              <a:rPr lang="zh-CN" altLang="en-US" dirty="0">
                <a:solidFill>
                  <a:srgbClr val="FF0000"/>
                </a:solidFill>
                <a:latin typeface="Times New Roman" panose="02020603050405020304" pitchFamily="18" charset="0"/>
              </a:rPr>
              <a:t>结果仍用补码表示</a:t>
            </a:r>
            <a:r>
              <a:rPr lang="zh-CN" altLang="en-US" dirty="0">
                <a:latin typeface="Times New Roman" panose="02020603050405020304" pitchFamily="18" charset="0"/>
              </a:rPr>
              <a:t>。</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1" name="标题 1"/>
          <p:cNvSpPr>
            <a:spLocks noGrp="1"/>
          </p:cNvSpPr>
          <p:nvPr>
            <p:ph type="title"/>
          </p:nvPr>
        </p:nvSpPr>
        <p:spPr>
          <a:noFill/>
          <a:ln>
            <a:noFill/>
          </a:ln>
        </p:spPr>
        <p:txBody>
          <a:bodyPr anchor="t" anchorCtr="0"/>
          <a:p>
            <a:pPr eaLnBrk="1" hangingPunct="1"/>
            <a:r>
              <a:rPr lang="zh-CN" altLang="en-US" dirty="0"/>
              <a:t>补码加法示例</a:t>
            </a:r>
            <a:endParaRPr lang="zh-CN" altLang="en-US" dirty="0"/>
          </a:p>
        </p:txBody>
      </p:sp>
      <p:sp>
        <p:nvSpPr>
          <p:cNvPr id="3" name="内容占位符 2"/>
          <p:cNvSpPr>
            <a:spLocks noGrp="1"/>
          </p:cNvSpPr>
          <p:nvPr>
            <p:ph idx="1"/>
          </p:nvPr>
        </p:nvSpPr>
        <p:spPr>
          <a:xfrm>
            <a:off x="611188" y="1454150"/>
            <a:ext cx="8229600" cy="4525963"/>
          </a:xfrm>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例</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3</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A=0.1011</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B=-0.1110</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，求</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A+B</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=0.1011  [B]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=1.0010</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0.1011    [A]</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+ 1.0010    [B]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1.1101    [A+B]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=1.1101</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A+B=-0.0011</a:t>
            </a:r>
            <a:endParaRPr kumimoji="0" lang="en-US" altLang="zh-CN" sz="2800" b="0"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0"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cxnSp>
        <p:nvCxnSpPr>
          <p:cNvPr id="46083" name="直接连接符 5"/>
          <p:cNvCxnSpPr/>
          <p:nvPr/>
        </p:nvCxnSpPr>
        <p:spPr>
          <a:xfrm>
            <a:off x="1547813" y="3789363"/>
            <a:ext cx="4248150" cy="0"/>
          </a:xfrm>
          <a:prstGeom prst="line">
            <a:avLst/>
          </a:prstGeom>
          <a:ln w="9525" cap="flat" cmpd="sng">
            <a:solidFill>
              <a:schemeClr val="tx1"/>
            </a:solidFill>
            <a:prstDash val="solid"/>
            <a:round/>
            <a:headEnd type="none" w="med" len="med"/>
            <a:tailEnd type="none" w="med" len="med"/>
          </a:ln>
        </p:spPr>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8129"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补码减法示例</a:t>
            </a:r>
            <a:endParaRPr lang="zh-CN" altLang="en-US" dirty="0">
              <a:latin typeface="Times New Roman" panose="02020603050405020304" pitchFamily="18" charset="0"/>
              <a:ea typeface="Times New Roman" panose="02020603050405020304" pitchFamily="18" charset="0"/>
            </a:endParaRPr>
          </a:p>
        </p:txBody>
      </p:sp>
      <p:sp>
        <p:nvSpPr>
          <p:cNvPr id="3" name="内容占位符 2"/>
          <p:cNvSpPr>
            <a:spLocks noGrp="1"/>
          </p:cNvSpPr>
          <p:nvPr>
            <p:ph idx="1"/>
          </p:nvPr>
        </p:nvSpPr>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例</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4</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A=0.1011</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B=-0.0010</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，求</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A-B</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=0.1011  [B]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=1.1110  </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=0.0010</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0.1011    [A]</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+ 0.0010    [-B]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0.1101    [A-B]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[A-B]</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=0.1101</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A-B=0.1101</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cxnSp>
        <p:nvCxnSpPr>
          <p:cNvPr id="48131" name="直接连接符 4"/>
          <p:cNvCxnSpPr/>
          <p:nvPr/>
        </p:nvCxnSpPr>
        <p:spPr>
          <a:xfrm>
            <a:off x="1258888" y="4437063"/>
            <a:ext cx="3960812" cy="0"/>
          </a:xfrm>
          <a:prstGeom prst="line">
            <a:avLst/>
          </a:prstGeom>
          <a:ln w="9525" cap="flat" cmpd="sng">
            <a:solidFill>
              <a:schemeClr val="tx1"/>
            </a:solidFill>
            <a:prstDash val="solid"/>
            <a:round/>
            <a:headEnd type="none" w="med" len="med"/>
            <a:tailEnd type="none" w="med" len="med"/>
          </a:ln>
        </p:spPr>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17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a:t>
            </a:r>
            <a:r>
              <a:rPr lang="zh-CN" altLang="en-US" dirty="0">
                <a:latin typeface="Times New Roman" panose="02020603050405020304" pitchFamily="18" charset="0"/>
              </a:rPr>
              <a:t>符号扩展</a:t>
            </a:r>
            <a:endParaRPr lang="zh-CN" altLang="en-US" dirty="0">
              <a:latin typeface="Times New Roman" panose="02020603050405020304" pitchFamily="18" charset="0"/>
              <a:ea typeface="Times New Roman" panose="02020603050405020304" pitchFamily="18" charset="0"/>
            </a:endParaRPr>
          </a:p>
        </p:txBody>
      </p:sp>
      <p:sp>
        <p:nvSpPr>
          <p:cNvPr id="50178" name="内容占位符 2"/>
          <p:cNvSpPr>
            <a:spLocks noGrp="1"/>
          </p:cNvSpPr>
          <p:nvPr>
            <p:ph idx="1"/>
          </p:nvPr>
        </p:nvSpPr>
        <p:spPr>
          <a:noFill/>
          <a:ln>
            <a:noFill/>
          </a:ln>
        </p:spPr>
        <p:txBody>
          <a:bodyPr anchor="t" anchorCtr="0"/>
          <a:p>
            <a:pPr algn="just" eaLnBrk="1" hangingPunct="1"/>
            <a:r>
              <a:rPr lang="zh-CN" altLang="en-US" dirty="0">
                <a:latin typeface="Times New Roman" panose="02020603050405020304" pitchFamily="18" charset="0"/>
              </a:rPr>
              <a:t> </a:t>
            </a:r>
            <a:r>
              <a:rPr lang="zh-CN" altLang="en-US" dirty="0">
                <a:solidFill>
                  <a:srgbClr val="FF0000"/>
                </a:solidFill>
                <a:latin typeface="Times New Roman" panose="02020603050405020304" pitchFamily="18" charset="0"/>
              </a:rPr>
              <a:t>符号扩展</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lgn="just" eaLnBrk="1" latinLnBrk="0" hangingPunct="1">
              <a:spcBef>
                <a:spcPts val="1800"/>
              </a:spcBef>
            </a:pPr>
            <a:r>
              <a:rPr lang="zh-CN" altLang="en-US" dirty="0">
                <a:latin typeface="Times New Roman" panose="02020603050405020304" pitchFamily="18" charset="0"/>
              </a:rPr>
              <a:t>将给定位数表示的数转换成更多位数的形式。</a:t>
            </a:r>
            <a:endParaRPr lang="zh-CN" altLang="en-US" dirty="0">
              <a:latin typeface="Times New Roman" panose="02020603050405020304" pitchFamily="18" charset="0"/>
            </a:endParaRPr>
          </a:p>
          <a:p>
            <a:pPr algn="just" eaLnBrk="1" latinLnBrk="0" hangingPunct="1">
              <a:spcBef>
                <a:spcPts val="2400"/>
              </a:spcBef>
            </a:pPr>
            <a:r>
              <a:rPr lang="zh-CN" altLang="en-US" dirty="0">
                <a:latin typeface="Times New Roman" panose="02020603050405020304" pitchFamily="18" charset="0"/>
              </a:rPr>
              <a:t>补码的符号扩展：</a:t>
            </a:r>
            <a:endParaRPr lang="en-US" altLang="zh-CN" dirty="0">
              <a:latin typeface="Times New Roman" panose="02020603050405020304" pitchFamily="18" charset="0"/>
            </a:endParaRPr>
          </a:p>
          <a:p>
            <a:pPr lvl="1" algn="just" eaLnBrk="1" latinLnBrk="0" hangingPunct="1">
              <a:spcBef>
                <a:spcPts val="1800"/>
              </a:spcBef>
            </a:pPr>
            <a:r>
              <a:rPr lang="zh-CN" altLang="en-US" dirty="0">
                <a:latin typeface="Times New Roman" panose="02020603050405020304" pitchFamily="18" charset="0"/>
              </a:rPr>
              <a:t>所有附加位均用符号位填充；</a:t>
            </a:r>
            <a:endParaRPr lang="zh-CN" altLang="en-US" dirty="0">
              <a:latin typeface="Times New Roman" panose="02020603050405020304" pitchFamily="18" charset="0"/>
            </a:endParaRPr>
          </a:p>
          <a:p>
            <a:pPr lvl="1" algn="just" eaLnBrk="1" latinLnBrk="0" hangingPunct="1">
              <a:spcBef>
                <a:spcPts val="1800"/>
              </a:spcBef>
            </a:pPr>
            <a:r>
              <a:rPr lang="zh-CN" altLang="en-US" dirty="0">
                <a:latin typeface="Times New Roman" panose="02020603050405020304" pitchFamily="18" charset="0"/>
              </a:rPr>
              <a:t>即：正数用</a:t>
            </a:r>
            <a:r>
              <a:rPr lang="en-US" altLang="zh-CN" dirty="0">
                <a:latin typeface="Times New Roman" panose="02020603050405020304" pitchFamily="18" charset="0"/>
              </a:rPr>
              <a:t>0</a:t>
            </a:r>
            <a:r>
              <a:rPr lang="zh-CN" altLang="en-US" dirty="0">
                <a:latin typeface="Times New Roman" panose="02020603050405020304" pitchFamily="18" charset="0"/>
              </a:rPr>
              <a:t>进行填充，负数用</a:t>
            </a:r>
            <a:r>
              <a:rPr lang="en-US" altLang="zh-CN" dirty="0">
                <a:latin typeface="Times New Roman" panose="02020603050405020304" pitchFamily="18" charset="0"/>
              </a:rPr>
              <a:t>1</a:t>
            </a:r>
            <a:r>
              <a:rPr lang="zh-CN" altLang="en-US" dirty="0">
                <a:latin typeface="Times New Roman" panose="02020603050405020304" pitchFamily="18" charset="0"/>
              </a:rPr>
              <a:t>填充。</a:t>
            </a:r>
            <a:endParaRPr lang="zh-CN" altLang="en-US" dirty="0">
              <a:latin typeface="Times New Roman" panose="02020603050405020304" pitchFamily="18" charset="0"/>
            </a:endParaRPr>
          </a:p>
          <a:p>
            <a:pPr lvl="2" algn="just" eaLnBrk="1" latinLnBrk="0" hangingPunct="1">
              <a:spcBef>
                <a:spcPts val="1800"/>
              </a:spcBef>
            </a:pPr>
            <a:r>
              <a:rPr lang="en-US" altLang="zh-CN" dirty="0">
                <a:latin typeface="Times New Roman" panose="02020603050405020304" pitchFamily="18" charset="0"/>
                <a:ea typeface="Times New Roman" panose="02020603050405020304" pitchFamily="18" charset="0"/>
              </a:rPr>
              <a:t>00.1...,  11.1....</a:t>
            </a:r>
            <a:endParaRPr lang="en-US" altLang="zh-CN"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22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4.2.3 </a:t>
            </a:r>
            <a:r>
              <a:rPr lang="zh-CN" altLang="en-US" dirty="0">
                <a:latin typeface="Times New Roman" panose="02020603050405020304" pitchFamily="18" charset="0"/>
              </a:rPr>
              <a:t>补码的溢出判断与检测方法 </a:t>
            </a:r>
            <a:endParaRPr lang="zh-CN" altLang="en-US" dirty="0">
              <a:latin typeface="Times New Roman" panose="02020603050405020304" pitchFamily="18" charset="0"/>
              <a:ea typeface="Times New Roman" panose="02020603050405020304" pitchFamily="18" charset="0"/>
            </a:endParaRPr>
          </a:p>
        </p:txBody>
      </p:sp>
      <p:sp>
        <p:nvSpPr>
          <p:cNvPr id="46083" name="内容占位符 2"/>
          <p:cNvSpPr>
            <a:spLocks noGrp="1"/>
          </p:cNvSpPr>
          <p:nvPr>
            <p:ph idx="1"/>
          </p:nvPr>
        </p:nvSpPr>
        <p:spPr bwMode="auto">
          <a:xfrm>
            <a:off x="457200" y="1484313"/>
            <a:ext cx="8229600" cy="475297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1.</a:t>
            </a: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溢出</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的产生</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在补码运算中，若两个正数相加，而结果为负；</a:t>
            </a: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两个负数相加，而结果为正，则结果出错。</a:t>
            </a: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例</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5</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：设：</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X=1011B=11D</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Y=111B=7D</a:t>
            </a:r>
            <a:endPar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则   </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=0,1011</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=0,0111</a:t>
            </a:r>
            <a:endPar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57250" marR="0" lvl="2"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1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0,1 0 1 1			[X]</a:t>
            </a:r>
            <a:r>
              <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57250" marR="0" lvl="2" indent="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+ 0,0 1 1 1			[Y]</a:t>
            </a:r>
            <a:r>
              <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57250" marR="0" lvl="2" indent="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1,0 0 1 0			[X+Y]</a:t>
            </a:r>
            <a:r>
              <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57250" marR="0" lvl="2" indent="0" algn="l" defTabSz="914400" rtl="0" eaLnBrk="1" fontAlgn="base" latinLnBrk="0" hangingPunct="1">
              <a:lnSpc>
                <a:spcPct val="100000"/>
              </a:lnSpc>
              <a:spcBef>
                <a:spcPts val="1200"/>
              </a:spcBef>
              <a:spcAft>
                <a:spcPct val="0"/>
              </a:spcAft>
              <a:buClr>
                <a:schemeClr val="tx1"/>
              </a:buClr>
              <a:buSzTx/>
              <a:buFontTx/>
              <a:buNone/>
              <a:defRPr/>
            </a:pP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[X+Y]</a:t>
            </a:r>
            <a:r>
              <a:rPr kumimoji="0" lang="zh-CN" altLang="en-US" sz="20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=1,0010</a:t>
            </a:r>
            <a:endPar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57250" marR="0" lvl="2"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X+Y=-1110B=-14D</a:t>
            </a:r>
            <a:endPar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857250" marR="0" lvl="2" indent="0" algn="l" defTabSz="914400" rtl="0" eaLnBrk="1" fontAlgn="base" latinLnBrk="0" hangingPunct="1">
              <a:lnSpc>
                <a:spcPct val="100000"/>
              </a:lnSpc>
              <a:spcBef>
                <a:spcPct val="20000"/>
              </a:spcBef>
              <a:spcAft>
                <a:spcPct val="0"/>
              </a:spcAft>
              <a:buClr>
                <a:schemeClr val="tx1"/>
              </a:buClr>
              <a:buSzTx/>
              <a:buFontTx/>
              <a:buNone/>
              <a:defRPr/>
            </a:pP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两正数相加结果为</a:t>
            </a:r>
            <a:r>
              <a:rPr kumimoji="0" lang="en-US" altLang="zh-CN"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-14D</a:t>
            </a:r>
            <a:r>
              <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，显然是错误的。</a:t>
            </a:r>
            <a:endParaRPr kumimoji="0" lang="zh-CN" altLang="en-US" sz="20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cxnSp>
        <p:nvCxnSpPr>
          <p:cNvPr id="52227" name="直接连接符 5"/>
          <p:cNvCxnSpPr/>
          <p:nvPr/>
        </p:nvCxnSpPr>
        <p:spPr>
          <a:xfrm>
            <a:off x="1835150" y="4652963"/>
            <a:ext cx="1943100" cy="0"/>
          </a:xfrm>
          <a:prstGeom prst="line">
            <a:avLst/>
          </a:prstGeom>
          <a:ln w="9525" cap="flat" cmpd="sng">
            <a:solidFill>
              <a:schemeClr val="tx1"/>
            </a:solidFill>
            <a:prstDash val="solid"/>
            <a:round/>
            <a:headEnd type="none" w="med" len="med"/>
            <a:tailEnd type="none" w="med" len="med"/>
          </a:ln>
        </p:spPr>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427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1.</a:t>
            </a:r>
            <a:r>
              <a:rPr lang="zh-CN" altLang="en-US" dirty="0">
                <a:latin typeface="Times New Roman" panose="02020603050405020304" pitchFamily="18" charset="0"/>
              </a:rPr>
              <a:t>溢出的产生（续）</a:t>
            </a:r>
            <a:endParaRPr lang="zh-CN" altLang="en-US" dirty="0">
              <a:latin typeface="Times New Roman" panose="02020603050405020304" pitchFamily="18" charset="0"/>
              <a:ea typeface="Times New Roman" panose="02020603050405020304" pitchFamily="18" charset="0"/>
            </a:endParaRPr>
          </a:p>
        </p:txBody>
      </p:sp>
      <p:sp>
        <p:nvSpPr>
          <p:cNvPr id="54275" name="内容占位符 2"/>
          <p:cNvSpPr>
            <a:spLocks noGrp="1"/>
          </p:cNvSpPr>
          <p:nvPr>
            <p:ph idx="1"/>
          </p:nvPr>
        </p:nvSpPr>
        <p:spPr>
          <a:noFill/>
          <a:ln>
            <a:noFill/>
          </a:ln>
        </p:spPr>
        <p:txBody>
          <a:bodyPr/>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字长为</a:t>
            </a:r>
            <a:r>
              <a:rPr kumimoji="0" lang="en-US" altLang="zh-CN"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n+1</a:t>
            </a: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rPr>
              <a:t>位的定点整数，采用补码表示：</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当运算结果</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大于</a:t>
            </a:r>
            <a:r>
              <a:rPr kumimoji="0" lang="en-US" altLang="zh-CN"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30000" noProof="1" dirty="0">
                <a:solidFill>
                  <a:srgbClr val="FF0000"/>
                </a:solidFill>
                <a:latin typeface="Times New Roman" panose="02020603050405020304" pitchFamily="18" charset="0"/>
                <a:ea typeface="+mn-ea"/>
                <a:cs typeface="Times New Roman" panose="02020603050405020304" pitchFamily="18" charset="0"/>
              </a:rPr>
              <a:t>n</a:t>
            </a:r>
            <a:r>
              <a:rPr kumimoji="0" lang="en-US" altLang="zh-CN"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-1</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或</a:t>
            </a: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小于</a:t>
            </a:r>
            <a:r>
              <a:rPr kumimoji="0" lang="en-US" altLang="zh-CN"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30000" noProof="1" dirty="0">
                <a:solidFill>
                  <a:srgbClr val="FF0000"/>
                </a:solidFill>
                <a:latin typeface="Times New Roman" panose="02020603050405020304" pitchFamily="18" charset="0"/>
                <a:ea typeface="+mn-ea"/>
                <a:cs typeface="Times New Roman" panose="02020603050405020304" pitchFamily="18" charset="0"/>
              </a:rPr>
              <a:t>n</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时，就产生溢出。</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设参加运算的两数为X、Y，做加法运算：</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若</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X</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Y</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异号，实际上是做两数相减，不会溢出。</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若</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X</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a:t>
            </a:r>
            <a:r>
              <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Y</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同号，运算结果为正且</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大于所能表示的最大正数；</a:t>
            </a:r>
            <a:endPar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pPr>
            <a:r>
              <a:rPr kumimoji="0" lang="zh-CN" altLang="en-US" sz="205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若</a:t>
            </a:r>
            <a:r>
              <a:rPr kumimoji="0" lang="en-US" altLang="zh-CN" sz="205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X</a:t>
            </a:r>
            <a:r>
              <a:rPr kumimoji="0" lang="zh-CN" altLang="en-US" sz="205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a:t>
            </a:r>
            <a:r>
              <a:rPr kumimoji="0" lang="en-US" altLang="zh-CN" sz="205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Y</a:t>
            </a:r>
            <a:r>
              <a:rPr kumimoji="0" lang="zh-CN" altLang="en-US" sz="205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sym typeface="+mn-ea"/>
              </a:rPr>
              <a:t>同号，</a:t>
            </a: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运算结果为负且</a:t>
            </a:r>
            <a:r>
              <a:rPr kumimoji="0" lang="zh-CN" altLang="en-US" sz="2055"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rPr>
              <a:t>小于所能表示的最小负数；</a:t>
            </a:r>
            <a:endParaRPr kumimoji="0" lang="en-US" altLang="zh-CN" sz="2055"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sym typeface="+mn-ea"/>
              </a:rPr>
              <a:t>正溢：</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两正数相加产生的溢出；</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rgbClr val="FF0000"/>
                </a:solidFill>
                <a:latin typeface="Times New Roman" panose="02020603050405020304" pitchFamily="18" charset="0"/>
                <a:ea typeface="+mn-ea"/>
                <a:cs typeface="Times New Roman" panose="02020603050405020304" pitchFamily="18" charset="0"/>
                <a:sym typeface="+mn-ea"/>
              </a:rPr>
              <a:t>负溢：</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rPr>
              <a:t>两负数相加产生的溢出。 </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Times New Roman" panose="02020603050405020304" pitchFamily="18" charset="0"/>
            </a:endParaRPr>
          </a:p>
          <a:p>
            <a:pPr marL="342900" marR="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6321" name="Rectangle 2"/>
          <p:cNvSpPr>
            <a:spLocks noGrp="1" noRot="1"/>
          </p:cNvSpPr>
          <p:nvPr>
            <p:ph type="title"/>
          </p:nvPr>
        </p:nvSpPr>
        <p:spPr>
          <a:noFill/>
          <a:ln>
            <a:noFill/>
          </a:ln>
        </p:spPr>
        <p:txBody>
          <a:bodyPr anchor="t" anchorCtr="0"/>
          <a:p>
            <a:pPr eaLnBrk="1" hangingPunct="1"/>
            <a:r>
              <a:rPr lang="zh-CN" altLang="en-US" dirty="0">
                <a:solidFill>
                  <a:srgbClr val="0000FF"/>
                </a:solidFill>
                <a:latin typeface="Times New Roman" panose="02020603050405020304" pitchFamily="18" charset="0"/>
              </a:rPr>
              <a:t>溢出的检测方法</a:t>
            </a:r>
            <a:endParaRPr lang="zh-CN" altLang="en-US" dirty="0">
              <a:solidFill>
                <a:srgbClr val="0000FF"/>
              </a:solidFill>
              <a:latin typeface="Times New Roman" panose="02020603050405020304" pitchFamily="18" charset="0"/>
            </a:endParaRPr>
          </a:p>
        </p:txBody>
      </p:sp>
      <p:sp>
        <p:nvSpPr>
          <p:cNvPr id="56322" name="Rectangle 3"/>
          <p:cNvSpPr>
            <a:spLocks noGrp="1" noRot="1"/>
          </p:cNvSpPr>
          <p:nvPr>
            <p:ph idx="1"/>
          </p:nvPr>
        </p:nvSpPr>
        <p:spPr>
          <a:xfrm>
            <a:off x="323850" y="1484313"/>
            <a:ext cx="8540750" cy="2509837"/>
          </a:xfrm>
          <a:noFill/>
          <a:ln>
            <a:noFill/>
          </a:ln>
        </p:spPr>
        <p:txBody>
          <a:bodyPr anchor="t" anchorCtr="0"/>
          <a:p>
            <a:pPr eaLnBrk="1" hangingPunct="1">
              <a:lnSpc>
                <a:spcPct val="120000"/>
              </a:lnSpc>
            </a:pPr>
            <a:r>
              <a:rPr lang="en-US" altLang="zh-CN" dirty="0">
                <a:solidFill>
                  <a:srgbClr val="FF0000"/>
                </a:solidFill>
                <a:latin typeface="Times New Roman" panose="02020603050405020304" pitchFamily="18" charset="0"/>
              </a:rPr>
              <a:t>(1)</a:t>
            </a:r>
            <a:r>
              <a:rPr lang="zh-CN" altLang="en-US" dirty="0">
                <a:solidFill>
                  <a:srgbClr val="FF0000"/>
                </a:solidFill>
                <a:latin typeface="Times New Roman" panose="02020603050405020304" pitchFamily="18" charset="0"/>
              </a:rPr>
              <a:t>单符号位法：</a:t>
            </a:r>
            <a:endParaRPr lang="en-US" altLang="zh-CN" dirty="0">
              <a:solidFill>
                <a:srgbClr val="FF0000"/>
              </a:solidFill>
              <a:latin typeface="Times New Roman" panose="02020603050405020304" pitchFamily="18" charset="0"/>
            </a:endParaRPr>
          </a:p>
          <a:p>
            <a:pPr lvl="1" eaLnBrk="1" hangingPunct="1">
              <a:spcBef>
                <a:spcPts val="1800"/>
              </a:spcBef>
            </a:pPr>
            <a:r>
              <a:rPr lang="zh-CN" altLang="en-US" dirty="0">
                <a:solidFill>
                  <a:srgbClr val="FF0505"/>
                </a:solidFill>
                <a:latin typeface="Times New Roman" panose="02020603050405020304" pitchFamily="18" charset="0"/>
              </a:rPr>
              <a:t>上</a:t>
            </a:r>
            <a:r>
              <a:rPr lang="zh-CN" altLang="en-US" dirty="0">
                <a:latin typeface="Times New Roman" panose="02020603050405020304" pitchFamily="18" charset="0"/>
              </a:rPr>
              <a:t>溢：最高有效位</a:t>
            </a:r>
            <a:r>
              <a:rPr lang="zh-CN" altLang="en-US" dirty="0">
                <a:solidFill>
                  <a:srgbClr val="FF0505"/>
                </a:solidFill>
                <a:latin typeface="Times New Roman" panose="02020603050405020304" pitchFamily="18" charset="0"/>
              </a:rPr>
              <a:t>有</a:t>
            </a:r>
            <a:r>
              <a:rPr lang="zh-CN" altLang="en-US" dirty="0">
                <a:latin typeface="Times New Roman" panose="02020603050405020304" pitchFamily="18" charset="0"/>
              </a:rPr>
              <a:t>进位而符号位</a:t>
            </a:r>
            <a:r>
              <a:rPr lang="zh-CN" altLang="en-US" dirty="0">
                <a:solidFill>
                  <a:srgbClr val="FF0505"/>
                </a:solidFill>
                <a:latin typeface="Times New Roman" panose="02020603050405020304" pitchFamily="18" charset="0"/>
              </a:rPr>
              <a:t>无</a:t>
            </a:r>
            <a:r>
              <a:rPr lang="zh-CN" altLang="en-US" dirty="0">
                <a:latin typeface="Times New Roman" panose="02020603050405020304" pitchFamily="18" charset="0"/>
              </a:rPr>
              <a:t>进位；</a:t>
            </a:r>
            <a:endParaRPr lang="zh-CN" altLang="en-US" dirty="0">
              <a:latin typeface="Times New Roman" panose="02020603050405020304" pitchFamily="18" charset="0"/>
            </a:endParaRPr>
          </a:p>
          <a:p>
            <a:pPr lvl="1" eaLnBrk="1" hangingPunct="1">
              <a:spcBef>
                <a:spcPts val="1200"/>
              </a:spcBef>
            </a:pPr>
            <a:r>
              <a:rPr lang="zh-CN" altLang="en-US" dirty="0">
                <a:solidFill>
                  <a:srgbClr val="FF0505"/>
                </a:solidFill>
                <a:latin typeface="Times New Roman" panose="02020603050405020304" pitchFamily="18" charset="0"/>
              </a:rPr>
              <a:t>下</a:t>
            </a:r>
            <a:r>
              <a:rPr lang="zh-CN" altLang="en-US" dirty="0">
                <a:latin typeface="Times New Roman" panose="02020603050405020304" pitchFamily="18" charset="0"/>
              </a:rPr>
              <a:t>溢：最高有效位</a:t>
            </a:r>
            <a:r>
              <a:rPr lang="zh-CN" altLang="en-US" dirty="0">
                <a:solidFill>
                  <a:srgbClr val="FF0505"/>
                </a:solidFill>
                <a:latin typeface="Times New Roman" panose="02020603050405020304" pitchFamily="18" charset="0"/>
              </a:rPr>
              <a:t>无</a:t>
            </a:r>
            <a:r>
              <a:rPr lang="zh-CN" altLang="en-US" dirty="0">
                <a:latin typeface="Times New Roman" panose="02020603050405020304" pitchFamily="18" charset="0"/>
              </a:rPr>
              <a:t>进位而符号位</a:t>
            </a:r>
            <a:r>
              <a:rPr lang="zh-CN" altLang="en-US" dirty="0">
                <a:solidFill>
                  <a:srgbClr val="FF0505"/>
                </a:solidFill>
                <a:latin typeface="Times New Roman" panose="02020603050405020304" pitchFamily="18" charset="0"/>
              </a:rPr>
              <a:t>有</a:t>
            </a:r>
            <a:r>
              <a:rPr lang="zh-CN" altLang="en-US" dirty="0">
                <a:latin typeface="Times New Roman" panose="02020603050405020304" pitchFamily="18" charset="0"/>
              </a:rPr>
              <a:t>进位；</a:t>
            </a:r>
            <a:endParaRPr lang="zh-CN" altLang="en-US" dirty="0">
              <a:latin typeface="Times New Roman" panose="02020603050405020304" pitchFamily="18" charset="0"/>
            </a:endParaRPr>
          </a:p>
          <a:p>
            <a:pPr lvl="1" eaLnBrk="1" hangingPunct="1">
              <a:spcBef>
                <a:spcPts val="1200"/>
              </a:spcBef>
            </a:pPr>
            <a:r>
              <a:rPr lang="zh-CN" altLang="en-US" dirty="0">
                <a:latin typeface="Times New Roman" panose="02020603050405020304" pitchFamily="18" charset="0"/>
              </a:rPr>
              <a:t>溢出逻辑表达式为：</a:t>
            </a:r>
            <a:r>
              <a:rPr lang="en-US" altLang="zh-CN" i="1" dirty="0">
                <a:solidFill>
                  <a:srgbClr val="FF0000"/>
                </a:solidFill>
                <a:latin typeface="Times New Roman" panose="02020603050405020304" pitchFamily="18" charset="0"/>
              </a:rPr>
              <a:t>V</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C</a:t>
            </a:r>
            <a:r>
              <a:rPr lang="en-US" altLang="zh-CN" i="1" baseline="-30000" dirty="0">
                <a:solidFill>
                  <a:srgbClr val="FF0000"/>
                </a:solidFill>
                <a:latin typeface="Times New Roman" panose="02020603050405020304" pitchFamily="18" charset="0"/>
              </a:rPr>
              <a:t>f</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C</a:t>
            </a:r>
            <a:r>
              <a:rPr lang="en-US" altLang="zh-CN" baseline="-30000" dirty="0">
                <a:solidFill>
                  <a:srgbClr val="FF0000"/>
                </a:solidFill>
                <a:latin typeface="Times New Roman" panose="02020603050405020304" pitchFamily="18" charset="0"/>
              </a:rPr>
              <a:t>o</a:t>
            </a:r>
            <a:r>
              <a:rPr lang="en-US" altLang="zh-CN" dirty="0">
                <a:latin typeface="Times New Roman" panose="02020603050405020304" pitchFamily="18" charset="0"/>
              </a:rPr>
              <a:t> </a:t>
            </a:r>
            <a:endParaRPr lang="en-US" altLang="zh-CN" dirty="0">
              <a:latin typeface="Times New Roman" panose="02020603050405020304" pitchFamily="18" charset="0"/>
            </a:endParaRPr>
          </a:p>
        </p:txBody>
      </p:sp>
      <p:grpSp>
        <p:nvGrpSpPr>
          <p:cNvPr id="56323" name="Group 4"/>
          <p:cNvGrpSpPr/>
          <p:nvPr>
            <p:custDataLst>
              <p:tags r:id="rId1"/>
            </p:custDataLst>
          </p:nvPr>
        </p:nvGrpSpPr>
        <p:grpSpPr>
          <a:xfrm>
            <a:off x="1187450" y="4354513"/>
            <a:ext cx="3114675" cy="1235075"/>
            <a:chOff x="3631" y="449"/>
            <a:chExt cx="1569" cy="778"/>
          </a:xfrm>
        </p:grpSpPr>
        <p:sp>
          <p:nvSpPr>
            <p:cNvPr id="56324" name="Rectangle 5"/>
            <p:cNvSpPr/>
            <p:nvPr>
              <p:custDataLst>
                <p:tags r:id="rId2"/>
              </p:custDataLst>
            </p:nvPr>
          </p:nvSpPr>
          <p:spPr>
            <a:xfrm>
              <a:off x="3631" y="449"/>
              <a:ext cx="1569" cy="778"/>
            </a:xfrm>
            <a:prstGeom prst="rect">
              <a:avLst/>
            </a:prstGeom>
            <a:solidFill>
              <a:srgbClr val="CCFFCC"/>
            </a:solidFill>
            <a:ln w="9525" cap="flat" cmpd="sng">
              <a:solidFill>
                <a:srgbClr val="339966"/>
              </a:solidFill>
              <a:prstDash val="solid"/>
              <a:miter/>
              <a:headEnd type="none" w="med" len="med"/>
              <a:tailEnd type="none" w="med" len="med"/>
            </a:ln>
          </p:spPr>
          <p:txBody>
            <a:bodyPr anchor="t" anchorCtr="0">
              <a:spAutoFit/>
            </a:bodyPr>
            <a:p>
              <a:pPr eaLnBrk="0" hangingPunct="0">
                <a:spcBef>
                  <a:spcPct val="50000"/>
                </a:spcBef>
              </a:pPr>
              <a:r>
                <a:rPr lang="en-US" altLang="zh-CN" sz="2400" dirty="0">
                  <a:solidFill>
                    <a:schemeClr val="tx2"/>
                  </a:solidFill>
                  <a:latin typeface="Times New Roman" panose="02020603050405020304" pitchFamily="18" charset="0"/>
                  <a:ea typeface="宋体" panose="02010600030101010101" pitchFamily="2" charset="-122"/>
                </a:rPr>
                <a:t>  [x]</a:t>
              </a:r>
              <a:r>
                <a:rPr lang="zh-CN" altLang="en-US" sz="2400" baseline="-30000" dirty="0">
                  <a:solidFill>
                    <a:schemeClr val="tx2"/>
                  </a:solidFill>
                  <a:latin typeface="Times New Roman" panose="02020603050405020304" pitchFamily="18" charset="0"/>
                  <a:ea typeface="宋体" panose="02010600030101010101" pitchFamily="2" charset="-122"/>
                </a:rPr>
                <a:t>补</a:t>
              </a:r>
              <a:r>
                <a:rPr lang="zh-CN" altLang="en-US" sz="2400" dirty="0">
                  <a:solidFill>
                    <a:schemeClr val="tx2"/>
                  </a:solidFill>
                  <a:latin typeface="Times New Roman" panose="02020603050405020304" pitchFamily="18" charset="0"/>
                  <a:ea typeface="宋体" panose="02010600030101010101" pitchFamily="2" charset="-122"/>
                </a:rPr>
                <a:t>	</a:t>
              </a:r>
              <a:r>
                <a:rPr lang="en-US" altLang="zh-CN" sz="2400" dirty="0">
                  <a:solidFill>
                    <a:schemeClr val="tx2"/>
                  </a:solidFill>
                  <a:latin typeface="Times New Roman" panose="02020603050405020304" pitchFamily="18" charset="0"/>
                  <a:ea typeface="宋体" panose="02010600030101010101" pitchFamily="2" charset="-122"/>
                </a:rPr>
                <a:t>0 0. 1 1 0 0</a:t>
              </a:r>
              <a:endParaRPr lang="en-US" altLang="zh-CN" sz="2400" dirty="0">
                <a:solidFill>
                  <a:schemeClr val="tx2"/>
                </a:solidFill>
                <a:latin typeface="Times New Roman" panose="02020603050405020304" pitchFamily="18" charset="0"/>
                <a:ea typeface="宋体" panose="02010600030101010101" pitchFamily="2" charset="-122"/>
              </a:endParaRPr>
            </a:p>
            <a:p>
              <a:pPr eaLnBrk="0" hangingPunct="0">
                <a:lnSpc>
                  <a:spcPct val="55000"/>
                </a:lnSpc>
                <a:spcBef>
                  <a:spcPct val="50000"/>
                </a:spcBef>
              </a:pPr>
              <a:r>
                <a:rPr lang="en-US" altLang="zh-CN" sz="2400" dirty="0">
                  <a:solidFill>
                    <a:schemeClr val="tx2"/>
                  </a:solidFill>
                  <a:latin typeface="Times New Roman" panose="02020603050405020304" pitchFamily="18" charset="0"/>
                  <a:ea typeface="宋体" panose="02010600030101010101" pitchFamily="2" charset="-122"/>
                </a:rPr>
                <a:t>+[y]</a:t>
              </a:r>
              <a:r>
                <a:rPr lang="zh-CN" altLang="en-US" sz="2400" baseline="-30000" dirty="0">
                  <a:solidFill>
                    <a:schemeClr val="tx2"/>
                  </a:solidFill>
                  <a:latin typeface="Times New Roman" panose="02020603050405020304" pitchFamily="18" charset="0"/>
                  <a:ea typeface="宋体" panose="02010600030101010101" pitchFamily="2" charset="-122"/>
                </a:rPr>
                <a:t>补</a:t>
              </a:r>
              <a:r>
                <a:rPr lang="zh-CN" altLang="en-US" sz="2400" dirty="0">
                  <a:solidFill>
                    <a:schemeClr val="tx2"/>
                  </a:solidFill>
                  <a:latin typeface="Times New Roman" panose="02020603050405020304" pitchFamily="18" charset="0"/>
                  <a:ea typeface="宋体" panose="02010600030101010101" pitchFamily="2" charset="-122"/>
                </a:rPr>
                <a:t>	</a:t>
              </a:r>
              <a:r>
                <a:rPr lang="en-US" altLang="zh-CN" sz="2400" dirty="0">
                  <a:solidFill>
                    <a:schemeClr val="tx2"/>
                  </a:solidFill>
                  <a:latin typeface="Times New Roman" panose="02020603050405020304" pitchFamily="18" charset="0"/>
                  <a:ea typeface="宋体" panose="02010600030101010101" pitchFamily="2" charset="-122"/>
                </a:rPr>
                <a:t>0 0. 1 0 0 0</a:t>
              </a:r>
              <a:endParaRPr lang="en-US" altLang="zh-CN" sz="2400" dirty="0">
                <a:solidFill>
                  <a:schemeClr val="tx2"/>
                </a:solidFill>
                <a:latin typeface="Times New Roman" panose="02020603050405020304" pitchFamily="18" charset="0"/>
                <a:ea typeface="宋体" panose="02010600030101010101" pitchFamily="2" charset="-122"/>
              </a:endParaRPr>
            </a:p>
            <a:p>
              <a:pPr eaLnBrk="0" hangingPunct="0">
                <a:lnSpc>
                  <a:spcPct val="55000"/>
                </a:lnSpc>
                <a:spcBef>
                  <a:spcPct val="50000"/>
                </a:spcBef>
              </a:pPr>
              <a:r>
                <a:rPr lang="en-US" altLang="zh-CN" sz="2400" dirty="0">
                  <a:solidFill>
                    <a:schemeClr val="tx2"/>
                  </a:solidFill>
                  <a:latin typeface="Times New Roman" panose="02020603050405020304" pitchFamily="18" charset="0"/>
                  <a:ea typeface="宋体" panose="02010600030101010101" pitchFamily="2" charset="-122"/>
                </a:rPr>
                <a:t>       	0 1. 1 1 0 0</a:t>
              </a:r>
              <a:endParaRPr lang="en-US" altLang="zh-CN" sz="2400" dirty="0">
                <a:solidFill>
                  <a:schemeClr val="tx2"/>
                </a:solidFill>
                <a:latin typeface="Times New Roman" panose="02020603050405020304" pitchFamily="18" charset="0"/>
                <a:ea typeface="宋体" panose="02010600030101010101" pitchFamily="2" charset="-122"/>
              </a:endParaRPr>
            </a:p>
          </p:txBody>
        </p:sp>
        <p:sp>
          <p:nvSpPr>
            <p:cNvPr id="56325" name="Line 6"/>
            <p:cNvSpPr/>
            <p:nvPr>
              <p:custDataLst>
                <p:tags r:id="rId3"/>
              </p:custDataLst>
            </p:nvPr>
          </p:nvSpPr>
          <p:spPr>
            <a:xfrm>
              <a:off x="3677" y="1005"/>
              <a:ext cx="1467" cy="0"/>
            </a:xfrm>
            <a:prstGeom prst="line">
              <a:avLst/>
            </a:prstGeom>
            <a:ln w="9525" cap="flat" cmpd="sng">
              <a:solidFill>
                <a:schemeClr val="tx1"/>
              </a:solidFill>
              <a:prstDash val="solid"/>
              <a:round/>
              <a:headEnd type="none" w="med" len="med"/>
              <a:tailEnd type="none" w="med" len="med"/>
            </a:ln>
          </p:spPr>
        </p:sp>
      </p:grpSp>
      <p:grpSp>
        <p:nvGrpSpPr>
          <p:cNvPr id="56326" name="Group 7"/>
          <p:cNvGrpSpPr/>
          <p:nvPr>
            <p:custDataLst>
              <p:tags r:id="rId4"/>
            </p:custDataLst>
          </p:nvPr>
        </p:nvGrpSpPr>
        <p:grpSpPr>
          <a:xfrm>
            <a:off x="4859338" y="4354513"/>
            <a:ext cx="2921000" cy="1235075"/>
            <a:chOff x="3200" y="1377"/>
            <a:chExt cx="1632" cy="778"/>
          </a:xfrm>
        </p:grpSpPr>
        <p:sp>
          <p:nvSpPr>
            <p:cNvPr id="56327" name="Rectangle 8"/>
            <p:cNvSpPr/>
            <p:nvPr>
              <p:custDataLst>
                <p:tags r:id="rId5"/>
              </p:custDataLst>
            </p:nvPr>
          </p:nvSpPr>
          <p:spPr>
            <a:xfrm>
              <a:off x="3200" y="1377"/>
              <a:ext cx="1632" cy="778"/>
            </a:xfrm>
            <a:prstGeom prst="rect">
              <a:avLst/>
            </a:prstGeom>
            <a:solidFill>
              <a:srgbClr val="CCFFCC"/>
            </a:solidFill>
            <a:ln w="9525" cap="flat" cmpd="sng">
              <a:solidFill>
                <a:srgbClr val="339966"/>
              </a:solidFill>
              <a:prstDash val="solid"/>
              <a:miter/>
              <a:headEnd type="none" w="med" len="med"/>
              <a:tailEnd type="none" w="med" len="med"/>
            </a:ln>
          </p:spPr>
          <p:txBody>
            <a:bodyPr anchor="t" anchorCtr="0">
              <a:spAutoFit/>
            </a:bodyPr>
            <a:p>
              <a:pPr eaLnBrk="0" hangingPunct="0">
                <a:spcBef>
                  <a:spcPct val="50000"/>
                </a:spcBef>
              </a:pPr>
              <a:r>
                <a:rPr lang="en-US" altLang="zh-CN" sz="2400" dirty="0">
                  <a:solidFill>
                    <a:schemeClr val="tx2"/>
                  </a:solidFill>
                  <a:latin typeface="Times New Roman" panose="02020603050405020304" pitchFamily="18" charset="0"/>
                  <a:ea typeface="宋体" panose="02010600030101010101" pitchFamily="2" charset="-122"/>
                </a:rPr>
                <a:t>  [x]</a:t>
              </a:r>
              <a:r>
                <a:rPr lang="zh-CN" altLang="en-US" sz="2400" baseline="-30000" dirty="0">
                  <a:solidFill>
                    <a:schemeClr val="tx2"/>
                  </a:solidFill>
                  <a:latin typeface="Times New Roman" panose="02020603050405020304" pitchFamily="18" charset="0"/>
                  <a:ea typeface="宋体" panose="02010600030101010101" pitchFamily="2" charset="-122"/>
                </a:rPr>
                <a:t>补</a:t>
              </a:r>
              <a:r>
                <a:rPr lang="zh-CN" altLang="en-US" sz="2400" dirty="0">
                  <a:solidFill>
                    <a:schemeClr val="tx2"/>
                  </a:solidFill>
                  <a:latin typeface="Times New Roman" panose="02020603050405020304" pitchFamily="18" charset="0"/>
                  <a:ea typeface="宋体" panose="02010600030101010101" pitchFamily="2" charset="-122"/>
                </a:rPr>
                <a:t>	</a:t>
              </a:r>
              <a:r>
                <a:rPr lang="en-US" altLang="zh-CN" sz="2400" dirty="0">
                  <a:solidFill>
                    <a:schemeClr val="tx2"/>
                  </a:solidFill>
                  <a:latin typeface="Times New Roman" panose="02020603050405020304" pitchFamily="18" charset="0"/>
                  <a:ea typeface="宋体" panose="02010600030101010101" pitchFamily="2" charset="-122"/>
                </a:rPr>
                <a:t>1 1.0 1 0 0</a:t>
              </a:r>
              <a:endParaRPr lang="en-US" altLang="zh-CN" sz="2400" dirty="0">
                <a:solidFill>
                  <a:schemeClr val="tx2"/>
                </a:solidFill>
                <a:latin typeface="Times New Roman" panose="02020603050405020304" pitchFamily="18" charset="0"/>
                <a:ea typeface="宋体" panose="02010600030101010101" pitchFamily="2" charset="-122"/>
              </a:endParaRPr>
            </a:p>
            <a:p>
              <a:pPr eaLnBrk="0" hangingPunct="0">
                <a:lnSpc>
                  <a:spcPct val="55000"/>
                </a:lnSpc>
                <a:spcBef>
                  <a:spcPct val="50000"/>
                </a:spcBef>
              </a:pPr>
              <a:r>
                <a:rPr lang="en-US" altLang="zh-CN" sz="2400" dirty="0">
                  <a:solidFill>
                    <a:schemeClr val="tx2"/>
                  </a:solidFill>
                  <a:latin typeface="Times New Roman" panose="02020603050405020304" pitchFamily="18" charset="0"/>
                  <a:ea typeface="宋体" panose="02010600030101010101" pitchFamily="2" charset="-122"/>
                </a:rPr>
                <a:t>+[y]</a:t>
              </a:r>
              <a:r>
                <a:rPr lang="zh-CN" altLang="en-US" sz="2400" baseline="-30000" dirty="0">
                  <a:solidFill>
                    <a:schemeClr val="tx2"/>
                  </a:solidFill>
                  <a:latin typeface="Times New Roman" panose="02020603050405020304" pitchFamily="18" charset="0"/>
                  <a:ea typeface="宋体" panose="02010600030101010101" pitchFamily="2" charset="-122"/>
                </a:rPr>
                <a:t>补</a:t>
              </a:r>
              <a:r>
                <a:rPr lang="zh-CN" altLang="en-US" sz="2400" dirty="0">
                  <a:solidFill>
                    <a:schemeClr val="tx2"/>
                  </a:solidFill>
                  <a:latin typeface="Times New Roman" panose="02020603050405020304" pitchFamily="18" charset="0"/>
                  <a:ea typeface="宋体" panose="02010600030101010101" pitchFamily="2" charset="-122"/>
                </a:rPr>
                <a:t>	</a:t>
              </a:r>
              <a:r>
                <a:rPr lang="en-US" altLang="zh-CN" sz="2400" dirty="0">
                  <a:solidFill>
                    <a:schemeClr val="tx2"/>
                  </a:solidFill>
                  <a:latin typeface="Times New Roman" panose="02020603050405020304" pitchFamily="18" charset="0"/>
                  <a:ea typeface="宋体" panose="02010600030101010101" pitchFamily="2" charset="-122"/>
                </a:rPr>
                <a:t>1 1.1 0 0 0</a:t>
              </a:r>
              <a:endParaRPr lang="en-US" altLang="zh-CN" sz="2400" dirty="0">
                <a:solidFill>
                  <a:schemeClr val="tx2"/>
                </a:solidFill>
                <a:latin typeface="Times New Roman" panose="02020603050405020304" pitchFamily="18" charset="0"/>
                <a:ea typeface="宋体" panose="02010600030101010101" pitchFamily="2" charset="-122"/>
              </a:endParaRPr>
            </a:p>
            <a:p>
              <a:pPr eaLnBrk="0" hangingPunct="0">
                <a:lnSpc>
                  <a:spcPct val="55000"/>
                </a:lnSpc>
                <a:spcBef>
                  <a:spcPct val="50000"/>
                </a:spcBef>
              </a:pPr>
              <a:r>
                <a:rPr lang="en-US" altLang="zh-CN" sz="2400" dirty="0">
                  <a:solidFill>
                    <a:schemeClr val="tx2"/>
                  </a:solidFill>
                  <a:latin typeface="Times New Roman" panose="02020603050405020304" pitchFamily="18" charset="0"/>
                  <a:ea typeface="宋体" panose="02010600030101010101" pitchFamily="2" charset="-122"/>
                </a:rPr>
                <a:t>        	1 0.1 1 0 0</a:t>
              </a:r>
              <a:endParaRPr lang="en-US" altLang="zh-CN" sz="2400" dirty="0">
                <a:solidFill>
                  <a:schemeClr val="tx2"/>
                </a:solidFill>
                <a:latin typeface="Times New Roman" panose="02020603050405020304" pitchFamily="18" charset="0"/>
                <a:ea typeface="宋体" panose="02010600030101010101" pitchFamily="2" charset="-122"/>
              </a:endParaRPr>
            </a:p>
          </p:txBody>
        </p:sp>
        <p:sp>
          <p:nvSpPr>
            <p:cNvPr id="56328" name="Line 9"/>
            <p:cNvSpPr/>
            <p:nvPr>
              <p:custDataLst>
                <p:tags r:id="rId6"/>
              </p:custDataLst>
            </p:nvPr>
          </p:nvSpPr>
          <p:spPr>
            <a:xfrm>
              <a:off x="3256" y="1928"/>
              <a:ext cx="1496" cy="0"/>
            </a:xfrm>
            <a:prstGeom prst="line">
              <a:avLst/>
            </a:prstGeom>
            <a:ln w="9525" cap="flat" cmpd="sng">
              <a:solidFill>
                <a:schemeClr val="tx1"/>
              </a:solidFill>
              <a:prstDash val="solid"/>
              <a:round/>
              <a:headEnd type="none" w="med" len="med"/>
              <a:tailEnd type="none" w="med" len="med"/>
            </a:ln>
          </p:spPr>
        </p:sp>
      </p:grpSp>
      <p:sp>
        <p:nvSpPr>
          <p:cNvPr id="2" name="椭圆 1"/>
          <p:cNvSpPr/>
          <p:nvPr/>
        </p:nvSpPr>
        <p:spPr>
          <a:xfrm>
            <a:off x="2678430" y="4076700"/>
            <a:ext cx="237490" cy="1728470"/>
          </a:xfrm>
          <a:prstGeom prst="ellipse">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3" name="椭圆 2"/>
          <p:cNvSpPr/>
          <p:nvPr/>
        </p:nvSpPr>
        <p:spPr>
          <a:xfrm>
            <a:off x="2339975" y="4128770"/>
            <a:ext cx="237490" cy="1728470"/>
          </a:xfrm>
          <a:prstGeom prst="ellipse">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 name="椭圆 3"/>
          <p:cNvSpPr/>
          <p:nvPr/>
        </p:nvSpPr>
        <p:spPr>
          <a:xfrm>
            <a:off x="6012180" y="4060825"/>
            <a:ext cx="237490" cy="1728470"/>
          </a:xfrm>
          <a:prstGeom prst="ellipse">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5" name="椭圆 4"/>
          <p:cNvSpPr/>
          <p:nvPr/>
        </p:nvSpPr>
        <p:spPr>
          <a:xfrm>
            <a:off x="6299835" y="4076700"/>
            <a:ext cx="237490" cy="1728470"/>
          </a:xfrm>
          <a:prstGeom prst="ellipse">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8369" name="Rectangle 2"/>
          <p:cNvSpPr>
            <a:spLocks noGrp="1" noRot="1"/>
          </p:cNvSpPr>
          <p:nvPr>
            <p:ph type="title"/>
          </p:nvPr>
        </p:nvSpPr>
        <p:spPr>
          <a:noFill/>
          <a:ln>
            <a:noFill/>
          </a:ln>
        </p:spPr>
        <p:txBody>
          <a:bodyPr anchor="t" anchorCtr="0"/>
          <a:p>
            <a:pPr eaLnBrk="1" hangingPunct="1"/>
            <a:r>
              <a:rPr lang="zh-CN" altLang="en-US" dirty="0">
                <a:solidFill>
                  <a:srgbClr val="0000FF"/>
                </a:solidFill>
                <a:latin typeface="Times New Roman" panose="02020603050405020304" pitchFamily="18" charset="0"/>
              </a:rPr>
              <a:t>溢出的检测方法</a:t>
            </a:r>
            <a:endParaRPr lang="zh-CN" altLang="en-US" dirty="0">
              <a:solidFill>
                <a:srgbClr val="0000FF"/>
              </a:solidFill>
              <a:latin typeface="Times New Roman" panose="02020603050405020304" pitchFamily="18" charset="0"/>
            </a:endParaRPr>
          </a:p>
        </p:txBody>
      </p:sp>
      <p:sp>
        <p:nvSpPr>
          <p:cNvPr id="58370" name="Rectangle 3"/>
          <p:cNvSpPr>
            <a:spLocks noGrp="1" noRot="1"/>
          </p:cNvSpPr>
          <p:nvPr>
            <p:ph idx="1"/>
          </p:nvPr>
        </p:nvSpPr>
        <p:spPr>
          <a:xfrm>
            <a:off x="301625" y="1417638"/>
            <a:ext cx="8540750" cy="3886200"/>
          </a:xfrm>
          <a:noFill/>
          <a:ln>
            <a:noFill/>
          </a:ln>
        </p:spPr>
        <p:txBody>
          <a:bodyPr anchor="t" anchorCtr="0"/>
          <a:p>
            <a:pPr eaLnBrk="1" hangingPunct="1"/>
            <a:r>
              <a:rPr lang="en-US" altLang="zh-CN" dirty="0">
                <a:solidFill>
                  <a:srgbClr val="FF0000"/>
                </a:solidFill>
                <a:latin typeface="Times New Roman" panose="02020603050405020304" pitchFamily="18" charset="0"/>
              </a:rPr>
              <a:t>(2) </a:t>
            </a:r>
            <a:r>
              <a:rPr lang="zh-CN" altLang="en-US" dirty="0">
                <a:solidFill>
                  <a:srgbClr val="FF0000"/>
                </a:solidFill>
                <a:latin typeface="Times New Roman" panose="02020603050405020304" pitchFamily="18" charset="0"/>
              </a:rPr>
              <a:t>双符号位法</a:t>
            </a:r>
            <a:endParaRPr lang="zh-CN" altLang="en-US" dirty="0">
              <a:solidFill>
                <a:srgbClr val="FF0000"/>
              </a:solidFill>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一个符号位：只能表示正、负两种情况；</a:t>
            </a:r>
            <a:endParaRPr lang="zh-CN" altLang="en-US"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两位符号位：</a:t>
            </a:r>
            <a:r>
              <a:rPr lang="en-US" altLang="zh-CN" dirty="0">
                <a:latin typeface="Times New Roman" panose="02020603050405020304" pitchFamily="18" charset="0"/>
              </a:rPr>
              <a:t>(</a:t>
            </a:r>
            <a:r>
              <a:rPr lang="en-US" altLang="zh-CN" i="1" dirty="0">
                <a:latin typeface="Times New Roman" panose="02020603050405020304" pitchFamily="18" charset="0"/>
              </a:rPr>
              <a:t>S</a:t>
            </a:r>
            <a:r>
              <a:rPr lang="en-US" altLang="zh-CN" i="1" baseline="-30000" dirty="0">
                <a:latin typeface="Times New Roman" panose="02020603050405020304" pitchFamily="18" charset="0"/>
              </a:rPr>
              <a:t>f</a:t>
            </a:r>
            <a:r>
              <a:rPr lang="en-US" altLang="zh-CN" baseline="-30000" dirty="0">
                <a:latin typeface="Times New Roman" panose="02020603050405020304" pitchFamily="18" charset="0"/>
              </a:rPr>
              <a:t>1</a:t>
            </a:r>
            <a:r>
              <a:rPr lang="en-US" altLang="zh-CN" i="1" dirty="0">
                <a:latin typeface="Times New Roman" panose="02020603050405020304" pitchFamily="18" charset="0"/>
              </a:rPr>
              <a:t>S</a:t>
            </a:r>
            <a:r>
              <a:rPr lang="en-US" altLang="zh-CN" i="1" baseline="-30000" dirty="0">
                <a:latin typeface="Times New Roman" panose="02020603050405020304" pitchFamily="18" charset="0"/>
              </a:rPr>
              <a:t>f</a:t>
            </a:r>
            <a:r>
              <a:rPr lang="en-US" altLang="zh-CN" baseline="-30000" dirty="0">
                <a:latin typeface="Times New Roman" panose="02020603050405020304" pitchFamily="18" charset="0"/>
              </a:rPr>
              <a:t>2</a:t>
            </a:r>
            <a:r>
              <a:rPr lang="en-US" altLang="zh-CN" dirty="0">
                <a:latin typeface="Times New Roman" panose="02020603050405020304" pitchFamily="18" charset="0"/>
              </a:rPr>
              <a:t>)</a:t>
            </a:r>
            <a:r>
              <a:rPr lang="zh-CN" altLang="en-US" dirty="0">
                <a:latin typeface="Times New Roman" panose="02020603050405020304" pitchFamily="18" charset="0"/>
              </a:rPr>
              <a:t>，表示的信息量扩大；</a:t>
            </a:r>
            <a:endParaRPr lang="zh-CN" altLang="en-US" dirty="0">
              <a:latin typeface="Times New Roman" panose="02020603050405020304" pitchFamily="18" charset="0"/>
            </a:endParaRPr>
          </a:p>
          <a:p>
            <a:pPr lvl="1" eaLnBrk="1" latinLnBrk="0" hangingPunct="1">
              <a:spcBef>
                <a:spcPts val="1800"/>
              </a:spcBef>
            </a:pPr>
            <a:r>
              <a:rPr lang="zh-CN" altLang="en-US" dirty="0">
                <a:solidFill>
                  <a:srgbClr val="FF0000"/>
                </a:solidFill>
                <a:latin typeface="Times New Roman" panose="02020603050405020304" pitchFamily="18" charset="0"/>
              </a:rPr>
              <a:t>既能判别溢出，又能指出结果的符号</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eaLnBrk="1" hangingPunct="1">
              <a:spcBef>
                <a:spcPts val="1200"/>
              </a:spcBef>
            </a:pPr>
            <a:r>
              <a:rPr lang="zh-CN" altLang="en-US" dirty="0">
                <a:latin typeface="Times New Roman" panose="02020603050405020304" pitchFamily="18" charset="0"/>
              </a:rPr>
              <a:t>符号位不相同则溢出，最左边的符号为结果的符号。</a:t>
            </a:r>
            <a:endParaRPr lang="zh-CN" altLang="en-US" dirty="0">
              <a:latin typeface="Times New Roman" panose="02020603050405020304" pitchFamily="18" charset="0"/>
            </a:endParaRPr>
          </a:p>
          <a:p>
            <a:pPr lvl="1" eaLnBrk="1" latinLnBrk="0" hangingPunct="1">
              <a:spcBef>
                <a:spcPts val="1800"/>
              </a:spcBef>
            </a:pPr>
            <a:r>
              <a:rPr lang="zh-CN" altLang="en-US" dirty="0">
                <a:latin typeface="Times New Roman" panose="02020603050405020304" pitchFamily="18" charset="0"/>
              </a:rPr>
              <a:t>也称为“变形补码”或“模</a:t>
            </a:r>
            <a:r>
              <a:rPr lang="en-US" altLang="zh-CN" dirty="0">
                <a:latin typeface="Times New Roman" panose="02020603050405020304" pitchFamily="18" charset="0"/>
              </a:rPr>
              <a:t>4</a:t>
            </a:r>
            <a:r>
              <a:rPr lang="zh-CN" altLang="en-US" dirty="0">
                <a:latin typeface="Times New Roman" panose="02020603050405020304" pitchFamily="18" charset="0"/>
              </a:rPr>
              <a:t>补码” 。定义：</a:t>
            </a:r>
            <a:endParaRPr lang="zh-CN" altLang="en-US" dirty="0">
              <a:latin typeface="Times New Roman" panose="02020603050405020304" pitchFamily="18" charset="0"/>
            </a:endParaRPr>
          </a:p>
        </p:txBody>
      </p:sp>
      <p:grpSp>
        <p:nvGrpSpPr>
          <p:cNvPr id="58371" name="Group 4"/>
          <p:cNvGrpSpPr/>
          <p:nvPr/>
        </p:nvGrpSpPr>
        <p:grpSpPr>
          <a:xfrm>
            <a:off x="1949450" y="5303838"/>
            <a:ext cx="5218113" cy="1008062"/>
            <a:chOff x="1284" y="2127"/>
            <a:chExt cx="3190" cy="590"/>
          </a:xfrm>
        </p:grpSpPr>
        <p:sp>
          <p:nvSpPr>
            <p:cNvPr id="58372" name="Rectangle 5"/>
            <p:cNvSpPr/>
            <p:nvPr/>
          </p:nvSpPr>
          <p:spPr>
            <a:xfrm>
              <a:off x="1284" y="2288"/>
              <a:ext cx="608" cy="267"/>
            </a:xfrm>
            <a:prstGeom prst="rect">
              <a:avLst/>
            </a:prstGeom>
            <a:noFill/>
            <a:ln w="9525">
              <a:noFill/>
            </a:ln>
          </p:spPr>
          <p:txBody>
            <a:bodyPr wrap="none" anchor="t" anchorCtr="0">
              <a:spAutoFit/>
            </a:bodyPr>
            <a:p>
              <a:r>
                <a:rPr lang="en-US" altLang="zh-CN" sz="2400" dirty="0">
                  <a:solidFill>
                    <a:schemeClr val="tx2"/>
                  </a:solidFill>
                  <a:latin typeface="Times New Roman" panose="02020603050405020304" pitchFamily="18" charset="0"/>
                  <a:ea typeface="宋体" panose="02010600030101010101" pitchFamily="2" charset="-122"/>
                </a:rPr>
                <a:t>[</a:t>
              </a:r>
              <a:r>
                <a:rPr lang="en-US" altLang="zh-CN" sz="2400" i="1" dirty="0">
                  <a:solidFill>
                    <a:schemeClr val="tx2"/>
                  </a:solidFill>
                  <a:latin typeface="Times New Roman" panose="02020603050405020304" pitchFamily="18" charset="0"/>
                  <a:ea typeface="宋体" panose="02010600030101010101" pitchFamily="2" charset="-122"/>
                </a:rPr>
                <a:t>x</a:t>
              </a:r>
              <a:r>
                <a:rPr lang="en-US" altLang="zh-CN" sz="2400" dirty="0">
                  <a:solidFill>
                    <a:schemeClr val="tx2"/>
                  </a:solidFill>
                  <a:latin typeface="Times New Roman" panose="02020603050405020304" pitchFamily="18" charset="0"/>
                  <a:ea typeface="宋体" panose="02010600030101010101" pitchFamily="2" charset="-122"/>
                </a:rPr>
                <a:t>]</a:t>
              </a:r>
              <a:r>
                <a:rPr lang="zh-CN" altLang="en-US" sz="2400" baseline="-30000" dirty="0">
                  <a:solidFill>
                    <a:schemeClr val="tx2"/>
                  </a:solidFill>
                  <a:latin typeface="Times New Roman" panose="02020603050405020304" pitchFamily="18" charset="0"/>
                  <a:ea typeface="宋体" panose="02010600030101010101" pitchFamily="2" charset="-122"/>
                </a:rPr>
                <a:t>补</a:t>
              </a:r>
              <a:r>
                <a:rPr lang="en-US" altLang="zh-CN" sz="2400" dirty="0">
                  <a:solidFill>
                    <a:schemeClr val="tx2"/>
                  </a:solidFill>
                  <a:latin typeface="Times New Roman" panose="02020603050405020304" pitchFamily="18" charset="0"/>
                  <a:ea typeface="宋体" panose="02010600030101010101" pitchFamily="2" charset="-122"/>
                </a:rPr>
                <a:t>=</a:t>
              </a:r>
              <a:endParaRPr lang="en-US" altLang="zh-CN" sz="2400" baseline="-30000" dirty="0">
                <a:solidFill>
                  <a:schemeClr val="tx2"/>
                </a:solidFill>
                <a:latin typeface="Times New Roman" panose="02020603050405020304" pitchFamily="18" charset="0"/>
                <a:ea typeface="宋体" panose="02010600030101010101" pitchFamily="2" charset="-122"/>
              </a:endParaRPr>
            </a:p>
          </p:txBody>
        </p:sp>
        <p:sp>
          <p:nvSpPr>
            <p:cNvPr id="58373" name="AutoShape 6"/>
            <p:cNvSpPr/>
            <p:nvPr/>
          </p:nvSpPr>
          <p:spPr>
            <a:xfrm>
              <a:off x="1943" y="2213"/>
              <a:ext cx="126" cy="455"/>
            </a:xfrm>
            <a:prstGeom prst="leftBrace">
              <a:avLst>
                <a:gd name="adj1" fmla="val 30025"/>
                <a:gd name="adj2" fmla="val 50000"/>
              </a:avLst>
            </a:prstGeom>
            <a:noFill/>
            <a:ln w="28575" cap="flat" cmpd="sng">
              <a:solidFill>
                <a:schemeClr val="tx1"/>
              </a:solidFill>
              <a:prstDash val="solid"/>
              <a:round/>
              <a:headEnd type="none" w="med" len="med"/>
              <a:tailEnd type="none" w="med" len="med"/>
            </a:ln>
          </p:spPr>
          <p:txBody>
            <a:bodyPr wrap="none" anchor="ctr" anchorCtr="0"/>
            <a:p>
              <a:endParaRPr lang="zh-CN" altLang="en-US" dirty="0">
                <a:solidFill>
                  <a:schemeClr val="tx1"/>
                </a:solidFill>
                <a:latin typeface="Times New Roman" panose="02020603050405020304" pitchFamily="18" charset="0"/>
                <a:ea typeface="宋体" panose="02010600030101010101" pitchFamily="2" charset="-122"/>
              </a:endParaRPr>
            </a:p>
          </p:txBody>
        </p:sp>
        <p:sp>
          <p:nvSpPr>
            <p:cNvPr id="58374" name="Text Box 7"/>
            <p:cNvSpPr txBox="1"/>
            <p:nvPr/>
          </p:nvSpPr>
          <p:spPr>
            <a:xfrm>
              <a:off x="2109" y="2127"/>
              <a:ext cx="1824" cy="588"/>
            </a:xfrm>
            <a:prstGeom prst="rect">
              <a:avLst/>
            </a:prstGeom>
            <a:noFill/>
            <a:ln w="9525">
              <a:noFill/>
            </a:ln>
          </p:spPr>
          <p:txBody>
            <a:bodyPr anchor="t" anchorCtr="0">
              <a:spAutoFit/>
            </a:bodyPr>
            <a:p>
              <a:pPr>
                <a:spcBef>
                  <a:spcPct val="50000"/>
                </a:spcBef>
              </a:pPr>
              <a:r>
                <a:rPr lang="en-US" altLang="zh-CN" sz="2400" i="1" dirty="0">
                  <a:solidFill>
                    <a:schemeClr val="tx1"/>
                  </a:solidFill>
                  <a:latin typeface="Times New Roman" panose="02020603050405020304" pitchFamily="18" charset="0"/>
                  <a:ea typeface="宋体" panose="02010600030101010101" pitchFamily="2" charset="-122"/>
                </a:rPr>
                <a:t>x            </a:t>
              </a:r>
              <a:r>
                <a:rPr lang="en-US" altLang="zh-CN" sz="2400" dirty="0">
                  <a:solidFill>
                    <a:schemeClr val="tx1"/>
                  </a:solidFill>
                  <a:latin typeface="Times New Roman" panose="02020603050405020304" pitchFamily="18" charset="0"/>
                  <a:ea typeface="宋体" panose="02010600030101010101" pitchFamily="2" charset="-122"/>
                </a:rPr>
                <a:t>0</a:t>
              </a:r>
              <a:r>
                <a:rPr lang="en-US" altLang="zh-CN" sz="2400"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400" dirty="0">
                  <a:solidFill>
                    <a:schemeClr val="tx1"/>
                  </a:solidFill>
                  <a:latin typeface="Times New Roman" panose="02020603050405020304" pitchFamily="18" charset="0"/>
                  <a:ea typeface="宋体" panose="02010600030101010101" pitchFamily="2" charset="-122"/>
                </a:rPr>
                <a:t> </a:t>
              </a:r>
              <a:r>
                <a:rPr lang="en-US" altLang="zh-CN" sz="2400" i="1" dirty="0">
                  <a:solidFill>
                    <a:schemeClr val="tx1"/>
                  </a:solidFill>
                  <a:latin typeface="Times New Roman" panose="02020603050405020304" pitchFamily="18" charset="0"/>
                  <a:ea typeface="宋体" panose="02010600030101010101" pitchFamily="2" charset="-122"/>
                </a:rPr>
                <a:t>x&lt;</a:t>
              </a:r>
              <a:r>
                <a:rPr lang="en-US" altLang="zh-CN" sz="2400" dirty="0">
                  <a:solidFill>
                    <a:schemeClr val="tx1"/>
                  </a:solidFill>
                  <a:latin typeface="Times New Roman" panose="02020603050405020304" pitchFamily="18" charset="0"/>
                  <a:ea typeface="宋体" panose="02010600030101010101" pitchFamily="2" charset="-122"/>
                </a:rPr>
                <a:t>2</a:t>
              </a:r>
              <a:endParaRPr lang="en-US" altLang="zh-CN" sz="2400" dirty="0">
                <a:solidFill>
                  <a:schemeClr val="tx1"/>
                </a:solidFill>
                <a:latin typeface="Times New Roman" panose="02020603050405020304" pitchFamily="18" charset="0"/>
                <a:ea typeface="宋体" panose="02010600030101010101" pitchFamily="2" charset="-122"/>
              </a:endParaRPr>
            </a:p>
            <a:p>
              <a:pPr>
                <a:spcBef>
                  <a:spcPct val="50000"/>
                </a:spcBef>
              </a:pPr>
              <a:r>
                <a:rPr lang="en-US" altLang="zh-CN" sz="2400" dirty="0">
                  <a:solidFill>
                    <a:schemeClr val="tx1"/>
                  </a:solidFill>
                  <a:latin typeface="Times New Roman" panose="02020603050405020304" pitchFamily="18" charset="0"/>
                  <a:ea typeface="宋体" panose="02010600030101010101" pitchFamily="2" charset="-122"/>
                </a:rPr>
                <a:t>4+</a:t>
              </a:r>
              <a:r>
                <a:rPr lang="en-US" altLang="zh-CN" sz="2400" i="1" dirty="0">
                  <a:solidFill>
                    <a:schemeClr val="tx1"/>
                  </a:solidFill>
                  <a:latin typeface="Times New Roman" panose="02020603050405020304" pitchFamily="18" charset="0"/>
                  <a:ea typeface="宋体" panose="02010600030101010101" pitchFamily="2" charset="-122"/>
                </a:rPr>
                <a:t>x       </a:t>
              </a:r>
              <a:r>
                <a:rPr lang="en-US" altLang="zh-CN" sz="2400" dirty="0">
                  <a:solidFill>
                    <a:schemeClr val="tx1"/>
                  </a:solidFill>
                  <a:latin typeface="Times New Roman" panose="02020603050405020304" pitchFamily="18" charset="0"/>
                  <a:ea typeface="宋体" panose="02010600030101010101" pitchFamily="2" charset="-122"/>
                </a:rPr>
                <a:t>-2</a:t>
              </a:r>
              <a:r>
                <a:rPr lang="en-US" altLang="zh-CN" sz="2400" dirty="0">
                  <a:solidFill>
                    <a:schemeClr val="tx1"/>
                  </a:solidFill>
                  <a:latin typeface="Times New Roman" panose="02020603050405020304" pitchFamily="18" charset="0"/>
                  <a:ea typeface="宋体" panose="02010600030101010101" pitchFamily="2" charset="-122"/>
                  <a:sym typeface="Symbol" panose="05050102010706020507" pitchFamily="18" charset="2"/>
                </a:rPr>
                <a:t> </a:t>
              </a:r>
              <a:r>
                <a:rPr lang="en-US" altLang="zh-CN" sz="2400" i="1" dirty="0">
                  <a:solidFill>
                    <a:schemeClr val="tx1"/>
                  </a:solidFill>
                  <a:latin typeface="Times New Roman" panose="02020603050405020304" pitchFamily="18" charset="0"/>
                  <a:ea typeface="宋体" panose="02010600030101010101" pitchFamily="2" charset="-122"/>
                  <a:sym typeface="Symbol" panose="05050102010706020507" pitchFamily="18" charset="2"/>
                </a:rPr>
                <a:t>x</a:t>
              </a:r>
              <a:r>
                <a:rPr lang="en-US" altLang="zh-CN" sz="2400" dirty="0">
                  <a:solidFill>
                    <a:schemeClr val="tx1"/>
                  </a:solidFill>
                  <a:latin typeface="Times New Roman" panose="02020603050405020304" pitchFamily="18" charset="0"/>
                  <a:ea typeface="宋体" panose="02010600030101010101" pitchFamily="2" charset="-122"/>
                  <a:sym typeface="Symbol" panose="05050102010706020507" pitchFamily="18" charset="2"/>
                </a:rPr>
                <a:t>&lt;0</a:t>
              </a:r>
              <a:r>
                <a:rPr lang="en-US" altLang="zh-CN" sz="2400" dirty="0">
                  <a:solidFill>
                    <a:schemeClr val="tx1"/>
                  </a:solidFill>
                  <a:latin typeface="Times New Roman" panose="02020603050405020304" pitchFamily="18" charset="0"/>
                  <a:ea typeface="宋体" panose="02010600030101010101" pitchFamily="2" charset="-122"/>
                </a:rPr>
                <a:t> </a:t>
              </a:r>
              <a:endParaRPr lang="en-US" altLang="zh-CN" sz="2400" dirty="0">
                <a:solidFill>
                  <a:schemeClr val="tx1"/>
                </a:solidFill>
                <a:latin typeface="Times New Roman" panose="02020603050405020304" pitchFamily="18" charset="0"/>
                <a:ea typeface="宋体" panose="02010600030101010101" pitchFamily="2" charset="-122"/>
              </a:endParaRPr>
            </a:p>
          </p:txBody>
        </p:sp>
        <p:sp>
          <p:nvSpPr>
            <p:cNvPr id="58375" name="Rectangle 8"/>
            <p:cNvSpPr/>
            <p:nvPr/>
          </p:nvSpPr>
          <p:spPr>
            <a:xfrm>
              <a:off x="3697" y="2449"/>
              <a:ext cx="777" cy="268"/>
            </a:xfrm>
            <a:prstGeom prst="rect">
              <a:avLst/>
            </a:prstGeom>
            <a:noFill/>
            <a:ln w="9525">
              <a:noFill/>
            </a:ln>
          </p:spPr>
          <p:txBody>
            <a:bodyPr wrap="none" anchor="t" anchorCtr="0">
              <a:spAutoFit/>
            </a:bodyPr>
            <a:p>
              <a:r>
                <a:rPr lang="en-US" altLang="zh-CN" sz="2400" dirty="0">
                  <a:solidFill>
                    <a:schemeClr val="tx2"/>
                  </a:solidFill>
                  <a:latin typeface="Times New Roman" panose="02020603050405020304" pitchFamily="18" charset="0"/>
                  <a:ea typeface="宋体" panose="02010600030101010101" pitchFamily="2" charset="-122"/>
                </a:rPr>
                <a:t>(mod 4)</a:t>
              </a:r>
              <a:endParaRPr lang="en-US" altLang="zh-CN" sz="2400" dirty="0">
                <a:solidFill>
                  <a:schemeClr val="tx2"/>
                </a:solidFill>
                <a:latin typeface="Times New Roman" panose="02020603050405020304" pitchFamily="18" charset="0"/>
                <a:ea typeface="宋体" panose="02010600030101010101" pitchFamily="2"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0417" name="标题 1"/>
          <p:cNvSpPr>
            <a:spLocks noGrp="1"/>
          </p:cNvSpPr>
          <p:nvPr>
            <p:ph type="title"/>
          </p:nvPr>
        </p:nvSpPr>
        <p:spPr>
          <a:noFill/>
          <a:ln>
            <a:noFill/>
          </a:ln>
        </p:spPr>
        <p:txBody>
          <a:bodyPr anchor="t" anchorCtr="0"/>
          <a:p>
            <a:r>
              <a:rPr lang="zh-CN" altLang="en-US">
                <a:latin typeface="Times New Roman" panose="02020603050405020304" pitchFamily="18" charset="0"/>
              </a:rPr>
              <a:t>例：双符号位判溢出</a:t>
            </a:r>
            <a:endParaRPr lang="zh-CN" altLang="en-US">
              <a:latin typeface="Times New Roman" panose="02020603050405020304" pitchFamily="18" charset="0"/>
            </a:endParaRPr>
          </a:p>
        </p:txBody>
      </p:sp>
      <p:sp>
        <p:nvSpPr>
          <p:cNvPr id="60418" name="内容占位符 2"/>
          <p:cNvSpPr>
            <a:spLocks noGrp="1"/>
          </p:cNvSpPr>
          <p:nvPr>
            <p:ph idx="1"/>
          </p:nvPr>
        </p:nvSpPr>
        <p:spPr>
          <a:xfrm>
            <a:off x="457200" y="1239838"/>
            <a:ext cx="8229600" cy="1065212"/>
          </a:xfrm>
          <a:noFill/>
          <a:ln>
            <a:noFill/>
          </a:ln>
        </p:spPr>
        <p:txBody>
          <a:bodyPr anchor="t" anchorCtr="0"/>
          <a:p>
            <a:r>
              <a:rPr lang="zh-CN" altLang="en-US">
                <a:latin typeface="Times New Roman" panose="02020603050405020304" pitchFamily="18" charset="0"/>
              </a:rPr>
              <a:t>已知 X =0.11011和 Y=0.11111，使用它们的变形补码计算出 X+Y，并指出结果是否溢出。</a:t>
            </a:r>
            <a:endParaRPr lang="zh-CN" altLang="en-US">
              <a:latin typeface="Times New Roman" panose="02020603050405020304" pitchFamily="18" charset="0"/>
            </a:endParaRPr>
          </a:p>
        </p:txBody>
      </p:sp>
      <p:pic>
        <p:nvPicPr>
          <p:cNvPr id="60419" name="图片 3"/>
          <p:cNvPicPr>
            <a:picLocks noChangeAspect="1"/>
          </p:cNvPicPr>
          <p:nvPr/>
        </p:nvPicPr>
        <p:blipFill>
          <a:blip r:embed="rId1"/>
          <a:stretch>
            <a:fillRect/>
          </a:stretch>
        </p:blipFill>
        <p:spPr>
          <a:xfrm>
            <a:off x="1250950" y="2305050"/>
            <a:ext cx="6642100" cy="1460500"/>
          </a:xfrm>
          <a:prstGeom prst="rect">
            <a:avLst/>
          </a:prstGeom>
          <a:noFill/>
          <a:ln w="9525">
            <a:noFill/>
          </a:ln>
        </p:spPr>
      </p:pic>
      <p:sp>
        <p:nvSpPr>
          <p:cNvPr id="60420" name="内容占位符 2"/>
          <p:cNvSpPr>
            <a:spLocks noGrp="1"/>
          </p:cNvSpPr>
          <p:nvPr/>
        </p:nvSpPr>
        <p:spPr>
          <a:xfrm>
            <a:off x="381000" y="3871913"/>
            <a:ext cx="8229600" cy="1065212"/>
          </a:xfrm>
          <a:prstGeom prst="rect">
            <a:avLst/>
          </a:prstGeom>
          <a:noFill/>
          <a:ln w="9525">
            <a:noFill/>
          </a:ln>
        </p:spPr>
        <p:txBody>
          <a:bodyPr anchor="t" anchorCtr="0"/>
          <a:p>
            <a:pPr marL="342900" indent="-342900" eaLnBrk="0" hangingPunct="0">
              <a:spcBef>
                <a:spcPct val="20000"/>
              </a:spcBef>
              <a:buClr>
                <a:schemeClr val="hlink"/>
              </a:buClr>
              <a:buFont typeface="Wingdings" panose="05000000000000000000" pitchFamily="2" charset="2"/>
              <a:buChar char="v"/>
            </a:pPr>
            <a:r>
              <a:rPr lang="zh-CN" altLang="en-US" sz="2800" b="1">
                <a:solidFill>
                  <a:schemeClr val="hlink"/>
                </a:solidFill>
                <a:latin typeface="Times New Roman" panose="02020603050405020304" pitchFamily="18" charset="0"/>
                <a:ea typeface="黑体" panose="02010609060101010101" pitchFamily="49" charset="-122"/>
              </a:rPr>
              <a:t>已知 X =0.11011和 Y=-0.11111，使用它们的变形补码计算出 X-Y，并指出结果是否溢出。</a:t>
            </a:r>
            <a:endParaRPr lang="zh-CN" altLang="en-US" sz="2800" b="1">
              <a:solidFill>
                <a:schemeClr val="hlink"/>
              </a:solidFill>
              <a:latin typeface="Times New Roman" panose="02020603050405020304" pitchFamily="18" charset="0"/>
              <a:ea typeface="黑体" panose="02010609060101010101" pitchFamily="49" charset="-122"/>
            </a:endParaRPr>
          </a:p>
        </p:txBody>
      </p:sp>
      <p:pic>
        <p:nvPicPr>
          <p:cNvPr id="60421" name="图片 5"/>
          <p:cNvPicPr>
            <a:picLocks noChangeAspect="1"/>
          </p:cNvPicPr>
          <p:nvPr/>
        </p:nvPicPr>
        <p:blipFill>
          <a:blip r:embed="rId2"/>
          <a:stretch>
            <a:fillRect/>
          </a:stretch>
        </p:blipFill>
        <p:spPr>
          <a:xfrm>
            <a:off x="1250950" y="4818063"/>
            <a:ext cx="6616700" cy="1416050"/>
          </a:xfrm>
          <a:prstGeom prst="rect">
            <a:avLst/>
          </a:prstGeom>
          <a:noFill/>
          <a:ln w="9525">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41" name="标题 1"/>
          <p:cNvSpPr>
            <a:spLocks noGrp="1"/>
          </p:cNvSpPr>
          <p:nvPr>
            <p:ph type="title"/>
          </p:nvPr>
        </p:nvSpPr>
        <p:spPr>
          <a:noFill/>
          <a:ln>
            <a:noFill/>
          </a:ln>
        </p:spPr>
        <p:txBody>
          <a:bodyPr anchor="t" anchorCtr="0"/>
          <a:p>
            <a:pPr eaLnBrk="1" hangingPunct="1"/>
            <a:r>
              <a:rPr lang="zh-CN" altLang="en-US" dirty="0">
                <a:latin typeface="Times New Roman" panose="02020603050405020304" pitchFamily="18" charset="0"/>
              </a:rPr>
              <a:t>补码加减运算的逻辑电路</a:t>
            </a:r>
            <a:endParaRPr lang="zh-CN" altLang="en-US" dirty="0">
              <a:latin typeface="Times New Roman" panose="02020603050405020304" pitchFamily="18" charset="0"/>
              <a:ea typeface="Times New Roman" panose="02020603050405020304" pitchFamily="18" charset="0"/>
            </a:endParaRPr>
          </a:p>
        </p:txBody>
      </p:sp>
      <p:graphicFrame>
        <p:nvGraphicFramePr>
          <p:cNvPr id="61442" name="Object 1032"/>
          <p:cNvGraphicFramePr>
            <a:graphicFrameLocks noChangeAspect="1"/>
          </p:cNvGraphicFramePr>
          <p:nvPr/>
        </p:nvGraphicFramePr>
        <p:xfrm>
          <a:off x="1447800" y="1524000"/>
          <a:ext cx="6248400" cy="4465638"/>
        </p:xfrm>
        <a:graphic>
          <a:graphicData uri="http://schemas.openxmlformats.org/presentationml/2006/ole">
            <mc:AlternateContent xmlns:mc="http://schemas.openxmlformats.org/markup-compatibility/2006">
              <mc:Choice xmlns:v="urn:schemas-microsoft-com:vml" Requires="v">
                <p:oleObj spid="_x0000_s3079" name="" r:id="rId1" imgW="3166745" imgH="2139315" progId="Visio.Drawing.6">
                  <p:embed/>
                </p:oleObj>
              </mc:Choice>
              <mc:Fallback>
                <p:oleObj name="" r:id="rId1" imgW="3166745" imgH="2139315" progId="Visio.Drawing.6">
                  <p:embed/>
                  <p:pic>
                    <p:nvPicPr>
                      <p:cNvPr id="0" name="图片 3078"/>
                      <p:cNvPicPr/>
                      <p:nvPr/>
                    </p:nvPicPr>
                    <p:blipFill>
                      <a:blip r:embed="rId2"/>
                      <a:stretch>
                        <a:fillRect/>
                      </a:stretch>
                    </p:blipFill>
                    <p:spPr>
                      <a:xfrm>
                        <a:off x="1447800" y="1524000"/>
                        <a:ext cx="6248400" cy="4465638"/>
                      </a:xfrm>
                      <a:prstGeom prst="rect">
                        <a:avLst/>
                      </a:prstGeom>
                      <a:noFill/>
                      <a:ln w="38100">
                        <a:noFill/>
                        <a:miter/>
                      </a:ln>
                    </p:spPr>
                  </p:pic>
                </p:oleObj>
              </mc:Fallback>
            </mc:AlternateContent>
          </a:graphicData>
        </a:graphic>
      </p:graphicFrame>
      <p:sp>
        <p:nvSpPr>
          <p:cNvPr id="61443" name="Rectangle 1033"/>
          <p:cNvSpPr>
            <a:spLocks noGrp="1"/>
          </p:cNvSpPr>
          <p:nvPr>
            <p:ph idx="1"/>
          </p:nvPr>
        </p:nvSpPr>
        <p:spPr>
          <a:xfrm>
            <a:off x="685800" y="5943600"/>
            <a:ext cx="7772400" cy="509588"/>
          </a:xfrm>
          <a:noFill/>
          <a:ln>
            <a:noFill/>
          </a:ln>
        </p:spPr>
        <p:txBody>
          <a:bodyPr anchor="t" anchorCtr="0"/>
          <a:p>
            <a:pPr algn="ctr" eaLnBrk="1" hangingPunct="1">
              <a:buFontTx/>
              <a:buNone/>
            </a:pPr>
            <a:r>
              <a:rPr lang="zh-CN" altLang="en-US" sz="2400" dirty="0">
                <a:latin typeface="Times New Roman" panose="02020603050405020304" pitchFamily="18" charset="0"/>
              </a:rPr>
              <a:t>图4-8 补码加减运算器框图 </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2465"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4.2.4 </a:t>
            </a:r>
            <a:r>
              <a:rPr lang="zh-CN" altLang="en-US" dirty="0">
                <a:latin typeface="Times New Roman" panose="02020603050405020304" pitchFamily="18" charset="0"/>
              </a:rPr>
              <a:t>补码定点加减运算的实现</a:t>
            </a:r>
            <a:endParaRPr lang="zh-CN" altLang="en-US" dirty="0">
              <a:latin typeface="Times New Roman" panose="02020603050405020304" pitchFamily="18" charset="0"/>
              <a:ea typeface="Times New Roman" panose="02020603050405020304" pitchFamily="18" charset="0"/>
            </a:endParaRPr>
          </a:p>
        </p:txBody>
      </p:sp>
      <p:sp>
        <p:nvSpPr>
          <p:cNvPr id="62466"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实现补码</a:t>
            </a:r>
            <a:r>
              <a:rPr lang="zh-CN" altLang="en-US" dirty="0">
                <a:solidFill>
                  <a:srgbClr val="FF0000"/>
                </a:solidFill>
                <a:latin typeface="Times New Roman" panose="02020603050405020304" pitchFamily="18" charset="0"/>
              </a:rPr>
              <a:t>加法</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给出</a:t>
            </a:r>
            <a:r>
              <a:rPr lang="en-US" altLang="zh-CN" sz="2400" dirty="0">
                <a:latin typeface="Times New Roman" panose="02020603050405020304" pitchFamily="18" charset="0"/>
              </a:rPr>
              <a:t>X→F</a:t>
            </a:r>
            <a:r>
              <a:rPr lang="zh-CN" altLang="en-US" sz="2400" dirty="0">
                <a:latin typeface="Times New Roman" panose="02020603050405020304" pitchFamily="18" charset="0"/>
              </a:rPr>
              <a:t>、</a:t>
            </a:r>
            <a:r>
              <a:rPr lang="en-US" altLang="zh-CN" sz="2400" dirty="0">
                <a:latin typeface="Times New Roman" panose="02020603050405020304" pitchFamily="18" charset="0"/>
              </a:rPr>
              <a:t>Y→F</a:t>
            </a:r>
            <a:r>
              <a:rPr lang="zh-CN" altLang="en-US" sz="2400" dirty="0">
                <a:latin typeface="Times New Roman" panose="02020603050405020304" pitchFamily="18" charset="0"/>
              </a:rPr>
              <a:t>和</a:t>
            </a:r>
            <a:r>
              <a:rPr lang="en-US" altLang="zh-CN" sz="2400" dirty="0">
                <a:latin typeface="Times New Roman" panose="02020603050405020304" pitchFamily="18" charset="0"/>
              </a:rPr>
              <a:t>F→X</a:t>
            </a:r>
            <a:r>
              <a:rPr lang="zh-CN" altLang="en-US" sz="2400" dirty="0">
                <a:latin typeface="Times New Roman" panose="02020603050405020304" pitchFamily="18" charset="0"/>
              </a:rPr>
              <a:t>三个控制信号；</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打开门</a:t>
            </a:r>
            <a:r>
              <a:rPr lang="en-US" altLang="zh-CN" sz="2400" dirty="0">
                <a:latin typeface="Times New Roman" panose="02020603050405020304" pitchFamily="18" charset="0"/>
              </a:rPr>
              <a:t>A</a:t>
            </a:r>
            <a:r>
              <a:rPr lang="zh-CN" altLang="en-US" sz="2400" dirty="0">
                <a:latin typeface="Times New Roman" panose="02020603050405020304" pitchFamily="18" charset="0"/>
              </a:rPr>
              <a:t>、门</a:t>
            </a:r>
            <a:r>
              <a:rPr lang="en-US" altLang="zh-CN" sz="2400" dirty="0">
                <a:latin typeface="Times New Roman" panose="02020603050405020304" pitchFamily="18" charset="0"/>
              </a:rPr>
              <a:t>B</a:t>
            </a:r>
            <a:r>
              <a:rPr lang="zh-CN" altLang="en-US" sz="2400" dirty="0">
                <a:latin typeface="Times New Roman" panose="02020603050405020304" pitchFamily="18" charset="0"/>
              </a:rPr>
              <a:t>和门</a:t>
            </a:r>
            <a:r>
              <a:rPr lang="en-US" altLang="zh-CN" sz="2400" dirty="0">
                <a:latin typeface="Times New Roman" panose="02020603050405020304" pitchFamily="18" charset="0"/>
              </a:rPr>
              <a:t>C</a:t>
            </a:r>
            <a:r>
              <a:rPr lang="zh-CN" altLang="en-US" sz="2400" dirty="0">
                <a:latin typeface="Times New Roman" panose="02020603050405020304" pitchFamily="18" charset="0"/>
              </a:rPr>
              <a:t>，把寄存器</a:t>
            </a:r>
            <a:r>
              <a:rPr lang="en-US" altLang="zh-CN" sz="2400" dirty="0">
                <a:latin typeface="Times New Roman" panose="02020603050405020304" pitchFamily="18" charset="0"/>
              </a:rPr>
              <a:t>X</a:t>
            </a:r>
            <a:r>
              <a:rPr lang="zh-CN" altLang="en-US" sz="2400" dirty="0">
                <a:latin typeface="Times New Roman" panose="02020603050405020304" pitchFamily="18" charset="0"/>
              </a:rPr>
              <a:t>和寄存器</a:t>
            </a:r>
            <a:r>
              <a:rPr lang="en-US" altLang="zh-CN" sz="2400" dirty="0">
                <a:latin typeface="Times New Roman" panose="02020603050405020304" pitchFamily="18" charset="0"/>
              </a:rPr>
              <a:t>Y</a:t>
            </a:r>
            <a:r>
              <a:rPr lang="zh-CN" altLang="en-US" sz="2400" dirty="0">
                <a:latin typeface="Times New Roman" panose="02020603050405020304" pitchFamily="18" charset="0"/>
              </a:rPr>
              <a:t>的内容送入加法器的两个输入端进行加法运算；</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结果送回，最后由打入脉冲</a:t>
            </a:r>
            <a:r>
              <a:rPr lang="en-US" altLang="zh-CN" sz="2400" dirty="0">
                <a:latin typeface="Times New Roman" panose="02020603050405020304" pitchFamily="18" charset="0"/>
              </a:rPr>
              <a:t>CP</a:t>
            </a:r>
            <a:r>
              <a:rPr lang="en-US" altLang="zh-CN" sz="2400" baseline="-25000" dirty="0">
                <a:latin typeface="Times New Roman" panose="02020603050405020304" pitchFamily="18" charset="0"/>
              </a:rPr>
              <a:t>X</a:t>
            </a:r>
            <a:r>
              <a:rPr lang="zh-CN" altLang="en-US" sz="2400" dirty="0">
                <a:latin typeface="Times New Roman" panose="02020603050405020304" pitchFamily="18" charset="0"/>
              </a:rPr>
              <a:t>打入寄存器</a:t>
            </a:r>
            <a:r>
              <a:rPr lang="en-US" altLang="zh-CN" sz="2400" dirty="0">
                <a:latin typeface="Times New Roman" panose="02020603050405020304" pitchFamily="18" charset="0"/>
              </a:rPr>
              <a:t>X</a:t>
            </a:r>
            <a:r>
              <a:rPr lang="zh-CN" altLang="en-US" sz="2400" dirty="0">
                <a:latin typeface="Times New Roman" panose="02020603050405020304" pitchFamily="18" charset="0"/>
              </a:rPr>
              <a:t>。</a:t>
            </a:r>
            <a:endParaRPr lang="zh-CN" altLang="en-US" dirty="0">
              <a:latin typeface="Times New Roman" panose="02020603050405020304" pitchFamily="18" charset="0"/>
            </a:endParaRPr>
          </a:p>
          <a:p>
            <a:pPr eaLnBrk="1" latinLnBrk="0" hangingPunct="1">
              <a:spcBef>
                <a:spcPts val="2400"/>
              </a:spcBef>
            </a:pPr>
            <a:r>
              <a:rPr lang="zh-CN" altLang="en-US" dirty="0">
                <a:solidFill>
                  <a:srgbClr val="FF0000"/>
                </a:solidFill>
                <a:latin typeface="Times New Roman" panose="02020603050405020304" pitchFamily="18" charset="0"/>
              </a:rPr>
              <a:t>实现减法运算：</a:t>
            </a:r>
            <a:endParaRPr lang="zh-CN" altLang="en-US" dirty="0">
              <a:solidFill>
                <a:srgbClr val="FF0000"/>
              </a:solidFill>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使用  →</a:t>
            </a:r>
            <a:r>
              <a:rPr lang="en-US" altLang="zh-CN" sz="2400" dirty="0">
                <a:latin typeface="Times New Roman" panose="02020603050405020304" pitchFamily="18" charset="0"/>
              </a:rPr>
              <a:t>F</a:t>
            </a:r>
            <a:r>
              <a:rPr lang="zh-CN" altLang="en-US" sz="2400" dirty="0">
                <a:latin typeface="Times New Roman" panose="02020603050405020304" pitchFamily="18" charset="0"/>
              </a:rPr>
              <a:t>和</a:t>
            </a:r>
            <a:r>
              <a:rPr lang="en-US" altLang="zh-CN" sz="2400" dirty="0">
                <a:latin typeface="Times New Roman" panose="02020603050405020304" pitchFamily="18" charset="0"/>
              </a:rPr>
              <a:t>1→F</a:t>
            </a:r>
            <a:r>
              <a:rPr lang="zh-CN" altLang="en-US" sz="2400" dirty="0">
                <a:latin typeface="Times New Roman" panose="02020603050405020304" pitchFamily="18" charset="0"/>
              </a:rPr>
              <a:t>控制信号；</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其余控制信号相同。</a:t>
            </a:r>
            <a:endParaRPr lang="zh-CN" altLang="en-US" sz="2400" dirty="0">
              <a:latin typeface="Times New Roman" panose="02020603050405020304" pitchFamily="18" charset="0"/>
              <a:ea typeface="Times New Roman" panose="02020603050405020304" pitchFamily="18" charset="0"/>
            </a:endParaRPr>
          </a:p>
        </p:txBody>
      </p:sp>
      <p:pic>
        <p:nvPicPr>
          <p:cNvPr id="62467" name="图片 3"/>
          <p:cNvPicPr>
            <a:picLocks noChangeAspect="1"/>
          </p:cNvPicPr>
          <p:nvPr/>
        </p:nvPicPr>
        <p:blipFill>
          <a:blip r:embed="rId1"/>
          <a:stretch>
            <a:fillRect/>
          </a:stretch>
        </p:blipFill>
        <p:spPr>
          <a:xfrm>
            <a:off x="1890713" y="4791075"/>
            <a:ext cx="331787" cy="414338"/>
          </a:xfrm>
          <a:prstGeom prst="rect">
            <a:avLst/>
          </a:prstGeom>
          <a:noFill/>
          <a:ln w="9525">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451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4.3 </a:t>
            </a:r>
            <a:r>
              <a:rPr lang="zh-CN" altLang="en-US" dirty="0">
                <a:latin typeface="Times New Roman" panose="02020603050405020304" pitchFamily="18" charset="0"/>
              </a:rPr>
              <a:t>带符号数的移位和舍入操作</a:t>
            </a:r>
            <a:endParaRPr lang="zh-CN" altLang="en-US" dirty="0">
              <a:latin typeface="Times New Roman" panose="02020603050405020304" pitchFamily="18" charset="0"/>
              <a:ea typeface="Times New Roman" panose="02020603050405020304" pitchFamily="18" charset="0"/>
            </a:endParaRPr>
          </a:p>
        </p:txBody>
      </p:sp>
      <p:sp>
        <p:nvSpPr>
          <p:cNvPr id="64514" name="内容占位符 2"/>
          <p:cNvSpPr>
            <a:spLocks noGrp="1"/>
          </p:cNvSpPr>
          <p:nvPr>
            <p:ph idx="1"/>
          </p:nvPr>
        </p:nvSpPr>
        <p:spPr>
          <a:xfrm>
            <a:off x="457200" y="1600200"/>
            <a:ext cx="8229600" cy="4852988"/>
          </a:xfrm>
          <a:noFill/>
          <a:ln>
            <a:noFill/>
          </a:ln>
        </p:spPr>
        <p:txBody>
          <a:bodyPr anchor="t" anchorCtr="0"/>
          <a:p>
            <a:pPr eaLnBrk="1" hangingPunct="1"/>
            <a:r>
              <a:rPr lang="zh-CN" altLang="en-US" dirty="0">
                <a:latin typeface="Times New Roman" panose="02020603050405020304" pitchFamily="18" charset="0"/>
              </a:rPr>
              <a:t>在计算机中，实现乘除运算的方案通常有</a:t>
            </a:r>
            <a:r>
              <a:rPr lang="en-US" altLang="zh-CN" dirty="0">
                <a:latin typeface="Times New Roman" panose="02020603050405020304" pitchFamily="18" charset="0"/>
              </a:rPr>
              <a:t>3</a:t>
            </a:r>
            <a:r>
              <a:rPr lang="zh-CN" altLang="en-US" dirty="0">
                <a:latin typeface="Times New Roman" panose="02020603050405020304" pitchFamily="18" charset="0"/>
              </a:rPr>
              <a:t>种：</a:t>
            </a:r>
            <a:endParaRPr lang="zh-CN" altLang="en-US"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⑴ 软件实现，无乘除运算指令，用子程序来实现。</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⑵ </a:t>
            </a:r>
            <a:r>
              <a:rPr lang="zh-CN" altLang="en-US" sz="2400" dirty="0">
                <a:solidFill>
                  <a:srgbClr val="FF0000"/>
                </a:solidFill>
                <a:latin typeface="Times New Roman" panose="02020603050405020304" pitchFamily="18" charset="0"/>
              </a:rPr>
              <a:t>使乘除运算变换成加减和移位操作</a:t>
            </a:r>
            <a:r>
              <a:rPr lang="zh-CN" altLang="en-US" sz="2400" dirty="0">
                <a:latin typeface="Times New Roman" panose="02020603050405020304" pitchFamily="18" charset="0"/>
              </a:rPr>
              <a:t>，设有乘除指令。</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⑶ 设置专用的乘、除法器，设有相应的乘除指令。</a:t>
            </a:r>
            <a:endParaRPr lang="zh-CN" altLang="en-US" sz="2400" dirty="0">
              <a:latin typeface="Times New Roman" panose="02020603050405020304" pitchFamily="18" charset="0"/>
            </a:endParaRPr>
          </a:p>
          <a:p>
            <a:pPr eaLnBrk="1" latinLnBrk="0" hangingPunct="1">
              <a:spcBef>
                <a:spcPts val="2400"/>
              </a:spcBef>
            </a:pPr>
            <a:r>
              <a:rPr lang="zh-CN" altLang="en-US" dirty="0">
                <a:latin typeface="Times New Roman" panose="02020603050405020304" pitchFamily="18" charset="0"/>
              </a:rPr>
              <a:t>不管采用什么方案实现，基本原理是相同的。</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656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4.3.1 </a:t>
            </a:r>
            <a:r>
              <a:rPr lang="zh-CN" altLang="en-US" dirty="0">
                <a:latin typeface="Times New Roman" panose="02020603050405020304" pitchFamily="18" charset="0"/>
              </a:rPr>
              <a:t>带符号数的移位操作 </a:t>
            </a:r>
            <a:endParaRPr lang="zh-CN" altLang="en-US" dirty="0">
              <a:latin typeface="Times New Roman" panose="02020603050405020304" pitchFamily="18" charset="0"/>
              <a:ea typeface="Times New Roman" panose="02020603050405020304" pitchFamily="18" charset="0"/>
            </a:endParaRPr>
          </a:p>
        </p:txBody>
      </p:sp>
      <p:sp>
        <p:nvSpPr>
          <p:cNvPr id="3" name="内容占位符 2"/>
          <p:cNvSpPr>
            <a:spLocks noGrp="1"/>
          </p:cNvSpPr>
          <p:nvPr>
            <p:ph idx="1"/>
          </p:nvPr>
        </p:nvSpPr>
        <p:spPr/>
        <p:txBody>
          <a:body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1.</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原码的移位规则</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不论正负，</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符号位均不变</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，空出位一律补“</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负数的原码移位前后结果为：</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100000"/>
              </a:lnSpc>
              <a:spcBef>
                <a:spcPts val="18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左移：移位前有：</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n</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移位后有：</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0</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100000"/>
              </a:lnSpc>
              <a:spcBef>
                <a:spcPts val="12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右移：移位前有：</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n</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移位后有：</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0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860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2.</a:t>
            </a:r>
            <a:r>
              <a:rPr lang="zh-CN" altLang="en-US" dirty="0">
                <a:latin typeface="Times New Roman" panose="02020603050405020304" pitchFamily="18" charset="0"/>
              </a:rPr>
              <a:t>补码的移位规则 </a:t>
            </a:r>
            <a:endParaRPr lang="zh-CN" altLang="en-US" dirty="0">
              <a:latin typeface="Times New Roman" panose="02020603050405020304" pitchFamily="18" charset="0"/>
              <a:ea typeface="Times New Roman" panose="02020603050405020304" pitchFamily="18" charset="0"/>
            </a:endParaRPr>
          </a:p>
        </p:txBody>
      </p:sp>
      <p:sp>
        <p:nvSpPr>
          <p:cNvPr id="62467" name="内容占位符 2"/>
          <p:cNvSpPr>
            <a:spLocks noGrp="1"/>
          </p:cNvSpPr>
          <p:nvPr>
            <p:ph idx="1"/>
          </p:nvPr>
        </p:nvSpPr>
        <p:spPr bwMode="auto">
          <a:xfrm>
            <a:off x="457200" y="1417638"/>
            <a:ext cx="8229600" cy="4708525"/>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⑴正数</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符号位不变</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，空出位一律以“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补入。</a:t>
            </a: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ts val="18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⑵负数</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符号位不变</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，左移补“</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右移补“</a:t>
            </a:r>
            <a:r>
              <a:rPr kumimoji="0" lang="en-US" altLang="zh-CN"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800"/>
              </a:spcBef>
              <a:spcAft>
                <a:spcPct val="0"/>
              </a:spcAft>
              <a:buClr>
                <a:schemeClr val="tx1"/>
              </a:buClr>
              <a:buSzTx/>
              <a:buFontTx/>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左移：移位前有：</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n</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2" indent="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移位后有：</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3</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0</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228600" algn="l" defTabSz="914400" rtl="0" eaLnBrk="1" fontAlgn="base" latinLnBrk="0" hangingPunct="1">
              <a:lnSpc>
                <a:spcPct val="100000"/>
              </a:lnSpc>
              <a:spcBef>
                <a:spcPts val="1200"/>
              </a:spcBef>
              <a:spcAft>
                <a:spcPct val="0"/>
              </a:spcAft>
              <a:buClr>
                <a:schemeClr val="tx1"/>
              </a:buClr>
              <a:buSzTx/>
              <a:buFontTx/>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右移：移位前有：</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n</a:t>
            </a:r>
            <a:endPar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2" indent="0" algn="l" defTabSz="914400" rtl="0" eaLnBrk="1" fontAlgn="base" latinLnBrk="0" hangingPunct="1">
              <a:lnSpc>
                <a:spcPct val="100000"/>
              </a:lnSpc>
              <a:spcBef>
                <a:spcPct val="20000"/>
              </a:spcBef>
              <a:spcAft>
                <a:spcPct val="0"/>
              </a:spcAft>
              <a:buClr>
                <a:schemeClr val="tx1"/>
              </a:buClr>
              <a:buSzTx/>
              <a:buFontTx/>
              <a:buNone/>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移位后有：</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1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n-2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0657"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3.</a:t>
            </a:r>
            <a:r>
              <a:rPr lang="zh-CN" altLang="en-US" dirty="0">
                <a:latin typeface="Times New Roman" panose="02020603050405020304" pitchFamily="18" charset="0"/>
              </a:rPr>
              <a:t>移位功能的实现 </a:t>
            </a:r>
            <a:endParaRPr lang="zh-CN" altLang="en-US" dirty="0">
              <a:latin typeface="Times New Roman" panose="02020603050405020304" pitchFamily="18" charset="0"/>
              <a:ea typeface="Times New Roman" panose="02020603050405020304" pitchFamily="18" charset="0"/>
            </a:endParaRPr>
          </a:p>
        </p:txBody>
      </p:sp>
      <p:sp>
        <p:nvSpPr>
          <p:cNvPr id="70658"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通常移位操作由</a:t>
            </a:r>
            <a:r>
              <a:rPr lang="zh-CN" altLang="en-US" dirty="0">
                <a:solidFill>
                  <a:srgbClr val="FF0000"/>
                </a:solidFill>
                <a:latin typeface="Times New Roman" panose="02020603050405020304" pitchFamily="18" charset="0"/>
              </a:rPr>
              <a:t>移位寄存器</a:t>
            </a:r>
            <a:r>
              <a:rPr lang="zh-CN" altLang="en-US" dirty="0">
                <a:latin typeface="Times New Roman" panose="02020603050405020304" pitchFamily="18" charset="0"/>
              </a:rPr>
              <a:t>来实现；</a:t>
            </a:r>
            <a:endParaRPr lang="zh-CN" altLang="en-US" dirty="0">
              <a:latin typeface="Times New Roman" panose="02020603050405020304" pitchFamily="18" charset="0"/>
            </a:endParaRPr>
          </a:p>
          <a:p>
            <a:pPr eaLnBrk="1" latinLnBrk="0" hangingPunct="1">
              <a:spcBef>
                <a:spcPts val="2400"/>
              </a:spcBef>
            </a:pPr>
            <a:r>
              <a:rPr lang="zh-CN" altLang="en-US" dirty="0">
                <a:latin typeface="Times New Roman" panose="02020603050405020304" pitchFamily="18" charset="0"/>
              </a:rPr>
              <a:t>或在加法器的输出端加一个移位器：</a:t>
            </a:r>
            <a:endParaRPr lang="en-US" altLang="zh-CN"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移位器是由</a:t>
            </a:r>
            <a:r>
              <a:rPr lang="zh-CN" altLang="en-US" sz="2400" dirty="0">
                <a:solidFill>
                  <a:srgbClr val="FF0000"/>
                </a:solidFill>
                <a:latin typeface="Times New Roman" panose="02020603050405020304" pitchFamily="18" charset="0"/>
              </a:rPr>
              <a:t>与门和或门组成的逻辑电路</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可以实现不移位、左移一位和右移一位的功能。</a:t>
            </a:r>
            <a:endParaRPr lang="zh-CN" altLang="en-US" sz="2400" dirty="0">
              <a:latin typeface="Times New Roman" panose="02020603050405020304" pitchFamily="18" charset="0"/>
            </a:endParaRPr>
          </a:p>
          <a:p>
            <a:pPr eaLnBrk="1" hangingPunct="1"/>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681"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4.3.2 </a:t>
            </a:r>
            <a:r>
              <a:rPr lang="zh-CN" altLang="en-US" dirty="0">
                <a:latin typeface="Times New Roman" panose="02020603050405020304" pitchFamily="18" charset="0"/>
              </a:rPr>
              <a:t>带符号数的舍入操作 </a:t>
            </a:r>
            <a:endParaRPr lang="zh-CN" altLang="en-US" dirty="0">
              <a:latin typeface="Times New Roman" panose="02020603050405020304" pitchFamily="18" charset="0"/>
              <a:ea typeface="Times New Roman" panose="02020603050405020304" pitchFamily="18" charset="0"/>
            </a:endParaRPr>
          </a:p>
        </p:txBody>
      </p:sp>
      <p:sp>
        <p:nvSpPr>
          <p:cNvPr id="71682"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舍入处理：</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算术右移时，结果可能需要舍去一定的尾数；</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为了缩小误差，就要进行舍入处理。</a:t>
            </a:r>
            <a:endParaRPr lang="en-US" altLang="zh-CN" dirty="0">
              <a:latin typeface="Times New Roman" panose="02020603050405020304" pitchFamily="18" charset="0"/>
            </a:endParaRPr>
          </a:p>
          <a:p>
            <a:pPr eaLnBrk="1" latinLnBrk="0" hangingPunct="1">
              <a:spcBef>
                <a:spcPts val="2400"/>
              </a:spcBef>
            </a:pPr>
            <a:r>
              <a:rPr lang="zh-CN" altLang="en-US" dirty="0">
                <a:latin typeface="Times New Roman" panose="02020603050405020304" pitchFamily="18" charset="0"/>
              </a:rPr>
              <a:t>设经过运算后的数共</a:t>
            </a:r>
            <a:r>
              <a:rPr lang="en-US" altLang="zh-CN" dirty="0">
                <a:latin typeface="Times New Roman" panose="02020603050405020304" pitchFamily="18" charset="0"/>
              </a:rPr>
              <a:t>p+q</a:t>
            </a:r>
            <a:r>
              <a:rPr lang="zh-CN" altLang="en-US" dirty="0">
                <a:latin typeface="Times New Roman" panose="02020603050405020304" pitchFamily="18" charset="0"/>
              </a:rPr>
              <a:t>位，现允许保留前</a:t>
            </a:r>
            <a:r>
              <a:rPr lang="en-US" altLang="zh-CN" dirty="0">
                <a:latin typeface="Times New Roman" panose="02020603050405020304" pitchFamily="18" charset="0"/>
              </a:rPr>
              <a:t>p</a:t>
            </a:r>
            <a:r>
              <a:rPr lang="zh-CN" altLang="en-US" dirty="0">
                <a:latin typeface="Times New Roman" panose="02020603050405020304" pitchFamily="18" charset="0"/>
              </a:rPr>
              <a:t>位：</a:t>
            </a:r>
            <a:endParaRPr lang="zh-CN" altLang="en-US" dirty="0">
              <a:latin typeface="Times New Roman" panose="02020603050405020304" pitchFamily="18" charset="0"/>
            </a:endParaRPr>
          </a:p>
          <a:p>
            <a:pPr lvl="1" eaLnBrk="1" latinLnBrk="0" hangingPunct="1">
              <a:spcBef>
                <a:spcPts val="2400"/>
              </a:spcBef>
            </a:pPr>
            <a:r>
              <a:rPr lang="zh-CN" altLang="en-US" dirty="0">
                <a:latin typeface="Times New Roman" panose="02020603050405020304" pitchFamily="18" charset="0"/>
              </a:rPr>
              <a:t>⑴恒舍（切断）</a:t>
            </a:r>
            <a:endParaRPr lang="zh-CN" altLang="en-US" dirty="0">
              <a:latin typeface="Times New Roman" panose="02020603050405020304" pitchFamily="18" charset="0"/>
            </a:endParaRPr>
          </a:p>
          <a:p>
            <a:pPr lvl="2" eaLnBrk="1" latinLnBrk="0" hangingPunct="1">
              <a:spcBef>
                <a:spcPts val="1200"/>
              </a:spcBef>
            </a:pPr>
            <a:r>
              <a:rPr lang="zh-CN" altLang="en-US" dirty="0">
                <a:solidFill>
                  <a:srgbClr val="FF0000"/>
                </a:solidFill>
                <a:latin typeface="Times New Roman" panose="02020603050405020304" pitchFamily="18" charset="0"/>
              </a:rPr>
              <a:t>一律舍去</a:t>
            </a:r>
            <a:r>
              <a:rPr lang="zh-CN" altLang="en-US" dirty="0">
                <a:latin typeface="Times New Roman" panose="02020603050405020304" pitchFamily="18" charset="0"/>
              </a:rPr>
              <a:t>多余的q位，保留部分的</a:t>
            </a:r>
            <a:r>
              <a:rPr lang="en-US" altLang="zh-CN" dirty="0">
                <a:latin typeface="Times New Roman" panose="02020603050405020304" pitchFamily="18" charset="0"/>
              </a:rPr>
              <a:t>p</a:t>
            </a:r>
            <a:r>
              <a:rPr lang="zh-CN" altLang="en-US" dirty="0">
                <a:latin typeface="Times New Roman" panose="02020603050405020304" pitchFamily="18" charset="0"/>
              </a:rPr>
              <a:t>位不作任何改变。</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3729"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4.3.2 </a:t>
            </a:r>
            <a:r>
              <a:rPr lang="zh-CN" altLang="en-US" dirty="0">
                <a:latin typeface="Times New Roman" panose="02020603050405020304" pitchFamily="18" charset="0"/>
              </a:rPr>
              <a:t>带符号数的舍入操作（续）</a:t>
            </a:r>
            <a:endParaRPr lang="zh-CN" altLang="en-US" dirty="0">
              <a:latin typeface="Times New Roman" panose="02020603050405020304" pitchFamily="18" charset="0"/>
              <a:ea typeface="Times New Roman" panose="02020603050405020304" pitchFamily="18" charset="0"/>
            </a:endParaRPr>
          </a:p>
        </p:txBody>
      </p:sp>
      <p:sp>
        <p:nvSpPr>
          <p:cNvPr id="73730" name="内容占位符 2"/>
          <p:cNvSpPr>
            <a:spLocks noGrp="1"/>
          </p:cNvSpPr>
          <p:nvPr>
            <p:ph idx="1"/>
          </p:nvPr>
        </p:nvSpPr>
        <p:spPr>
          <a:noFill/>
          <a:ln>
            <a:noFill/>
          </a:ln>
        </p:spPr>
        <p:txBody>
          <a:bodyPr anchor="t" anchorCtr="0"/>
          <a:p>
            <a:pPr eaLnBrk="1" hangingPunct="1"/>
            <a:r>
              <a:rPr lang="zh-CN" altLang="en-US" dirty="0">
                <a:latin typeface="Times New Roman" panose="02020603050405020304" pitchFamily="18" charset="0"/>
              </a:rPr>
              <a:t>⑵冯</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rPr>
              <a:t>诺依曼舍入法</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又称为</a:t>
            </a:r>
            <a:r>
              <a:rPr lang="zh-CN" altLang="en-US" sz="2400" dirty="0">
                <a:solidFill>
                  <a:srgbClr val="FF0000"/>
                </a:solidFill>
                <a:latin typeface="Times New Roman" panose="02020603050405020304" pitchFamily="18" charset="0"/>
              </a:rPr>
              <a:t>恒置</a:t>
            </a:r>
            <a:r>
              <a:rPr lang="en-US" altLang="zh-CN" sz="2400" dirty="0">
                <a:solidFill>
                  <a:srgbClr val="FF0000"/>
                </a:solidFill>
                <a:latin typeface="Times New Roman" panose="02020603050405020304" pitchFamily="18" charset="0"/>
              </a:rPr>
              <a:t>1</a:t>
            </a:r>
            <a:r>
              <a:rPr lang="zh-CN" altLang="en-US" sz="2400" dirty="0">
                <a:solidFill>
                  <a:srgbClr val="FF0000"/>
                </a:solidFill>
                <a:latin typeface="Times New Roman" panose="02020603050405020304" pitchFamily="18" charset="0"/>
              </a:rPr>
              <a:t>法</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保留部分</a:t>
            </a:r>
            <a:r>
              <a:rPr lang="en-US" altLang="zh-CN" sz="2400" dirty="0">
                <a:latin typeface="Times New Roman" panose="02020603050405020304" pitchFamily="18" charset="0"/>
              </a:rPr>
              <a:t>p</a:t>
            </a:r>
            <a:r>
              <a:rPr lang="zh-CN" altLang="en-US" sz="2400" dirty="0">
                <a:latin typeface="Times New Roman" panose="02020603050405020304" pitchFamily="18" charset="0"/>
              </a:rPr>
              <a:t>位的最低位置</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endParaRPr lang="zh-CN" altLang="en-US" dirty="0">
              <a:latin typeface="Times New Roman" panose="02020603050405020304" pitchFamily="18" charset="0"/>
            </a:endParaRPr>
          </a:p>
          <a:p>
            <a:pPr eaLnBrk="1" hangingPunct="1">
              <a:spcBef>
                <a:spcPts val="1800"/>
              </a:spcBef>
            </a:pPr>
            <a:r>
              <a:rPr lang="zh-CN" altLang="en-US" dirty="0">
                <a:latin typeface="Times New Roman" panose="02020603050405020304" pitchFamily="18" charset="0"/>
              </a:rPr>
              <a:t>⑶下舍上入法</a:t>
            </a:r>
            <a:endParaRPr lang="zh-CN" altLang="en-US"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就是</a:t>
            </a:r>
            <a:r>
              <a:rPr lang="en-US" altLang="zh-CN" sz="2400" dirty="0">
                <a:solidFill>
                  <a:srgbClr val="FF0000"/>
                </a:solidFill>
                <a:latin typeface="Times New Roman" panose="02020603050405020304" pitchFamily="18" charset="0"/>
              </a:rPr>
              <a:t>0</a:t>
            </a:r>
            <a:r>
              <a:rPr lang="zh-CN" altLang="en-US" sz="2400" dirty="0">
                <a:solidFill>
                  <a:srgbClr val="FF0000"/>
                </a:solidFill>
                <a:latin typeface="Times New Roman" panose="02020603050405020304" pitchFamily="18" charset="0"/>
              </a:rPr>
              <a:t>舍</a:t>
            </a:r>
            <a:r>
              <a:rPr lang="en-US" altLang="zh-CN" sz="2400" dirty="0">
                <a:solidFill>
                  <a:srgbClr val="FF0000"/>
                </a:solidFill>
                <a:latin typeface="Times New Roman" panose="02020603050405020304" pitchFamily="18" charset="0"/>
              </a:rPr>
              <a:t>1</a:t>
            </a:r>
            <a:r>
              <a:rPr lang="zh-CN" altLang="en-US" sz="2400" dirty="0">
                <a:solidFill>
                  <a:srgbClr val="FF0000"/>
                </a:solidFill>
                <a:latin typeface="Times New Roman" panose="02020603050405020304" pitchFamily="18" charset="0"/>
              </a:rPr>
              <a:t>入</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eaLnBrk="1" latinLnBrk="0" hangingPunct="1">
              <a:spcBef>
                <a:spcPts val="1200"/>
              </a:spcBef>
            </a:pPr>
            <a:r>
              <a:rPr lang="zh-CN" altLang="en-US" sz="2400" dirty="0">
                <a:latin typeface="Times New Roman" panose="02020603050405020304" pitchFamily="18" charset="0"/>
              </a:rPr>
              <a:t>以要舍去的</a:t>
            </a:r>
            <a:r>
              <a:rPr lang="en-US" altLang="zh-CN" sz="2400" dirty="0">
                <a:latin typeface="Times New Roman" panose="02020603050405020304" pitchFamily="18" charset="0"/>
              </a:rPr>
              <a:t>q</a:t>
            </a:r>
            <a:r>
              <a:rPr lang="zh-CN" altLang="en-US" sz="2400" dirty="0">
                <a:latin typeface="Times New Roman" panose="02020603050405020304" pitchFamily="18" charset="0"/>
              </a:rPr>
              <a:t>位的最高位作为判断标志：</a:t>
            </a:r>
            <a:endParaRPr lang="zh-CN" altLang="en-US"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如该位为</a:t>
            </a:r>
            <a:r>
              <a:rPr lang="en-US" altLang="zh-CN" dirty="0">
                <a:latin typeface="Times New Roman" panose="02020603050405020304" pitchFamily="18" charset="0"/>
              </a:rPr>
              <a:t>0</a:t>
            </a:r>
            <a:r>
              <a:rPr lang="zh-CN" altLang="en-US" dirty="0">
                <a:latin typeface="Times New Roman" panose="02020603050405020304" pitchFamily="18" charset="0"/>
              </a:rPr>
              <a:t>，则舍去整个</a:t>
            </a:r>
            <a:r>
              <a:rPr lang="en-US" altLang="zh-CN" dirty="0">
                <a:latin typeface="Times New Roman" panose="02020603050405020304" pitchFamily="18" charset="0"/>
              </a:rPr>
              <a:t>q</a:t>
            </a:r>
            <a:r>
              <a:rPr lang="zh-CN" altLang="en-US" dirty="0">
                <a:latin typeface="Times New Roman" panose="02020603050405020304" pitchFamily="18" charset="0"/>
              </a:rPr>
              <a:t>位（相当于恒舍）；</a:t>
            </a:r>
            <a:endParaRPr lang="zh-CN" altLang="en-US"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如该位为</a:t>
            </a:r>
            <a:r>
              <a:rPr lang="en-US" altLang="zh-CN" dirty="0">
                <a:latin typeface="Times New Roman" panose="02020603050405020304" pitchFamily="18" charset="0"/>
              </a:rPr>
              <a:t>1</a:t>
            </a:r>
            <a:r>
              <a:rPr lang="zh-CN" altLang="en-US" dirty="0">
                <a:latin typeface="Times New Roman" panose="02020603050405020304" pitchFamily="18" charset="0"/>
              </a:rPr>
              <a:t>，则在保留的</a:t>
            </a:r>
            <a:r>
              <a:rPr lang="en-US" altLang="zh-CN" dirty="0">
                <a:latin typeface="Times New Roman" panose="02020603050405020304" pitchFamily="18" charset="0"/>
              </a:rPr>
              <a:t>p</a:t>
            </a:r>
            <a:r>
              <a:rPr lang="zh-CN" altLang="en-US" dirty="0">
                <a:latin typeface="Times New Roman" panose="02020603050405020304" pitchFamily="18" charset="0"/>
              </a:rPr>
              <a:t>位的最低位上加</a:t>
            </a:r>
            <a:r>
              <a:rPr lang="en-US" altLang="zh-CN" dirty="0">
                <a:latin typeface="Times New Roman" panose="02020603050405020304" pitchFamily="18" charset="0"/>
              </a:rPr>
              <a:t>1</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4753" name="标题 1"/>
          <p:cNvSpPr>
            <a:spLocks noGrp="1"/>
          </p:cNvSpPr>
          <p:nvPr>
            <p:ph type="title"/>
          </p:nvPr>
        </p:nvSpPr>
        <p:spPr>
          <a:noFill/>
          <a:ln>
            <a:noFill/>
          </a:ln>
        </p:spPr>
        <p:txBody>
          <a:bodyPr anchor="t" anchorCtr="0"/>
          <a:p>
            <a:pPr eaLnBrk="1" hangingPunct="1"/>
            <a:r>
              <a:rPr lang="en-US" altLang="zh-CN" dirty="0">
                <a:latin typeface="Times New Roman" panose="02020603050405020304" pitchFamily="18" charset="0"/>
              </a:rPr>
              <a:t>4.3.2 </a:t>
            </a:r>
            <a:r>
              <a:rPr lang="zh-CN" altLang="en-US" dirty="0">
                <a:latin typeface="Times New Roman" panose="02020603050405020304" pitchFamily="18" charset="0"/>
              </a:rPr>
              <a:t>带符号数的舍入操作（续）</a:t>
            </a:r>
            <a:endParaRPr lang="zh-CN" altLang="en-US" dirty="0">
              <a:latin typeface="Times New Roman" panose="02020603050405020304" pitchFamily="18" charset="0"/>
              <a:ea typeface="Times New Roman" panose="02020603050405020304" pitchFamily="18" charset="0"/>
            </a:endParaRPr>
          </a:p>
        </p:txBody>
      </p:sp>
      <p:sp>
        <p:nvSpPr>
          <p:cNvPr id="74754" name="内容占位符 2"/>
          <p:cNvSpPr>
            <a:spLocks noGrp="1"/>
          </p:cNvSpPr>
          <p:nvPr>
            <p:ph idx="1"/>
          </p:nvPr>
        </p:nvSpPr>
        <p:spPr>
          <a:xfrm>
            <a:off x="457200" y="1484313"/>
            <a:ext cx="8229600" cy="4525962"/>
          </a:xfrm>
          <a:noFill/>
          <a:ln>
            <a:noFill/>
          </a:ln>
        </p:spPr>
        <p:txBody>
          <a:bodyPr anchor="t" anchorCtr="0"/>
          <a:p>
            <a:pPr eaLnBrk="1" hangingPunct="1"/>
            <a:r>
              <a:rPr lang="zh-CN" altLang="en-US" dirty="0">
                <a:latin typeface="Times New Roman" panose="02020603050405020304" pitchFamily="18" charset="0"/>
              </a:rPr>
              <a:t>⑷查表舍入法</a:t>
            </a:r>
            <a:endParaRPr lang="zh-CN" altLang="en-US"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又称</a:t>
            </a:r>
            <a:r>
              <a:rPr lang="en-US" altLang="zh-CN" sz="2400" dirty="0">
                <a:latin typeface="Times New Roman" panose="02020603050405020304" pitchFamily="18" charset="0"/>
              </a:rPr>
              <a:t>ROM</a:t>
            </a:r>
            <a:r>
              <a:rPr lang="zh-CN" altLang="en-US" sz="2400" dirty="0">
                <a:latin typeface="Times New Roman" panose="02020603050405020304" pitchFamily="18" charset="0"/>
              </a:rPr>
              <a:t>舍入法；</a:t>
            </a:r>
            <a:endParaRPr lang="zh-CN" altLang="en-US" sz="2400" dirty="0">
              <a:latin typeface="Times New Roman" panose="02020603050405020304" pitchFamily="18" charset="0"/>
            </a:endParaRPr>
          </a:p>
          <a:p>
            <a:pPr lvl="1" eaLnBrk="1" hangingPunct="1">
              <a:spcBef>
                <a:spcPts val="1800"/>
              </a:spcBef>
            </a:pPr>
            <a:r>
              <a:rPr lang="zh-CN" altLang="en-US" sz="2400" dirty="0">
                <a:latin typeface="Times New Roman" panose="02020603050405020304" pitchFamily="18" charset="0"/>
              </a:rPr>
              <a:t>用</a:t>
            </a:r>
            <a:r>
              <a:rPr lang="en-US" altLang="zh-CN" sz="2400" dirty="0">
                <a:latin typeface="Times New Roman" panose="02020603050405020304" pitchFamily="18" charset="0"/>
              </a:rPr>
              <a:t>ROM</a:t>
            </a:r>
            <a:r>
              <a:rPr lang="zh-CN" altLang="en-US" sz="2400" dirty="0">
                <a:latin typeface="Times New Roman" panose="02020603050405020304" pitchFamily="18" charset="0"/>
              </a:rPr>
              <a:t>来存放舍入处理表，查表获得处理结果；</a:t>
            </a:r>
            <a:endParaRPr lang="en-US" altLang="zh-CN" sz="2400" dirty="0">
              <a:latin typeface="Times New Roman" panose="02020603050405020304" pitchFamily="18" charset="0"/>
            </a:endParaRPr>
          </a:p>
          <a:p>
            <a:pPr lvl="1" eaLnBrk="1" hangingPunct="1">
              <a:spcBef>
                <a:spcPts val="1800"/>
              </a:spcBef>
            </a:pPr>
            <a:r>
              <a:rPr lang="en-US" altLang="zh-CN" sz="2400" dirty="0">
                <a:latin typeface="Times New Roman" panose="02020603050405020304" pitchFamily="18" charset="0"/>
              </a:rPr>
              <a:t>ROM</a:t>
            </a:r>
            <a:r>
              <a:rPr lang="zh-CN" altLang="en-US" sz="2400" dirty="0">
                <a:latin typeface="Times New Roman" panose="02020603050405020304" pitchFamily="18" charset="0"/>
              </a:rPr>
              <a:t>表容量为</a:t>
            </a:r>
            <a:r>
              <a:rPr lang="en-US" altLang="zh-CN" sz="2400" dirty="0">
                <a:latin typeface="Times New Roman" panose="02020603050405020304" pitchFamily="18" charset="0"/>
              </a:rPr>
              <a:t>2</a:t>
            </a:r>
            <a:r>
              <a:rPr lang="en-US" altLang="zh-CN" sz="2400" baseline="30000" dirty="0">
                <a:latin typeface="Times New Roman" panose="02020603050405020304" pitchFamily="18" charset="0"/>
              </a:rPr>
              <a:t>K</a:t>
            </a:r>
            <a:r>
              <a:rPr lang="zh-CN" altLang="en-US" sz="2400" dirty="0">
                <a:latin typeface="Times New Roman" panose="02020603050405020304" pitchFamily="18" charset="0"/>
              </a:rPr>
              <a:t>个单元，单元字长为</a:t>
            </a:r>
            <a:r>
              <a:rPr lang="en-US" altLang="zh-CN" sz="2400" dirty="0">
                <a:latin typeface="Times New Roman" panose="02020603050405020304" pitchFamily="18" charset="0"/>
              </a:rPr>
              <a:t>K-1</a:t>
            </a:r>
            <a:r>
              <a:rPr lang="zh-CN" altLang="en-US" sz="2400" dirty="0">
                <a:latin typeface="Times New Roman" panose="02020603050405020304" pitchFamily="18" charset="0"/>
              </a:rPr>
              <a:t>位：</a:t>
            </a:r>
            <a:endParaRPr lang="en-US" altLang="zh-CN"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当</a:t>
            </a:r>
            <a:r>
              <a:rPr lang="en-US" altLang="zh-CN" dirty="0">
                <a:latin typeface="Times New Roman" panose="02020603050405020304" pitchFamily="18" charset="0"/>
              </a:rPr>
              <a:t>K</a:t>
            </a:r>
            <a:r>
              <a:rPr lang="zh-CN" altLang="en-US" dirty="0">
                <a:latin typeface="Times New Roman" panose="02020603050405020304" pitchFamily="18" charset="0"/>
              </a:rPr>
              <a:t>位数据的高</a:t>
            </a:r>
            <a:r>
              <a:rPr lang="en-US" altLang="zh-CN" dirty="0">
                <a:latin typeface="Times New Roman" panose="02020603050405020304" pitchFamily="18" charset="0"/>
              </a:rPr>
              <a:t>K-1</a:t>
            </a:r>
            <a:r>
              <a:rPr lang="zh-CN" altLang="en-US" dirty="0">
                <a:latin typeface="Times New Roman" panose="02020603050405020304" pitchFamily="18" charset="0"/>
              </a:rPr>
              <a:t>位为全“</a:t>
            </a:r>
            <a:r>
              <a:rPr lang="en-US" altLang="zh-CN" dirty="0">
                <a:latin typeface="Times New Roman" panose="02020603050405020304" pitchFamily="18" charset="0"/>
              </a:rPr>
              <a:t>1”</a:t>
            </a:r>
            <a:r>
              <a:rPr lang="zh-CN" altLang="en-US" dirty="0">
                <a:latin typeface="Times New Roman" panose="02020603050405020304" pitchFamily="18" charset="0"/>
              </a:rPr>
              <a:t>时，按恒舍法；</a:t>
            </a:r>
            <a:endParaRPr lang="en-US" altLang="zh-CN" dirty="0">
              <a:latin typeface="Times New Roman" panose="02020603050405020304" pitchFamily="18" charset="0"/>
            </a:endParaRPr>
          </a:p>
          <a:p>
            <a:pPr lvl="2" eaLnBrk="1" latinLnBrk="0" hangingPunct="1">
              <a:spcBef>
                <a:spcPts val="1200"/>
              </a:spcBef>
            </a:pPr>
            <a:r>
              <a:rPr lang="zh-CN" altLang="en-US" dirty="0">
                <a:latin typeface="Times New Roman" panose="02020603050405020304" pitchFamily="18" charset="0"/>
              </a:rPr>
              <a:t>其余单元都按下舍上入法来填其内容。</a:t>
            </a:r>
            <a:endParaRPr lang="zh-CN" altLang="en-US" dirty="0">
              <a:latin typeface="Times New Roman" panose="02020603050405020304" pitchFamily="18" charset="0"/>
            </a:endParaRPr>
          </a:p>
          <a:p>
            <a:pPr eaLnBrk="1" hangingPunct="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5777" name="标题 1"/>
          <p:cNvSpPr>
            <a:spLocks noGrp="1"/>
          </p:cNvSpPr>
          <p:nvPr>
            <p:ph type="title"/>
          </p:nvPr>
        </p:nvSpPr>
        <p:spPr>
          <a:xfrm>
            <a:off x="457200" y="274638"/>
            <a:ext cx="8229600" cy="706437"/>
          </a:xfrm>
          <a:noFill/>
          <a:ln>
            <a:noFill/>
          </a:ln>
        </p:spPr>
        <p:txBody>
          <a:bodyPr anchor="t" anchorCtr="0"/>
          <a:p>
            <a:pPr eaLnBrk="1" hangingPunct="1"/>
            <a:r>
              <a:rPr lang="en-US" altLang="zh-CN" dirty="0">
                <a:latin typeface="Times New Roman" panose="02020603050405020304" pitchFamily="18" charset="0"/>
              </a:rPr>
              <a:t>4.4 </a:t>
            </a:r>
            <a:r>
              <a:rPr lang="zh-CN" altLang="en-US" dirty="0">
                <a:latin typeface="Times New Roman" panose="02020603050405020304" pitchFamily="18" charset="0"/>
              </a:rPr>
              <a:t>定点乘法运算</a:t>
            </a:r>
            <a:endParaRPr lang="zh-CN" altLang="en-US" dirty="0">
              <a:latin typeface="Times New Roman" panose="02020603050405020304" pitchFamily="18" charset="0"/>
            </a:endParaRPr>
          </a:p>
        </p:txBody>
      </p:sp>
      <p:sp>
        <p:nvSpPr>
          <p:cNvPr id="4" name="Rectangle 3"/>
          <p:cNvSpPr txBox="1">
            <a:spLocks noRot="1" noChangeArrowheads="1"/>
          </p:cNvSpPr>
          <p:nvPr/>
        </p:nvSpPr>
        <p:spPr bwMode="auto">
          <a:xfrm>
            <a:off x="460375" y="1879600"/>
            <a:ext cx="8540750" cy="48815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Char char="v"/>
              <a:defRPr/>
            </a:pP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设</a:t>
            </a:r>
            <a:r>
              <a:rPr kumimoji="1" lang="en-US" altLang="zh-CN"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n</a:t>
            </a:r>
            <a:r>
              <a:rPr kumimoji="1"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位</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被乘数和乘数用定点小数表示</a:t>
            </a:r>
            <a:r>
              <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定点整数同</a:t>
            </a:r>
            <a:r>
              <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endPar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hangingPunct="1">
              <a:lnSpc>
                <a:spcPct val="100000"/>
              </a:lnSpc>
              <a:spcBef>
                <a:spcPts val="1800"/>
              </a:spcBef>
              <a:spcAft>
                <a:spcPct val="0"/>
              </a:spcAft>
              <a:buClr>
                <a:schemeClr val="hlink"/>
              </a:buClr>
              <a:buSzTx/>
              <a:buFont typeface="Wingdings" panose="05000000000000000000" pitchFamily="2" charset="2"/>
              <a:buNone/>
              <a:defRPr/>
            </a:pPr>
            <a:r>
              <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被乘数：</a:t>
            </a:r>
            <a:r>
              <a:rPr kumimoji="1" lang="en-US" altLang="zh-CN" sz="28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1" lang="en-US" altLang="zh-CN" sz="2800" b="1" i="1"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x</a:t>
            </a:r>
            <a:r>
              <a:rPr kumimoji="1" lang="en-US" altLang="zh-CN" sz="28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1" lang="zh-CN" altLang="en-US" sz="2800" b="1" i="0"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原</a:t>
            </a:r>
            <a:r>
              <a:rPr kumimoji="1" lang="en-US" altLang="zh-CN" sz="28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1" lang="en-US" altLang="zh-CN" sz="2800" b="1" i="1" u="none" strike="noStrike" kern="0" cap="none" spc="0" normalizeH="0" baseline="0" noProof="0" dirty="0" err="1">
                <a:ln>
                  <a:noFill/>
                </a:ln>
                <a:solidFill>
                  <a:srgbClr val="0000FF"/>
                </a:solidFill>
                <a:effectLst/>
                <a:uLnTx/>
                <a:uFillTx/>
                <a:latin typeface="Times New Roman" panose="02020603050405020304" pitchFamily="18" charset="0"/>
                <a:ea typeface="+mn-ea"/>
                <a:cs typeface="Times New Roman" panose="02020603050405020304" pitchFamily="18" charset="0"/>
              </a:rPr>
              <a:t>x</a:t>
            </a:r>
            <a:r>
              <a:rPr kumimoji="1" lang="en-US" altLang="zh-CN" sz="2800" b="1" i="1" u="none" strike="noStrike" kern="0" cap="none" spc="0" normalizeH="0" baseline="-30000" noProof="0" dirty="0" err="1">
                <a:ln>
                  <a:noFill/>
                </a:ln>
                <a:solidFill>
                  <a:srgbClr val="0000FF"/>
                </a:solidFill>
                <a:effectLst/>
                <a:uLnTx/>
                <a:uFillTx/>
                <a:latin typeface="Times New Roman" panose="02020603050405020304" pitchFamily="18" charset="0"/>
                <a:ea typeface="+mn-ea"/>
                <a:cs typeface="Times New Roman" panose="02020603050405020304" pitchFamily="18" charset="0"/>
              </a:rPr>
              <a:t>f</a:t>
            </a:r>
            <a:r>
              <a:rPr kumimoji="1" lang="en-US" altLang="zh-CN" sz="2800" b="1" i="1"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 . x</a:t>
            </a:r>
            <a:r>
              <a:rPr kumimoji="1" lang="en-US" altLang="zh-CN" sz="2800" b="1" i="1"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n-1</a:t>
            </a:r>
            <a:r>
              <a:rPr kumimoji="1" lang="en-US" altLang="zh-CN" sz="2800" b="1" i="1"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 x</a:t>
            </a:r>
            <a:r>
              <a:rPr kumimoji="1" lang="en-US" altLang="zh-CN" sz="2800" b="1" i="1"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1</a:t>
            </a:r>
            <a:r>
              <a:rPr kumimoji="1" lang="en-US" altLang="zh-CN" sz="2800" b="1" i="1"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x</a:t>
            </a:r>
            <a:r>
              <a:rPr kumimoji="1" lang="en-US" altLang="zh-CN" sz="2800" b="1" i="1"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0</a:t>
            </a:r>
            <a:r>
              <a:rPr kumimoji="1" lang="zh-CN" altLang="en-US" sz="2800" b="1" i="1"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endPar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latinLnBrk="0" hangingPunct="1">
              <a:lnSpc>
                <a:spcPct val="100000"/>
              </a:lnSpc>
              <a:spcBef>
                <a:spcPct val="50000"/>
              </a:spcBef>
              <a:spcAft>
                <a:spcPct val="0"/>
              </a:spcAft>
              <a:buClrTx/>
              <a:buSzTx/>
              <a:buFontTx/>
              <a:buNone/>
              <a:defRPr/>
            </a:pPr>
            <a:r>
              <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乘数：</a:t>
            </a:r>
            <a:r>
              <a:rPr kumimoji="1" lang="en-US" altLang="zh-CN" sz="28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1" lang="en-US" altLang="zh-CN" sz="2800" b="1" i="1"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y</a:t>
            </a:r>
            <a:r>
              <a:rPr kumimoji="1" lang="en-US" altLang="zh-CN" sz="28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1" lang="zh-CN" altLang="en-US" sz="2800" b="1" i="0"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原</a:t>
            </a:r>
            <a:r>
              <a:rPr kumimoji="1" lang="en-US" altLang="zh-CN" sz="2800" b="1" i="0"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r>
              <a:rPr kumimoji="1" lang="en-US" altLang="zh-CN" sz="2800" b="1" i="1" u="none" strike="noStrike" kern="0" cap="none" spc="0" normalizeH="0" baseline="0" noProof="0" dirty="0" err="1">
                <a:ln>
                  <a:noFill/>
                </a:ln>
                <a:solidFill>
                  <a:srgbClr val="0000FF"/>
                </a:solidFill>
                <a:effectLst/>
                <a:uLnTx/>
                <a:uFillTx/>
                <a:latin typeface="Times New Roman" panose="02020603050405020304" pitchFamily="18" charset="0"/>
                <a:ea typeface="+mn-ea"/>
                <a:cs typeface="Times New Roman" panose="02020603050405020304" pitchFamily="18" charset="0"/>
              </a:rPr>
              <a:t>y</a:t>
            </a:r>
            <a:r>
              <a:rPr kumimoji="1" lang="en-US" altLang="zh-CN" sz="2800" b="1" i="1" u="none" strike="noStrike" kern="0" cap="none" spc="0" normalizeH="0" baseline="-30000" noProof="0" dirty="0" err="1">
                <a:ln>
                  <a:noFill/>
                </a:ln>
                <a:solidFill>
                  <a:srgbClr val="0000FF"/>
                </a:solidFill>
                <a:effectLst/>
                <a:uLnTx/>
                <a:uFillTx/>
                <a:latin typeface="Times New Roman" panose="02020603050405020304" pitchFamily="18" charset="0"/>
                <a:ea typeface="+mn-ea"/>
                <a:cs typeface="Times New Roman" panose="02020603050405020304" pitchFamily="18" charset="0"/>
              </a:rPr>
              <a:t>f</a:t>
            </a:r>
            <a:r>
              <a:rPr kumimoji="1" lang="en-US" altLang="zh-CN" sz="2800" b="1" i="1"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 . y</a:t>
            </a:r>
            <a:r>
              <a:rPr kumimoji="1" lang="en-US" altLang="zh-CN" sz="2800" b="1" i="1"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n-1</a:t>
            </a:r>
            <a:r>
              <a:rPr kumimoji="1" lang="en-US" altLang="zh-CN" sz="2800" b="1" i="1"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 y</a:t>
            </a:r>
            <a:r>
              <a:rPr kumimoji="1" lang="en-US" altLang="zh-CN" sz="2800" b="1" i="1"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1</a:t>
            </a:r>
            <a:r>
              <a:rPr kumimoji="1" lang="en-US" altLang="zh-CN" sz="2800" b="1" i="1" u="none" strike="noStrike" kern="0" cap="none" spc="0" normalizeH="0" baseline="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y</a:t>
            </a:r>
            <a:r>
              <a:rPr kumimoji="1" lang="en-US" altLang="zh-CN" sz="2800" b="1" i="1"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0</a:t>
            </a:r>
            <a:r>
              <a:rPr kumimoji="1" lang="zh-CN" altLang="en-US" sz="2800" b="1" i="1" u="none" strike="noStrike" kern="0" cap="none" spc="0" normalizeH="0" baseline="-30000" noProof="0" dirty="0">
                <a:ln>
                  <a:noFill/>
                </a:ln>
                <a:solidFill>
                  <a:srgbClr val="0000FF"/>
                </a:solidFill>
                <a:effectLst/>
                <a:uLnTx/>
                <a:uFillTx/>
                <a:latin typeface="Times New Roman" panose="02020603050405020304" pitchFamily="18" charset="0"/>
                <a:ea typeface="+mn-ea"/>
                <a:cs typeface="Times New Roman" panose="02020603050405020304" pitchFamily="18" charset="0"/>
              </a:rPr>
              <a:t>；</a:t>
            </a:r>
            <a:endPar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hangingPunct="1">
              <a:lnSpc>
                <a:spcPct val="100000"/>
              </a:lnSpc>
              <a:spcBef>
                <a:spcPts val="1800"/>
              </a:spcBef>
              <a:spcAft>
                <a:spcPct val="0"/>
              </a:spcAft>
              <a:buClrTx/>
              <a:buSzTx/>
              <a:buFontTx/>
              <a:buNone/>
              <a:defRPr/>
            </a:pPr>
            <a:r>
              <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则乘积：</a:t>
            </a:r>
            <a:r>
              <a:rPr kumimoji="1" lang="en-US" altLang="zh-CN" sz="2800" b="1" i="0"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a:t>
            </a:r>
            <a:r>
              <a:rPr kumimoji="1" lang="en-US" altLang="zh-CN" sz="2800" b="1" i="1"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z</a:t>
            </a:r>
            <a:r>
              <a:rPr kumimoji="1" lang="en-US" altLang="zh-CN" sz="2800" b="1" i="0"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a:t>
            </a:r>
            <a:r>
              <a:rPr kumimoji="1" lang="zh-CN" altLang="en-US" sz="2800" b="1" i="0" u="none" strike="noStrike" kern="0" cap="none" spc="0" normalizeH="0" baseline="-3000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原</a:t>
            </a:r>
            <a:r>
              <a:rPr kumimoji="1" lang="en-US" altLang="zh-CN" sz="2800" b="1" i="0"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a:t>
            </a:r>
            <a:r>
              <a:rPr kumimoji="1" lang="en-US" altLang="zh-CN" sz="2800" b="1" i="1" u="none" strike="noStrike" kern="0" cap="none" spc="0" normalizeH="0" baseline="0" noProof="0" dirty="0" err="1">
                <a:ln>
                  <a:noFill/>
                </a:ln>
                <a:solidFill>
                  <a:srgbClr val="6600FF"/>
                </a:solidFill>
                <a:effectLst/>
                <a:uLnTx/>
                <a:uFillTx/>
                <a:latin typeface="Times New Roman" panose="02020603050405020304" pitchFamily="18" charset="0"/>
                <a:ea typeface="+mn-ea"/>
                <a:cs typeface="Times New Roman" panose="02020603050405020304" pitchFamily="18" charset="0"/>
              </a:rPr>
              <a:t>x</a:t>
            </a:r>
            <a:r>
              <a:rPr kumimoji="1" lang="en-US" altLang="zh-CN" sz="2800" b="1" i="1" u="none" strike="noStrike" kern="0" cap="none" spc="0" normalizeH="0" baseline="-30000" noProof="0" dirty="0" err="1">
                <a:ln>
                  <a:noFill/>
                </a:ln>
                <a:solidFill>
                  <a:srgbClr val="6600FF"/>
                </a:solidFill>
                <a:effectLst/>
                <a:uLnTx/>
                <a:uFillTx/>
                <a:latin typeface="Times New Roman" panose="02020603050405020304" pitchFamily="18" charset="0"/>
                <a:ea typeface="+mn-ea"/>
                <a:cs typeface="Times New Roman" panose="02020603050405020304" pitchFamily="18" charset="0"/>
              </a:rPr>
              <a:t>f</a:t>
            </a:r>
            <a:r>
              <a:rPr kumimoji="1" lang="en-US" altLang="zh-CN" sz="2800" b="1" i="0" u="none" strike="noStrike" kern="0" cap="none" spc="0" normalizeH="0" baseline="0" noProof="0" dirty="0" err="1">
                <a:ln>
                  <a:noFill/>
                </a:ln>
                <a:solidFill>
                  <a:srgbClr val="6600FF"/>
                </a:solidFill>
                <a:effectLst/>
                <a:uLnTx/>
                <a:uFillTx/>
                <a:latin typeface="Times New Roman" panose="02020603050405020304" pitchFamily="18" charset="0"/>
                <a:ea typeface="+mn-ea"/>
                <a:cs typeface="Times New Roman" panose="02020603050405020304" pitchFamily="18" charset="0"/>
              </a:rPr>
              <a:t>⊕</a:t>
            </a:r>
            <a:r>
              <a:rPr kumimoji="1" lang="en-US" altLang="zh-CN" sz="2800" b="1" i="1" u="none" strike="noStrike" kern="0" cap="none" spc="0" normalizeH="0" baseline="0" noProof="0" dirty="0" err="1">
                <a:ln>
                  <a:noFill/>
                </a:ln>
                <a:solidFill>
                  <a:srgbClr val="6600FF"/>
                </a:solidFill>
                <a:effectLst/>
                <a:uLnTx/>
                <a:uFillTx/>
                <a:latin typeface="Times New Roman" panose="02020603050405020304" pitchFamily="18" charset="0"/>
                <a:ea typeface="+mn-ea"/>
                <a:cs typeface="Times New Roman" panose="02020603050405020304" pitchFamily="18" charset="0"/>
              </a:rPr>
              <a:t>y</a:t>
            </a:r>
            <a:r>
              <a:rPr kumimoji="1" lang="en-US" altLang="zh-CN" sz="2800" b="1" i="1" u="none" strike="noStrike" kern="0" cap="none" spc="0" normalizeH="0" baseline="-30000" noProof="0" dirty="0" err="1">
                <a:ln>
                  <a:noFill/>
                </a:ln>
                <a:solidFill>
                  <a:srgbClr val="6600FF"/>
                </a:solidFill>
                <a:effectLst/>
                <a:uLnTx/>
                <a:uFillTx/>
                <a:latin typeface="Times New Roman" panose="02020603050405020304" pitchFamily="18" charset="0"/>
                <a:ea typeface="+mn-ea"/>
                <a:cs typeface="Times New Roman" panose="02020603050405020304" pitchFamily="18" charset="0"/>
              </a:rPr>
              <a:t>f</a:t>
            </a:r>
            <a:r>
              <a:rPr kumimoji="1" lang="en-US" altLang="zh-CN" sz="2800" b="1" i="0"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)+(0. </a:t>
            </a:r>
            <a:r>
              <a:rPr kumimoji="1" lang="en-US" altLang="zh-CN" sz="2800" b="1" i="1"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x</a:t>
            </a:r>
            <a:r>
              <a:rPr kumimoji="1" lang="en-US" altLang="zh-CN" sz="2800" b="1" i="1" u="none" strike="noStrike" kern="0" cap="none" spc="0" normalizeH="0" baseline="-3000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n-1</a:t>
            </a:r>
            <a:r>
              <a:rPr kumimoji="1" lang="en-US" altLang="zh-CN" sz="2800" b="1" i="1"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 x</a:t>
            </a:r>
            <a:r>
              <a:rPr kumimoji="1" lang="en-US" altLang="zh-CN" sz="2800" b="1" i="1" u="none" strike="noStrike" kern="0" cap="none" spc="0" normalizeH="0" baseline="-3000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1</a:t>
            </a:r>
            <a:r>
              <a:rPr kumimoji="1" lang="en-US" altLang="zh-CN" sz="2800" b="1" i="1"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x</a:t>
            </a:r>
            <a:r>
              <a:rPr kumimoji="1" lang="en-US" altLang="zh-CN" sz="2800" b="1" i="1" u="none" strike="noStrike" kern="0" cap="none" spc="0" normalizeH="0" baseline="-3000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0</a:t>
            </a:r>
            <a:r>
              <a:rPr kumimoji="1" lang="en-US" altLang="zh-CN" sz="2800" b="1" i="0"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)(0. </a:t>
            </a:r>
            <a:r>
              <a:rPr kumimoji="1" lang="en-US" altLang="zh-CN" sz="2800" b="1" i="1"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y</a:t>
            </a:r>
            <a:r>
              <a:rPr kumimoji="1" lang="en-US" altLang="zh-CN" sz="2800" b="1" i="1" u="none" strike="noStrike" kern="0" cap="none" spc="0" normalizeH="0" baseline="-3000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n-1</a:t>
            </a:r>
            <a:r>
              <a:rPr kumimoji="1" lang="en-US" altLang="zh-CN" sz="2800" b="1" i="1"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 y</a:t>
            </a:r>
            <a:r>
              <a:rPr kumimoji="1" lang="en-US" altLang="zh-CN" sz="2800" b="1" i="1" u="none" strike="noStrike" kern="0" cap="none" spc="0" normalizeH="0" baseline="-3000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1</a:t>
            </a:r>
            <a:r>
              <a:rPr kumimoji="1" lang="en-US" altLang="zh-CN" sz="2800" b="1" i="1"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y</a:t>
            </a:r>
            <a:r>
              <a:rPr kumimoji="1" lang="en-US" altLang="zh-CN" sz="2800" b="1" i="1" u="none" strike="noStrike" kern="0" cap="none" spc="0" normalizeH="0" baseline="-3000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0</a:t>
            </a:r>
            <a:r>
              <a:rPr kumimoji="1" lang="en-US" altLang="zh-CN" sz="2800" b="1" i="0" u="none" strike="noStrike" kern="0" cap="none" spc="0" normalizeH="0" baseline="0" noProof="0" dirty="0">
                <a:ln>
                  <a:noFill/>
                </a:ln>
                <a:solidFill>
                  <a:srgbClr val="6600FF"/>
                </a:solidFill>
                <a:effectLst/>
                <a:uLnTx/>
                <a:uFillTx/>
                <a:latin typeface="Times New Roman" panose="02020603050405020304" pitchFamily="18" charset="0"/>
                <a:ea typeface="+mn-ea"/>
                <a:cs typeface="Times New Roman" panose="02020603050405020304" pitchFamily="18" charset="0"/>
              </a:rPr>
              <a:t>)</a:t>
            </a:r>
            <a:r>
              <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endPar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1" fontAlgn="base" hangingPunct="1">
              <a:lnSpc>
                <a:spcPct val="100000"/>
              </a:lnSpc>
              <a:spcBef>
                <a:spcPts val="2400"/>
              </a:spcBef>
              <a:spcAft>
                <a:spcPct val="0"/>
              </a:spcAft>
              <a:buClrTx/>
              <a:buSzTx/>
              <a:buFontTx/>
              <a:buNone/>
              <a:defRPr/>
            </a:pPr>
            <a:r>
              <a:rPr kumimoji="1"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式中，</a:t>
            </a:r>
            <a:r>
              <a:rPr kumimoji="1" lang="en-US" altLang="zh-CN" sz="2800" b="1" i="1" u="none" strike="noStrike" kern="0" cap="none" spc="0" normalizeH="0" baseline="0" noProof="0" dirty="0" err="1">
                <a:ln>
                  <a:noFill/>
                </a:ln>
                <a:solidFill>
                  <a:schemeClr val="hlink"/>
                </a:solidFill>
                <a:effectLst/>
                <a:uLnTx/>
                <a:uFillTx/>
                <a:latin typeface="Times New Roman" panose="02020603050405020304" pitchFamily="18" charset="0"/>
                <a:ea typeface="+mn-ea"/>
                <a:cs typeface="Times New Roman" panose="02020603050405020304" pitchFamily="18" charset="0"/>
              </a:rPr>
              <a:t>x</a:t>
            </a:r>
            <a:r>
              <a:rPr kumimoji="1" lang="en-US" altLang="zh-CN" sz="2800" b="1" i="1" u="none" strike="noStrike" kern="0" cap="none" spc="0" normalizeH="0" baseline="-30000" noProof="0" dirty="0" err="1">
                <a:ln>
                  <a:noFill/>
                </a:ln>
                <a:solidFill>
                  <a:schemeClr val="hlink"/>
                </a:solidFill>
                <a:effectLst/>
                <a:uLnTx/>
                <a:uFillTx/>
                <a:latin typeface="Times New Roman" panose="02020603050405020304" pitchFamily="18" charset="0"/>
                <a:ea typeface="+mn-ea"/>
                <a:cs typeface="Times New Roman" panose="02020603050405020304" pitchFamily="18" charset="0"/>
              </a:rPr>
              <a:t>f</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为被乘数符号，</a:t>
            </a:r>
            <a:r>
              <a:rPr kumimoji="1" lang="en-US" altLang="zh-CN" sz="2800" b="1" i="1" u="none" strike="noStrike" kern="0" cap="none" spc="0" normalizeH="0" baseline="0" noProof="0" dirty="0" err="1">
                <a:ln>
                  <a:noFill/>
                </a:ln>
                <a:solidFill>
                  <a:schemeClr val="hlink"/>
                </a:solidFill>
                <a:effectLst/>
                <a:uLnTx/>
                <a:uFillTx/>
                <a:latin typeface="Times New Roman" panose="02020603050405020304" pitchFamily="18" charset="0"/>
                <a:ea typeface="+mn-ea"/>
                <a:cs typeface="Times New Roman" panose="02020603050405020304" pitchFamily="18" charset="0"/>
              </a:rPr>
              <a:t>y</a:t>
            </a:r>
            <a:r>
              <a:rPr kumimoji="1" lang="en-US" altLang="zh-CN" sz="2800" b="1" i="1" u="none" strike="noStrike" kern="0" cap="none" spc="0" normalizeH="0" baseline="-30000" noProof="0" dirty="0" err="1">
                <a:ln>
                  <a:noFill/>
                </a:ln>
                <a:solidFill>
                  <a:schemeClr val="hlink"/>
                </a:solidFill>
                <a:effectLst/>
                <a:uLnTx/>
                <a:uFillTx/>
                <a:latin typeface="Times New Roman" panose="02020603050405020304" pitchFamily="18" charset="0"/>
                <a:ea typeface="+mn-ea"/>
                <a:cs typeface="Times New Roman" panose="02020603050405020304" pitchFamily="18" charset="0"/>
              </a:rPr>
              <a:t>f</a:t>
            </a:r>
            <a:r>
              <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为乘数符号。</a:t>
            </a:r>
            <a:endParaRPr kumimoji="1"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2" name="矩形 1"/>
          <p:cNvSpPr/>
          <p:nvPr/>
        </p:nvSpPr>
        <p:spPr>
          <a:xfrm>
            <a:off x="484188" y="1168400"/>
            <a:ext cx="2709863" cy="523875"/>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mj-cs"/>
              </a:rPr>
              <a:t>乘法的手工算法</a:t>
            </a:r>
            <a:endPar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6801" name="Rectangle 3"/>
          <p:cNvSpPr>
            <a:spLocks noGrp="1" noRot="1"/>
          </p:cNvSpPr>
          <p:nvPr>
            <p:ph idx="1"/>
          </p:nvPr>
        </p:nvSpPr>
        <p:spPr>
          <a:xfrm>
            <a:off x="603250" y="1125538"/>
            <a:ext cx="8540750" cy="5543550"/>
          </a:xfrm>
          <a:noFill/>
          <a:ln>
            <a:noFill/>
          </a:ln>
        </p:spPr>
        <p:txBody>
          <a:bodyPr anchor="t" anchorCtr="0"/>
          <a:p>
            <a:pPr eaLnBrk="1" hangingPunct="1">
              <a:spcBef>
                <a:spcPts val="1200"/>
              </a:spcBef>
            </a:pPr>
            <a:r>
              <a:rPr lang="zh-CN" altLang="en-US" dirty="0">
                <a:latin typeface="Times New Roman" panose="02020603050405020304" pitchFamily="18" charset="0"/>
              </a:rPr>
              <a:t>设</a:t>
            </a:r>
            <a:r>
              <a:rPr lang="zh-CN" altLang="en-US" i="1" dirty="0">
                <a:latin typeface="Times New Roman" panose="02020603050405020304" pitchFamily="18" charset="0"/>
              </a:rPr>
              <a:t>ｘ</a:t>
            </a:r>
            <a:r>
              <a:rPr lang="en-US" altLang="zh-CN" dirty="0">
                <a:latin typeface="Times New Roman" panose="02020603050405020304" pitchFamily="18" charset="0"/>
              </a:rPr>
              <a:t>=0.1101,</a:t>
            </a:r>
            <a:r>
              <a:rPr lang="zh-CN" altLang="en-US" i="1" dirty="0">
                <a:latin typeface="Times New Roman" panose="02020603050405020304" pitchFamily="18" charset="0"/>
              </a:rPr>
              <a:t>ｙ</a:t>
            </a:r>
            <a:r>
              <a:rPr lang="en-US" altLang="zh-CN" dirty="0">
                <a:latin typeface="Times New Roman" panose="02020603050405020304" pitchFamily="18" charset="0"/>
              </a:rPr>
              <a:t>=0.1011</a:t>
            </a:r>
            <a:endParaRPr lang="en-US" altLang="zh-CN" dirty="0">
              <a:latin typeface="Times New Roman" panose="02020603050405020304" pitchFamily="18" charset="0"/>
            </a:endParaRPr>
          </a:p>
          <a:p>
            <a:pPr eaLnBrk="1" hangingPunct="1">
              <a:spcBef>
                <a:spcPts val="1200"/>
              </a:spcBef>
              <a:buNone/>
            </a:pPr>
            <a:r>
              <a:rPr lang="en-US" altLang="zh-CN" dirty="0">
                <a:latin typeface="Times New Roman" panose="02020603050405020304" pitchFamily="18" charset="0"/>
              </a:rPr>
              <a:t>		 </a:t>
            </a:r>
            <a:r>
              <a:rPr lang="en-US" altLang="zh-CN" dirty="0">
                <a:solidFill>
                  <a:srgbClr val="0000FF"/>
                </a:solidFill>
                <a:latin typeface="Times New Roman" panose="02020603050405020304" pitchFamily="18" charset="0"/>
              </a:rPr>
              <a:t>0 . 1 1 0 1  (</a:t>
            </a:r>
            <a:r>
              <a:rPr lang="en-US" altLang="zh-CN" i="1" dirty="0">
                <a:solidFill>
                  <a:srgbClr val="0000FF"/>
                </a:solidFill>
                <a:latin typeface="Times New Roman" panose="02020603050405020304" pitchFamily="18" charset="0"/>
              </a:rPr>
              <a:t>x</a:t>
            </a:r>
            <a:r>
              <a:rPr lang="en-US" altLang="zh-CN" dirty="0">
                <a:solidFill>
                  <a:srgbClr val="0000FF"/>
                </a:solidFill>
                <a:latin typeface="Times New Roman" panose="02020603050405020304" pitchFamily="18" charset="0"/>
              </a:rPr>
              <a:t>)</a:t>
            </a:r>
            <a:endParaRPr lang="en-US" altLang="zh-CN" dirty="0">
              <a:solidFill>
                <a:srgbClr val="0000FF"/>
              </a:solidFill>
              <a:latin typeface="Times New Roman" panose="02020603050405020304" pitchFamily="18" charset="0"/>
            </a:endParaRPr>
          </a:p>
          <a:p>
            <a:pPr eaLnBrk="1" hangingPunct="1">
              <a:lnSpc>
                <a:spcPct val="80000"/>
              </a:lnSpc>
              <a:buNone/>
            </a:pPr>
            <a:r>
              <a:rPr lang="en-US" altLang="zh-CN" dirty="0">
                <a:solidFill>
                  <a:srgbClr val="0000FF"/>
                </a:solidFill>
                <a:latin typeface="Times New Roman" panose="02020603050405020304" pitchFamily="18" charset="0"/>
              </a:rPr>
              <a:t> x	       0 . 1 0 1 1  (y)</a:t>
            </a:r>
            <a:endParaRPr lang="en-US" altLang="zh-CN" dirty="0">
              <a:solidFill>
                <a:srgbClr val="0000FF"/>
              </a:solidFill>
              <a:latin typeface="Times New Roman" panose="02020603050405020304" pitchFamily="18" charset="0"/>
            </a:endParaRPr>
          </a:p>
          <a:p>
            <a:pPr eaLnBrk="1" hangingPunct="1">
              <a:lnSpc>
                <a:spcPct val="80000"/>
              </a:lnSpc>
              <a:buNone/>
            </a:pPr>
            <a:r>
              <a:rPr lang="en-US" altLang="zh-CN" dirty="0">
                <a:solidFill>
                  <a:srgbClr val="0000FF"/>
                </a:solidFill>
                <a:latin typeface="Times New Roman" panose="02020603050405020304" pitchFamily="18" charset="0"/>
              </a:rPr>
              <a:t>---------------------------------</a:t>
            </a:r>
            <a:endParaRPr lang="en-US" altLang="zh-CN" dirty="0">
              <a:solidFill>
                <a:srgbClr val="0000FF"/>
              </a:solidFill>
              <a:latin typeface="Times New Roman" panose="02020603050405020304" pitchFamily="18" charset="0"/>
            </a:endParaRPr>
          </a:p>
          <a:p>
            <a:pPr eaLnBrk="1" hangingPunct="1">
              <a:lnSpc>
                <a:spcPct val="80000"/>
              </a:lnSpc>
              <a:buNone/>
            </a:pPr>
            <a:r>
              <a:rPr lang="en-US" altLang="zh-CN" dirty="0">
                <a:solidFill>
                  <a:srgbClr val="0000FF"/>
                </a:solidFill>
                <a:latin typeface="Times New Roman" panose="02020603050405020304" pitchFamily="18" charset="0"/>
              </a:rPr>
              <a:t>		     1 1 0 1</a:t>
            </a:r>
            <a:endParaRPr lang="en-US" altLang="zh-CN" dirty="0">
              <a:solidFill>
                <a:srgbClr val="0000FF"/>
              </a:solidFill>
              <a:latin typeface="Times New Roman" panose="02020603050405020304" pitchFamily="18" charset="0"/>
            </a:endParaRPr>
          </a:p>
          <a:p>
            <a:pPr eaLnBrk="1" hangingPunct="1">
              <a:lnSpc>
                <a:spcPct val="80000"/>
              </a:lnSpc>
              <a:buNone/>
            </a:pPr>
            <a:r>
              <a:rPr lang="en-US" altLang="zh-CN" dirty="0">
                <a:solidFill>
                  <a:srgbClr val="0000FF"/>
                </a:solidFill>
                <a:latin typeface="Times New Roman" panose="02020603050405020304" pitchFamily="18" charset="0"/>
              </a:rPr>
              <a:t>		  1 1 0 1</a:t>
            </a:r>
            <a:endParaRPr lang="en-US" altLang="zh-CN" dirty="0">
              <a:solidFill>
                <a:srgbClr val="0000FF"/>
              </a:solidFill>
              <a:latin typeface="Times New Roman" panose="02020603050405020304" pitchFamily="18" charset="0"/>
            </a:endParaRPr>
          </a:p>
          <a:p>
            <a:pPr eaLnBrk="1" hangingPunct="1">
              <a:lnSpc>
                <a:spcPct val="80000"/>
              </a:lnSpc>
              <a:buNone/>
            </a:pPr>
            <a:r>
              <a:rPr lang="en-US" altLang="zh-CN" dirty="0">
                <a:solidFill>
                  <a:srgbClr val="0000FF"/>
                </a:solidFill>
                <a:latin typeface="Times New Roman" panose="02020603050405020304" pitchFamily="18" charset="0"/>
              </a:rPr>
              <a:t>	     0 0 0 0</a:t>
            </a:r>
            <a:endParaRPr lang="en-US" altLang="zh-CN" dirty="0">
              <a:solidFill>
                <a:srgbClr val="0000FF"/>
              </a:solidFill>
              <a:latin typeface="Times New Roman" panose="02020603050405020304" pitchFamily="18" charset="0"/>
            </a:endParaRPr>
          </a:p>
          <a:p>
            <a:pPr eaLnBrk="1" hangingPunct="1">
              <a:lnSpc>
                <a:spcPct val="80000"/>
              </a:lnSpc>
              <a:buNone/>
            </a:pPr>
            <a:r>
              <a:rPr lang="en-US" altLang="zh-CN" dirty="0">
                <a:solidFill>
                  <a:srgbClr val="0000FF"/>
                </a:solidFill>
                <a:latin typeface="Times New Roman" panose="02020603050405020304" pitchFamily="18" charset="0"/>
              </a:rPr>
              <a:t> +   1 1 0 1</a:t>
            </a:r>
            <a:endParaRPr lang="en-US" altLang="zh-CN" dirty="0">
              <a:solidFill>
                <a:srgbClr val="0000FF"/>
              </a:solidFill>
              <a:latin typeface="Times New Roman" panose="02020603050405020304" pitchFamily="18" charset="0"/>
            </a:endParaRPr>
          </a:p>
          <a:p>
            <a:pPr eaLnBrk="1" hangingPunct="1">
              <a:lnSpc>
                <a:spcPct val="80000"/>
              </a:lnSpc>
              <a:buNone/>
            </a:pPr>
            <a:r>
              <a:rPr lang="en-US" altLang="zh-CN" dirty="0">
                <a:solidFill>
                  <a:srgbClr val="0000FF"/>
                </a:solidFill>
                <a:latin typeface="Times New Roman" panose="02020603050405020304" pitchFamily="18" charset="0"/>
              </a:rPr>
              <a:t>-----------------------------------</a:t>
            </a:r>
            <a:endParaRPr lang="en-US" altLang="zh-CN" dirty="0">
              <a:solidFill>
                <a:srgbClr val="0000FF"/>
              </a:solidFill>
              <a:latin typeface="Times New Roman" panose="02020603050405020304" pitchFamily="18" charset="0"/>
            </a:endParaRPr>
          </a:p>
          <a:p>
            <a:pPr eaLnBrk="1" hangingPunct="1">
              <a:lnSpc>
                <a:spcPct val="80000"/>
              </a:lnSpc>
              <a:buNone/>
            </a:pPr>
            <a:r>
              <a:rPr lang="en-US" altLang="zh-CN" dirty="0">
                <a:solidFill>
                  <a:srgbClr val="0000FF"/>
                </a:solidFill>
                <a:latin typeface="Times New Roman" panose="02020603050405020304" pitchFamily="18" charset="0"/>
              </a:rPr>
              <a:t>   0.1 0 0 0 1 1 1 1   (</a:t>
            </a:r>
            <a:r>
              <a:rPr lang="en-US" altLang="zh-CN" i="1" dirty="0">
                <a:solidFill>
                  <a:srgbClr val="0000FF"/>
                </a:solidFill>
                <a:latin typeface="Times New Roman" panose="02020603050405020304" pitchFamily="18" charset="0"/>
              </a:rPr>
              <a:t>z</a:t>
            </a:r>
            <a:r>
              <a:rPr lang="en-US" altLang="zh-CN" dirty="0">
                <a:solidFill>
                  <a:srgbClr val="0000FF"/>
                </a:solidFill>
                <a:latin typeface="Times New Roman" panose="02020603050405020304" pitchFamily="18" charset="0"/>
              </a:rPr>
              <a:t>)</a:t>
            </a:r>
            <a:endParaRPr lang="en-US" altLang="zh-CN" dirty="0">
              <a:solidFill>
                <a:srgbClr val="0000FF"/>
              </a:solidFill>
              <a:latin typeface="Times New Roman" panose="02020603050405020304" pitchFamily="18" charset="0"/>
            </a:endParaRPr>
          </a:p>
          <a:p>
            <a:pPr lvl="1" eaLnBrk="1" hangingPunct="1">
              <a:lnSpc>
                <a:spcPct val="80000"/>
              </a:lnSpc>
              <a:spcBef>
                <a:spcPts val="1800"/>
              </a:spcBef>
            </a:pPr>
            <a:r>
              <a:rPr lang="zh-CN" altLang="en-US" sz="2400" dirty="0">
                <a:latin typeface="Times New Roman" panose="02020603050405020304" pitchFamily="18" charset="0"/>
              </a:rPr>
              <a:t>乘数为</a:t>
            </a:r>
            <a:r>
              <a:rPr lang="en-US" altLang="zh-CN" sz="2400" dirty="0">
                <a:latin typeface="Times New Roman" panose="02020603050405020304" pitchFamily="18" charset="0"/>
              </a:rPr>
              <a:t>1</a:t>
            </a:r>
            <a:r>
              <a:rPr lang="zh-CN" altLang="en-US" sz="2400" dirty="0">
                <a:latin typeface="Times New Roman" panose="02020603050405020304" pitchFamily="18" charset="0"/>
              </a:rPr>
              <a:t>，抄被乘数到对应位置；</a:t>
            </a:r>
            <a:endParaRPr lang="zh-CN" altLang="en-US" sz="2400" dirty="0">
              <a:latin typeface="Times New Roman" panose="02020603050405020304" pitchFamily="18" charset="0"/>
            </a:endParaRPr>
          </a:p>
          <a:p>
            <a:pPr lvl="1" eaLnBrk="1" hangingPunct="1">
              <a:lnSpc>
                <a:spcPct val="80000"/>
              </a:lnSpc>
              <a:spcBef>
                <a:spcPts val="1200"/>
              </a:spcBef>
            </a:pPr>
            <a:r>
              <a:rPr lang="zh-CN" altLang="en-US" sz="2400" dirty="0">
                <a:latin typeface="Times New Roman" panose="02020603050405020304" pitchFamily="18" charset="0"/>
              </a:rPr>
              <a:t>乘数为</a:t>
            </a:r>
            <a:r>
              <a:rPr lang="en-US" altLang="zh-CN" sz="2400" dirty="0">
                <a:latin typeface="Times New Roman" panose="02020603050405020304" pitchFamily="18" charset="0"/>
              </a:rPr>
              <a:t>0</a:t>
            </a:r>
            <a:r>
              <a:rPr lang="zh-CN" altLang="en-US" sz="2400" dirty="0">
                <a:latin typeface="Times New Roman" panose="02020603050405020304" pitchFamily="18" charset="0"/>
              </a:rPr>
              <a:t>，填全</a:t>
            </a:r>
            <a:r>
              <a:rPr lang="en-US" altLang="zh-CN" sz="2400" dirty="0">
                <a:latin typeface="Times New Roman" panose="02020603050405020304" pitchFamily="18" charset="0"/>
              </a:rPr>
              <a:t>0</a:t>
            </a:r>
            <a:r>
              <a:rPr lang="zh-CN" altLang="en-US" sz="2400" dirty="0">
                <a:latin typeface="Times New Roman" panose="02020603050405020304" pitchFamily="18" charset="0"/>
              </a:rPr>
              <a:t>到对应位置或跳过。</a:t>
            </a:r>
            <a:endParaRPr lang="zh-CN" altLang="en-US" sz="2400" dirty="0">
              <a:latin typeface="Times New Roman" panose="02020603050405020304" pitchFamily="18" charset="0"/>
            </a:endParaRPr>
          </a:p>
        </p:txBody>
      </p:sp>
      <p:sp>
        <p:nvSpPr>
          <p:cNvPr id="2" name="矩形 1"/>
          <p:cNvSpPr/>
          <p:nvPr/>
        </p:nvSpPr>
        <p:spPr>
          <a:xfrm>
            <a:off x="603250" y="404813"/>
            <a:ext cx="4873625" cy="5222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mj-cs"/>
              </a:rPr>
              <a:t>同号相乘为正，异号相乘为负</a:t>
            </a:r>
            <a:endParaRPr kumimoji="0" lang="zh-CN" altLang="en-US" sz="2800" b="1" i="0" u="none" strike="noStrike" kern="1200" cap="none" spc="0" normalizeH="0" baseline="0" noProof="0" dirty="0">
              <a:ln>
                <a:noFill/>
              </a:ln>
              <a:solidFill>
                <a:srgbClr val="FF0000"/>
              </a:solidFill>
              <a:effectLst/>
              <a:uLnTx/>
              <a:uFillTx/>
              <a:latin typeface="Times New Roman" panose="02020603050405020304" pitchFamily="18" charset="0"/>
              <a:ea typeface="+mj-ea"/>
              <a:cs typeface="+mj-c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884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4.4.1 </a:t>
            </a:r>
            <a:r>
              <a:rPr lang="zh-CN" altLang="en-US" dirty="0">
                <a:latin typeface="Times New Roman" panose="02020603050405020304" pitchFamily="18" charset="0"/>
              </a:rPr>
              <a:t>原码一位乘法</a:t>
            </a:r>
            <a:endParaRPr lang="zh-CN" altLang="en-US" dirty="0">
              <a:latin typeface="Times New Roman" panose="02020603050405020304" pitchFamily="18" charset="0"/>
            </a:endParaRPr>
          </a:p>
        </p:txBody>
      </p:sp>
      <p:sp>
        <p:nvSpPr>
          <p:cNvPr id="78850" name="内容占位符 2"/>
          <p:cNvSpPr>
            <a:spLocks noGrp="1"/>
          </p:cNvSpPr>
          <p:nvPr>
            <p:ph idx="1"/>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原码一位乘法算法</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用两个操作数的绝对值相乘；</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乘积的符号为两操作数符号的异或值；</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乘积</a:t>
            </a:r>
            <a:r>
              <a:rPr lang="en-US" altLang="zh-CN" dirty="0">
                <a:latin typeface="Times New Roman" panose="02020603050405020304" pitchFamily="18" charset="0"/>
              </a:rPr>
              <a:t>P=|X|×|Y|</a:t>
            </a:r>
            <a:endParaRPr lang="en-US" altLang="zh-CN" dirty="0">
              <a:latin typeface="Times New Roman" panose="02020603050405020304" pitchFamily="18" charset="0"/>
            </a:endParaRPr>
          </a:p>
          <a:p>
            <a:pPr lvl="2">
              <a:spcBef>
                <a:spcPts val="1200"/>
              </a:spcBef>
            </a:pPr>
            <a:r>
              <a:rPr lang="zh-CN" altLang="en-US" dirty="0">
                <a:latin typeface="Times New Roman" panose="02020603050405020304" pitchFamily="18" charset="0"/>
              </a:rPr>
              <a:t>符号</a:t>
            </a:r>
            <a:r>
              <a:rPr lang="en-US" altLang="zh-CN" dirty="0">
                <a:latin typeface="Times New Roman" panose="02020603050405020304" pitchFamily="18" charset="0"/>
              </a:rPr>
              <a:t>Ps=Xs⊕Ys</a:t>
            </a:r>
            <a:endParaRPr lang="en-US" altLang="zh-CN" dirty="0">
              <a:latin typeface="Times New Roman" panose="02020603050405020304" pitchFamily="18" charset="0"/>
            </a:endParaRPr>
          </a:p>
          <a:p>
            <a:pPr lvl="2">
              <a:spcBef>
                <a:spcPts val="1200"/>
              </a:spcBef>
            </a:pPr>
            <a:r>
              <a:rPr lang="en-US" altLang="zh-CN" dirty="0">
                <a:latin typeface="Times New Roman" panose="02020603050405020304" pitchFamily="18" charset="0"/>
              </a:rPr>
              <a:t>Ps</a:t>
            </a:r>
            <a:r>
              <a:rPr lang="zh-CN" altLang="en-US" dirty="0">
                <a:latin typeface="Times New Roman" panose="02020603050405020304" pitchFamily="18" charset="0"/>
              </a:rPr>
              <a:t>为乘积的符号，</a:t>
            </a:r>
            <a:r>
              <a:rPr lang="en-US" altLang="zh-CN" dirty="0">
                <a:latin typeface="Times New Roman" panose="02020603050405020304" pitchFamily="18" charset="0"/>
              </a:rPr>
              <a:t>Xs</a:t>
            </a:r>
            <a:r>
              <a:rPr lang="zh-CN" altLang="en-US" dirty="0">
                <a:latin typeface="Times New Roman" panose="02020603050405020304" pitchFamily="18" charset="0"/>
              </a:rPr>
              <a:t>和</a:t>
            </a:r>
            <a:r>
              <a:rPr lang="en-US" altLang="zh-CN" dirty="0">
                <a:latin typeface="Times New Roman" panose="02020603050405020304" pitchFamily="18" charset="0"/>
              </a:rPr>
              <a:t>Ys</a:t>
            </a:r>
            <a:r>
              <a:rPr lang="zh-CN" altLang="en-US" dirty="0">
                <a:latin typeface="Times New Roman" panose="02020603050405020304" pitchFamily="18" charset="0"/>
              </a:rPr>
              <a:t>为被乘数和乘数的符号。</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原码一位乘法算法（续）</a:t>
            </a:r>
            <a:endParaRPr lang="zh-CN" altLang="en-US" dirty="0">
              <a:latin typeface="Times New Roman" panose="02020603050405020304" pitchFamily="18" charset="0"/>
            </a:endParaRPr>
          </a:p>
        </p:txBody>
      </p:sp>
      <p:sp>
        <p:nvSpPr>
          <p:cNvPr id="80898"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原码一位乘法的规则：</a:t>
            </a:r>
            <a:endParaRPr lang="zh-CN" altLang="en-US" dirty="0">
              <a:latin typeface="Times New Roman" panose="02020603050405020304" pitchFamily="18" charset="0"/>
            </a:endParaRPr>
          </a:p>
          <a:p>
            <a:pPr lvl="1" latinLnBrk="0">
              <a:spcBef>
                <a:spcPts val="1200"/>
              </a:spcBef>
            </a:pPr>
            <a:r>
              <a:rPr lang="en-US" altLang="zh-CN" dirty="0">
                <a:latin typeface="Times New Roman" panose="02020603050405020304" pitchFamily="18" charset="0"/>
              </a:rPr>
              <a:t>(1)</a:t>
            </a:r>
            <a:r>
              <a:rPr lang="zh-CN" altLang="en-US" dirty="0">
                <a:latin typeface="Times New Roman" panose="02020603050405020304" pitchFamily="18" charset="0"/>
              </a:rPr>
              <a:t>参加运算的操作数取其绝对值；</a:t>
            </a:r>
            <a:endParaRPr lang="zh-CN" altLang="en-US" dirty="0">
              <a:latin typeface="Times New Roman" panose="02020603050405020304" pitchFamily="18" charset="0"/>
            </a:endParaRPr>
          </a:p>
          <a:p>
            <a:pPr lvl="1" latinLnBrk="0">
              <a:spcBef>
                <a:spcPts val="1200"/>
              </a:spcBef>
            </a:pPr>
            <a:r>
              <a:rPr lang="en-US" altLang="zh-CN" dirty="0">
                <a:latin typeface="Times New Roman" panose="02020603050405020304" pitchFamily="18" charset="0"/>
              </a:rPr>
              <a:t>(2)</a:t>
            </a:r>
            <a:r>
              <a:rPr lang="zh-CN" altLang="en-US" dirty="0">
                <a:latin typeface="Times New Roman" panose="02020603050405020304" pitchFamily="18" charset="0"/>
              </a:rPr>
              <a:t>令乘数的最低位为判断位：</a:t>
            </a:r>
            <a:endParaRPr lang="zh-CN" altLang="en-US" dirty="0">
              <a:latin typeface="Times New Roman" panose="02020603050405020304" pitchFamily="18" charset="0"/>
            </a:endParaRPr>
          </a:p>
          <a:p>
            <a:pPr lvl="2" latinLnBrk="0">
              <a:spcBef>
                <a:spcPts val="600"/>
              </a:spcBef>
            </a:pPr>
            <a:r>
              <a:rPr lang="zh-CN" altLang="en-US" dirty="0">
                <a:latin typeface="Times New Roman" panose="02020603050405020304" pitchFamily="18" charset="0"/>
              </a:rPr>
              <a:t>若为“</a:t>
            </a:r>
            <a:r>
              <a:rPr lang="en-US" altLang="zh-CN" dirty="0">
                <a:latin typeface="Times New Roman" panose="02020603050405020304" pitchFamily="18" charset="0"/>
              </a:rPr>
              <a:t>1”</a:t>
            </a:r>
            <a:r>
              <a:rPr lang="zh-CN" altLang="en-US" dirty="0">
                <a:latin typeface="Times New Roman" panose="02020603050405020304" pitchFamily="18" charset="0"/>
              </a:rPr>
              <a:t>，加被乘数；</a:t>
            </a:r>
            <a:endParaRPr lang="zh-CN" altLang="en-US" dirty="0">
              <a:latin typeface="Times New Roman" panose="02020603050405020304" pitchFamily="18" charset="0"/>
            </a:endParaRPr>
          </a:p>
          <a:p>
            <a:pPr lvl="2" latinLnBrk="0">
              <a:spcBef>
                <a:spcPts val="600"/>
              </a:spcBef>
            </a:pPr>
            <a:r>
              <a:rPr lang="zh-CN" altLang="en-US" dirty="0">
                <a:latin typeface="Times New Roman" panose="02020603050405020304" pitchFamily="18" charset="0"/>
              </a:rPr>
              <a:t>若为“</a:t>
            </a:r>
            <a:r>
              <a:rPr lang="en-US" altLang="zh-CN" dirty="0">
                <a:latin typeface="Times New Roman" panose="02020603050405020304" pitchFamily="18" charset="0"/>
              </a:rPr>
              <a:t>0”</a:t>
            </a:r>
            <a:r>
              <a:rPr lang="zh-CN" altLang="en-US" dirty="0">
                <a:latin typeface="Times New Roman" panose="02020603050405020304" pitchFamily="18" charset="0"/>
              </a:rPr>
              <a:t>，不加被乘数（加</a:t>
            </a:r>
            <a:r>
              <a:rPr lang="en-US" altLang="zh-CN" dirty="0">
                <a:latin typeface="Times New Roman" panose="02020603050405020304" pitchFamily="18" charset="0"/>
              </a:rPr>
              <a:t>0</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200"/>
              </a:spcBef>
            </a:pPr>
            <a:r>
              <a:rPr lang="en-US" altLang="zh-CN" dirty="0">
                <a:latin typeface="Times New Roman" panose="02020603050405020304" pitchFamily="18" charset="0"/>
              </a:rPr>
              <a:t>(3)</a:t>
            </a:r>
            <a:r>
              <a:rPr lang="zh-CN" altLang="en-US" dirty="0">
                <a:latin typeface="Times New Roman" panose="02020603050405020304" pitchFamily="18" charset="0"/>
              </a:rPr>
              <a:t>累加后的部分积以及乘数</a:t>
            </a:r>
            <a:r>
              <a:rPr lang="zh-CN" altLang="en-US" dirty="0">
                <a:solidFill>
                  <a:srgbClr val="FF0000"/>
                </a:solidFill>
                <a:latin typeface="Times New Roman" panose="02020603050405020304" pitchFamily="18" charset="0"/>
              </a:rPr>
              <a:t>右移一位</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200"/>
              </a:spcBef>
            </a:pPr>
            <a:r>
              <a:rPr lang="en-US" altLang="zh-CN" dirty="0">
                <a:latin typeface="Times New Roman" panose="02020603050405020304" pitchFamily="18" charset="0"/>
              </a:rPr>
              <a:t>(4)</a:t>
            </a:r>
            <a:r>
              <a:rPr lang="zh-CN" altLang="en-US" dirty="0">
                <a:latin typeface="Times New Roman" panose="02020603050405020304" pitchFamily="18" charset="0"/>
              </a:rPr>
              <a:t>重复</a:t>
            </a:r>
            <a:r>
              <a:rPr lang="en-US" altLang="zh-CN" dirty="0">
                <a:latin typeface="Times New Roman" panose="02020603050405020304" pitchFamily="18" charset="0"/>
              </a:rPr>
              <a:t>n</a:t>
            </a:r>
            <a:r>
              <a:rPr lang="zh-CN" altLang="en-US" dirty="0">
                <a:latin typeface="Times New Roman" panose="02020603050405020304" pitchFamily="18" charset="0"/>
              </a:rPr>
              <a:t>次⑵和⑶ ；</a:t>
            </a:r>
            <a:endParaRPr lang="zh-CN" altLang="en-US" dirty="0">
              <a:latin typeface="Times New Roman" panose="02020603050405020304" pitchFamily="18" charset="0"/>
            </a:endParaRPr>
          </a:p>
          <a:p>
            <a:pPr lvl="1" latinLnBrk="0">
              <a:spcBef>
                <a:spcPts val="1200"/>
              </a:spcBef>
            </a:pPr>
            <a:r>
              <a:rPr lang="en-US" altLang="zh-CN" dirty="0">
                <a:solidFill>
                  <a:srgbClr val="FF0000"/>
                </a:solidFill>
                <a:latin typeface="Times New Roman" panose="02020603050405020304" pitchFamily="18" charset="0"/>
              </a:rPr>
              <a:t>(5)</a:t>
            </a:r>
            <a:r>
              <a:rPr lang="zh-CN" altLang="en-US" dirty="0">
                <a:solidFill>
                  <a:srgbClr val="FF0000"/>
                </a:solidFill>
                <a:latin typeface="Times New Roman" panose="02020603050405020304" pitchFamily="18" charset="0"/>
              </a:rPr>
              <a:t>符号位单独处理</a:t>
            </a:r>
            <a:r>
              <a:rPr lang="zh-CN" altLang="en-US" dirty="0">
                <a:latin typeface="Times New Roman" panose="02020603050405020304" pitchFamily="18" charset="0"/>
              </a:rPr>
              <a:t>，同号为正，异号为负。 </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2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原码一位乘法算法（续）</a:t>
            </a:r>
            <a:endParaRPr lang="zh-CN" altLang="en-US" dirty="0">
              <a:latin typeface="Times New Roman" panose="02020603050405020304" pitchFamily="18" charset="0"/>
            </a:endParaRPr>
          </a:p>
        </p:txBody>
      </p:sp>
      <p:sp>
        <p:nvSpPr>
          <p:cNvPr id="8192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乘法运算需要</a:t>
            </a:r>
            <a:r>
              <a:rPr lang="en-US" altLang="zh-CN" dirty="0">
                <a:latin typeface="Times New Roman" panose="02020603050405020304" pitchFamily="18" charset="0"/>
              </a:rPr>
              <a:t>3</a:t>
            </a:r>
            <a:r>
              <a:rPr lang="zh-CN" altLang="en-US" dirty="0">
                <a:latin typeface="Times New Roman" panose="02020603050405020304" pitchFamily="18" charset="0"/>
              </a:rPr>
              <a:t>个寄存器。</a:t>
            </a:r>
            <a:endParaRPr lang="en-US" altLang="zh-CN"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被乘数存放在</a:t>
            </a:r>
            <a:r>
              <a:rPr lang="en-US" altLang="zh-CN" sz="2400" dirty="0">
                <a:latin typeface="Times New Roman" panose="02020603050405020304" pitchFamily="18" charset="0"/>
              </a:rPr>
              <a:t>B</a:t>
            </a:r>
            <a:r>
              <a:rPr lang="zh-CN" altLang="en-US" sz="2400" dirty="0">
                <a:latin typeface="Times New Roman" panose="02020603050405020304" pitchFamily="18" charset="0"/>
              </a:rPr>
              <a:t>寄存器中；</a:t>
            </a:r>
            <a:endParaRPr lang="en-US" altLang="zh-CN"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乘数存放在</a:t>
            </a:r>
            <a:r>
              <a:rPr lang="en-US" altLang="zh-CN" sz="2400" dirty="0">
                <a:latin typeface="Times New Roman" panose="02020603050405020304" pitchFamily="18" charset="0"/>
              </a:rPr>
              <a:t>C</a:t>
            </a:r>
            <a:r>
              <a:rPr lang="zh-CN" altLang="en-US" sz="2400" dirty="0">
                <a:latin typeface="Times New Roman" panose="02020603050405020304" pitchFamily="18" charset="0"/>
              </a:rPr>
              <a:t>寄存器中；</a:t>
            </a:r>
            <a:endParaRPr lang="en-US" altLang="zh-CN" sz="2400"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A</a:t>
            </a:r>
            <a:r>
              <a:rPr lang="zh-CN" altLang="en-US" sz="2400" dirty="0">
                <a:latin typeface="Times New Roman" panose="02020603050405020304" pitchFamily="18" charset="0"/>
              </a:rPr>
              <a:t>寄存器存放部分积与最后乘积的</a:t>
            </a:r>
            <a:r>
              <a:rPr lang="zh-CN" altLang="en-US" sz="2400" dirty="0">
                <a:solidFill>
                  <a:srgbClr val="FF0000"/>
                </a:solidFill>
                <a:latin typeface="Times New Roman" panose="02020603050405020304" pitchFamily="18" charset="0"/>
              </a:rPr>
              <a:t>高位部分，初值为</a:t>
            </a:r>
            <a:r>
              <a:rPr lang="en-US" altLang="zh-CN" sz="2400" dirty="0">
                <a:solidFill>
                  <a:srgbClr val="FF0000"/>
                </a:solidFill>
                <a:latin typeface="Times New Roman" panose="02020603050405020304" pitchFamily="18" charset="0"/>
              </a:rPr>
              <a:t>0</a:t>
            </a:r>
            <a:endParaRPr lang="en-US" altLang="zh-CN"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运算结束后寄存器</a:t>
            </a:r>
            <a:r>
              <a:rPr lang="en-US" altLang="zh-CN" sz="2400" dirty="0">
                <a:latin typeface="Times New Roman" panose="02020603050405020304" pitchFamily="18" charset="0"/>
              </a:rPr>
              <a:t>C</a:t>
            </a:r>
            <a:r>
              <a:rPr lang="zh-CN" altLang="en-US" sz="2400" dirty="0">
                <a:latin typeface="Times New Roman" panose="02020603050405020304" pitchFamily="18" charset="0"/>
              </a:rPr>
              <a:t>中存放乘积的</a:t>
            </a:r>
            <a:r>
              <a:rPr lang="zh-CN" altLang="en-US" sz="2400" dirty="0">
                <a:solidFill>
                  <a:srgbClr val="FF0000"/>
                </a:solidFill>
                <a:latin typeface="Times New Roman" panose="02020603050405020304" pitchFamily="18" charset="0"/>
              </a:rPr>
              <a:t>低位部分</a:t>
            </a:r>
            <a:r>
              <a:rPr lang="zh-CN" altLang="en-US" sz="2400" dirty="0">
                <a:latin typeface="Times New Roman" panose="02020603050405020304" pitchFamily="18" charset="0"/>
              </a:rPr>
              <a:t>。</a:t>
            </a:r>
            <a:endParaRPr lang="zh-CN" altLang="en-US" dirty="0">
              <a:latin typeface="Times New Roman" panose="02020603050405020304" pitchFamily="18" charset="0"/>
            </a:endParaRPr>
          </a:p>
          <a:p>
            <a:pPr>
              <a:spcBef>
                <a:spcPts val="1800"/>
              </a:spcBef>
            </a:pPr>
            <a:r>
              <a:rPr lang="zh-CN" altLang="en-US" sz="2400" dirty="0">
                <a:latin typeface="Times New Roman" panose="02020603050405020304" pitchFamily="18" charset="0"/>
              </a:rPr>
              <a:t>例</a:t>
            </a:r>
            <a:r>
              <a:rPr lang="en-US" altLang="zh-CN" sz="2400" dirty="0">
                <a:latin typeface="Times New Roman" panose="02020603050405020304" pitchFamily="18" charset="0"/>
              </a:rPr>
              <a:t>8</a:t>
            </a:r>
            <a:r>
              <a:rPr lang="zh-CN" altLang="en-US" sz="2400" dirty="0">
                <a:latin typeface="Times New Roman" panose="02020603050405020304" pitchFamily="18" charset="0"/>
              </a:rPr>
              <a:t>：已知：</a:t>
            </a:r>
            <a:r>
              <a:rPr lang="en-US" altLang="zh-CN" sz="2400" dirty="0">
                <a:latin typeface="Times New Roman" panose="02020603050405020304" pitchFamily="18" charset="0"/>
              </a:rPr>
              <a:t>X=0.1101</a:t>
            </a:r>
            <a:r>
              <a:rPr lang="zh-CN" altLang="en-US" sz="2400" dirty="0">
                <a:latin typeface="Times New Roman" panose="02020603050405020304" pitchFamily="18" charset="0"/>
              </a:rPr>
              <a:t>，</a:t>
            </a:r>
            <a:r>
              <a:rPr lang="en-US" altLang="zh-CN" sz="2400" dirty="0">
                <a:latin typeface="Times New Roman" panose="02020603050405020304" pitchFamily="18" charset="0"/>
              </a:rPr>
              <a:t>Y=-0.1011</a:t>
            </a:r>
            <a:r>
              <a:rPr lang="zh-CN" altLang="en-US" sz="2400" dirty="0">
                <a:latin typeface="Times New Roman" panose="02020603050405020304" pitchFamily="18" charset="0"/>
              </a:rPr>
              <a:t>，求：</a:t>
            </a:r>
            <a:r>
              <a:rPr lang="en-US" altLang="zh-CN" sz="2400" dirty="0">
                <a:latin typeface="Times New Roman" panose="02020603050405020304" pitchFamily="18" charset="0"/>
              </a:rPr>
              <a:t>X×Y</a:t>
            </a:r>
            <a:endParaRPr lang="zh-CN" altLang="en-US" sz="2400"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|X|=00.1101→B</a:t>
            </a:r>
            <a:r>
              <a:rPr lang="zh-CN" altLang="en-US" sz="2400" dirty="0">
                <a:latin typeface="Times New Roman" panose="02020603050405020304" pitchFamily="18" charset="0"/>
              </a:rPr>
              <a:t>，</a:t>
            </a:r>
            <a:r>
              <a:rPr lang="en-US" altLang="zh-CN" sz="2400" dirty="0">
                <a:latin typeface="Times New Roman" panose="02020603050405020304" pitchFamily="18" charset="0"/>
              </a:rPr>
              <a:t>|Y|=.1011→C</a:t>
            </a:r>
            <a:r>
              <a:rPr lang="zh-CN" altLang="en-US" sz="2400" dirty="0">
                <a:latin typeface="Times New Roman" panose="02020603050405020304" pitchFamily="18" charset="0"/>
              </a:rPr>
              <a:t>，</a:t>
            </a:r>
            <a:r>
              <a:rPr lang="en-US" altLang="zh-CN" sz="2400" dirty="0">
                <a:latin typeface="Times New Roman" panose="02020603050405020304" pitchFamily="18" charset="0"/>
              </a:rPr>
              <a:t>0→A</a:t>
            </a:r>
            <a:endParaRPr lang="en-US" altLang="zh-CN"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3969" name="标题 1"/>
          <p:cNvSpPr>
            <a:spLocks noGrp="1"/>
          </p:cNvSpPr>
          <p:nvPr>
            <p:ph type="title"/>
          </p:nvPr>
        </p:nvSpPr>
        <p:spPr>
          <a:noFill/>
          <a:ln>
            <a:noFill/>
          </a:ln>
        </p:spPr>
        <p:txBody>
          <a:bodyPr anchor="t" anchorCtr="0"/>
          <a:p>
            <a:r>
              <a:rPr lang="zh-CN" altLang="en-US" dirty="0"/>
              <a:t>原码一位乘法示例</a:t>
            </a:r>
            <a:endParaRPr lang="zh-CN" altLang="en-US" dirty="0"/>
          </a:p>
        </p:txBody>
      </p:sp>
      <p:sp>
        <p:nvSpPr>
          <p:cNvPr id="83970" name="Text Box 4"/>
          <p:cNvSpPr txBox="1"/>
          <p:nvPr/>
        </p:nvSpPr>
        <p:spPr>
          <a:xfrm>
            <a:off x="1403350" y="1201738"/>
            <a:ext cx="46482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0 0.0 0 0 0     1 0 1 1</a:t>
            </a:r>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83971" name="Text Box 5"/>
          <p:cNvSpPr txBox="1"/>
          <p:nvPr/>
        </p:nvSpPr>
        <p:spPr>
          <a:xfrm>
            <a:off x="755650" y="1487488"/>
            <a:ext cx="80962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X|  0 0.1 1 0 1                         C</a:t>
            </a:r>
            <a:r>
              <a:rPr lang="en-US" altLang="zh-CN" sz="2400" b="1" baseline="-30000" dirty="0">
                <a:solidFill>
                  <a:srgbClr val="0000FF"/>
                </a:solidFill>
                <a:latin typeface="Times New Roman" panose="02020603050405020304" pitchFamily="18" charset="0"/>
                <a:ea typeface="宋体" panose="02010600030101010101" pitchFamily="2" charset="-122"/>
              </a:rPr>
              <a:t>4</a:t>
            </a:r>
            <a:r>
              <a:rPr lang="en-US" altLang="zh-CN" sz="2400" b="1" dirty="0">
                <a:solidFill>
                  <a:srgbClr val="0000FF"/>
                </a:solidFill>
                <a:latin typeface="Times New Roman" panose="02020603050405020304" pitchFamily="18" charset="0"/>
                <a:ea typeface="宋体" panose="02010600030101010101" pitchFamily="2" charset="-122"/>
              </a:rPr>
              <a:t>=1，+|X|</a:t>
            </a:r>
            <a:endParaRPr lang="en-US" altLang="zh-CN" sz="2400" b="1" dirty="0">
              <a:solidFill>
                <a:srgbClr val="0000FF"/>
              </a:solidFill>
              <a:latin typeface="Times New Roman" panose="02020603050405020304" pitchFamily="18" charset="0"/>
              <a:ea typeface="宋体" panose="02010600030101010101" pitchFamily="2" charset="-122"/>
            </a:endParaRPr>
          </a:p>
        </p:txBody>
      </p:sp>
      <p:sp>
        <p:nvSpPr>
          <p:cNvPr id="83972" name="Line 6"/>
          <p:cNvSpPr/>
          <p:nvPr/>
        </p:nvSpPr>
        <p:spPr>
          <a:xfrm>
            <a:off x="869950" y="1963738"/>
            <a:ext cx="3067050" cy="0"/>
          </a:xfrm>
          <a:prstGeom prst="line">
            <a:avLst/>
          </a:prstGeom>
          <a:ln w="9525" cap="sq" cmpd="sng">
            <a:solidFill>
              <a:srgbClr val="7A48C4"/>
            </a:solidFill>
            <a:prstDash val="solid"/>
            <a:round/>
            <a:headEnd type="none" w="sm" len="sm"/>
            <a:tailEnd type="none" w="sm" len="sm"/>
          </a:ln>
        </p:spPr>
      </p:sp>
      <p:sp>
        <p:nvSpPr>
          <p:cNvPr id="83973" name="Text Box 7"/>
          <p:cNvSpPr txBox="1"/>
          <p:nvPr/>
        </p:nvSpPr>
        <p:spPr>
          <a:xfrm>
            <a:off x="1441450" y="1868488"/>
            <a:ext cx="24003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0 0.1 1 0 1</a:t>
            </a:r>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83974" name="Text Box 8"/>
          <p:cNvSpPr txBox="1"/>
          <p:nvPr/>
        </p:nvSpPr>
        <p:spPr>
          <a:xfrm>
            <a:off x="889000" y="2152650"/>
            <a:ext cx="8001000" cy="433388"/>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Times New Roman" panose="02020603050405020304" pitchFamily="18" charset="0"/>
                <a:ea typeface="宋体" panose="02010600030101010101" pitchFamily="2" charset="-122"/>
              </a:rPr>
              <a:t>→   0 0.0 1 1 0     1 1 0 1        部分积右移一位</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83975" name="Line 9"/>
          <p:cNvSpPr/>
          <p:nvPr/>
        </p:nvSpPr>
        <p:spPr>
          <a:xfrm>
            <a:off x="869950" y="2840038"/>
            <a:ext cx="3067050" cy="0"/>
          </a:xfrm>
          <a:prstGeom prst="line">
            <a:avLst/>
          </a:prstGeom>
          <a:ln w="9525" cap="sq" cmpd="sng">
            <a:solidFill>
              <a:srgbClr val="7A48C4"/>
            </a:solidFill>
            <a:prstDash val="solid"/>
            <a:round/>
            <a:headEnd type="none" w="sm" len="sm"/>
            <a:tailEnd type="none" w="sm" len="sm"/>
          </a:ln>
        </p:spPr>
      </p:sp>
      <p:sp>
        <p:nvSpPr>
          <p:cNvPr id="83976" name="Text Box 10"/>
          <p:cNvSpPr txBox="1"/>
          <p:nvPr/>
        </p:nvSpPr>
        <p:spPr>
          <a:xfrm>
            <a:off x="1441450" y="2763838"/>
            <a:ext cx="25336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0 1.0 0 1 1</a:t>
            </a:r>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83977" name="Text Box 11"/>
          <p:cNvSpPr txBox="1"/>
          <p:nvPr/>
        </p:nvSpPr>
        <p:spPr>
          <a:xfrm>
            <a:off x="774700" y="2439988"/>
            <a:ext cx="80962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X|  0 0.1 1 0 1                         C</a:t>
            </a:r>
            <a:r>
              <a:rPr lang="en-US" altLang="zh-CN" sz="2400" b="1" baseline="-30000" dirty="0">
                <a:solidFill>
                  <a:srgbClr val="0000FF"/>
                </a:solidFill>
                <a:latin typeface="Times New Roman" panose="02020603050405020304" pitchFamily="18" charset="0"/>
                <a:ea typeface="宋体" panose="02010600030101010101" pitchFamily="2" charset="-122"/>
              </a:rPr>
              <a:t>4</a:t>
            </a:r>
            <a:r>
              <a:rPr lang="en-US" altLang="zh-CN" sz="2400" b="1" dirty="0">
                <a:solidFill>
                  <a:srgbClr val="0000FF"/>
                </a:solidFill>
                <a:latin typeface="Times New Roman" panose="02020603050405020304" pitchFamily="18" charset="0"/>
                <a:ea typeface="宋体" panose="02010600030101010101" pitchFamily="2" charset="-122"/>
              </a:rPr>
              <a:t>=1，+|X|</a:t>
            </a:r>
            <a:endParaRPr lang="en-US" altLang="zh-CN" sz="2400" b="1" dirty="0">
              <a:solidFill>
                <a:srgbClr val="0000FF"/>
              </a:solidFill>
              <a:latin typeface="Times New Roman" panose="02020603050405020304" pitchFamily="18" charset="0"/>
              <a:ea typeface="宋体" panose="02010600030101010101" pitchFamily="2" charset="-122"/>
            </a:endParaRPr>
          </a:p>
        </p:txBody>
      </p:sp>
      <p:sp>
        <p:nvSpPr>
          <p:cNvPr id="83978" name="Text Box 12"/>
          <p:cNvSpPr txBox="1"/>
          <p:nvPr/>
        </p:nvSpPr>
        <p:spPr>
          <a:xfrm>
            <a:off x="869950" y="3067050"/>
            <a:ext cx="7981950" cy="425450"/>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Times New Roman" panose="02020603050405020304" pitchFamily="18" charset="0"/>
                <a:ea typeface="宋体" panose="02010600030101010101" pitchFamily="2" charset="-122"/>
              </a:rPr>
              <a:t>→   0 0.1 0 0 1     1 1 1 0        部分积右移一位</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83979" name="Text Box 13"/>
          <p:cNvSpPr txBox="1"/>
          <p:nvPr/>
        </p:nvSpPr>
        <p:spPr>
          <a:xfrm>
            <a:off x="793750" y="3335338"/>
            <a:ext cx="80962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+0    0 0.0 0 0 0                         </a:t>
            </a:r>
            <a:r>
              <a:rPr lang="en-US" altLang="zh-CN" sz="2400" b="1" dirty="0">
                <a:solidFill>
                  <a:srgbClr val="0000FF"/>
                </a:solidFill>
                <a:latin typeface="Times New Roman" panose="02020603050405020304" pitchFamily="18" charset="0"/>
                <a:ea typeface="宋体" panose="02010600030101010101" pitchFamily="2" charset="-122"/>
              </a:rPr>
              <a:t>C</a:t>
            </a:r>
            <a:r>
              <a:rPr lang="en-US" altLang="zh-CN" sz="2400" b="1" baseline="-30000" dirty="0">
                <a:solidFill>
                  <a:srgbClr val="0000FF"/>
                </a:solidFill>
                <a:latin typeface="Times New Roman" panose="02020603050405020304" pitchFamily="18" charset="0"/>
                <a:ea typeface="宋体" panose="02010600030101010101" pitchFamily="2" charset="-122"/>
              </a:rPr>
              <a:t>4</a:t>
            </a:r>
            <a:r>
              <a:rPr lang="en-US" altLang="zh-CN" sz="2400" b="1" dirty="0">
                <a:solidFill>
                  <a:srgbClr val="0000FF"/>
                </a:solidFill>
                <a:latin typeface="Times New Roman" panose="02020603050405020304" pitchFamily="18" charset="0"/>
                <a:ea typeface="宋体" panose="02010600030101010101" pitchFamily="2" charset="-122"/>
              </a:rPr>
              <a:t>=0，+0</a:t>
            </a:r>
            <a:endParaRPr lang="en-US" altLang="zh-CN" sz="2400" b="1" dirty="0">
              <a:solidFill>
                <a:srgbClr val="0000FF"/>
              </a:solidFill>
              <a:latin typeface="Times New Roman" panose="02020603050405020304" pitchFamily="18" charset="0"/>
              <a:ea typeface="宋体" panose="02010600030101010101" pitchFamily="2" charset="-122"/>
            </a:endParaRPr>
          </a:p>
        </p:txBody>
      </p:sp>
      <p:sp>
        <p:nvSpPr>
          <p:cNvPr id="83980" name="Line 14"/>
          <p:cNvSpPr/>
          <p:nvPr/>
        </p:nvSpPr>
        <p:spPr>
          <a:xfrm>
            <a:off x="889000" y="3754438"/>
            <a:ext cx="3067050" cy="0"/>
          </a:xfrm>
          <a:prstGeom prst="line">
            <a:avLst/>
          </a:prstGeom>
          <a:ln w="9525" cap="sq" cmpd="sng">
            <a:solidFill>
              <a:srgbClr val="7A48C4"/>
            </a:solidFill>
            <a:prstDash val="solid"/>
            <a:round/>
            <a:headEnd type="none" w="sm" len="sm"/>
            <a:tailEnd type="none" w="sm" len="sm"/>
          </a:ln>
        </p:spPr>
      </p:sp>
      <p:sp>
        <p:nvSpPr>
          <p:cNvPr id="83981" name="Text Box 15"/>
          <p:cNvSpPr txBox="1"/>
          <p:nvPr/>
        </p:nvSpPr>
        <p:spPr>
          <a:xfrm>
            <a:off x="1422400" y="3659188"/>
            <a:ext cx="24003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0 0.1 0 0 1</a:t>
            </a:r>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83982" name="Text Box 16"/>
          <p:cNvSpPr txBox="1"/>
          <p:nvPr/>
        </p:nvSpPr>
        <p:spPr>
          <a:xfrm>
            <a:off x="908050" y="3943350"/>
            <a:ext cx="8343900" cy="420688"/>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Times New Roman" panose="02020603050405020304" pitchFamily="18" charset="0"/>
                <a:ea typeface="宋体" panose="02010600030101010101" pitchFamily="2" charset="-122"/>
              </a:rPr>
              <a:t>→   0 0.0 1 0 0     1 1 1 1        部分积右移一位</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83983" name="Text Box 17"/>
          <p:cNvSpPr txBox="1"/>
          <p:nvPr/>
        </p:nvSpPr>
        <p:spPr>
          <a:xfrm>
            <a:off x="793750" y="4230688"/>
            <a:ext cx="80962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a:t>
            </a:r>
            <a:r>
              <a:rPr lang="en-US" altLang="zh-CN" sz="2400" b="1" dirty="0">
                <a:solidFill>
                  <a:srgbClr val="0000FF"/>
                </a:solidFill>
                <a:latin typeface="Times New Roman" panose="02020603050405020304" pitchFamily="18" charset="0"/>
                <a:ea typeface="宋体" panose="02010600030101010101" pitchFamily="2" charset="-122"/>
              </a:rPr>
              <a:t>X|  0 0.1 1 0 1                        C</a:t>
            </a:r>
            <a:r>
              <a:rPr lang="en-US" altLang="zh-CN" sz="2400" b="1" baseline="-30000" dirty="0">
                <a:solidFill>
                  <a:srgbClr val="0000FF"/>
                </a:solidFill>
                <a:latin typeface="Times New Roman" panose="02020603050405020304" pitchFamily="18" charset="0"/>
                <a:ea typeface="宋体" panose="02010600030101010101" pitchFamily="2" charset="-122"/>
              </a:rPr>
              <a:t>4</a:t>
            </a:r>
            <a:r>
              <a:rPr lang="en-US" altLang="zh-CN" sz="2400" b="1" dirty="0">
                <a:solidFill>
                  <a:srgbClr val="0000FF"/>
                </a:solidFill>
                <a:latin typeface="Times New Roman" panose="02020603050405020304" pitchFamily="18" charset="0"/>
                <a:ea typeface="宋体" panose="02010600030101010101" pitchFamily="2" charset="-122"/>
              </a:rPr>
              <a:t>=1，+|X|</a:t>
            </a:r>
            <a:endParaRPr lang="en-US" altLang="zh-CN" sz="2400" b="1" dirty="0">
              <a:solidFill>
                <a:srgbClr val="0000FF"/>
              </a:solidFill>
              <a:latin typeface="Times New Roman" panose="02020603050405020304" pitchFamily="18" charset="0"/>
              <a:ea typeface="宋体" panose="02010600030101010101" pitchFamily="2" charset="-122"/>
            </a:endParaRPr>
          </a:p>
        </p:txBody>
      </p:sp>
      <p:sp>
        <p:nvSpPr>
          <p:cNvPr id="83984" name="Line 18"/>
          <p:cNvSpPr/>
          <p:nvPr/>
        </p:nvSpPr>
        <p:spPr>
          <a:xfrm>
            <a:off x="889000" y="4668838"/>
            <a:ext cx="3067050" cy="0"/>
          </a:xfrm>
          <a:prstGeom prst="line">
            <a:avLst/>
          </a:prstGeom>
          <a:ln w="9525" cap="sq" cmpd="sng">
            <a:solidFill>
              <a:srgbClr val="7A48C4"/>
            </a:solidFill>
            <a:prstDash val="solid"/>
            <a:round/>
            <a:headEnd type="none" w="sm" len="sm"/>
            <a:tailEnd type="none" w="sm" len="sm"/>
          </a:ln>
        </p:spPr>
      </p:sp>
      <p:sp>
        <p:nvSpPr>
          <p:cNvPr id="83985" name="Text Box 19"/>
          <p:cNvSpPr txBox="1"/>
          <p:nvPr/>
        </p:nvSpPr>
        <p:spPr>
          <a:xfrm>
            <a:off x="1479550" y="4554538"/>
            <a:ext cx="24003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Times New Roman" panose="02020603050405020304" pitchFamily="18" charset="0"/>
                <a:ea typeface="宋体" panose="02010600030101010101" pitchFamily="2" charset="-122"/>
              </a:rPr>
              <a:t>0 1.0 0 0 1</a:t>
            </a:r>
            <a:endParaRPr lang="zh-CN" altLang="en-US" sz="2400" b="1" dirty="0">
              <a:solidFill>
                <a:srgbClr val="0000FF"/>
              </a:solidFill>
              <a:latin typeface="Times New Roman" panose="02020603050405020304" pitchFamily="18" charset="0"/>
              <a:ea typeface="宋体" panose="02010600030101010101" pitchFamily="2" charset="-122"/>
            </a:endParaRPr>
          </a:p>
        </p:txBody>
      </p:sp>
      <p:sp>
        <p:nvSpPr>
          <p:cNvPr id="83986" name="Text Box 20"/>
          <p:cNvSpPr txBox="1"/>
          <p:nvPr/>
        </p:nvSpPr>
        <p:spPr>
          <a:xfrm>
            <a:off x="908050" y="4857750"/>
            <a:ext cx="7943850" cy="439738"/>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Times New Roman" panose="02020603050405020304" pitchFamily="18" charset="0"/>
                <a:ea typeface="宋体" panose="02010600030101010101" pitchFamily="2" charset="-122"/>
              </a:rPr>
              <a:t>→   0 0.1 0 0 0     1 1 1 1        部分积右移一位</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83987" name="Line 22"/>
          <p:cNvSpPr/>
          <p:nvPr/>
        </p:nvSpPr>
        <p:spPr>
          <a:xfrm>
            <a:off x="3822700" y="1620838"/>
            <a:ext cx="171450" cy="0"/>
          </a:xfrm>
          <a:prstGeom prst="line">
            <a:avLst/>
          </a:prstGeom>
          <a:ln w="57150" cap="sq" cmpd="sng">
            <a:solidFill>
              <a:srgbClr val="FF3300"/>
            </a:solidFill>
            <a:prstDash val="solid"/>
            <a:round/>
            <a:headEnd type="none" w="sm" len="sm"/>
            <a:tailEnd type="none" w="sm" len="sm"/>
          </a:ln>
        </p:spPr>
      </p:sp>
      <p:sp>
        <p:nvSpPr>
          <p:cNvPr id="83988" name="Line 23"/>
          <p:cNvSpPr/>
          <p:nvPr/>
        </p:nvSpPr>
        <p:spPr>
          <a:xfrm>
            <a:off x="3860800" y="2573338"/>
            <a:ext cx="171450" cy="0"/>
          </a:xfrm>
          <a:prstGeom prst="line">
            <a:avLst/>
          </a:prstGeom>
          <a:ln w="57150" cap="sq" cmpd="sng">
            <a:solidFill>
              <a:srgbClr val="FF3300"/>
            </a:solidFill>
            <a:prstDash val="solid"/>
            <a:round/>
            <a:headEnd type="none" w="sm" len="sm"/>
            <a:tailEnd type="none" w="sm" len="sm"/>
          </a:ln>
        </p:spPr>
      </p:sp>
      <p:sp>
        <p:nvSpPr>
          <p:cNvPr id="83989" name="Line 24"/>
          <p:cNvSpPr/>
          <p:nvPr/>
        </p:nvSpPr>
        <p:spPr>
          <a:xfrm>
            <a:off x="3841750" y="3487738"/>
            <a:ext cx="171450" cy="0"/>
          </a:xfrm>
          <a:prstGeom prst="line">
            <a:avLst/>
          </a:prstGeom>
          <a:ln w="57150" cap="sq" cmpd="sng">
            <a:solidFill>
              <a:srgbClr val="FF3300"/>
            </a:solidFill>
            <a:prstDash val="solid"/>
            <a:round/>
            <a:headEnd type="none" w="sm" len="sm"/>
            <a:tailEnd type="none" w="sm" len="sm"/>
          </a:ln>
        </p:spPr>
      </p:sp>
      <p:sp>
        <p:nvSpPr>
          <p:cNvPr id="83990" name="Line 25"/>
          <p:cNvSpPr/>
          <p:nvPr/>
        </p:nvSpPr>
        <p:spPr>
          <a:xfrm>
            <a:off x="3860800" y="4383088"/>
            <a:ext cx="171450" cy="0"/>
          </a:xfrm>
          <a:prstGeom prst="line">
            <a:avLst/>
          </a:prstGeom>
          <a:ln w="57150" cap="sq" cmpd="sng">
            <a:solidFill>
              <a:srgbClr val="FF3300"/>
            </a:solidFill>
            <a:prstDash val="solid"/>
            <a:round/>
            <a:headEnd type="none" w="sm" len="sm"/>
            <a:tailEnd type="none" w="sm" len="sm"/>
          </a:ln>
        </p:spPr>
      </p:sp>
      <p:sp>
        <p:nvSpPr>
          <p:cNvPr id="83991" name="Text Box 21"/>
          <p:cNvSpPr txBox="1"/>
          <p:nvPr/>
        </p:nvSpPr>
        <p:spPr>
          <a:xfrm>
            <a:off x="1809750" y="5416550"/>
            <a:ext cx="5791200" cy="1160463"/>
          </a:xfrm>
          <a:prstGeom prst="rect">
            <a:avLst/>
          </a:prstGeom>
          <a:noFill/>
          <a:ln w="57150">
            <a:noFill/>
          </a:ln>
        </p:spPr>
        <p:txBody>
          <a:bodyPr anchor="t" anchorCtr="0">
            <a:spAutoFit/>
          </a:bodyPr>
          <a:p>
            <a:pPr algn="just" eaLnBrk="0" hangingPunct="0">
              <a:spcBef>
                <a:spcPct val="50000"/>
              </a:spcBef>
            </a:pPr>
            <a:r>
              <a:rPr lang="zh-CN" altLang="en-US" sz="2800" b="1" dirty="0">
                <a:solidFill>
                  <a:schemeClr val="tx1"/>
                </a:solidFill>
                <a:latin typeface="Times New Roman" panose="02020603050405020304" pitchFamily="18" charset="0"/>
                <a:ea typeface="宋体" panose="02010600030101010101" pitchFamily="2" charset="-122"/>
              </a:rPr>
              <a:t>∵</a:t>
            </a:r>
            <a:r>
              <a:rPr lang="en-US" altLang="zh-CN" sz="2800" b="1" dirty="0">
                <a:solidFill>
                  <a:schemeClr val="tx1"/>
                </a:solidFill>
                <a:latin typeface="Times New Roman" panose="02020603050405020304" pitchFamily="18" charset="0"/>
                <a:ea typeface="宋体" panose="02010600030101010101" pitchFamily="2" charset="-122"/>
              </a:rPr>
              <a:t>P</a:t>
            </a:r>
            <a:r>
              <a:rPr lang="en-US" altLang="zh-CN" sz="2800" b="1" baseline="-25000" dirty="0">
                <a:solidFill>
                  <a:schemeClr val="tx1"/>
                </a:solidFill>
                <a:latin typeface="Times New Roman" panose="02020603050405020304" pitchFamily="18" charset="0"/>
                <a:ea typeface="宋体" panose="02010600030101010101" pitchFamily="2" charset="-122"/>
              </a:rPr>
              <a:t>S</a:t>
            </a:r>
            <a:r>
              <a:rPr lang="en-US" altLang="zh-CN" sz="2800" b="1" dirty="0">
                <a:solidFill>
                  <a:schemeClr val="tx1"/>
                </a:solidFill>
                <a:latin typeface="Times New Roman" panose="02020603050405020304" pitchFamily="18" charset="0"/>
                <a:ea typeface="宋体" panose="02010600030101010101" pitchFamily="2" charset="-122"/>
              </a:rPr>
              <a:t>=X</a:t>
            </a:r>
            <a:r>
              <a:rPr lang="en-US" altLang="zh-CN" sz="2800" b="1" baseline="-25000" dirty="0">
                <a:solidFill>
                  <a:schemeClr val="tx1"/>
                </a:solidFill>
                <a:latin typeface="Times New Roman" panose="02020603050405020304" pitchFamily="18" charset="0"/>
                <a:ea typeface="宋体" panose="02010600030101010101" pitchFamily="2" charset="-122"/>
              </a:rPr>
              <a:t>S</a:t>
            </a:r>
            <a:r>
              <a:rPr lang="en-US" altLang="zh-CN" sz="2800" b="1" dirty="0">
                <a:solidFill>
                  <a:schemeClr val="tx1"/>
                </a:solidFill>
                <a:latin typeface="Times New Roman" panose="02020603050405020304" pitchFamily="18" charset="0"/>
                <a:ea typeface="宋体" panose="02010600030101010101" pitchFamily="2" charset="-122"/>
              </a:rPr>
              <a:t>⊕Y</a:t>
            </a:r>
            <a:r>
              <a:rPr lang="en-US" altLang="zh-CN" sz="2800" b="1" baseline="-25000" dirty="0">
                <a:solidFill>
                  <a:schemeClr val="tx1"/>
                </a:solidFill>
                <a:latin typeface="Times New Roman" panose="02020603050405020304" pitchFamily="18" charset="0"/>
                <a:ea typeface="宋体" panose="02010600030101010101" pitchFamily="2" charset="-122"/>
              </a:rPr>
              <a:t>S</a:t>
            </a:r>
            <a:r>
              <a:rPr lang="en-US" altLang="zh-CN" sz="2800" b="1" dirty="0">
                <a:solidFill>
                  <a:schemeClr val="tx1"/>
                </a:solidFill>
                <a:latin typeface="Times New Roman" panose="02020603050405020304" pitchFamily="18" charset="0"/>
                <a:ea typeface="宋体" panose="02010600030101010101" pitchFamily="2" charset="-122"/>
              </a:rPr>
              <a:t>=0⊕1=1</a:t>
            </a:r>
            <a:endParaRPr lang="en-US" altLang="zh-CN" sz="2800" b="1" dirty="0">
              <a:solidFill>
                <a:schemeClr val="tx1"/>
              </a:solidFill>
              <a:latin typeface="Times New Roman" panose="02020603050405020304" pitchFamily="18" charset="0"/>
              <a:ea typeface="宋体" panose="02010600030101010101" pitchFamily="2" charset="-122"/>
            </a:endParaRPr>
          </a:p>
          <a:p>
            <a:pPr algn="just" eaLnBrk="0" hangingPunct="0">
              <a:spcBef>
                <a:spcPct val="50000"/>
              </a:spcBef>
            </a:pPr>
            <a:r>
              <a:rPr lang="en-US" altLang="zh-CN" sz="2800" b="1" dirty="0">
                <a:solidFill>
                  <a:schemeClr val="tx1"/>
                </a:solidFill>
                <a:latin typeface="Times New Roman" panose="02020603050405020304" pitchFamily="18" charset="0"/>
                <a:ea typeface="宋体" panose="02010600030101010101" pitchFamily="2" charset="-122"/>
              </a:rPr>
              <a:t>∴X</a:t>
            </a: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1" dirty="0">
                <a:solidFill>
                  <a:schemeClr val="tx1"/>
                </a:solidFill>
                <a:latin typeface="Times New Roman" panose="02020603050405020304" pitchFamily="18" charset="0"/>
                <a:ea typeface="宋体" panose="02010600030101010101" pitchFamily="2" charset="-122"/>
              </a:rPr>
              <a:t>Y=</a:t>
            </a:r>
            <a:r>
              <a:rPr lang="en-US" altLang="zh-CN" sz="2800" b="1" dirty="0">
                <a:solidFill>
                  <a:srgbClr val="FF3300"/>
                </a:solidFill>
                <a:latin typeface="Times New Roman" panose="02020603050405020304" pitchFamily="18" charset="0"/>
                <a:ea typeface="宋体" panose="02010600030101010101" pitchFamily="2" charset="-122"/>
              </a:rPr>
              <a:t>-0.10001111</a:t>
            </a:r>
            <a:r>
              <a:rPr lang="en-US" altLang="zh-CN" sz="2800" b="1" dirty="0">
                <a:solidFill>
                  <a:schemeClr val="tx1"/>
                </a:solidFill>
                <a:latin typeface="Times New Roman" panose="02020603050405020304" pitchFamily="18" charset="0"/>
                <a:ea typeface="宋体" panose="02010600030101010101" pitchFamily="2" charset="-122"/>
              </a:rPr>
              <a:t> </a:t>
            </a:r>
            <a:endParaRPr lang="en-US" altLang="zh-CN" sz="2800" b="1" dirty="0">
              <a:solidFill>
                <a:schemeClr val="tx1"/>
              </a:solidFill>
              <a:latin typeface="Times New Roman" panose="02020603050405020304" pitchFamily="18" charset="0"/>
              <a:ea typeface="宋体" panose="02010600030101010101" pitchFamily="2" charset="-122"/>
            </a:endParaRPr>
          </a:p>
        </p:txBody>
      </p:sp>
      <p:sp>
        <p:nvSpPr>
          <p:cNvPr id="83992" name="文本框 1"/>
          <p:cNvSpPr txBox="1"/>
          <p:nvPr/>
        </p:nvSpPr>
        <p:spPr>
          <a:xfrm>
            <a:off x="1809750" y="863600"/>
            <a:ext cx="530225" cy="400050"/>
          </a:xfrm>
          <a:prstGeom prst="rect">
            <a:avLst/>
          </a:prstGeom>
          <a:noFill/>
          <a:ln w="9525">
            <a:noFill/>
          </a:ln>
        </p:spPr>
        <p:txBody>
          <a:bodyPr anchor="t" anchorCtr="0">
            <a:spAutoFit/>
          </a:bodyPr>
          <a:p>
            <a:pPr eaLnBrk="0" hangingPunct="0"/>
            <a:r>
              <a:rPr lang="en-US" altLang="zh-CN" sz="2000" b="1" dirty="0">
                <a:solidFill>
                  <a:srgbClr val="FF0000"/>
                </a:solidFill>
                <a:latin typeface="Arial" panose="020B0604020202020204" pitchFamily="34" charset="0"/>
              </a:rPr>
              <a:t>A</a:t>
            </a:r>
            <a:endParaRPr lang="zh-CN" altLang="en-US" sz="2000" b="1" dirty="0">
              <a:solidFill>
                <a:srgbClr val="FF0000"/>
              </a:solidFill>
              <a:latin typeface="Arial" panose="020B0604020202020204" pitchFamily="34" charset="0"/>
            </a:endParaRPr>
          </a:p>
        </p:txBody>
      </p:sp>
      <p:sp>
        <p:nvSpPr>
          <p:cNvPr id="83993" name="文本框 25"/>
          <p:cNvSpPr txBox="1"/>
          <p:nvPr/>
        </p:nvSpPr>
        <p:spPr>
          <a:xfrm>
            <a:off x="3478213" y="863600"/>
            <a:ext cx="530225" cy="400050"/>
          </a:xfrm>
          <a:prstGeom prst="rect">
            <a:avLst/>
          </a:prstGeom>
          <a:noFill/>
          <a:ln w="9525">
            <a:noFill/>
          </a:ln>
        </p:spPr>
        <p:txBody>
          <a:bodyPr anchor="t" anchorCtr="0">
            <a:spAutoFit/>
          </a:bodyPr>
          <a:p>
            <a:pPr eaLnBrk="0" hangingPunct="0"/>
            <a:r>
              <a:rPr lang="en-US" altLang="zh-CN" sz="2000" b="1" dirty="0">
                <a:solidFill>
                  <a:srgbClr val="FF0000"/>
                </a:solidFill>
                <a:latin typeface="Arial" panose="020B0604020202020204" pitchFamily="34" charset="0"/>
              </a:rPr>
              <a:t>C</a:t>
            </a:r>
            <a:endParaRPr lang="zh-CN" altLang="en-US" sz="2000" b="1" dirty="0">
              <a:solidFill>
                <a:srgbClr val="FF0000"/>
              </a:solidFill>
              <a:latin typeface="Arial" panose="020B0604020202020204" pitchFamily="34" charset="0"/>
            </a:endParaRPr>
          </a:p>
        </p:txBody>
      </p:sp>
      <p:sp>
        <p:nvSpPr>
          <p:cNvPr id="83994" name="文本框 26"/>
          <p:cNvSpPr txBox="1"/>
          <p:nvPr/>
        </p:nvSpPr>
        <p:spPr>
          <a:xfrm>
            <a:off x="5289550" y="849313"/>
            <a:ext cx="865188" cy="400050"/>
          </a:xfrm>
          <a:prstGeom prst="rect">
            <a:avLst/>
          </a:prstGeom>
          <a:noFill/>
          <a:ln w="9525">
            <a:noFill/>
          </a:ln>
        </p:spPr>
        <p:txBody>
          <a:bodyPr anchor="t" anchorCtr="0">
            <a:spAutoFit/>
          </a:bodyPr>
          <a:p>
            <a:pPr eaLnBrk="0" hangingPunct="0">
              <a:buSzTx/>
            </a:pPr>
            <a:r>
              <a:rPr lang="zh-CN" altLang="en-US" sz="2000" b="1" dirty="0">
                <a:solidFill>
                  <a:srgbClr val="FF0000"/>
                </a:solidFill>
                <a:latin typeface="黑体" panose="02010609060101010101" pitchFamily="49" charset="-122"/>
                <a:ea typeface="黑体" panose="02010609060101010101" pitchFamily="49" charset="-122"/>
              </a:rPr>
              <a:t>说明</a:t>
            </a:r>
            <a:endParaRPr lang="zh-CN" altLang="en-US" sz="2000" b="1" dirty="0">
              <a:solidFill>
                <a:srgbClr val="FF0000"/>
              </a:solidFill>
              <a:latin typeface="黑体" panose="02010609060101010101" pitchFamily="49" charset="-122"/>
              <a:ea typeface="黑体" panose="02010609060101010101" pitchFamily="49" charset="-122"/>
            </a:endParaRPr>
          </a:p>
        </p:txBody>
      </p:sp>
      <p:sp>
        <p:nvSpPr>
          <p:cNvPr id="83995" name="矩形 2"/>
          <p:cNvSpPr/>
          <p:nvPr/>
        </p:nvSpPr>
        <p:spPr>
          <a:xfrm>
            <a:off x="4803775" y="374650"/>
            <a:ext cx="3152775" cy="369888"/>
          </a:xfrm>
          <a:prstGeom prst="rect">
            <a:avLst/>
          </a:prstGeom>
          <a:noFill/>
          <a:ln w="9525">
            <a:noFill/>
          </a:ln>
        </p:spPr>
        <p:txBody>
          <a:bodyPr anchor="t" anchorCtr="0">
            <a:spAutoFit/>
          </a:bodyPr>
          <a:p>
            <a:pPr eaLnBrk="0" hangingPunct="0"/>
            <a:r>
              <a:rPr lang="en-US" altLang="zh-CN" dirty="0">
                <a:solidFill>
                  <a:srgbClr val="000066"/>
                </a:solidFill>
                <a:latin typeface="Arial" panose="020B0604020202020204" pitchFamily="34" charset="0"/>
              </a:rPr>
              <a:t>|X|=00.1101→B</a:t>
            </a:r>
            <a:r>
              <a:rPr lang="zh-CN" altLang="en-US" dirty="0">
                <a:solidFill>
                  <a:srgbClr val="000066"/>
                </a:solidFill>
                <a:latin typeface="黑体" panose="02010609060101010101" pitchFamily="49" charset="-122"/>
                <a:ea typeface="黑体" panose="02010609060101010101" pitchFamily="49" charset="-122"/>
              </a:rPr>
              <a:t>（被乘数）</a:t>
            </a:r>
            <a:endParaRPr lang="zh-CN" altLang="en-US" dirty="0">
              <a:solidFill>
                <a:srgbClr val="000066"/>
              </a:solidFill>
              <a:latin typeface="黑体" panose="02010609060101010101" pitchFamily="49" charset="-122"/>
              <a:ea typeface="黑体" panose="02010609060101010101" pitchFamily="49" charset="-122"/>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6017"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原码一位乘法流程图 </a:t>
            </a:r>
            <a:endParaRPr lang="zh-CN" altLang="en-US" dirty="0">
              <a:latin typeface="Times New Roman" panose="02020603050405020304" pitchFamily="18" charset="0"/>
            </a:endParaRPr>
          </a:p>
        </p:txBody>
      </p:sp>
      <p:sp>
        <p:nvSpPr>
          <p:cNvPr id="5" name="矩形 4"/>
          <p:cNvSpPr/>
          <p:nvPr/>
        </p:nvSpPr>
        <p:spPr>
          <a:xfrm>
            <a:off x="4832350" y="5795963"/>
            <a:ext cx="4056063" cy="461963"/>
          </a:xfrm>
          <a:prstGeom prst="rect">
            <a:avLst/>
          </a:prstGeom>
        </p:spPr>
        <p:txBody>
          <a:bodyPr wrap="none">
            <a:spAutoFit/>
          </a:bodyPr>
          <a:lstStyle/>
          <a:p>
            <a:pPr marL="0" marR="0" lvl="0" indent="0" algn="ctr" defTabSz="914400" rtl="0" eaLnBrk="1" fontAlgn="base" latinLnBrk="0" hangingPunct="1">
              <a:lnSpc>
                <a:spcPct val="100000"/>
              </a:lnSpc>
              <a:spcBef>
                <a:spcPct val="0"/>
              </a:spcBef>
              <a:spcAft>
                <a:spcPct val="0"/>
              </a:spcAft>
              <a:buClrTx/>
              <a:buSzTx/>
              <a:buFontTx/>
              <a:buNone/>
              <a:defRPr/>
            </a:pPr>
            <a:r>
              <a:rPr kumimoji="0"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图4-11 原码一位乘法流程图</a:t>
            </a:r>
            <a:endParaRPr kumimoji="0" lang="zh-CN" altLang="zh-CN" sz="2400" b="1"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86019" name="文本框 1"/>
          <p:cNvSpPr txBox="1"/>
          <p:nvPr/>
        </p:nvSpPr>
        <p:spPr>
          <a:xfrm>
            <a:off x="5567363" y="1417638"/>
            <a:ext cx="2749550" cy="922337"/>
          </a:xfrm>
          <a:prstGeom prst="rect">
            <a:avLst/>
          </a:prstGeom>
          <a:noFill/>
          <a:ln w="9525">
            <a:noFill/>
          </a:ln>
        </p:spPr>
        <p:txBody>
          <a:bodyPr wrap="square" anchor="t" anchorCtr="0">
            <a:spAutoFit/>
          </a:bodyPr>
          <a:p>
            <a:pPr marL="285750" indent="-285750" algn="just" eaLnBrk="0" hangingPunct="0">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被乘数放在</a:t>
            </a:r>
            <a:r>
              <a:rPr lang="en-US" altLang="zh-CN" dirty="0">
                <a:solidFill>
                  <a:srgbClr val="0000FF"/>
                </a:solidFill>
                <a:latin typeface="Times New Roman" panose="02020603050405020304" pitchFamily="18" charset="0"/>
                <a:ea typeface="宋体" panose="02010600030101010101" pitchFamily="2" charset="-122"/>
              </a:rPr>
              <a:t>B</a:t>
            </a:r>
            <a:r>
              <a:rPr lang="zh-CN" altLang="en-US" dirty="0">
                <a:solidFill>
                  <a:srgbClr val="0000FF"/>
                </a:solidFill>
                <a:latin typeface="Times New Roman" panose="02020603050405020304" pitchFamily="18" charset="0"/>
                <a:ea typeface="宋体" panose="02010600030101010101" pitchFamily="2" charset="-122"/>
              </a:rPr>
              <a:t>中，乘数放在</a:t>
            </a:r>
            <a:r>
              <a:rPr lang="en-US" altLang="zh-CN" dirty="0">
                <a:solidFill>
                  <a:srgbClr val="0000FF"/>
                </a:solidFill>
                <a:latin typeface="Times New Roman" panose="02020603050405020304" pitchFamily="18" charset="0"/>
                <a:ea typeface="宋体" panose="02010600030101010101" pitchFamily="2" charset="-122"/>
              </a:rPr>
              <a:t>C</a:t>
            </a:r>
            <a:r>
              <a:rPr lang="zh-CN" altLang="en-US" dirty="0">
                <a:solidFill>
                  <a:srgbClr val="0000FF"/>
                </a:solidFill>
                <a:latin typeface="Times New Roman" panose="02020603050405020304" pitchFamily="18" charset="0"/>
                <a:ea typeface="宋体" panose="02010600030101010101" pitchFamily="2" charset="-122"/>
              </a:rPr>
              <a:t>中，</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初值为</a:t>
            </a:r>
            <a:r>
              <a:rPr lang="en-US" altLang="zh-CN" dirty="0">
                <a:solidFill>
                  <a:srgbClr val="0000FF"/>
                </a:solidFill>
                <a:latin typeface="Times New Roman" panose="02020603050405020304" pitchFamily="18" charset="0"/>
                <a:ea typeface="宋体" panose="02010600030101010101" pitchFamily="2" charset="-122"/>
              </a:rPr>
              <a:t>0</a:t>
            </a:r>
            <a:r>
              <a:rPr lang="zh-CN" altLang="en-US" dirty="0">
                <a:solidFill>
                  <a:srgbClr val="0000FF"/>
                </a:solidFill>
                <a:latin typeface="Times New Roman" panose="02020603050405020304" pitchFamily="18" charset="0"/>
                <a:ea typeface="宋体" panose="02010600030101010101" pitchFamily="2" charset="-122"/>
              </a:rPr>
              <a:t>，计数器初值为</a:t>
            </a:r>
            <a:r>
              <a:rPr lang="en-US" altLang="zh-CN" dirty="0">
                <a:solidFill>
                  <a:srgbClr val="0000FF"/>
                </a:solidFill>
                <a:latin typeface="Times New Roman" panose="02020603050405020304" pitchFamily="18" charset="0"/>
                <a:ea typeface="宋体" panose="02010600030101010101" pitchFamily="2" charset="-122"/>
              </a:rPr>
              <a:t>0.</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86020" name="文本框 5"/>
          <p:cNvSpPr txBox="1"/>
          <p:nvPr/>
        </p:nvSpPr>
        <p:spPr>
          <a:xfrm>
            <a:off x="5567363" y="2606675"/>
            <a:ext cx="2749550" cy="1198563"/>
          </a:xfrm>
          <a:prstGeom prst="rect">
            <a:avLst/>
          </a:prstGeom>
          <a:noFill/>
          <a:ln w="9525">
            <a:noFill/>
          </a:ln>
        </p:spPr>
        <p:txBody>
          <a:bodyPr wrap="square" anchor="t" anchorCtr="0">
            <a:spAutoFit/>
          </a:bodyPr>
          <a:p>
            <a:pPr marL="285750" indent="-285750" algn="just" eaLnBrk="0" hangingPunct="0">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逐次判断乘数</a:t>
            </a:r>
            <a:r>
              <a:rPr lang="en-US" altLang="zh-CN" dirty="0">
                <a:solidFill>
                  <a:srgbClr val="0000FF"/>
                </a:solidFill>
                <a:latin typeface="Times New Roman" panose="02020603050405020304" pitchFamily="18" charset="0"/>
                <a:ea typeface="宋体" panose="02010600030101010101" pitchFamily="2" charset="-122"/>
              </a:rPr>
              <a:t>C</a:t>
            </a:r>
            <a:r>
              <a:rPr lang="zh-CN" altLang="en-US" dirty="0">
                <a:solidFill>
                  <a:srgbClr val="0000FF"/>
                </a:solidFill>
                <a:latin typeface="Times New Roman" panose="02020603050405020304" pitchFamily="18" charset="0"/>
                <a:ea typeface="宋体" panose="02010600030101010101" pitchFamily="2" charset="-122"/>
              </a:rPr>
              <a:t>的低位是否为</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；若为</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，则加上被乘数</a:t>
            </a:r>
            <a:r>
              <a:rPr lang="en-US" altLang="zh-CN" dirty="0">
                <a:solidFill>
                  <a:srgbClr val="0000FF"/>
                </a:solidFill>
                <a:latin typeface="Times New Roman" panose="02020603050405020304" pitchFamily="18" charset="0"/>
                <a:ea typeface="宋体" panose="02010600030101010101" pitchFamily="2" charset="-122"/>
              </a:rPr>
              <a:t>B</a:t>
            </a:r>
            <a:r>
              <a:rPr lang="zh-CN" altLang="en-US" dirty="0">
                <a:solidFill>
                  <a:srgbClr val="0000FF"/>
                </a:solidFill>
                <a:latin typeface="Times New Roman" panose="02020603050405020304" pitchFamily="18" charset="0"/>
                <a:ea typeface="宋体" panose="02010600030101010101" pitchFamily="2" charset="-122"/>
              </a:rPr>
              <a:t>后，右移</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位；乘数右移</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位。</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86021" name="文本框 6"/>
          <p:cNvSpPr txBox="1"/>
          <p:nvPr/>
        </p:nvSpPr>
        <p:spPr>
          <a:xfrm>
            <a:off x="5567363" y="4095750"/>
            <a:ext cx="2749550" cy="922338"/>
          </a:xfrm>
          <a:prstGeom prst="rect">
            <a:avLst/>
          </a:prstGeom>
          <a:noFill/>
          <a:ln w="9525">
            <a:noFill/>
          </a:ln>
        </p:spPr>
        <p:txBody>
          <a:bodyPr wrap="square" anchor="t" anchorCtr="0">
            <a:spAutoFit/>
          </a:bodyPr>
          <a:p>
            <a:pPr marL="285750" indent="-285750" algn="just" eaLnBrk="0" hangingPunct="0">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计数器</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，判断是否已经完成运算；</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algn="just" eaLnBrk="0" hangingPunct="0">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此处</a:t>
            </a:r>
            <a:r>
              <a:rPr lang="en-US" altLang="zh-CN" dirty="0">
                <a:solidFill>
                  <a:srgbClr val="0000FF"/>
                </a:solidFill>
                <a:latin typeface="Times New Roman" panose="02020603050405020304" pitchFamily="18" charset="0"/>
                <a:ea typeface="宋体" panose="02010600030101010101" pitchFamily="2" charset="-122"/>
              </a:rPr>
              <a:t>n=4</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86022" name="文本框 7"/>
          <p:cNvSpPr txBox="1"/>
          <p:nvPr/>
        </p:nvSpPr>
        <p:spPr>
          <a:xfrm>
            <a:off x="5567363" y="5238750"/>
            <a:ext cx="2749550" cy="368300"/>
          </a:xfrm>
          <a:prstGeom prst="rect">
            <a:avLst/>
          </a:prstGeom>
          <a:noFill/>
          <a:ln w="9525">
            <a:noFill/>
          </a:ln>
        </p:spPr>
        <p:txBody>
          <a:bodyPr wrap="square" anchor="t" anchorCtr="0">
            <a:spAutoFit/>
          </a:bodyPr>
          <a:p>
            <a:pPr marL="285750" indent="-285750" algn="just" eaLnBrk="0" hangingPunct="0">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符号位另外计算。</a:t>
            </a:r>
            <a:endParaRPr lang="zh-CN" altLang="en-US" dirty="0">
              <a:solidFill>
                <a:srgbClr val="0000FF"/>
              </a:solidFill>
              <a:latin typeface="Times New Roman" panose="02020603050405020304" pitchFamily="18" charset="0"/>
              <a:ea typeface="宋体" panose="02010600030101010101" pitchFamily="2" charset="-122"/>
            </a:endParaRPr>
          </a:p>
        </p:txBody>
      </p:sp>
      <p:pic>
        <p:nvPicPr>
          <p:cNvPr id="86023" name="图片 2"/>
          <p:cNvPicPr>
            <a:picLocks noChangeAspect="1"/>
          </p:cNvPicPr>
          <p:nvPr/>
        </p:nvPicPr>
        <p:blipFill>
          <a:blip r:embed="rId1"/>
          <a:srcRect r="33244"/>
          <a:stretch>
            <a:fillRect/>
          </a:stretch>
        </p:blipFill>
        <p:spPr>
          <a:xfrm>
            <a:off x="623888" y="1039813"/>
            <a:ext cx="5187950" cy="5534025"/>
          </a:xfrm>
          <a:prstGeom prst="rect">
            <a:avLst/>
          </a:prstGeom>
          <a:noFill/>
          <a:ln w="9525">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704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原码一位乘法运算的实现</a:t>
            </a:r>
            <a:endParaRPr lang="zh-CN" altLang="en-US" dirty="0">
              <a:latin typeface="Times New Roman" panose="02020603050405020304" pitchFamily="18" charset="0"/>
            </a:endParaRPr>
          </a:p>
        </p:txBody>
      </p:sp>
      <p:sp>
        <p:nvSpPr>
          <p:cNvPr id="87042" name="内容占位符 2"/>
          <p:cNvSpPr>
            <a:spLocks noGrp="1"/>
          </p:cNvSpPr>
          <p:nvPr>
            <p:ph idx="1"/>
          </p:nvPr>
        </p:nvSpPr>
        <p:spPr>
          <a:xfrm>
            <a:off x="457200" y="1385888"/>
            <a:ext cx="8229600" cy="4922837"/>
          </a:xfrm>
          <a:noFill/>
          <a:ln>
            <a:noFill/>
          </a:ln>
        </p:spPr>
        <p:txBody>
          <a:bodyPr anchor="t" anchorCtr="0"/>
          <a:p>
            <a:pPr>
              <a:spcBef>
                <a:spcPts val="1200"/>
              </a:spcBef>
            </a:pPr>
            <a:r>
              <a:rPr lang="zh-CN" altLang="en-US" sz="2400" dirty="0">
                <a:latin typeface="Times New Roman" panose="02020603050405020304" pitchFamily="18" charset="0"/>
              </a:rPr>
              <a:t>图</a:t>
            </a:r>
            <a:r>
              <a:rPr lang="en-US" altLang="zh-CN" sz="2400" dirty="0">
                <a:latin typeface="Times New Roman" panose="02020603050405020304" pitchFamily="18" charset="0"/>
              </a:rPr>
              <a:t>4-12</a:t>
            </a:r>
            <a:r>
              <a:rPr lang="zh-CN" altLang="en-US" sz="2400" dirty="0">
                <a:latin typeface="Times New Roman" panose="02020603050405020304" pitchFamily="18" charset="0"/>
              </a:rPr>
              <a:t>（</a:t>
            </a:r>
            <a:r>
              <a:rPr lang="en-US" altLang="zh-CN" sz="2400" dirty="0">
                <a:latin typeface="Times New Roman" panose="02020603050405020304" pitchFamily="18" charset="0"/>
              </a:rPr>
              <a:t>p93)A</a:t>
            </a:r>
            <a:r>
              <a:rPr lang="zh-CN" altLang="en-US" sz="2400" dirty="0">
                <a:latin typeface="Times New Roman" panose="02020603050405020304" pitchFamily="18" charset="0"/>
              </a:rPr>
              <a:t>、</a:t>
            </a:r>
            <a:r>
              <a:rPr lang="en-US" altLang="zh-CN" sz="2400" dirty="0">
                <a:latin typeface="Times New Roman" panose="02020603050405020304" pitchFamily="18" charset="0"/>
              </a:rPr>
              <a:t>B</a:t>
            </a:r>
            <a:r>
              <a:rPr lang="zh-CN" altLang="en-US" sz="2400" dirty="0">
                <a:latin typeface="Times New Roman" panose="02020603050405020304" pitchFamily="18" charset="0"/>
              </a:rPr>
              <a:t>是</a:t>
            </a:r>
            <a:r>
              <a:rPr lang="en-US" altLang="zh-CN" sz="2400" dirty="0">
                <a:latin typeface="Times New Roman" panose="02020603050405020304" pitchFamily="18" charset="0"/>
              </a:rPr>
              <a:t>n+2</a:t>
            </a:r>
            <a:r>
              <a:rPr lang="zh-CN" altLang="en-US" sz="2400" dirty="0">
                <a:latin typeface="Times New Roman" panose="02020603050405020304" pitchFamily="18" charset="0"/>
              </a:rPr>
              <a:t>位的寄存器，</a:t>
            </a:r>
            <a:r>
              <a:rPr lang="en-US" altLang="zh-CN" sz="2400" dirty="0">
                <a:latin typeface="Times New Roman" panose="02020603050405020304" pitchFamily="18" charset="0"/>
              </a:rPr>
              <a:t>C</a:t>
            </a:r>
            <a:r>
              <a:rPr lang="zh-CN" altLang="en-US" sz="2400" dirty="0">
                <a:latin typeface="Times New Roman" panose="02020603050405020304" pitchFamily="18" charset="0"/>
              </a:rPr>
              <a:t>是</a:t>
            </a:r>
            <a:r>
              <a:rPr lang="en-US" altLang="zh-CN" sz="2400" dirty="0">
                <a:latin typeface="Times New Roman" panose="02020603050405020304" pitchFamily="18" charset="0"/>
              </a:rPr>
              <a:t>n</a:t>
            </a:r>
            <a:r>
              <a:rPr lang="zh-CN" altLang="en-US" sz="2400" dirty="0">
                <a:latin typeface="Times New Roman" panose="02020603050405020304" pitchFamily="18" charset="0"/>
              </a:rPr>
              <a:t>位的寄存器；</a:t>
            </a:r>
            <a:endParaRPr lang="zh-CN" altLang="en-US" sz="2400" dirty="0">
              <a:latin typeface="Times New Roman" panose="02020603050405020304" pitchFamily="18" charset="0"/>
            </a:endParaRPr>
          </a:p>
          <a:p>
            <a:pPr>
              <a:spcBef>
                <a:spcPts val="1200"/>
              </a:spcBef>
            </a:pPr>
            <a:r>
              <a:rPr lang="en-US" altLang="zh-CN" sz="2400" dirty="0">
                <a:solidFill>
                  <a:srgbClr val="FF0000"/>
                </a:solidFill>
                <a:latin typeface="Times New Roman" panose="02020603050405020304" pitchFamily="18" charset="0"/>
              </a:rPr>
              <a:t>A</a:t>
            </a:r>
            <a:r>
              <a:rPr lang="zh-CN" altLang="en-US" sz="2400" dirty="0">
                <a:solidFill>
                  <a:srgbClr val="FF0000"/>
                </a:solidFill>
                <a:latin typeface="Times New Roman" panose="02020603050405020304" pitchFamily="18" charset="0"/>
              </a:rPr>
              <a:t>寄存器和</a:t>
            </a:r>
            <a:r>
              <a:rPr lang="en-US" altLang="zh-CN" sz="2400" dirty="0">
                <a:solidFill>
                  <a:srgbClr val="FF0000"/>
                </a:solidFill>
                <a:latin typeface="Times New Roman" panose="02020603050405020304" pitchFamily="18" charset="0"/>
              </a:rPr>
              <a:t>C</a:t>
            </a:r>
            <a:r>
              <a:rPr lang="zh-CN" altLang="en-US" sz="2400" dirty="0">
                <a:solidFill>
                  <a:srgbClr val="FF0000"/>
                </a:solidFill>
                <a:latin typeface="Times New Roman" panose="02020603050405020304" pitchFamily="18" charset="0"/>
              </a:rPr>
              <a:t>寄存器级联</a:t>
            </a:r>
            <a:r>
              <a:rPr lang="zh-CN" altLang="en-US" sz="2400" dirty="0">
                <a:latin typeface="Times New Roman" panose="02020603050405020304" pitchFamily="18" charset="0"/>
              </a:rPr>
              <a:t>在一起，具有右移一位的功能；</a:t>
            </a:r>
            <a:endParaRPr lang="zh-CN" altLang="en-US" sz="2400" dirty="0">
              <a:latin typeface="Times New Roman" panose="02020603050405020304" pitchFamily="18" charset="0"/>
            </a:endParaRPr>
          </a:p>
          <a:p>
            <a:pPr>
              <a:spcBef>
                <a:spcPts val="1200"/>
              </a:spcBef>
            </a:pPr>
            <a:r>
              <a:rPr lang="zh-CN" altLang="en-US" sz="2400" dirty="0">
                <a:latin typeface="Times New Roman" panose="02020603050405020304" pitchFamily="18" charset="0"/>
              </a:rPr>
              <a:t>右移控制信号作用下：</a:t>
            </a:r>
            <a:r>
              <a:rPr lang="en-US" altLang="zh-CN" sz="2400" dirty="0">
                <a:solidFill>
                  <a:srgbClr val="FF0000"/>
                </a:solidFill>
                <a:latin typeface="Times New Roman" panose="02020603050405020304" pitchFamily="18" charset="0"/>
              </a:rPr>
              <a:t>A</a:t>
            </a:r>
            <a:r>
              <a:rPr lang="zh-CN" altLang="en-US" sz="2400" dirty="0">
                <a:solidFill>
                  <a:srgbClr val="FF0000"/>
                </a:solidFill>
                <a:latin typeface="Times New Roman" panose="02020603050405020304" pitchFamily="18" charset="0"/>
              </a:rPr>
              <a:t>最低一位的值移入</a:t>
            </a:r>
            <a:r>
              <a:rPr lang="en-US" altLang="zh-CN" sz="2400" dirty="0">
                <a:solidFill>
                  <a:srgbClr val="FF0000"/>
                </a:solidFill>
                <a:latin typeface="Times New Roman" panose="02020603050405020304" pitchFamily="18" charset="0"/>
              </a:rPr>
              <a:t>C</a:t>
            </a:r>
            <a:r>
              <a:rPr lang="zh-CN" altLang="en-US" sz="2400" dirty="0">
                <a:solidFill>
                  <a:srgbClr val="FF0000"/>
                </a:solidFill>
                <a:latin typeface="Times New Roman" panose="02020603050405020304" pitchFamily="18" charset="0"/>
              </a:rPr>
              <a:t>的最高位</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a:spcBef>
                <a:spcPts val="1200"/>
              </a:spcBef>
            </a:pPr>
            <a:r>
              <a:rPr lang="en-US" altLang="zh-CN" sz="2400" dirty="0">
                <a:latin typeface="Times New Roman" panose="02020603050405020304" pitchFamily="18" charset="0"/>
              </a:rPr>
              <a:t>C</a:t>
            </a:r>
            <a:r>
              <a:rPr lang="zh-CN" altLang="en-US" sz="2400" dirty="0">
                <a:latin typeface="Times New Roman" panose="02020603050405020304" pitchFamily="18" charset="0"/>
              </a:rPr>
              <a:t>寄存器的最低位作为控制信号，控制加或不加被乘数；</a:t>
            </a:r>
            <a:endParaRPr lang="en-US" altLang="zh-CN" sz="2400" dirty="0">
              <a:latin typeface="Times New Roman" panose="02020603050405020304" pitchFamily="18" charset="0"/>
            </a:endParaRPr>
          </a:p>
          <a:p>
            <a:pPr>
              <a:spcBef>
                <a:spcPts val="1200"/>
              </a:spcBef>
            </a:pPr>
            <a:r>
              <a:rPr lang="en-US" altLang="zh-CN" sz="2400" dirty="0">
                <a:latin typeface="Times New Roman" panose="02020603050405020304" pitchFamily="18" charset="0"/>
              </a:rPr>
              <a:t>C</a:t>
            </a:r>
            <a:r>
              <a:rPr lang="zh-CN" altLang="en-US" sz="2400" dirty="0">
                <a:latin typeface="Times New Roman" panose="02020603050405020304" pitchFamily="18" charset="0"/>
              </a:rPr>
              <a:t>寄存器中的乘数在逐次右移中，取而代之乘积的低位；</a:t>
            </a:r>
            <a:endParaRPr lang="en-US" altLang="zh-CN" sz="2400" dirty="0">
              <a:latin typeface="Times New Roman" panose="02020603050405020304" pitchFamily="18" charset="0"/>
            </a:endParaRPr>
          </a:p>
          <a:p>
            <a:pPr>
              <a:spcBef>
                <a:spcPts val="1200"/>
              </a:spcBef>
            </a:pPr>
            <a:r>
              <a:rPr lang="zh-CN" altLang="en-US" sz="2400" dirty="0">
                <a:latin typeface="Times New Roman" panose="02020603050405020304" pitchFamily="18" charset="0"/>
              </a:rPr>
              <a:t>原码一位乘法运算器电路中除去三个寄存器外，还需要：</a:t>
            </a:r>
            <a:endParaRPr lang="zh-CN" altLang="en-US" sz="2400" dirty="0">
              <a:latin typeface="Times New Roman" panose="02020603050405020304" pitchFamily="18" charset="0"/>
            </a:endParaRPr>
          </a:p>
          <a:p>
            <a:pPr lvl="1" latinLnBrk="0">
              <a:spcBef>
                <a:spcPts val="600"/>
              </a:spcBef>
            </a:pPr>
            <a:r>
              <a:rPr lang="zh-CN" altLang="en-US" sz="2400" dirty="0">
                <a:latin typeface="Times New Roman" panose="02020603050405020304" pitchFamily="18" charset="0"/>
              </a:rPr>
              <a:t>一个</a:t>
            </a:r>
            <a:r>
              <a:rPr lang="en-US" altLang="zh-CN" sz="2400" dirty="0">
                <a:latin typeface="Times New Roman" panose="02020603050405020304" pitchFamily="18" charset="0"/>
              </a:rPr>
              <a:t>n+2</a:t>
            </a:r>
            <a:r>
              <a:rPr lang="zh-CN" altLang="en-US" sz="2400" dirty="0">
                <a:latin typeface="Times New Roman" panose="02020603050405020304" pitchFamily="18" charset="0"/>
              </a:rPr>
              <a:t>位的加法器；</a:t>
            </a:r>
            <a:endParaRPr lang="zh-CN" altLang="en-US" sz="2400" dirty="0">
              <a:latin typeface="Times New Roman" panose="02020603050405020304" pitchFamily="18" charset="0"/>
            </a:endParaRPr>
          </a:p>
          <a:p>
            <a:pPr lvl="1" latinLnBrk="0">
              <a:spcBef>
                <a:spcPts val="600"/>
              </a:spcBef>
            </a:pPr>
            <a:r>
              <a:rPr lang="zh-CN" altLang="en-US" sz="2400" dirty="0">
                <a:latin typeface="Times New Roman" panose="02020603050405020304" pitchFamily="18" charset="0"/>
              </a:rPr>
              <a:t>一个计数器；</a:t>
            </a:r>
            <a:endParaRPr lang="zh-CN" altLang="en-US" sz="2400" dirty="0">
              <a:latin typeface="Times New Roman" panose="02020603050405020304" pitchFamily="18" charset="0"/>
            </a:endParaRPr>
          </a:p>
          <a:p>
            <a:pPr lvl="1" latinLnBrk="0">
              <a:spcBef>
                <a:spcPts val="600"/>
              </a:spcBef>
            </a:pPr>
            <a:r>
              <a:rPr lang="en-US" altLang="zh-CN" sz="2400" dirty="0">
                <a:latin typeface="Times New Roman" panose="02020603050405020304" pitchFamily="18" charset="0"/>
              </a:rPr>
              <a:t>n+2</a:t>
            </a:r>
            <a:r>
              <a:rPr lang="zh-CN" altLang="en-US" sz="2400" dirty="0">
                <a:latin typeface="Times New Roman" panose="02020603050405020304" pitchFamily="18" charset="0"/>
              </a:rPr>
              <a:t>个与门（控制是否加被乘数）；</a:t>
            </a:r>
            <a:endParaRPr lang="zh-CN" altLang="en-US" sz="2400" dirty="0">
              <a:latin typeface="Times New Roman" panose="02020603050405020304" pitchFamily="18" charset="0"/>
            </a:endParaRPr>
          </a:p>
          <a:p>
            <a:pPr lvl="1" latinLnBrk="0">
              <a:spcBef>
                <a:spcPts val="600"/>
              </a:spcBef>
            </a:pPr>
            <a:r>
              <a:rPr lang="zh-CN" altLang="en-US" sz="2400" dirty="0">
                <a:latin typeface="Times New Roman" panose="02020603050405020304" pitchFamily="18" charset="0"/>
              </a:rPr>
              <a:t>一个异或门（处理符号位）。</a:t>
            </a:r>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8065" name="标题 1"/>
          <p:cNvSpPr>
            <a:spLocks noGrp="1"/>
          </p:cNvSpPr>
          <p:nvPr>
            <p:ph type="title"/>
          </p:nvPr>
        </p:nvSpPr>
        <p:spPr>
          <a:noFill/>
          <a:ln>
            <a:noFill/>
          </a:ln>
        </p:spPr>
        <p:txBody>
          <a:bodyPr anchor="t" anchorCtr="0"/>
          <a:p>
            <a:r>
              <a:rPr lang="zh-CN" altLang="en-US" dirty="0"/>
              <a:t>*</a:t>
            </a:r>
            <a:r>
              <a:rPr lang="en-US" altLang="zh-CN" dirty="0"/>
              <a:t>4.4.2 </a:t>
            </a:r>
            <a:r>
              <a:rPr lang="zh-CN" altLang="en-US" dirty="0"/>
              <a:t>补码一位乘法 </a:t>
            </a:r>
            <a:endParaRPr lang="zh-CN" altLang="en-US" dirty="0"/>
          </a:p>
        </p:txBody>
      </p:sp>
      <p:sp>
        <p:nvSpPr>
          <p:cNvPr id="88066" name="内容占位符 2"/>
          <p:cNvSpPr>
            <a:spLocks noGrp="1"/>
          </p:cNvSpPr>
          <p:nvPr>
            <p:ph idx="1"/>
          </p:nvPr>
        </p:nvSpPr>
        <p:spPr>
          <a:noFill/>
          <a:ln>
            <a:noFill/>
          </a:ln>
        </p:spPr>
        <p:txBody>
          <a:bodyPr anchor="t" anchorCtr="0"/>
          <a:p>
            <a:r>
              <a:rPr lang="en-US" altLang="zh-CN" dirty="0"/>
              <a:t>1.</a:t>
            </a:r>
            <a:r>
              <a:rPr lang="zh-CN" altLang="en-US" dirty="0"/>
              <a:t>校正法</a:t>
            </a:r>
            <a:endParaRPr lang="zh-CN" altLang="en-US" dirty="0"/>
          </a:p>
          <a:p>
            <a:pPr lvl="1"/>
            <a:r>
              <a:rPr lang="zh-CN" altLang="en-US" dirty="0"/>
              <a:t>校正法是将</a:t>
            </a:r>
            <a:r>
              <a:rPr lang="en-US" altLang="zh-CN" dirty="0"/>
              <a:t>[X]</a:t>
            </a:r>
            <a:r>
              <a:rPr lang="zh-CN" altLang="en-US" baseline="-25000" dirty="0"/>
              <a:t>补</a:t>
            </a:r>
            <a:r>
              <a:rPr lang="zh-CN" altLang="en-US" dirty="0"/>
              <a:t>和</a:t>
            </a:r>
            <a:r>
              <a:rPr lang="en-US" altLang="zh-CN" dirty="0"/>
              <a:t>[Y]</a:t>
            </a:r>
            <a:r>
              <a:rPr lang="zh-CN" altLang="en-US" baseline="-25000" dirty="0"/>
              <a:t>补</a:t>
            </a:r>
            <a:r>
              <a:rPr lang="zh-CN" altLang="en-US" dirty="0"/>
              <a:t>按原码规则运算，所得结果根据情况再加以校正，从而得到正确的</a:t>
            </a:r>
            <a:r>
              <a:rPr lang="en-US" altLang="zh-CN" dirty="0"/>
              <a:t>[X×Y]</a:t>
            </a:r>
            <a:r>
              <a:rPr lang="zh-CN" altLang="en-US" baseline="-25000" dirty="0"/>
              <a:t>补</a:t>
            </a:r>
            <a:r>
              <a:rPr lang="zh-CN" altLang="en-US" dirty="0"/>
              <a:t>。补码乘法的统一表达式：</a:t>
            </a:r>
            <a:endParaRPr lang="zh-CN" altLang="en-US" dirty="0"/>
          </a:p>
        </p:txBody>
      </p:sp>
      <p:sp>
        <p:nvSpPr>
          <p:cNvPr id="88067" name="矩形 3"/>
          <p:cNvSpPr/>
          <p:nvPr/>
        </p:nvSpPr>
        <p:spPr>
          <a:xfrm>
            <a:off x="1797050" y="3692525"/>
            <a:ext cx="5549900" cy="431800"/>
          </a:xfrm>
          <a:prstGeom prst="rect">
            <a:avLst/>
          </a:prstGeom>
          <a:noFill/>
          <a:ln w="9525">
            <a:noFill/>
          </a:ln>
        </p:spPr>
        <p:txBody>
          <a:bodyPr wrap="none" anchor="t" anchorCtr="0">
            <a:spAutoFit/>
          </a:bodyPr>
          <a:p>
            <a:pPr algn="just">
              <a:lnSpc>
                <a:spcPct val="90000"/>
              </a:lnSpc>
            </a:pPr>
            <a:r>
              <a:rPr lang="zh-CN" altLang="en-US" sz="2400" dirty="0">
                <a:solidFill>
                  <a:srgbClr val="FF3300"/>
                </a:solidFill>
                <a:latin typeface="Arial" panose="020B0604020202020204" pitchFamily="34" charset="0"/>
              </a:rPr>
              <a:t>[</a:t>
            </a:r>
            <a:r>
              <a:rPr lang="en-US" altLang="zh-CN" sz="2400" dirty="0">
                <a:solidFill>
                  <a:srgbClr val="FF3300"/>
                </a:solidFill>
                <a:latin typeface="Arial" panose="020B0604020202020204" pitchFamily="34" charset="0"/>
              </a:rPr>
              <a:t>X×Y]</a:t>
            </a:r>
            <a:r>
              <a:rPr lang="zh-CN" altLang="en-US" sz="2400" baseline="-30000" dirty="0">
                <a:solidFill>
                  <a:srgbClr val="FF3300"/>
                </a:solidFill>
                <a:latin typeface="Arial" panose="020B0604020202020204" pitchFamily="34" charset="0"/>
                <a:ea typeface="楷体_GB2312" pitchFamily="49" charset="-122"/>
              </a:rPr>
              <a:t>补</a:t>
            </a:r>
            <a:r>
              <a:rPr lang="zh-CN" altLang="en-US" sz="2400" dirty="0">
                <a:solidFill>
                  <a:srgbClr val="FF3300"/>
                </a:solidFill>
                <a:latin typeface="Arial" panose="020B0604020202020204" pitchFamily="34" charset="0"/>
              </a:rPr>
              <a:t>=[</a:t>
            </a:r>
            <a:r>
              <a:rPr lang="en-US" altLang="zh-CN" sz="2400" dirty="0">
                <a:solidFill>
                  <a:srgbClr val="FF3300"/>
                </a:solidFill>
                <a:latin typeface="Arial" panose="020B0604020202020204" pitchFamily="34" charset="0"/>
              </a:rPr>
              <a:t>X]</a:t>
            </a:r>
            <a:r>
              <a:rPr lang="zh-CN" altLang="en-US" sz="2400" baseline="-30000" dirty="0">
                <a:solidFill>
                  <a:srgbClr val="FF3300"/>
                </a:solidFill>
                <a:latin typeface="Arial" panose="020B0604020202020204" pitchFamily="34" charset="0"/>
                <a:ea typeface="楷体_GB2312" pitchFamily="49" charset="-122"/>
              </a:rPr>
              <a:t>补</a:t>
            </a:r>
            <a:r>
              <a:rPr lang="zh-CN" altLang="en-US" sz="2400" dirty="0">
                <a:solidFill>
                  <a:srgbClr val="FF3300"/>
                </a:solidFill>
                <a:latin typeface="Arial" panose="020B0604020202020204" pitchFamily="34" charset="0"/>
                <a:ea typeface="楷体_GB2312" pitchFamily="49" charset="-122"/>
              </a:rPr>
              <a:t>×</a:t>
            </a:r>
            <a:r>
              <a:rPr lang="zh-CN" altLang="en-US" sz="2400" dirty="0">
                <a:solidFill>
                  <a:srgbClr val="FF3300"/>
                </a:solidFill>
                <a:latin typeface="Arial" panose="020B0604020202020204" pitchFamily="34" charset="0"/>
              </a:rPr>
              <a:t>(0.</a:t>
            </a:r>
            <a:r>
              <a:rPr lang="en-US" altLang="zh-CN" sz="2400" dirty="0">
                <a:solidFill>
                  <a:srgbClr val="FF3300"/>
                </a:solidFill>
                <a:latin typeface="Arial" panose="020B0604020202020204" pitchFamily="34" charset="0"/>
              </a:rPr>
              <a:t>Y</a:t>
            </a:r>
            <a:r>
              <a:rPr lang="en-US" altLang="zh-CN" sz="2400" baseline="-30000" dirty="0">
                <a:solidFill>
                  <a:srgbClr val="FF3300"/>
                </a:solidFill>
                <a:latin typeface="Arial" panose="020B0604020202020204" pitchFamily="34" charset="0"/>
              </a:rPr>
              <a:t>1</a:t>
            </a:r>
            <a:r>
              <a:rPr lang="en-US" altLang="zh-CN" sz="2400" dirty="0">
                <a:solidFill>
                  <a:srgbClr val="FF3300"/>
                </a:solidFill>
                <a:latin typeface="Arial" panose="020B0604020202020204" pitchFamily="34" charset="0"/>
              </a:rPr>
              <a:t>Y</a:t>
            </a:r>
            <a:r>
              <a:rPr lang="en-US" altLang="zh-CN" sz="2400" baseline="-30000" dirty="0">
                <a:solidFill>
                  <a:srgbClr val="FF3300"/>
                </a:solidFill>
                <a:latin typeface="Arial" panose="020B0604020202020204" pitchFamily="34" charset="0"/>
              </a:rPr>
              <a:t>2</a:t>
            </a:r>
            <a:r>
              <a:rPr lang="en-US" altLang="zh-CN" sz="2400" dirty="0">
                <a:solidFill>
                  <a:srgbClr val="FF3300"/>
                </a:solidFill>
                <a:latin typeface="Arial" panose="020B0604020202020204" pitchFamily="34" charset="0"/>
                <a:ea typeface="楷体_GB2312" pitchFamily="49" charset="-122"/>
              </a:rPr>
              <a:t>…</a:t>
            </a:r>
            <a:r>
              <a:rPr lang="en-US" altLang="zh-CN" sz="2400" dirty="0">
                <a:solidFill>
                  <a:srgbClr val="FF3300"/>
                </a:solidFill>
                <a:latin typeface="Arial" panose="020B0604020202020204" pitchFamily="34" charset="0"/>
              </a:rPr>
              <a:t>Y</a:t>
            </a:r>
            <a:r>
              <a:rPr lang="en-US" altLang="zh-CN" sz="2400" baseline="-30000" dirty="0">
                <a:solidFill>
                  <a:srgbClr val="FF3300"/>
                </a:solidFill>
                <a:latin typeface="Arial" panose="020B0604020202020204" pitchFamily="34" charset="0"/>
              </a:rPr>
              <a:t>n</a:t>
            </a:r>
            <a:r>
              <a:rPr lang="en-US" altLang="zh-CN" sz="2400" dirty="0">
                <a:solidFill>
                  <a:srgbClr val="FF3300"/>
                </a:solidFill>
                <a:latin typeface="Arial" panose="020B0604020202020204" pitchFamily="34" charset="0"/>
              </a:rPr>
              <a:t>)+[-X]</a:t>
            </a:r>
            <a:r>
              <a:rPr lang="zh-CN" altLang="en-US" sz="2400" baseline="-30000" dirty="0">
                <a:solidFill>
                  <a:srgbClr val="FF3300"/>
                </a:solidFill>
                <a:latin typeface="Arial" panose="020B0604020202020204" pitchFamily="34" charset="0"/>
                <a:ea typeface="楷体_GB2312" pitchFamily="49" charset="-122"/>
              </a:rPr>
              <a:t>补</a:t>
            </a:r>
            <a:r>
              <a:rPr lang="zh-CN" altLang="en-US" sz="2400" dirty="0">
                <a:solidFill>
                  <a:srgbClr val="FF3300"/>
                </a:solidFill>
                <a:latin typeface="Arial" panose="020B0604020202020204" pitchFamily="34" charset="0"/>
                <a:ea typeface="楷体_GB2312" pitchFamily="49" charset="-122"/>
              </a:rPr>
              <a:t>×</a:t>
            </a:r>
            <a:r>
              <a:rPr lang="en-US" altLang="zh-CN" sz="2400" dirty="0">
                <a:solidFill>
                  <a:srgbClr val="FF3300"/>
                </a:solidFill>
                <a:latin typeface="Arial" panose="020B0604020202020204" pitchFamily="34" charset="0"/>
              </a:rPr>
              <a:t>Y</a:t>
            </a:r>
            <a:r>
              <a:rPr lang="en-US" altLang="zh-CN" sz="2400" baseline="-30000" dirty="0">
                <a:solidFill>
                  <a:srgbClr val="FF3300"/>
                </a:solidFill>
                <a:latin typeface="Arial" panose="020B0604020202020204" pitchFamily="34" charset="0"/>
              </a:rPr>
              <a:t>s</a:t>
            </a:r>
            <a:endParaRPr lang="en-US" altLang="zh-CN" sz="2400" dirty="0">
              <a:solidFill>
                <a:srgbClr val="FF3300"/>
              </a:solidFill>
              <a:latin typeface="Arial" panose="020B0604020202020204" pitchFamily="34" charset="0"/>
              <a:ea typeface="楷体_GB2312" pitchFamily="49" charset="-122"/>
            </a:endParaRPr>
          </a:p>
        </p:txBody>
      </p:sp>
      <p:sp>
        <p:nvSpPr>
          <p:cNvPr id="2" name="文本框 1"/>
          <p:cNvSpPr txBox="1"/>
          <p:nvPr/>
        </p:nvSpPr>
        <p:spPr>
          <a:xfrm>
            <a:off x="1476375" y="4941888"/>
            <a:ext cx="5870575" cy="522288"/>
          </a:xfrm>
          <a:prstGeom prst="rect">
            <a:avLst/>
          </a:prstGeom>
          <a:noFill/>
        </p:spPr>
        <p:txBody>
          <a:bodyPr>
            <a:spAutoFit/>
          </a:bodyPr>
          <a:lstStyle/>
          <a:p>
            <a:pPr marR="0" algn="ctr" defTabSz="914400" eaLnBrk="0" hangingPunct="0">
              <a:buClrTx/>
              <a:buSzTx/>
              <a:buFontTx/>
              <a:defRPr/>
            </a:pPr>
            <a:r>
              <a:rPr kumimoji="0" lang="zh-CN" altLang="en-US" sz="2800" kern="1200" cap="none" spc="0" normalizeH="0" baseline="0" noProof="0" dirty="0">
                <a:solidFill>
                  <a:schemeClr val="accent6">
                    <a:lumMod val="50000"/>
                  </a:schemeClr>
                </a:solidFill>
                <a:latin typeface="+mn-ea"/>
                <a:ea typeface="+mn-ea"/>
                <a:cs typeface="+mn-cs"/>
              </a:rPr>
              <a:t>补码的符号位要参与运算</a:t>
            </a:r>
            <a:endParaRPr kumimoji="0" lang="zh-CN" altLang="en-US" sz="2800" kern="1200" cap="none" spc="0" normalizeH="0" baseline="0" noProof="0" dirty="0">
              <a:solidFill>
                <a:schemeClr val="accent6">
                  <a:lumMod val="50000"/>
                </a:schemeClr>
              </a:solidFill>
              <a:latin typeface="+mn-ea"/>
              <a:ea typeface="+mn-ea"/>
              <a:cs typeface="+mn-c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908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比较法</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Booth</a:t>
            </a:r>
            <a:r>
              <a:rPr lang="zh-CN" altLang="en-US" dirty="0">
                <a:latin typeface="Times New Roman" panose="02020603050405020304" pitchFamily="18" charset="0"/>
              </a:rPr>
              <a:t>乘法 </a:t>
            </a:r>
            <a:endParaRPr lang="zh-CN" altLang="en-US" dirty="0">
              <a:latin typeface="Times New Roman" panose="02020603050405020304" pitchFamily="18" charset="0"/>
              <a:ea typeface="Times New Roman" panose="02020603050405020304" pitchFamily="18" charset="0"/>
            </a:endParaRPr>
          </a:p>
        </p:txBody>
      </p:sp>
      <p:sp>
        <p:nvSpPr>
          <p:cNvPr id="3" name="内容占位符 2"/>
          <p:cNvSpPr>
            <a:spLocks noGrp="1"/>
          </p:cNvSpPr>
          <p:nvPr>
            <p:ph idx="1"/>
          </p:nvPr>
        </p:nvSpPr>
        <p:spPr>
          <a:xfrm>
            <a:off x="479425" y="1417638"/>
            <a:ext cx="8229600" cy="4525963"/>
          </a:xfrm>
        </p:spPr>
        <p:txBody>
          <a:bodyPr/>
          <a:lstStyle/>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zh-CN" altLang="en-US"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递推公式：</a:t>
            </a:r>
            <a:endParaRPr kumimoji="0" lang="zh-CN" altLang="en-US"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None/>
              <a:defRPr/>
            </a:pPr>
            <a:r>
              <a:rPr kumimoji="0" lang="zh-CN" altLang="en-US"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endPar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[Z</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600" b="0" i="0" u="none" strike="noStrike" kern="0" cap="none" spc="0" normalizeH="0" baseline="30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[Z</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600" b="0" i="0" u="none" strike="noStrike" kern="0" cap="none" spc="0" normalizeH="0" baseline="30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[Z</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600" b="0" i="0" u="none" strike="noStrike" kern="0" cap="none" spc="0" normalizeH="0" baseline="30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∴[X×Y]</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=[Z</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n</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s</a:t>
            </a:r>
            <a:r>
              <a:rPr kumimoji="0" lang="en-US" altLang="zh-CN"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6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endParaRPr kumimoji="0" lang="zh-CN" altLang="en-US" sz="26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None/>
              <a:defRPr/>
            </a:pPr>
            <a:r>
              <a:rPr kumimoji="0" lang="zh-CN" altLang="en-US"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式中，</a:t>
            </a:r>
            <a:r>
              <a:rPr kumimoji="0" lang="en-US" altLang="zh-CN"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[Z</a:t>
            </a:r>
            <a:r>
              <a:rPr kumimoji="0" lang="en-US" altLang="zh-CN" sz="2600" b="1" i="0" u="none" strike="noStrike" kern="0" cap="none" spc="0" normalizeH="0" baseline="-25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0</a:t>
            </a:r>
            <a:r>
              <a:rPr kumimoji="0" lang="en-US" altLang="zh-CN"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zh-CN" altLang="en-US" sz="2600" b="1" i="0" u="none" strike="noStrike" kern="0" cap="none" spc="0" normalizeH="0" baseline="-25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补</a:t>
            </a:r>
            <a:r>
              <a:rPr kumimoji="0" lang="zh-CN" altLang="en-US"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为初始部分积，</a:t>
            </a:r>
            <a:r>
              <a:rPr kumimoji="0" lang="en-US" altLang="zh-CN"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[Z</a:t>
            </a:r>
            <a:r>
              <a:rPr kumimoji="0" lang="en-US" altLang="zh-CN" sz="2600" b="1" i="0" u="none" strike="noStrike" kern="0" cap="none" spc="0" normalizeH="0" baseline="-25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1</a:t>
            </a:r>
            <a:r>
              <a:rPr kumimoji="0" lang="en-US" altLang="zh-CN"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zh-CN" altLang="en-US" sz="2600" b="1" i="0" u="none" strike="noStrike" kern="0" cap="none" spc="0" normalizeH="0" baseline="-25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补</a:t>
            </a:r>
            <a:r>
              <a:rPr kumimoji="0" lang="zh-CN" altLang="en-US"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en-US" altLang="zh-CN"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[Z</a:t>
            </a:r>
            <a:r>
              <a:rPr kumimoji="0" lang="en-US" altLang="zh-CN" sz="2600" b="1" i="0" u="none" strike="noStrike" kern="0" cap="none" spc="0" normalizeH="0" baseline="-25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n</a:t>
            </a:r>
            <a:r>
              <a:rPr kumimoji="0" lang="en-US" altLang="zh-CN"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zh-CN" altLang="en-US" sz="2600" b="1" i="0" u="none" strike="noStrike" kern="0" cap="none" spc="0" normalizeH="0" baseline="-25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补</a:t>
            </a:r>
            <a:r>
              <a:rPr kumimoji="0" lang="zh-CN" altLang="en-US"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依次为各次求得的累加并右移之后的部分积。 </a:t>
            </a:r>
            <a:endParaRPr kumimoji="0" lang="zh-CN" altLang="en-US" sz="26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89091" name="文本框 1"/>
          <p:cNvSpPr txBox="1"/>
          <p:nvPr/>
        </p:nvSpPr>
        <p:spPr>
          <a:xfrm>
            <a:off x="6804025" y="2527300"/>
            <a:ext cx="1728788" cy="2032000"/>
          </a:xfrm>
          <a:prstGeom prst="rect">
            <a:avLst/>
          </a:prstGeom>
          <a:noFill/>
          <a:ln w="9525">
            <a:noFill/>
          </a:ln>
        </p:spPr>
        <p:txBody>
          <a:bodyPr anchor="t" anchorCtr="0">
            <a:spAutoFit/>
          </a:bodyPr>
          <a:p>
            <a:pPr algn="just" eaLnBrk="0" hangingPunct="0"/>
            <a:r>
              <a:rPr lang="zh-CN" altLang="en-US" dirty="0">
                <a:solidFill>
                  <a:srgbClr val="0000FF"/>
                </a:solidFill>
                <a:latin typeface="宋体" panose="02010600030101010101" pitchFamily="2" charset="-122"/>
                <a:ea typeface="宋体" panose="02010600030101010101" pitchFamily="2" charset="-122"/>
              </a:rPr>
              <a:t>部分积运算与乘数的相邻</a:t>
            </a:r>
            <a:r>
              <a:rPr lang="en-US" altLang="zh-CN" dirty="0">
                <a:solidFill>
                  <a:srgbClr val="0000FF"/>
                </a:solidFill>
                <a:latin typeface="宋体" panose="02010600030101010101" pitchFamily="2" charset="-122"/>
                <a:ea typeface="宋体" panose="02010600030101010101" pitchFamily="2" charset="-122"/>
              </a:rPr>
              <a:t>2</a:t>
            </a:r>
            <a:r>
              <a:rPr lang="zh-CN" altLang="en-US" dirty="0">
                <a:solidFill>
                  <a:srgbClr val="0000FF"/>
                </a:solidFill>
                <a:latin typeface="宋体" panose="02010600030101010101" pitchFamily="2" charset="-122"/>
                <a:ea typeface="宋体" panose="02010600030101010101" pitchFamily="2" charset="-122"/>
              </a:rPr>
              <a:t>位有关；</a:t>
            </a:r>
            <a:endParaRPr lang="en-US" altLang="zh-CN" dirty="0">
              <a:solidFill>
                <a:srgbClr val="0000FF"/>
              </a:solidFill>
              <a:latin typeface="宋体" panose="02010600030101010101" pitchFamily="2" charset="-122"/>
              <a:ea typeface="宋体" panose="02010600030101010101" pitchFamily="2" charset="-122"/>
            </a:endParaRPr>
          </a:p>
          <a:p>
            <a:pPr algn="just" eaLnBrk="0" hangingPunct="0"/>
            <a:endParaRPr lang="en-US" altLang="zh-CN" dirty="0">
              <a:solidFill>
                <a:srgbClr val="0000FF"/>
              </a:solidFill>
              <a:latin typeface="宋体" panose="02010600030101010101" pitchFamily="2" charset="-122"/>
              <a:ea typeface="宋体" panose="02010600030101010101" pitchFamily="2" charset="-122"/>
            </a:endParaRPr>
          </a:p>
          <a:p>
            <a:pPr algn="just" eaLnBrk="0" hangingPunct="0"/>
            <a:r>
              <a:rPr lang="zh-CN" altLang="en-US" dirty="0">
                <a:solidFill>
                  <a:srgbClr val="0000FF"/>
                </a:solidFill>
                <a:latin typeface="宋体" panose="02010600030101010101" pitchFamily="2" charset="-122"/>
                <a:ea typeface="宋体" panose="02010600030101010101" pitchFamily="2" charset="-122"/>
              </a:rPr>
              <a:t>根据相邻</a:t>
            </a:r>
            <a:r>
              <a:rPr lang="en-US" altLang="zh-CN" dirty="0">
                <a:solidFill>
                  <a:srgbClr val="0000FF"/>
                </a:solidFill>
                <a:latin typeface="宋体" panose="02010600030101010101" pitchFamily="2" charset="-122"/>
                <a:ea typeface="宋体" panose="02010600030101010101" pitchFamily="2" charset="-122"/>
              </a:rPr>
              <a:t>2</a:t>
            </a:r>
            <a:r>
              <a:rPr lang="zh-CN" altLang="en-US" dirty="0">
                <a:solidFill>
                  <a:srgbClr val="0000FF"/>
                </a:solidFill>
                <a:latin typeface="宋体" panose="02010600030101010101" pitchFamily="2" charset="-122"/>
                <a:ea typeface="宋体" panose="02010600030101010101" pitchFamily="2" charset="-122"/>
              </a:rPr>
              <a:t>位的值决定做加法还是减法。</a:t>
            </a:r>
            <a:endParaRPr lang="zh-CN" altLang="en-US" dirty="0">
              <a:solidFill>
                <a:srgbClr val="0000FF"/>
              </a:solidFill>
              <a:latin typeface="宋体" panose="02010600030101010101" pitchFamily="2" charset="-122"/>
              <a:ea typeface="宋体" panose="02010600030101010101" pitchFamily="2" charset="-122"/>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011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比较法</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Booth</a:t>
            </a:r>
            <a:r>
              <a:rPr lang="zh-CN" altLang="en-US" dirty="0">
                <a:latin typeface="Times New Roman" panose="02020603050405020304" pitchFamily="18" charset="0"/>
              </a:rPr>
              <a:t>乘法 （续） </a:t>
            </a:r>
            <a:endParaRPr lang="zh-CN" altLang="en-US" dirty="0">
              <a:latin typeface="Times New Roman" panose="02020603050405020304" pitchFamily="18" charset="0"/>
              <a:ea typeface="Times New Roman" panose="02020603050405020304" pitchFamily="18" charset="0"/>
            </a:endParaRPr>
          </a:p>
        </p:txBody>
      </p:sp>
      <p:sp>
        <p:nvSpPr>
          <p:cNvPr id="90114" name="内容占位符 2"/>
          <p:cNvSpPr>
            <a:spLocks noGrp="1"/>
          </p:cNvSpPr>
          <p:nvPr>
            <p:ph idx="1"/>
          </p:nvPr>
        </p:nvSpPr>
        <p:spPr>
          <a:xfrm>
            <a:off x="390525" y="1268413"/>
            <a:ext cx="8362950" cy="4964112"/>
          </a:xfrm>
          <a:noFill/>
          <a:ln>
            <a:noFill/>
          </a:ln>
        </p:spPr>
        <p:txBody>
          <a:bodyPr anchor="t" anchorCtr="0"/>
          <a:p>
            <a:r>
              <a:rPr lang="en-US" altLang="zh-CN" dirty="0">
                <a:latin typeface="Times New Roman" panose="02020603050405020304" pitchFamily="18" charset="0"/>
              </a:rPr>
              <a:t>Booth</a:t>
            </a:r>
            <a:r>
              <a:rPr lang="zh-CN" altLang="en-US" dirty="0">
                <a:latin typeface="Times New Roman" panose="02020603050405020304" pitchFamily="18" charset="0"/>
              </a:rPr>
              <a:t>乘法规则：</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⑴参加运算的数用补码表示；</a:t>
            </a:r>
            <a:endParaRPr lang="zh-CN" altLang="en-US" dirty="0">
              <a:latin typeface="Times New Roman" panose="02020603050405020304" pitchFamily="18" charset="0"/>
            </a:endParaRPr>
          </a:p>
          <a:p>
            <a:pPr lvl="1"/>
            <a:r>
              <a:rPr lang="zh-CN" altLang="en-US" dirty="0">
                <a:latin typeface="Times New Roman" panose="02020603050405020304" pitchFamily="18" charset="0"/>
              </a:rPr>
              <a:t>⑵符号位参加运算；</a:t>
            </a:r>
            <a:endParaRPr lang="zh-CN" altLang="en-US" dirty="0">
              <a:latin typeface="Times New Roman" panose="02020603050405020304" pitchFamily="18" charset="0"/>
            </a:endParaRPr>
          </a:p>
          <a:p>
            <a:pPr lvl="1"/>
            <a:r>
              <a:rPr lang="zh-CN" altLang="en-US" dirty="0">
                <a:latin typeface="Times New Roman" panose="02020603050405020304" pitchFamily="18" charset="0"/>
              </a:rPr>
              <a:t>⑶乘数最低位后面增加一位附加位</a:t>
            </a:r>
            <a:r>
              <a:rPr lang="en-US" altLang="zh-CN" dirty="0">
                <a:latin typeface="Times New Roman" panose="02020603050405020304" pitchFamily="18" charset="0"/>
              </a:rPr>
              <a:t>Y</a:t>
            </a:r>
            <a:r>
              <a:rPr lang="en-US" altLang="zh-CN" baseline="-25000" dirty="0">
                <a:latin typeface="Times New Roman" panose="02020603050405020304" pitchFamily="18" charset="0"/>
              </a:rPr>
              <a:t>n+1</a:t>
            </a:r>
            <a:r>
              <a:rPr lang="zh-CN" altLang="en-US" dirty="0">
                <a:latin typeface="Times New Roman" panose="02020603050405020304" pitchFamily="18" charset="0"/>
              </a:rPr>
              <a:t>，其初值为</a:t>
            </a:r>
            <a:r>
              <a:rPr lang="en-US" altLang="zh-CN" dirty="0">
                <a:latin typeface="Times New Roman" panose="02020603050405020304" pitchFamily="18" charset="0"/>
              </a:rPr>
              <a:t>0</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r>
              <a:rPr lang="zh-CN" altLang="en-US" dirty="0">
                <a:latin typeface="Times New Roman" panose="02020603050405020304" pitchFamily="18" charset="0"/>
              </a:rPr>
              <a:t>⑷由于每求一次部分积要右移一位，乘数的最低两位</a:t>
            </a:r>
            <a:r>
              <a:rPr lang="en-US" altLang="zh-CN" dirty="0">
                <a:latin typeface="Times New Roman" panose="02020603050405020304" pitchFamily="18" charset="0"/>
              </a:rPr>
              <a:t>Y</a:t>
            </a:r>
            <a:r>
              <a:rPr lang="en-US" altLang="zh-CN" baseline="-25000"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Y</a:t>
            </a:r>
            <a:r>
              <a:rPr lang="en-US" altLang="zh-CN" baseline="-25000" dirty="0">
                <a:latin typeface="Times New Roman" panose="02020603050405020304" pitchFamily="18" charset="0"/>
              </a:rPr>
              <a:t>n+1</a:t>
            </a:r>
            <a:r>
              <a:rPr lang="zh-CN" altLang="en-US" dirty="0">
                <a:latin typeface="Times New Roman" panose="02020603050405020304" pitchFamily="18" charset="0"/>
              </a:rPr>
              <a:t>的值决定了每次应执行的操作；</a:t>
            </a:r>
            <a:endParaRPr lang="zh-CN" altLang="en-US" dirty="0">
              <a:latin typeface="Times New Roman" panose="02020603050405020304" pitchFamily="18" charset="0"/>
            </a:endParaRPr>
          </a:p>
          <a:p>
            <a:pPr lvl="1"/>
            <a:r>
              <a:rPr lang="zh-CN" altLang="en-US" dirty="0">
                <a:latin typeface="Times New Roman" panose="02020603050405020304" pitchFamily="18" charset="0"/>
              </a:rPr>
              <a:t>⑸移位按</a:t>
            </a:r>
            <a:r>
              <a:rPr lang="zh-CN" altLang="en-US" dirty="0">
                <a:solidFill>
                  <a:srgbClr val="FF0000"/>
                </a:solidFill>
                <a:latin typeface="Times New Roman" panose="02020603050405020304" pitchFamily="18" charset="0"/>
              </a:rPr>
              <a:t>补码右移</a:t>
            </a:r>
            <a:r>
              <a:rPr lang="zh-CN" altLang="en-US" dirty="0">
                <a:latin typeface="Times New Roman" panose="02020603050405020304" pitchFamily="18" charset="0"/>
              </a:rPr>
              <a:t>规则进行；</a:t>
            </a:r>
            <a:endParaRPr lang="zh-CN" altLang="en-US" dirty="0">
              <a:latin typeface="Times New Roman" panose="02020603050405020304" pitchFamily="18" charset="0"/>
            </a:endParaRPr>
          </a:p>
          <a:p>
            <a:pPr lvl="1"/>
            <a:r>
              <a:rPr lang="zh-CN" altLang="en-US" dirty="0">
                <a:latin typeface="Times New Roman" panose="02020603050405020304" pitchFamily="18" charset="0"/>
              </a:rPr>
              <a:t>⑹共需做</a:t>
            </a:r>
            <a:r>
              <a:rPr lang="en-US" altLang="zh-CN" dirty="0">
                <a:latin typeface="Times New Roman" panose="02020603050405020304" pitchFamily="18" charset="0"/>
              </a:rPr>
              <a:t>n+1</a:t>
            </a:r>
            <a:r>
              <a:rPr lang="zh-CN" altLang="en-US" dirty="0">
                <a:latin typeface="Times New Roman" panose="02020603050405020304" pitchFamily="18" charset="0"/>
              </a:rPr>
              <a:t>次累加，</a:t>
            </a:r>
            <a:r>
              <a:rPr lang="en-US" altLang="zh-CN" dirty="0">
                <a:latin typeface="Times New Roman" panose="02020603050405020304" pitchFamily="18" charset="0"/>
              </a:rPr>
              <a:t>n</a:t>
            </a:r>
            <a:r>
              <a:rPr lang="zh-CN" altLang="en-US" dirty="0">
                <a:latin typeface="Times New Roman" panose="02020603050405020304" pitchFamily="18" charset="0"/>
              </a:rPr>
              <a:t>次移位，第</a:t>
            </a:r>
            <a:r>
              <a:rPr lang="en-US" altLang="zh-CN" dirty="0">
                <a:latin typeface="Times New Roman" panose="02020603050405020304" pitchFamily="18" charset="0"/>
              </a:rPr>
              <a:t>n+1</a:t>
            </a:r>
            <a:r>
              <a:rPr lang="zh-CN" altLang="en-US" dirty="0">
                <a:latin typeface="Times New Roman" panose="02020603050405020304" pitchFamily="18" charset="0"/>
              </a:rPr>
              <a:t>次不移位</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113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Booth</a:t>
            </a:r>
            <a:r>
              <a:rPr lang="zh-CN" altLang="en-US" dirty="0">
                <a:latin typeface="Times New Roman" panose="02020603050405020304" pitchFamily="18" charset="0"/>
              </a:rPr>
              <a:t>乘法运算操作 </a:t>
            </a:r>
            <a:endParaRPr lang="zh-CN" altLang="en-US" dirty="0">
              <a:latin typeface="Times New Roman" panose="02020603050405020304" pitchFamily="18" charset="0"/>
              <a:ea typeface="Times New Roman" panose="02020603050405020304" pitchFamily="18" charset="0"/>
            </a:endParaRPr>
          </a:p>
        </p:txBody>
      </p:sp>
      <p:sp>
        <p:nvSpPr>
          <p:cNvPr id="91138" name="内容占位符 2"/>
          <p:cNvSpPr>
            <a:spLocks noGrp="1"/>
          </p:cNvSpPr>
          <p:nvPr>
            <p:ph idx="1"/>
          </p:nvPr>
        </p:nvSpPr>
        <p:spPr>
          <a:noFill/>
          <a:ln>
            <a:noFill/>
          </a:ln>
        </p:spPr>
        <p:txBody>
          <a:bodyPr anchor="t" anchorCtr="0"/>
          <a:p>
            <a:pPr marL="0" indent="0">
              <a:buNone/>
            </a:pPr>
            <a:r>
              <a:rPr lang="zh-CN" altLang="en-US" dirty="0">
                <a:latin typeface="Times New Roman" panose="02020603050405020304" pitchFamily="18" charset="0"/>
              </a:rPr>
              <a:t>判断位</a:t>
            </a:r>
            <a:r>
              <a:rPr lang="en-US" altLang="zh-CN" dirty="0">
                <a:latin typeface="Times New Roman" panose="02020603050405020304" pitchFamily="18" charset="0"/>
              </a:rPr>
              <a:t>Y</a:t>
            </a:r>
            <a:r>
              <a:rPr lang="en-US" altLang="zh-CN" baseline="-25000" dirty="0">
                <a:latin typeface="Times New Roman" panose="02020603050405020304" pitchFamily="18" charset="0"/>
              </a:rPr>
              <a:t>n</a:t>
            </a:r>
            <a:r>
              <a:rPr lang="en-US" altLang="zh-CN" dirty="0">
                <a:latin typeface="Times New Roman" panose="02020603050405020304" pitchFamily="18" charset="0"/>
              </a:rPr>
              <a:t> Y</a:t>
            </a:r>
            <a:r>
              <a:rPr lang="en-US" altLang="zh-CN" baseline="-25000" dirty="0">
                <a:latin typeface="Times New Roman" panose="02020603050405020304" pitchFamily="18" charset="0"/>
              </a:rPr>
              <a:t>n+1</a:t>
            </a:r>
            <a:r>
              <a:rPr lang="en-US" altLang="zh-CN" dirty="0">
                <a:latin typeface="Times New Roman" panose="02020603050405020304" pitchFamily="18" charset="0"/>
              </a:rPr>
              <a:t>                   </a:t>
            </a:r>
            <a:r>
              <a:rPr lang="zh-CN" altLang="en-US" dirty="0">
                <a:latin typeface="Times New Roman" panose="02020603050405020304" pitchFamily="18" charset="0"/>
              </a:rPr>
              <a:t>操  作</a:t>
            </a:r>
            <a:endParaRPr lang="zh-CN" altLang="en-US" dirty="0">
              <a:latin typeface="Times New Roman" panose="02020603050405020304" pitchFamily="18" charset="0"/>
            </a:endParaRPr>
          </a:p>
          <a:p>
            <a:pPr marL="0" indent="0">
              <a:spcBef>
                <a:spcPts val="1800"/>
              </a:spcBef>
              <a:buNone/>
            </a:pPr>
            <a:r>
              <a:rPr lang="zh-CN" altLang="en-US" dirty="0">
                <a:latin typeface="Times New Roman" panose="02020603050405020304" pitchFamily="18" charset="0"/>
              </a:rPr>
              <a:t>    </a:t>
            </a:r>
            <a:r>
              <a:rPr lang="en-US" altLang="zh-CN" dirty="0">
                <a:latin typeface="Times New Roman" panose="02020603050405020304" pitchFamily="18" charset="0"/>
              </a:rPr>
              <a:t>0 0                            </a:t>
            </a:r>
            <a:r>
              <a:rPr lang="zh-CN" altLang="en-US" dirty="0">
                <a:latin typeface="Times New Roman" panose="02020603050405020304" pitchFamily="18" charset="0"/>
              </a:rPr>
              <a:t>原部分积右移一位</a:t>
            </a:r>
            <a:endParaRPr lang="zh-CN" altLang="en-US" dirty="0">
              <a:latin typeface="Times New Roman" panose="02020603050405020304" pitchFamily="18" charset="0"/>
            </a:endParaRPr>
          </a:p>
          <a:p>
            <a:pPr marL="0" indent="0">
              <a:buNone/>
            </a:pPr>
            <a:r>
              <a:rPr lang="zh-CN" altLang="en-US" dirty="0">
                <a:latin typeface="Times New Roman" panose="02020603050405020304" pitchFamily="18" charset="0"/>
              </a:rPr>
              <a:t>    </a:t>
            </a:r>
            <a:r>
              <a:rPr lang="en-US" altLang="zh-CN" dirty="0">
                <a:latin typeface="Times New Roman" panose="02020603050405020304" pitchFamily="18" charset="0"/>
              </a:rPr>
              <a:t>0 1                            </a:t>
            </a:r>
            <a:r>
              <a:rPr lang="zh-CN" altLang="en-US" dirty="0">
                <a:latin typeface="Times New Roman" panose="02020603050405020304" pitchFamily="18" charset="0"/>
              </a:rPr>
              <a:t>原部分积加</a:t>
            </a:r>
            <a:r>
              <a:rPr lang="en-US" altLang="zh-CN" dirty="0">
                <a:solidFill>
                  <a:srgbClr val="FF0000"/>
                </a:solidFill>
                <a:latin typeface="Times New Roman" panose="02020603050405020304" pitchFamily="18" charset="0"/>
              </a:rPr>
              <a:t>[X]</a:t>
            </a:r>
            <a:r>
              <a:rPr lang="zh-CN" altLang="en-US" baseline="-25000" dirty="0">
                <a:solidFill>
                  <a:srgbClr val="FF0000"/>
                </a:solidFill>
                <a:latin typeface="Times New Roman" panose="02020603050405020304" pitchFamily="18" charset="0"/>
              </a:rPr>
              <a:t>补</a:t>
            </a:r>
            <a:r>
              <a:rPr lang="zh-CN" altLang="en-US" dirty="0">
                <a:latin typeface="Times New Roman" panose="02020603050405020304" pitchFamily="18" charset="0"/>
              </a:rPr>
              <a:t>后右移一位</a:t>
            </a:r>
            <a:endParaRPr lang="zh-CN" altLang="en-US" dirty="0">
              <a:latin typeface="Times New Roman" panose="02020603050405020304" pitchFamily="18" charset="0"/>
            </a:endParaRPr>
          </a:p>
          <a:p>
            <a:pPr marL="0" indent="0">
              <a:buNone/>
            </a:pPr>
            <a:r>
              <a:rPr lang="zh-CN" altLang="en-US" dirty="0">
                <a:latin typeface="Times New Roman" panose="02020603050405020304" pitchFamily="18" charset="0"/>
              </a:rPr>
              <a:t>    </a:t>
            </a:r>
            <a:r>
              <a:rPr lang="en-US" altLang="zh-CN" dirty="0">
                <a:latin typeface="Times New Roman" panose="02020603050405020304" pitchFamily="18" charset="0"/>
              </a:rPr>
              <a:t>1 0                            </a:t>
            </a:r>
            <a:r>
              <a:rPr lang="zh-CN" altLang="en-US" dirty="0">
                <a:latin typeface="Times New Roman" panose="02020603050405020304" pitchFamily="18" charset="0"/>
              </a:rPr>
              <a:t>原部分积加</a:t>
            </a:r>
            <a:r>
              <a:rPr lang="en-US" altLang="zh-CN" dirty="0">
                <a:solidFill>
                  <a:srgbClr val="FF0000"/>
                </a:solidFill>
                <a:latin typeface="Times New Roman" panose="02020603050405020304" pitchFamily="18" charset="0"/>
              </a:rPr>
              <a:t>[-X]</a:t>
            </a:r>
            <a:r>
              <a:rPr lang="zh-CN" altLang="en-US" baseline="-25000" dirty="0">
                <a:solidFill>
                  <a:srgbClr val="FF0000"/>
                </a:solidFill>
                <a:latin typeface="Times New Roman" panose="02020603050405020304" pitchFamily="18" charset="0"/>
              </a:rPr>
              <a:t>补</a:t>
            </a:r>
            <a:r>
              <a:rPr lang="zh-CN" altLang="en-US" dirty="0">
                <a:latin typeface="Times New Roman" panose="02020603050405020304" pitchFamily="18" charset="0"/>
              </a:rPr>
              <a:t>后右移一位</a:t>
            </a:r>
            <a:endParaRPr lang="zh-CN" altLang="en-US" dirty="0">
              <a:latin typeface="Times New Roman" panose="02020603050405020304" pitchFamily="18" charset="0"/>
            </a:endParaRPr>
          </a:p>
          <a:p>
            <a:pPr marL="0" indent="0">
              <a:buNone/>
            </a:pPr>
            <a:r>
              <a:rPr lang="zh-CN" altLang="en-US" dirty="0">
                <a:latin typeface="Times New Roman" panose="02020603050405020304" pitchFamily="18" charset="0"/>
              </a:rPr>
              <a:t>    </a:t>
            </a:r>
            <a:r>
              <a:rPr lang="en-US" altLang="zh-CN" dirty="0">
                <a:latin typeface="Times New Roman" panose="02020603050405020304" pitchFamily="18" charset="0"/>
              </a:rPr>
              <a:t>1 1                            </a:t>
            </a:r>
            <a:r>
              <a:rPr lang="zh-CN" altLang="en-US" dirty="0">
                <a:latin typeface="Times New Roman" panose="02020603050405020304" pitchFamily="18" charset="0"/>
              </a:rPr>
              <a:t>原部分积右移一位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6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比较法</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Booth</a:t>
            </a:r>
            <a:r>
              <a:rPr lang="zh-CN" altLang="en-US" dirty="0">
                <a:latin typeface="Times New Roman" panose="02020603050405020304" pitchFamily="18" charset="0"/>
              </a:rPr>
              <a:t>乘法 （续） </a:t>
            </a:r>
            <a:endParaRPr lang="zh-CN" altLang="en-US" dirty="0">
              <a:latin typeface="Times New Roman" panose="02020603050405020304" pitchFamily="18" charset="0"/>
              <a:ea typeface="Times New Roman" panose="02020603050405020304" pitchFamily="18" charset="0"/>
            </a:endParaRPr>
          </a:p>
        </p:txBody>
      </p:sp>
      <p:sp>
        <p:nvSpPr>
          <p:cNvPr id="92162" name="内容占位符 2"/>
          <p:cNvSpPr>
            <a:spLocks noGrp="1"/>
          </p:cNvSpPr>
          <p:nvPr>
            <p:ph idx="1"/>
          </p:nvPr>
        </p:nvSpPr>
        <p:spPr>
          <a:xfrm>
            <a:off x="457200" y="1417638"/>
            <a:ext cx="8229600" cy="4708525"/>
          </a:xfrm>
          <a:noFill/>
          <a:ln>
            <a:noFill/>
          </a:ln>
        </p:spPr>
        <p:txBody>
          <a:bodyPr anchor="t" anchorCtr="0"/>
          <a:p>
            <a:r>
              <a:rPr lang="zh-CN" altLang="en-US" dirty="0">
                <a:latin typeface="Times New Roman" panose="02020603050405020304" pitchFamily="18" charset="0"/>
              </a:rPr>
              <a:t>由于符号位要参加运算，部分积累加时最高有效位产生的进位可能会侵占符号位，故被乘数和部分积应取</a:t>
            </a:r>
            <a:r>
              <a:rPr lang="zh-CN" altLang="en-US" dirty="0">
                <a:solidFill>
                  <a:srgbClr val="FF0000"/>
                </a:solidFill>
                <a:latin typeface="Times New Roman" panose="02020603050405020304" pitchFamily="18" charset="0"/>
              </a:rPr>
              <a:t>双符号位</a:t>
            </a:r>
            <a:r>
              <a:rPr lang="zh-CN" altLang="en-US" dirty="0">
                <a:latin typeface="Times New Roman" panose="02020603050405020304" pitchFamily="18" charset="0"/>
              </a:rPr>
              <a:t>，而乘数只需要一位符号位。</a:t>
            </a:r>
            <a:endParaRPr lang="en-US" altLang="zh-CN" dirty="0">
              <a:latin typeface="Times New Roman" panose="02020603050405020304" pitchFamily="18" charset="0"/>
            </a:endParaRPr>
          </a:p>
          <a:p>
            <a:pPr>
              <a:spcBef>
                <a:spcPts val="1800"/>
              </a:spcBef>
            </a:pPr>
            <a:r>
              <a:rPr lang="zh-CN" altLang="en-US" dirty="0">
                <a:latin typeface="Times New Roman" panose="02020603050405020304" pitchFamily="18" charset="0"/>
              </a:rPr>
              <a:t>运算时仍需要有</a:t>
            </a:r>
            <a:r>
              <a:rPr lang="en-US" altLang="zh-CN" dirty="0">
                <a:latin typeface="Times New Roman" panose="02020603050405020304" pitchFamily="18" charset="0"/>
              </a:rPr>
              <a:t>3</a:t>
            </a:r>
            <a:r>
              <a:rPr lang="zh-CN" altLang="en-US" dirty="0">
                <a:latin typeface="Times New Roman" panose="02020603050405020304" pitchFamily="18" charset="0"/>
              </a:rPr>
              <a:t>个寄存器，各自的作用与原码时相同，只不过存放的内容均为补码表示而已。</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例</a:t>
            </a:r>
            <a:r>
              <a:rPr lang="en-US" altLang="zh-CN" dirty="0">
                <a:latin typeface="Times New Roman" panose="02020603050405020304" pitchFamily="18" charset="0"/>
              </a:rPr>
              <a:t>9</a:t>
            </a:r>
            <a:r>
              <a:rPr lang="zh-CN" altLang="en-US" dirty="0">
                <a:latin typeface="Times New Roman" panose="02020603050405020304" pitchFamily="18" charset="0"/>
              </a:rPr>
              <a:t>：已知</a:t>
            </a:r>
            <a:r>
              <a:rPr lang="en-US" altLang="zh-CN" dirty="0">
                <a:latin typeface="Times New Roman" panose="02020603050405020304" pitchFamily="18" charset="0"/>
              </a:rPr>
              <a:t>X=-0.1101</a:t>
            </a:r>
            <a:r>
              <a:rPr lang="zh-CN" altLang="en-US" dirty="0">
                <a:latin typeface="Times New Roman" panose="02020603050405020304" pitchFamily="18" charset="0"/>
              </a:rPr>
              <a:t>，</a:t>
            </a:r>
            <a:r>
              <a:rPr lang="en-US" altLang="zh-CN" dirty="0">
                <a:latin typeface="Times New Roman" panose="02020603050405020304" pitchFamily="18" charset="0"/>
              </a:rPr>
              <a:t>Y=0.1011</a:t>
            </a:r>
            <a:r>
              <a:rPr lang="zh-CN" altLang="en-US" dirty="0">
                <a:latin typeface="Times New Roman" panose="02020603050405020304" pitchFamily="18" charset="0"/>
              </a:rPr>
              <a:t>；求</a:t>
            </a:r>
            <a:r>
              <a:rPr lang="en-US" altLang="zh-CN" dirty="0">
                <a:latin typeface="Times New Roman" panose="02020603050405020304" pitchFamily="18" charset="0"/>
              </a:rPr>
              <a:t>X×Y</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r>
              <a:rPr lang="en-US" altLang="zh-CN" dirty="0">
                <a:latin typeface="Times New Roman" panose="02020603050405020304" pitchFamily="18" charset="0"/>
              </a:rPr>
              <a:t>[X]</a:t>
            </a:r>
            <a:r>
              <a:rPr lang="zh-CN" altLang="en-US" baseline="-25000" dirty="0">
                <a:latin typeface="Times New Roman" panose="02020603050405020304" pitchFamily="18" charset="0"/>
              </a:rPr>
              <a:t>补</a:t>
            </a:r>
            <a:r>
              <a:rPr lang="en-US" altLang="zh-CN" dirty="0">
                <a:latin typeface="Times New Roman" panose="02020603050405020304" pitchFamily="18" charset="0"/>
              </a:rPr>
              <a:t>=11.0011→B</a:t>
            </a:r>
            <a:r>
              <a:rPr lang="zh-CN" altLang="en-US" dirty="0">
                <a:latin typeface="Times New Roman" panose="02020603050405020304" pitchFamily="18" charset="0"/>
              </a:rPr>
              <a:t>，</a:t>
            </a:r>
            <a:r>
              <a:rPr lang="en-US" altLang="zh-CN" dirty="0">
                <a:latin typeface="Times New Roman" panose="02020603050405020304" pitchFamily="18" charset="0"/>
              </a:rPr>
              <a:t>[Y]</a:t>
            </a:r>
            <a:r>
              <a:rPr lang="zh-CN" altLang="en-US" baseline="-25000" dirty="0">
                <a:latin typeface="Times New Roman" panose="02020603050405020304" pitchFamily="18" charset="0"/>
              </a:rPr>
              <a:t>补</a:t>
            </a:r>
            <a:r>
              <a:rPr lang="en-US" altLang="zh-CN" dirty="0">
                <a:latin typeface="Times New Roman" panose="02020603050405020304" pitchFamily="18" charset="0"/>
              </a:rPr>
              <a:t>=0.1011→C</a:t>
            </a:r>
            <a:r>
              <a:rPr lang="zh-CN" altLang="en-US" dirty="0">
                <a:latin typeface="Times New Roman" panose="02020603050405020304" pitchFamily="18" charset="0"/>
              </a:rPr>
              <a:t>，</a:t>
            </a:r>
            <a:r>
              <a:rPr lang="en-US" altLang="zh-CN" dirty="0">
                <a:latin typeface="Times New Roman" panose="02020603050405020304" pitchFamily="18" charset="0"/>
              </a:rPr>
              <a:t>0→A</a:t>
            </a:r>
            <a:endParaRPr lang="en-US" altLang="zh-CN" dirty="0">
              <a:latin typeface="Times New Roman" panose="02020603050405020304" pitchFamily="18" charset="0"/>
            </a:endParaRPr>
          </a:p>
          <a:p>
            <a:pPr lvl="1"/>
            <a:r>
              <a:rPr lang="en-US" altLang="zh-CN" dirty="0">
                <a:latin typeface="Times New Roman" panose="02020603050405020304" pitchFamily="18" charset="0"/>
              </a:rPr>
              <a:t>[-X]</a:t>
            </a:r>
            <a:r>
              <a:rPr lang="zh-CN" altLang="en-US" baseline="-25000" dirty="0">
                <a:latin typeface="Times New Roman" panose="02020603050405020304" pitchFamily="18" charset="0"/>
              </a:rPr>
              <a:t>补</a:t>
            </a:r>
            <a:r>
              <a:rPr lang="en-US" altLang="zh-CN" dirty="0">
                <a:latin typeface="Times New Roman" panose="02020603050405020304" pitchFamily="18" charset="0"/>
              </a:rPr>
              <a:t>=00.1101</a:t>
            </a:r>
            <a:endParaRPr lang="en-US" altLang="zh-CN"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318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Booth</a:t>
            </a:r>
            <a:r>
              <a:rPr lang="zh-CN" altLang="en-US" dirty="0">
                <a:latin typeface="Times New Roman" panose="02020603050405020304" pitchFamily="18" charset="0"/>
              </a:rPr>
              <a:t>乘法示例</a:t>
            </a:r>
            <a:endParaRPr lang="zh-CN" altLang="en-US" dirty="0">
              <a:latin typeface="Times New Roman" panose="02020603050405020304" pitchFamily="18" charset="0"/>
              <a:ea typeface="Times New Roman" panose="02020603050405020304" pitchFamily="18" charset="0"/>
            </a:endParaRPr>
          </a:p>
        </p:txBody>
      </p:sp>
      <p:sp>
        <p:nvSpPr>
          <p:cNvPr id="93186" name="Text Box 4"/>
          <p:cNvSpPr txBox="1"/>
          <p:nvPr/>
        </p:nvSpPr>
        <p:spPr>
          <a:xfrm>
            <a:off x="1352550" y="1047750"/>
            <a:ext cx="4298950" cy="461963"/>
          </a:xfrm>
          <a:prstGeom prst="rect">
            <a:avLst/>
          </a:prstGeom>
          <a:noFill/>
          <a:ln w="57150">
            <a:noFill/>
          </a:ln>
        </p:spPr>
        <p:txBody>
          <a:bodyPr anchor="t" anchorCtr="0">
            <a:spAutoFit/>
          </a:bodyPr>
          <a:p>
            <a:pPr algn="ct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0 0.0 0 0 0    0.1 0 1 1 </a:t>
            </a:r>
            <a:r>
              <a:rPr lang="zh-CN" altLang="en-US" sz="2400" b="1" dirty="0">
                <a:solidFill>
                  <a:srgbClr val="FF3300"/>
                </a:solidFill>
                <a:latin typeface="宋体" panose="02010600030101010101" pitchFamily="2" charset="-122"/>
                <a:ea typeface="宋体" panose="02010600030101010101" pitchFamily="2" charset="-122"/>
              </a:rPr>
              <a:t>0</a:t>
            </a:r>
            <a:endParaRPr lang="zh-CN" altLang="en-US" sz="2400" b="1" dirty="0">
              <a:solidFill>
                <a:srgbClr val="FF3300"/>
              </a:solidFill>
              <a:latin typeface="宋体" panose="02010600030101010101" pitchFamily="2" charset="-122"/>
              <a:ea typeface="宋体" panose="02010600030101010101" pitchFamily="2" charset="-122"/>
            </a:endParaRPr>
          </a:p>
        </p:txBody>
      </p:sp>
      <p:sp>
        <p:nvSpPr>
          <p:cNvPr id="93187" name="Text Box 5"/>
          <p:cNvSpPr txBox="1"/>
          <p:nvPr/>
        </p:nvSpPr>
        <p:spPr>
          <a:xfrm>
            <a:off x="285750" y="1333500"/>
            <a:ext cx="8629650" cy="420688"/>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X]</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0 0.1 1 0 1                     </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4</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5</a:t>
            </a:r>
            <a:r>
              <a:rPr lang="en-US" altLang="zh-CN" sz="2400" b="1" dirty="0">
                <a:solidFill>
                  <a:srgbClr val="0000FF"/>
                </a:solidFill>
                <a:latin typeface="宋体" panose="02010600030101010101" pitchFamily="2" charset="-122"/>
                <a:ea typeface="宋体" panose="02010600030101010101" pitchFamily="2" charset="-122"/>
              </a:rPr>
              <a:t>=10，+[-X]</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188" name="Line 6"/>
          <p:cNvSpPr/>
          <p:nvPr/>
        </p:nvSpPr>
        <p:spPr>
          <a:xfrm>
            <a:off x="400050" y="1752600"/>
            <a:ext cx="3028950" cy="0"/>
          </a:xfrm>
          <a:prstGeom prst="line">
            <a:avLst/>
          </a:prstGeom>
          <a:ln w="19050" cap="sq" cmpd="sng">
            <a:solidFill>
              <a:srgbClr val="7A48C4"/>
            </a:solidFill>
            <a:prstDash val="solid"/>
            <a:round/>
            <a:headEnd type="none" w="sm" len="sm"/>
            <a:tailEnd type="none" w="sm" len="sm"/>
          </a:ln>
        </p:spPr>
      </p:sp>
      <p:sp>
        <p:nvSpPr>
          <p:cNvPr id="93189" name="Text Box 7"/>
          <p:cNvSpPr txBox="1"/>
          <p:nvPr/>
        </p:nvSpPr>
        <p:spPr>
          <a:xfrm>
            <a:off x="1428750" y="1657350"/>
            <a:ext cx="25146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0 0.1 1 0 1</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190" name="Text Box 8"/>
          <p:cNvSpPr txBox="1"/>
          <p:nvPr/>
        </p:nvSpPr>
        <p:spPr>
          <a:xfrm>
            <a:off x="666750" y="1981200"/>
            <a:ext cx="8477250" cy="420688"/>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   0 0.0 1 1 0    1 0 1 0 1 1      部分积右移一位</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191" name="Text Box 9"/>
          <p:cNvSpPr txBox="1"/>
          <p:nvPr/>
        </p:nvSpPr>
        <p:spPr>
          <a:xfrm>
            <a:off x="666750" y="2247900"/>
            <a:ext cx="8401050" cy="420688"/>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+0   0 0.0 0 0 0                     </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4</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5</a:t>
            </a:r>
            <a:r>
              <a:rPr lang="en-US" altLang="zh-CN" sz="2400" b="1" dirty="0">
                <a:solidFill>
                  <a:srgbClr val="0000FF"/>
                </a:solidFill>
                <a:latin typeface="宋体" panose="02010600030101010101" pitchFamily="2" charset="-122"/>
                <a:ea typeface="宋体" panose="02010600030101010101" pitchFamily="2" charset="-122"/>
              </a:rPr>
              <a:t>=11，+0</a:t>
            </a:r>
            <a:endParaRPr lang="en-US" altLang="zh-CN" sz="2400" b="1" dirty="0">
              <a:solidFill>
                <a:srgbClr val="0000FF"/>
              </a:solidFill>
              <a:latin typeface="宋体" panose="02010600030101010101" pitchFamily="2" charset="-122"/>
              <a:ea typeface="宋体" panose="02010600030101010101" pitchFamily="2" charset="-122"/>
            </a:endParaRPr>
          </a:p>
        </p:txBody>
      </p:sp>
      <p:sp>
        <p:nvSpPr>
          <p:cNvPr id="93192" name="Line 10"/>
          <p:cNvSpPr/>
          <p:nvPr/>
        </p:nvSpPr>
        <p:spPr>
          <a:xfrm>
            <a:off x="419100" y="2647950"/>
            <a:ext cx="3028950" cy="0"/>
          </a:xfrm>
          <a:prstGeom prst="line">
            <a:avLst/>
          </a:prstGeom>
          <a:ln w="19050" cap="sq" cmpd="sng">
            <a:solidFill>
              <a:srgbClr val="7A48C4"/>
            </a:solidFill>
            <a:prstDash val="solid"/>
            <a:round/>
            <a:headEnd type="none" w="sm" len="sm"/>
            <a:tailEnd type="none" w="sm" len="sm"/>
          </a:ln>
        </p:spPr>
      </p:sp>
      <p:sp>
        <p:nvSpPr>
          <p:cNvPr id="93193" name="Text Box 11"/>
          <p:cNvSpPr txBox="1"/>
          <p:nvPr/>
        </p:nvSpPr>
        <p:spPr>
          <a:xfrm>
            <a:off x="1447800" y="2552700"/>
            <a:ext cx="24574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0 0.0 1 1 0</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194" name="Text Box 12"/>
          <p:cNvSpPr txBox="1"/>
          <p:nvPr/>
        </p:nvSpPr>
        <p:spPr>
          <a:xfrm>
            <a:off x="666750" y="2857500"/>
            <a:ext cx="8305800" cy="420688"/>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   0 0.0 0 1 1    0 1 0 1 0 1      部分积右移一位</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195" name="Text Box 13"/>
          <p:cNvSpPr txBox="1"/>
          <p:nvPr/>
        </p:nvSpPr>
        <p:spPr>
          <a:xfrm>
            <a:off x="323850" y="3124200"/>
            <a:ext cx="88011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X]</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1 1.0 0 1 1                     </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4</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5</a:t>
            </a:r>
            <a:r>
              <a:rPr lang="en-US" altLang="zh-CN" sz="2400" b="1" dirty="0">
                <a:solidFill>
                  <a:srgbClr val="0000FF"/>
                </a:solidFill>
                <a:latin typeface="宋体" panose="02010600030101010101" pitchFamily="2" charset="-122"/>
                <a:ea typeface="宋体" panose="02010600030101010101" pitchFamily="2" charset="-122"/>
              </a:rPr>
              <a:t>=01，+[X]</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baseline="-30000" dirty="0">
              <a:solidFill>
                <a:srgbClr val="0000FF"/>
              </a:solidFill>
              <a:latin typeface="宋体" panose="02010600030101010101" pitchFamily="2" charset="-122"/>
              <a:ea typeface="宋体" panose="02010600030101010101" pitchFamily="2" charset="-122"/>
            </a:endParaRPr>
          </a:p>
        </p:txBody>
      </p:sp>
      <p:sp>
        <p:nvSpPr>
          <p:cNvPr id="93196" name="Line 14"/>
          <p:cNvSpPr/>
          <p:nvPr/>
        </p:nvSpPr>
        <p:spPr>
          <a:xfrm>
            <a:off x="419100" y="3543300"/>
            <a:ext cx="3028950" cy="0"/>
          </a:xfrm>
          <a:prstGeom prst="line">
            <a:avLst/>
          </a:prstGeom>
          <a:ln w="19050" cap="sq" cmpd="sng">
            <a:solidFill>
              <a:srgbClr val="7A48C4"/>
            </a:solidFill>
            <a:prstDash val="solid"/>
            <a:round/>
            <a:headEnd type="none" w="sm" len="sm"/>
            <a:tailEnd type="none" w="sm" len="sm"/>
          </a:ln>
        </p:spPr>
      </p:sp>
      <p:sp>
        <p:nvSpPr>
          <p:cNvPr id="93197" name="Text Box 15"/>
          <p:cNvSpPr txBox="1"/>
          <p:nvPr/>
        </p:nvSpPr>
        <p:spPr>
          <a:xfrm>
            <a:off x="1428750" y="3467100"/>
            <a:ext cx="22860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1 1.0 1 1 0</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198" name="Text Box 16"/>
          <p:cNvSpPr txBox="1"/>
          <p:nvPr/>
        </p:nvSpPr>
        <p:spPr>
          <a:xfrm>
            <a:off x="647700" y="3733800"/>
            <a:ext cx="84963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   1 1.1 0 1 1    0 0 1 0 1 0      部分积右移一位</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199" name="Text Box 17"/>
          <p:cNvSpPr txBox="1"/>
          <p:nvPr/>
        </p:nvSpPr>
        <p:spPr>
          <a:xfrm>
            <a:off x="304800" y="4038600"/>
            <a:ext cx="8782050" cy="420688"/>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X]</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0 0.1 1 0 1                     </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4</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5</a:t>
            </a:r>
            <a:r>
              <a:rPr lang="en-US" altLang="zh-CN" sz="2400" b="1" dirty="0">
                <a:solidFill>
                  <a:srgbClr val="0000FF"/>
                </a:solidFill>
                <a:latin typeface="宋体" panose="02010600030101010101" pitchFamily="2" charset="-122"/>
                <a:ea typeface="宋体" panose="02010600030101010101" pitchFamily="2" charset="-122"/>
              </a:rPr>
              <a:t>=10，+[-X]</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200" name="Line 18"/>
          <p:cNvSpPr/>
          <p:nvPr/>
        </p:nvSpPr>
        <p:spPr>
          <a:xfrm>
            <a:off x="438150" y="4438650"/>
            <a:ext cx="3028950" cy="0"/>
          </a:xfrm>
          <a:prstGeom prst="line">
            <a:avLst/>
          </a:prstGeom>
          <a:ln w="19050" cap="sq" cmpd="sng">
            <a:solidFill>
              <a:srgbClr val="7A48C4"/>
            </a:solidFill>
            <a:prstDash val="solid"/>
            <a:round/>
            <a:headEnd type="none" w="sm" len="sm"/>
            <a:tailEnd type="none" w="sm" len="sm"/>
          </a:ln>
        </p:spPr>
      </p:sp>
      <p:sp>
        <p:nvSpPr>
          <p:cNvPr id="93201" name="Text Box 19"/>
          <p:cNvSpPr txBox="1"/>
          <p:nvPr/>
        </p:nvSpPr>
        <p:spPr>
          <a:xfrm>
            <a:off x="1447800" y="4324350"/>
            <a:ext cx="21717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0 0.1 0 0 0</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202" name="Text Box 20"/>
          <p:cNvSpPr txBox="1"/>
          <p:nvPr/>
        </p:nvSpPr>
        <p:spPr>
          <a:xfrm>
            <a:off x="666750" y="4648200"/>
            <a:ext cx="82677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   0 0.0 1 0 0    0 0 0 1 0 1      部分积右移一位</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203" name="Text Box 21"/>
          <p:cNvSpPr txBox="1"/>
          <p:nvPr/>
        </p:nvSpPr>
        <p:spPr>
          <a:xfrm>
            <a:off x="323850" y="4953000"/>
            <a:ext cx="8782050" cy="420688"/>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X]</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1 1.0 0 1 1                     </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4</a:t>
            </a:r>
            <a:r>
              <a:rPr lang="en-US" altLang="zh-CN" sz="2400" b="1" dirty="0">
                <a:solidFill>
                  <a:srgbClr val="0000FF"/>
                </a:solidFill>
                <a:latin typeface="宋体" panose="02010600030101010101" pitchFamily="2" charset="-122"/>
                <a:ea typeface="宋体" panose="02010600030101010101" pitchFamily="2" charset="-122"/>
              </a:rPr>
              <a:t>C</a:t>
            </a:r>
            <a:r>
              <a:rPr lang="en-US" altLang="zh-CN" sz="2400" b="1" baseline="-30000" dirty="0">
                <a:solidFill>
                  <a:srgbClr val="0000FF"/>
                </a:solidFill>
                <a:latin typeface="宋体" panose="02010600030101010101" pitchFamily="2" charset="-122"/>
                <a:ea typeface="宋体" panose="02010600030101010101" pitchFamily="2" charset="-122"/>
              </a:rPr>
              <a:t>5</a:t>
            </a:r>
            <a:r>
              <a:rPr lang="en-US" altLang="zh-CN" sz="2400" b="1" dirty="0">
                <a:solidFill>
                  <a:srgbClr val="0000FF"/>
                </a:solidFill>
                <a:latin typeface="宋体" panose="02010600030101010101" pitchFamily="2" charset="-122"/>
                <a:ea typeface="宋体" panose="02010600030101010101" pitchFamily="2" charset="-122"/>
              </a:rPr>
              <a:t>=01，+[X]</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204" name="Line 22"/>
          <p:cNvSpPr/>
          <p:nvPr/>
        </p:nvSpPr>
        <p:spPr>
          <a:xfrm>
            <a:off x="457200" y="5334000"/>
            <a:ext cx="3028950" cy="0"/>
          </a:xfrm>
          <a:prstGeom prst="line">
            <a:avLst/>
          </a:prstGeom>
          <a:ln w="19050" cap="sq" cmpd="sng">
            <a:solidFill>
              <a:srgbClr val="7A48C4"/>
            </a:solidFill>
            <a:prstDash val="solid"/>
            <a:round/>
            <a:headEnd type="none" w="sm" len="sm"/>
            <a:tailEnd type="none" w="sm" len="sm"/>
          </a:ln>
        </p:spPr>
      </p:sp>
      <p:sp>
        <p:nvSpPr>
          <p:cNvPr id="93205" name="Text Box 23"/>
          <p:cNvSpPr txBox="1"/>
          <p:nvPr/>
        </p:nvSpPr>
        <p:spPr>
          <a:xfrm>
            <a:off x="1447800" y="5238750"/>
            <a:ext cx="25336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1 1.0 1 1 1</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93206" name="Line 25"/>
          <p:cNvSpPr/>
          <p:nvPr/>
        </p:nvSpPr>
        <p:spPr>
          <a:xfrm>
            <a:off x="5086350" y="1447800"/>
            <a:ext cx="438150" cy="0"/>
          </a:xfrm>
          <a:prstGeom prst="line">
            <a:avLst/>
          </a:prstGeom>
          <a:ln w="57150" cap="sq" cmpd="sng">
            <a:solidFill>
              <a:srgbClr val="FF3300"/>
            </a:solidFill>
            <a:prstDash val="solid"/>
            <a:round/>
            <a:headEnd type="none" w="sm" len="sm"/>
            <a:tailEnd type="none" w="sm" len="sm"/>
          </a:ln>
        </p:spPr>
      </p:sp>
      <p:sp>
        <p:nvSpPr>
          <p:cNvPr id="93207" name="Line 26"/>
          <p:cNvSpPr/>
          <p:nvPr/>
        </p:nvSpPr>
        <p:spPr>
          <a:xfrm>
            <a:off x="5029200" y="2381250"/>
            <a:ext cx="438150" cy="0"/>
          </a:xfrm>
          <a:prstGeom prst="line">
            <a:avLst/>
          </a:prstGeom>
          <a:ln w="57150" cap="sq" cmpd="sng">
            <a:solidFill>
              <a:srgbClr val="FF3300"/>
            </a:solidFill>
            <a:prstDash val="solid"/>
            <a:round/>
            <a:headEnd type="none" w="sm" len="sm"/>
            <a:tailEnd type="none" w="sm" len="sm"/>
          </a:ln>
        </p:spPr>
      </p:sp>
      <p:sp>
        <p:nvSpPr>
          <p:cNvPr id="93208" name="Line 27"/>
          <p:cNvSpPr/>
          <p:nvPr/>
        </p:nvSpPr>
        <p:spPr>
          <a:xfrm>
            <a:off x="5029200" y="3257550"/>
            <a:ext cx="438150" cy="0"/>
          </a:xfrm>
          <a:prstGeom prst="line">
            <a:avLst/>
          </a:prstGeom>
          <a:ln w="57150" cap="sq" cmpd="sng">
            <a:solidFill>
              <a:srgbClr val="FF3300"/>
            </a:solidFill>
            <a:prstDash val="solid"/>
            <a:round/>
            <a:headEnd type="none" w="sm" len="sm"/>
            <a:tailEnd type="none" w="sm" len="sm"/>
          </a:ln>
        </p:spPr>
      </p:sp>
      <p:sp>
        <p:nvSpPr>
          <p:cNvPr id="93209" name="Line 28"/>
          <p:cNvSpPr/>
          <p:nvPr/>
        </p:nvSpPr>
        <p:spPr>
          <a:xfrm>
            <a:off x="5010150" y="4171950"/>
            <a:ext cx="438150" cy="0"/>
          </a:xfrm>
          <a:prstGeom prst="line">
            <a:avLst/>
          </a:prstGeom>
          <a:ln w="57150" cap="sq" cmpd="sng">
            <a:solidFill>
              <a:srgbClr val="FF3300"/>
            </a:solidFill>
            <a:prstDash val="solid"/>
            <a:round/>
            <a:headEnd type="none" w="sm" len="sm"/>
            <a:tailEnd type="none" w="sm" len="sm"/>
          </a:ln>
        </p:spPr>
      </p:sp>
      <p:sp>
        <p:nvSpPr>
          <p:cNvPr id="93210" name="Line 29"/>
          <p:cNvSpPr/>
          <p:nvPr/>
        </p:nvSpPr>
        <p:spPr>
          <a:xfrm>
            <a:off x="5029200" y="5048250"/>
            <a:ext cx="438150" cy="0"/>
          </a:xfrm>
          <a:prstGeom prst="line">
            <a:avLst/>
          </a:prstGeom>
          <a:ln w="57150" cap="sq" cmpd="sng">
            <a:solidFill>
              <a:srgbClr val="FF3300"/>
            </a:solidFill>
            <a:prstDash val="solid"/>
            <a:round/>
            <a:headEnd type="none" w="sm" len="sm"/>
            <a:tailEnd type="none" w="sm" len="sm"/>
          </a:ln>
        </p:spPr>
      </p:sp>
      <p:sp>
        <p:nvSpPr>
          <p:cNvPr id="93211" name="Text Box 24"/>
          <p:cNvSpPr txBox="1"/>
          <p:nvPr/>
        </p:nvSpPr>
        <p:spPr>
          <a:xfrm>
            <a:off x="2286000" y="5646738"/>
            <a:ext cx="4819650" cy="860425"/>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a:t>
            </a:r>
            <a:r>
              <a:rPr lang="en-US" altLang="zh-CN" sz="2800" b="1" dirty="0">
                <a:solidFill>
                  <a:schemeClr val="tx1"/>
                </a:solidFill>
                <a:latin typeface="Times New Roman" panose="02020603050405020304" pitchFamily="18" charset="0"/>
                <a:ea typeface="宋体" panose="02010600030101010101" pitchFamily="2" charset="-122"/>
              </a:rPr>
              <a:t>X</a:t>
            </a: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1" dirty="0">
                <a:solidFill>
                  <a:schemeClr val="tx1"/>
                </a:solidFill>
                <a:latin typeface="Times New Roman" panose="02020603050405020304" pitchFamily="18" charset="0"/>
                <a:ea typeface="宋体" panose="02010600030101010101" pitchFamily="2" charset="-122"/>
              </a:rPr>
              <a:t>Y]</a:t>
            </a:r>
            <a:r>
              <a:rPr lang="zh-CN" altLang="en-US" sz="2800" b="1" baseline="-30000" dirty="0">
                <a:solidFill>
                  <a:schemeClr val="tx1"/>
                </a:solidFill>
                <a:latin typeface="Times New Roman" panose="02020603050405020304" pitchFamily="18" charset="0"/>
                <a:ea typeface="宋体" panose="02010600030101010101" pitchFamily="2" charset="-122"/>
              </a:rPr>
              <a:t>补</a:t>
            </a:r>
            <a:r>
              <a:rPr lang="zh-CN" altLang="en-US" sz="2800" b="1" dirty="0">
                <a:solidFill>
                  <a:schemeClr val="tx1"/>
                </a:solidFill>
                <a:latin typeface="Times New Roman" panose="02020603050405020304" pitchFamily="18" charset="0"/>
                <a:ea typeface="宋体" panose="02010600030101010101" pitchFamily="2" charset="-122"/>
              </a:rPr>
              <a:t>=</a:t>
            </a:r>
            <a:r>
              <a:rPr lang="zh-CN" altLang="en-US" sz="2800" b="1" dirty="0">
                <a:solidFill>
                  <a:srgbClr val="FF3300"/>
                </a:solidFill>
                <a:latin typeface="Times New Roman" panose="02020603050405020304" pitchFamily="18" charset="0"/>
                <a:ea typeface="宋体" panose="02010600030101010101" pitchFamily="2" charset="-122"/>
              </a:rPr>
              <a:t>1.01110001</a:t>
            </a:r>
            <a:endParaRPr lang="zh-CN" altLang="en-US" sz="2800" b="1" dirty="0">
              <a:solidFill>
                <a:srgbClr val="FF3300"/>
              </a:solidFill>
              <a:latin typeface="Times New Roman" panose="02020603050405020304" pitchFamily="18" charset="0"/>
              <a:ea typeface="宋体" panose="02010600030101010101" pitchFamily="2" charset="-122"/>
            </a:endParaRPr>
          </a:p>
          <a:p>
            <a:pPr algn="just">
              <a:lnSpc>
                <a:spcPct val="70000"/>
              </a:lnSpc>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a:t>
            </a:r>
            <a:r>
              <a:rPr lang="en-US" altLang="zh-CN" sz="2800" b="1" dirty="0">
                <a:solidFill>
                  <a:schemeClr val="tx1"/>
                </a:solidFill>
                <a:latin typeface="Times New Roman" panose="02020603050405020304" pitchFamily="18" charset="0"/>
                <a:ea typeface="宋体" panose="02010600030101010101" pitchFamily="2" charset="-122"/>
              </a:rPr>
              <a:t>X</a:t>
            </a:r>
            <a:r>
              <a:rPr lang="en-US" altLang="zh-CN" sz="2800" b="1" dirty="0">
                <a:solidFill>
                  <a:schemeClr val="tx1"/>
                </a:solidFill>
                <a:latin typeface="Times New Roman" panose="02020603050405020304" pitchFamily="18" charset="0"/>
                <a:ea typeface="宋体" panose="02010600030101010101" pitchFamily="2" charset="-122"/>
                <a:sym typeface="Symbol" panose="05050102010706020507" pitchFamily="18" charset="2"/>
              </a:rPr>
              <a:t></a:t>
            </a:r>
            <a:r>
              <a:rPr lang="en-US" altLang="zh-CN" sz="2800" b="1" dirty="0">
                <a:solidFill>
                  <a:schemeClr val="tx1"/>
                </a:solidFill>
                <a:latin typeface="Times New Roman" panose="02020603050405020304" pitchFamily="18" charset="0"/>
                <a:ea typeface="宋体" panose="02010600030101010101" pitchFamily="2" charset="-122"/>
              </a:rPr>
              <a:t>Y=</a:t>
            </a:r>
            <a:r>
              <a:rPr lang="en-US" altLang="zh-CN" sz="2800" b="1" dirty="0">
                <a:solidFill>
                  <a:srgbClr val="FF3300"/>
                </a:solidFill>
                <a:latin typeface="Times New Roman" panose="02020603050405020304" pitchFamily="18" charset="0"/>
                <a:ea typeface="宋体" panose="02010600030101010101" pitchFamily="2" charset="-122"/>
              </a:rPr>
              <a:t>-0.10001111</a:t>
            </a:r>
            <a:endParaRPr lang="en-US" altLang="zh-CN" sz="2800" b="1" dirty="0">
              <a:solidFill>
                <a:srgbClr val="FF3300"/>
              </a:solidFill>
              <a:latin typeface="Times New Roman" panose="02020603050405020304" pitchFamily="18" charset="0"/>
              <a:ea typeface="宋体" panose="02010600030101010101" pitchFamily="2" charset="-122"/>
            </a:endParaRPr>
          </a:p>
        </p:txBody>
      </p:sp>
      <p:sp>
        <p:nvSpPr>
          <p:cNvPr id="93212" name="文本框 1"/>
          <p:cNvSpPr txBox="1"/>
          <p:nvPr/>
        </p:nvSpPr>
        <p:spPr>
          <a:xfrm>
            <a:off x="1890713" y="741363"/>
            <a:ext cx="790575" cy="460375"/>
          </a:xfrm>
          <a:prstGeom prst="rect">
            <a:avLst/>
          </a:prstGeom>
          <a:noFill/>
          <a:ln w="9525">
            <a:noFill/>
          </a:ln>
        </p:spPr>
        <p:txBody>
          <a:bodyPr anchor="t" anchorCtr="0">
            <a:spAutoFit/>
          </a:bodyPr>
          <a:p>
            <a:pPr algn="ctr" eaLnBrk="0" hangingPunct="0">
              <a:buSzTx/>
            </a:pPr>
            <a:r>
              <a:rPr lang="en-US" altLang="zh-CN" sz="2400" dirty="0">
                <a:solidFill>
                  <a:srgbClr val="FF0000"/>
                </a:solidFill>
                <a:latin typeface="黑体" panose="02010609060101010101" pitchFamily="49" charset="-122"/>
                <a:ea typeface="黑体" panose="02010609060101010101" pitchFamily="49" charset="-122"/>
              </a:rPr>
              <a:t>A</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93213" name="文本框 29"/>
          <p:cNvSpPr txBox="1"/>
          <p:nvPr/>
        </p:nvSpPr>
        <p:spPr>
          <a:xfrm>
            <a:off x="4059238" y="725488"/>
            <a:ext cx="792162" cy="461962"/>
          </a:xfrm>
          <a:prstGeom prst="rect">
            <a:avLst/>
          </a:prstGeom>
          <a:noFill/>
          <a:ln w="9525">
            <a:noFill/>
          </a:ln>
        </p:spPr>
        <p:txBody>
          <a:bodyPr anchor="t" anchorCtr="0">
            <a:spAutoFit/>
          </a:bodyPr>
          <a:p>
            <a:pPr algn="ctr" eaLnBrk="0" hangingPunct="0">
              <a:buSzTx/>
            </a:pPr>
            <a:r>
              <a:rPr lang="en-US" altLang="zh-CN" sz="2400" dirty="0">
                <a:solidFill>
                  <a:srgbClr val="FF0000"/>
                </a:solidFill>
                <a:latin typeface="黑体" panose="02010609060101010101" pitchFamily="49" charset="-122"/>
                <a:ea typeface="黑体" panose="02010609060101010101" pitchFamily="49" charset="-122"/>
              </a:rPr>
              <a:t>C</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93214" name="文本框 30"/>
          <p:cNvSpPr txBox="1"/>
          <p:nvPr/>
        </p:nvSpPr>
        <p:spPr>
          <a:xfrm>
            <a:off x="4865688" y="741363"/>
            <a:ext cx="1217612" cy="460375"/>
          </a:xfrm>
          <a:prstGeom prst="rect">
            <a:avLst/>
          </a:prstGeom>
          <a:noFill/>
          <a:ln w="9525">
            <a:noFill/>
          </a:ln>
        </p:spPr>
        <p:txBody>
          <a:bodyPr anchor="t" anchorCtr="0">
            <a:spAutoFit/>
          </a:bodyPr>
          <a:p>
            <a:pPr algn="ctr" eaLnBrk="0" hangingPunct="0">
              <a:buSzTx/>
            </a:pPr>
            <a:r>
              <a:rPr lang="zh-CN" altLang="en-US" sz="2400" dirty="0">
                <a:solidFill>
                  <a:srgbClr val="FF0000"/>
                </a:solidFill>
                <a:latin typeface="黑体" panose="02010609060101010101" pitchFamily="49" charset="-122"/>
                <a:ea typeface="黑体" panose="02010609060101010101" pitchFamily="49" charset="-122"/>
              </a:rPr>
              <a:t>附加位</a:t>
            </a:r>
            <a:endParaRPr lang="zh-CN" altLang="en-US" sz="2400" dirty="0">
              <a:solidFill>
                <a:srgbClr val="FF0000"/>
              </a:solidFill>
              <a:latin typeface="黑体" panose="02010609060101010101" pitchFamily="49" charset="-122"/>
              <a:ea typeface="黑体" panose="02010609060101010101" pitchFamily="49" charset="-122"/>
            </a:endParaRPr>
          </a:p>
        </p:txBody>
      </p:sp>
      <p:sp>
        <p:nvSpPr>
          <p:cNvPr id="3" name="矩形 2"/>
          <p:cNvSpPr/>
          <p:nvPr/>
        </p:nvSpPr>
        <p:spPr>
          <a:xfrm>
            <a:off x="4130675" y="325438"/>
            <a:ext cx="2125980" cy="39878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2000" b="0" i="0" u="none" strike="noStrike" kern="1200" cap="none" spc="0" normalizeH="0" baseline="0" noProof="0" dirty="0">
                <a:ln>
                  <a:noFill/>
                </a:ln>
                <a:solidFill>
                  <a:srgbClr val="000066"/>
                </a:solidFill>
                <a:effectLst/>
                <a:uLnTx/>
                <a:uFillTx/>
                <a:latin typeface="+mn-ea"/>
                <a:ea typeface="+mn-ea"/>
                <a:cs typeface="Times New Roman" panose="02020603050405020304" pitchFamily="18" charset="0"/>
              </a:rPr>
              <a:t>[X]</a:t>
            </a:r>
            <a:r>
              <a:rPr kumimoji="0" lang="zh-CN" altLang="en-US" sz="2000" b="0" i="0" u="none" strike="noStrike" kern="1200" cap="none" spc="0" normalizeH="0" baseline="-25000" noProof="0" dirty="0">
                <a:ln>
                  <a:noFill/>
                </a:ln>
                <a:solidFill>
                  <a:srgbClr val="000066"/>
                </a:solidFill>
                <a:effectLst/>
                <a:uLnTx/>
                <a:uFillTx/>
                <a:latin typeface="+mn-ea"/>
                <a:ea typeface="+mn-ea"/>
                <a:cs typeface="Times New Roman" panose="02020603050405020304" pitchFamily="18" charset="0"/>
              </a:rPr>
              <a:t>补</a:t>
            </a:r>
            <a:r>
              <a:rPr kumimoji="0" lang="en-US" altLang="zh-CN" sz="2000" b="0" i="0" u="none" strike="noStrike" kern="1200" cap="none" spc="0" normalizeH="0" baseline="0" noProof="0" dirty="0">
                <a:ln>
                  <a:noFill/>
                </a:ln>
                <a:solidFill>
                  <a:srgbClr val="000066"/>
                </a:solidFill>
                <a:effectLst/>
                <a:uLnTx/>
                <a:uFillTx/>
                <a:latin typeface="+mn-ea"/>
                <a:ea typeface="+mn-ea"/>
                <a:cs typeface="Times New Roman" panose="02020603050405020304" pitchFamily="18" charset="0"/>
              </a:rPr>
              <a:t>=11.0011→B</a:t>
            </a:r>
            <a:endParaRPr kumimoji="0" lang="zh-CN" altLang="en-US" sz="2000" b="0" i="0" u="none" strike="noStrike" kern="1200" cap="none" spc="0" normalizeH="0" baseline="0" noProof="0" dirty="0">
              <a:ln>
                <a:noFill/>
              </a:ln>
              <a:solidFill>
                <a:srgbClr val="000066"/>
              </a:solidFill>
              <a:effectLst/>
              <a:uLnTx/>
              <a:uFillTx/>
              <a:latin typeface="+mn-ea"/>
              <a:ea typeface="+mn-ea"/>
              <a:cs typeface="+mn-cs"/>
            </a:endParaRPr>
          </a:p>
        </p:txBody>
      </p:sp>
      <p:sp>
        <p:nvSpPr>
          <p:cNvPr id="4" name="矩形 3"/>
          <p:cNvSpPr/>
          <p:nvPr/>
        </p:nvSpPr>
        <p:spPr>
          <a:xfrm>
            <a:off x="5661025" y="642938"/>
            <a:ext cx="2160270" cy="368300"/>
          </a:xfrm>
          <a:prstGeom prst="rect">
            <a:avLst/>
          </a:prstGeom>
        </p:spPr>
        <p:txBody>
          <a:bodyPr wrap="none">
            <a:spAutoFit/>
          </a:bodyPr>
          <a:lstStyle/>
          <a:p>
            <a:pPr marL="457200" marR="0" lvl="1"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rgbClr val="000066"/>
                </a:solidFill>
                <a:effectLst/>
                <a:uLnTx/>
                <a:uFillTx/>
                <a:latin typeface="+mn-ea"/>
                <a:ea typeface="+mn-ea"/>
                <a:cs typeface="+mn-cs"/>
              </a:rPr>
              <a:t>[-X]</a:t>
            </a:r>
            <a:r>
              <a:rPr kumimoji="0" lang="zh-CN" altLang="en-US" sz="1800" b="0" i="0" u="none" strike="noStrike" kern="1200" cap="none" spc="0" normalizeH="0" baseline="-25000" noProof="0" dirty="0">
                <a:ln>
                  <a:noFill/>
                </a:ln>
                <a:solidFill>
                  <a:srgbClr val="000066"/>
                </a:solidFill>
                <a:effectLst/>
                <a:uLnTx/>
                <a:uFillTx/>
                <a:latin typeface="+mn-ea"/>
                <a:ea typeface="+mn-ea"/>
                <a:cs typeface="+mn-cs"/>
              </a:rPr>
              <a:t>补</a:t>
            </a:r>
            <a:r>
              <a:rPr kumimoji="0" lang="en-US" altLang="zh-CN" sz="1800" b="0" i="0" u="none" strike="noStrike" kern="1200" cap="none" spc="0" normalizeH="0" baseline="0" noProof="0" dirty="0">
                <a:ln>
                  <a:noFill/>
                </a:ln>
                <a:solidFill>
                  <a:srgbClr val="000066"/>
                </a:solidFill>
                <a:effectLst/>
                <a:uLnTx/>
                <a:uFillTx/>
                <a:latin typeface="+mn-ea"/>
                <a:ea typeface="+mn-ea"/>
                <a:cs typeface="+mn-cs"/>
              </a:rPr>
              <a:t>=00.1101</a:t>
            </a:r>
            <a:endParaRPr kumimoji="0" lang="en-US" altLang="zh-CN" sz="1800" b="0" i="0" u="none" strike="noStrike" kern="1200" cap="none" spc="0" normalizeH="0" baseline="0" noProof="0" dirty="0">
              <a:ln>
                <a:noFill/>
              </a:ln>
              <a:solidFill>
                <a:srgbClr val="000066"/>
              </a:solidFill>
              <a:effectLst/>
              <a:uLnTx/>
              <a:uFillTx/>
              <a:latin typeface="+mn-ea"/>
              <a:ea typeface="+mn-ea"/>
              <a:cs typeface="+mn-c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420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Booth</a:t>
            </a:r>
            <a:r>
              <a:rPr lang="zh-CN" altLang="en-US" dirty="0">
                <a:latin typeface="Times New Roman" panose="02020603050405020304" pitchFamily="18" charset="0"/>
              </a:rPr>
              <a:t>乘法流程图</a:t>
            </a:r>
            <a:endParaRPr lang="zh-CN" altLang="en-US" dirty="0">
              <a:latin typeface="Times New Roman" panose="02020603050405020304" pitchFamily="18" charset="0"/>
              <a:ea typeface="Times New Roman" panose="02020603050405020304" pitchFamily="18" charset="0"/>
            </a:endParaRPr>
          </a:p>
        </p:txBody>
      </p:sp>
      <p:graphicFrame>
        <p:nvGraphicFramePr>
          <p:cNvPr id="94210" name="Object 4"/>
          <p:cNvGraphicFramePr>
            <a:graphicFrameLocks noChangeAspect="1"/>
          </p:cNvGraphicFramePr>
          <p:nvPr/>
        </p:nvGraphicFramePr>
        <p:xfrm>
          <a:off x="431800" y="1066800"/>
          <a:ext cx="4994275" cy="5562600"/>
        </p:xfrm>
        <a:graphic>
          <a:graphicData uri="http://schemas.openxmlformats.org/presentationml/2006/ole">
            <mc:AlternateContent xmlns:mc="http://schemas.openxmlformats.org/markup-compatibility/2006">
              <mc:Choice xmlns:v="urn:schemas-microsoft-com:vml" Requires="v">
                <p:oleObj spid="_x0000_s3080" name="" r:id="rId1" imgW="2816860" imgH="3144520" progId="Visio.Drawing.6">
                  <p:embed/>
                </p:oleObj>
              </mc:Choice>
              <mc:Fallback>
                <p:oleObj name="" r:id="rId1" imgW="2816860" imgH="3144520" progId="Visio.Drawing.6">
                  <p:embed/>
                  <p:pic>
                    <p:nvPicPr>
                      <p:cNvPr id="0" name="图片 3079"/>
                      <p:cNvPicPr/>
                      <p:nvPr/>
                    </p:nvPicPr>
                    <p:blipFill>
                      <a:blip r:embed="rId2"/>
                      <a:stretch>
                        <a:fillRect/>
                      </a:stretch>
                    </p:blipFill>
                    <p:spPr>
                      <a:xfrm>
                        <a:off x="431800" y="1066800"/>
                        <a:ext cx="4994275" cy="5562600"/>
                      </a:xfrm>
                      <a:prstGeom prst="rect">
                        <a:avLst/>
                      </a:prstGeom>
                      <a:noFill/>
                      <a:ln w="38100">
                        <a:noFill/>
                        <a:miter/>
                      </a:ln>
                    </p:spPr>
                  </p:pic>
                </p:oleObj>
              </mc:Fallback>
            </mc:AlternateContent>
          </a:graphicData>
        </a:graphic>
      </p:graphicFrame>
      <p:sp>
        <p:nvSpPr>
          <p:cNvPr id="94211" name="Rectangle 6"/>
          <p:cNvSpPr>
            <a:spLocks noGrp="1"/>
          </p:cNvSpPr>
          <p:nvPr>
            <p:ph idx="1"/>
          </p:nvPr>
        </p:nvSpPr>
        <p:spPr>
          <a:xfrm>
            <a:off x="4284663" y="5949950"/>
            <a:ext cx="4402137" cy="358775"/>
          </a:xfrm>
          <a:noFill/>
          <a:ln>
            <a:noFill/>
          </a:ln>
        </p:spPr>
        <p:txBody>
          <a:bodyPr anchor="t" anchorCtr="0"/>
          <a:p>
            <a:pPr algn="ctr" eaLnBrk="1" hangingPunct="1">
              <a:lnSpc>
                <a:spcPct val="90000"/>
              </a:lnSpc>
              <a:buFontTx/>
              <a:buNone/>
            </a:pPr>
            <a:r>
              <a:rPr lang="zh-CN" altLang="en-US" sz="2400" dirty="0">
                <a:latin typeface="Times New Roman" panose="02020603050405020304" pitchFamily="18" charset="0"/>
              </a:rPr>
              <a:t>图4-13  </a:t>
            </a:r>
            <a:r>
              <a:rPr lang="en-US" altLang="zh-CN" sz="2400" dirty="0">
                <a:latin typeface="Times New Roman" panose="02020603050405020304" pitchFamily="18" charset="0"/>
              </a:rPr>
              <a:t>Booth</a:t>
            </a:r>
            <a:r>
              <a:rPr lang="zh-CN" altLang="en-US" sz="2400" dirty="0">
                <a:latin typeface="Times New Roman" panose="02020603050405020304" pitchFamily="18" charset="0"/>
              </a:rPr>
              <a:t>乘法流程图</a:t>
            </a:r>
            <a:endParaRPr lang="zh-CN" altLang="en-US" sz="2400" dirty="0">
              <a:latin typeface="Times New Roman" panose="02020603050405020304" pitchFamily="18" charset="0"/>
              <a:ea typeface="Times New Roman" panose="02020603050405020304" pitchFamily="18" charset="0"/>
            </a:endParaRPr>
          </a:p>
        </p:txBody>
      </p:sp>
      <p:sp>
        <p:nvSpPr>
          <p:cNvPr id="94212" name="文本框 1"/>
          <p:cNvSpPr txBox="1"/>
          <p:nvPr/>
        </p:nvSpPr>
        <p:spPr>
          <a:xfrm>
            <a:off x="5830888" y="1423988"/>
            <a:ext cx="2520950" cy="1200150"/>
          </a:xfrm>
          <a:prstGeom prst="rect">
            <a:avLst/>
          </a:prstGeom>
          <a:noFill/>
          <a:ln w="9525">
            <a:noFill/>
          </a:ln>
        </p:spPr>
        <p:txBody>
          <a:bodyPr anchor="t" anchorCtr="0">
            <a:spAutoFit/>
          </a:bodyPr>
          <a:p>
            <a:pPr eaLnBrk="0" hangingPunct="0"/>
            <a:r>
              <a:rPr lang="zh-CN" altLang="en-US" dirty="0">
                <a:solidFill>
                  <a:srgbClr val="0000FF"/>
                </a:solidFill>
                <a:latin typeface="Times New Roman" panose="02020603050405020304" pitchFamily="18" charset="0"/>
                <a:ea typeface="宋体" panose="02010600030101010101" pitchFamily="2" charset="-122"/>
              </a:rPr>
              <a:t>被乘数放在</a:t>
            </a:r>
            <a:r>
              <a:rPr lang="en-US" altLang="zh-CN" dirty="0">
                <a:solidFill>
                  <a:srgbClr val="0000FF"/>
                </a:solidFill>
                <a:latin typeface="Times New Roman" panose="02020603050405020304" pitchFamily="18" charset="0"/>
                <a:ea typeface="宋体" panose="02010600030101010101" pitchFamily="2" charset="-122"/>
              </a:rPr>
              <a:t>B</a:t>
            </a:r>
            <a:r>
              <a:rPr lang="zh-CN" altLang="en-US" dirty="0">
                <a:solidFill>
                  <a:srgbClr val="0000FF"/>
                </a:solidFill>
                <a:latin typeface="Times New Roman" panose="02020603050405020304" pitchFamily="18" charset="0"/>
                <a:ea typeface="宋体" panose="02010600030101010101" pitchFamily="2" charset="-122"/>
              </a:rPr>
              <a:t>中，乘数放在</a:t>
            </a:r>
            <a:r>
              <a:rPr lang="en-US" altLang="zh-CN" dirty="0">
                <a:solidFill>
                  <a:srgbClr val="0000FF"/>
                </a:solidFill>
                <a:latin typeface="Times New Roman" panose="02020603050405020304" pitchFamily="18" charset="0"/>
                <a:ea typeface="宋体" panose="02010600030101010101" pitchFamily="2" charset="-122"/>
              </a:rPr>
              <a:t>C</a:t>
            </a:r>
            <a:r>
              <a:rPr lang="zh-CN" altLang="en-US" dirty="0">
                <a:solidFill>
                  <a:srgbClr val="0000FF"/>
                </a:solidFill>
                <a:latin typeface="Times New Roman" panose="02020603050405020304" pitchFamily="18" charset="0"/>
                <a:ea typeface="宋体" panose="02010600030101010101" pitchFamily="2" charset="-122"/>
              </a:rPr>
              <a:t>中，</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初值为</a:t>
            </a:r>
            <a:r>
              <a:rPr lang="en-US" altLang="zh-CN" dirty="0">
                <a:solidFill>
                  <a:srgbClr val="0000FF"/>
                </a:solidFill>
                <a:latin typeface="Times New Roman" panose="02020603050405020304" pitchFamily="18" charset="0"/>
                <a:ea typeface="宋体" panose="02010600030101010101" pitchFamily="2" charset="-122"/>
              </a:rPr>
              <a:t>0</a:t>
            </a:r>
            <a:r>
              <a:rPr lang="zh-CN" altLang="en-US" dirty="0">
                <a:solidFill>
                  <a:srgbClr val="0000FF"/>
                </a:solidFill>
                <a:latin typeface="Times New Roman" panose="02020603050405020304" pitchFamily="18" charset="0"/>
                <a:ea typeface="宋体" panose="02010600030101010101" pitchFamily="2" charset="-122"/>
              </a:rPr>
              <a:t>，计数器初值为</a:t>
            </a:r>
            <a:r>
              <a:rPr lang="en-US" altLang="zh-CN" dirty="0">
                <a:solidFill>
                  <a:srgbClr val="0000FF"/>
                </a:solidFill>
                <a:latin typeface="Times New Roman" panose="02020603050405020304" pitchFamily="18" charset="0"/>
                <a:ea typeface="宋体" panose="02010600030101010101" pitchFamily="2" charset="-122"/>
              </a:rPr>
              <a:t>0</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C</a:t>
            </a:r>
            <a:r>
              <a:rPr lang="en-US" altLang="zh-CN" baseline="-25000" dirty="0">
                <a:solidFill>
                  <a:srgbClr val="0000FF"/>
                </a:solidFill>
                <a:latin typeface="Times New Roman" panose="02020603050405020304" pitchFamily="18" charset="0"/>
                <a:ea typeface="宋体" panose="02010600030101010101" pitchFamily="2" charset="-122"/>
              </a:rPr>
              <a:t>n+1</a:t>
            </a:r>
            <a:r>
              <a:rPr lang="zh-CN" altLang="en-US" dirty="0">
                <a:solidFill>
                  <a:srgbClr val="0000FF"/>
                </a:solidFill>
                <a:latin typeface="Times New Roman" panose="02020603050405020304" pitchFamily="18" charset="0"/>
                <a:ea typeface="宋体" panose="02010600030101010101" pitchFamily="2" charset="-122"/>
              </a:rPr>
              <a:t>是附加位</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94213" name="文本框 5"/>
          <p:cNvSpPr txBox="1"/>
          <p:nvPr/>
        </p:nvSpPr>
        <p:spPr>
          <a:xfrm>
            <a:off x="5829300" y="3100388"/>
            <a:ext cx="2520950" cy="923925"/>
          </a:xfrm>
          <a:prstGeom prst="rect">
            <a:avLst/>
          </a:prstGeom>
          <a:noFill/>
          <a:ln w="9525">
            <a:noFill/>
          </a:ln>
        </p:spPr>
        <p:txBody>
          <a:bodyPr anchor="t" anchorCtr="0">
            <a:spAutoFit/>
          </a:bodyPr>
          <a:p>
            <a:pPr eaLnBrk="0" hangingPunct="0"/>
            <a:r>
              <a:rPr lang="zh-CN" altLang="en-US" dirty="0">
                <a:solidFill>
                  <a:srgbClr val="0000FF"/>
                </a:solidFill>
                <a:latin typeface="Times New Roman" panose="02020603050405020304" pitchFamily="18" charset="0"/>
                <a:ea typeface="宋体" panose="02010600030101010101" pitchFamily="2" charset="-122"/>
              </a:rPr>
              <a:t>判断乘数相邻</a:t>
            </a:r>
            <a:r>
              <a:rPr lang="en-US" altLang="zh-CN" dirty="0">
                <a:solidFill>
                  <a:srgbClr val="0000FF"/>
                </a:solidFill>
                <a:latin typeface="Times New Roman" panose="02020603050405020304" pitchFamily="18" charset="0"/>
                <a:ea typeface="宋体" panose="02010600030101010101" pitchFamily="2" charset="-122"/>
              </a:rPr>
              <a:t>2</a:t>
            </a:r>
            <a:r>
              <a:rPr lang="zh-CN" altLang="en-US" dirty="0">
                <a:solidFill>
                  <a:srgbClr val="0000FF"/>
                </a:solidFill>
                <a:latin typeface="Times New Roman" panose="02020603050405020304" pitchFamily="18" charset="0"/>
                <a:ea typeface="宋体" panose="02010600030101010101" pitchFamily="2" charset="-122"/>
              </a:rPr>
              <a:t>位的值，决定做加法、减法</a:t>
            </a:r>
            <a:r>
              <a:rPr lang="en-US" altLang="zh-CN" dirty="0">
                <a:solidFill>
                  <a:srgbClr val="0000FF"/>
                </a:solidFill>
                <a:latin typeface="Times New Roman" panose="02020603050405020304" pitchFamily="18" charset="0"/>
                <a:ea typeface="宋体" panose="02010600030101010101" pitchFamily="2" charset="-122"/>
              </a:rPr>
              <a:t>or</a:t>
            </a:r>
            <a:r>
              <a:rPr lang="zh-CN" altLang="en-US" dirty="0">
                <a:solidFill>
                  <a:srgbClr val="0000FF"/>
                </a:solidFill>
                <a:latin typeface="Times New Roman" panose="02020603050405020304" pitchFamily="18" charset="0"/>
                <a:ea typeface="宋体" panose="02010600030101010101" pitchFamily="2" charset="-122"/>
              </a:rPr>
              <a:t>不做任何运算。</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94214" name="文本框 6"/>
          <p:cNvSpPr txBox="1"/>
          <p:nvPr/>
        </p:nvSpPr>
        <p:spPr>
          <a:xfrm>
            <a:off x="5830888" y="4695825"/>
            <a:ext cx="2520950" cy="923925"/>
          </a:xfrm>
          <a:prstGeom prst="rect">
            <a:avLst/>
          </a:prstGeom>
          <a:noFill/>
          <a:ln w="9525">
            <a:noFill/>
          </a:ln>
        </p:spPr>
        <p:txBody>
          <a:bodyPr anchor="t" anchorCtr="0">
            <a:spAutoFit/>
          </a:bodyPr>
          <a:p>
            <a:pPr eaLnBrk="0" hangingPunct="0"/>
            <a:r>
              <a:rPr lang="zh-CN" altLang="en-US" dirty="0">
                <a:solidFill>
                  <a:srgbClr val="0000FF"/>
                </a:solidFill>
                <a:latin typeface="Times New Roman" panose="02020603050405020304" pitchFamily="18" charset="0"/>
                <a:ea typeface="宋体" panose="02010600030101010101" pitchFamily="2" charset="-122"/>
              </a:rPr>
              <a:t>计数器</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，判断是否完成计算，若没有完成则移位。</a:t>
            </a:r>
            <a:endParaRPr lang="zh-CN" altLang="en-US"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523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3.Booth</a:t>
            </a:r>
            <a:r>
              <a:rPr lang="zh-CN" altLang="en-US" dirty="0">
                <a:latin typeface="Times New Roman" panose="02020603050405020304" pitchFamily="18" charset="0"/>
              </a:rPr>
              <a:t>乘法运算的实现（</a:t>
            </a:r>
            <a:r>
              <a:rPr lang="en-US" altLang="zh-CN" dirty="0">
                <a:latin typeface="Times New Roman" panose="02020603050405020304" pitchFamily="18" charset="0"/>
              </a:rPr>
              <a:t>p96)</a:t>
            </a:r>
            <a:endParaRPr lang="zh-CN" altLang="en-US" dirty="0">
              <a:latin typeface="Times New Roman" panose="02020603050405020304" pitchFamily="18" charset="0"/>
              <a:ea typeface="Times New Roman" panose="02020603050405020304" pitchFamily="18" charset="0"/>
            </a:endParaRPr>
          </a:p>
        </p:txBody>
      </p:sp>
      <p:sp>
        <p:nvSpPr>
          <p:cNvPr id="95234" name="内容占位符 2"/>
          <p:cNvSpPr>
            <a:spLocks noGrp="1"/>
          </p:cNvSpPr>
          <p:nvPr>
            <p:ph idx="1"/>
          </p:nvPr>
        </p:nvSpPr>
        <p:spPr>
          <a:xfrm>
            <a:off x="446088" y="1417638"/>
            <a:ext cx="8229600" cy="4964112"/>
          </a:xfrm>
          <a:noFill/>
          <a:ln>
            <a:noFill/>
          </a:ln>
        </p:spPr>
        <p:txBody>
          <a:bodyPr anchor="t" anchorCtr="0"/>
          <a:p>
            <a:pPr>
              <a:spcBef>
                <a:spcPts val="1200"/>
              </a:spcBef>
            </a:pPr>
            <a:r>
              <a:rPr lang="zh-CN" altLang="en-US" dirty="0">
                <a:latin typeface="Times New Roman" panose="02020603050405020304" pitchFamily="18" charset="0"/>
              </a:rPr>
              <a:t>各器件的作用与原码一位乘法相同，</a:t>
            </a:r>
            <a:r>
              <a:rPr lang="en-US" altLang="zh-CN"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寄存器长</a:t>
            </a:r>
            <a:r>
              <a:rPr lang="en-US" altLang="zh-CN" dirty="0">
                <a:latin typeface="Times New Roman" panose="02020603050405020304" pitchFamily="18" charset="0"/>
              </a:rPr>
              <a:t>n+2</a:t>
            </a:r>
            <a:r>
              <a:rPr lang="zh-CN" altLang="en-US" dirty="0">
                <a:latin typeface="Times New Roman" panose="02020603050405020304" pitchFamily="18" charset="0"/>
              </a:rPr>
              <a:t>位，</a:t>
            </a:r>
            <a:r>
              <a:rPr lang="en-US" altLang="zh-CN" dirty="0">
                <a:latin typeface="Times New Roman" panose="02020603050405020304" pitchFamily="18" charset="0"/>
              </a:rPr>
              <a:t>C</a:t>
            </a:r>
            <a:r>
              <a:rPr lang="zh-CN" altLang="en-US" dirty="0">
                <a:latin typeface="Times New Roman" panose="02020603050405020304" pitchFamily="18" charset="0"/>
              </a:rPr>
              <a:t>寄存器长</a:t>
            </a:r>
            <a:r>
              <a:rPr lang="en-US" altLang="zh-CN" dirty="0">
                <a:latin typeface="Times New Roman" panose="02020603050405020304" pitchFamily="18" charset="0"/>
              </a:rPr>
              <a:t>n+1</a:t>
            </a:r>
            <a:r>
              <a:rPr lang="zh-CN" altLang="en-US" dirty="0">
                <a:latin typeface="Times New Roman" panose="02020603050405020304" pitchFamily="18" charset="0"/>
              </a:rPr>
              <a:t>位，还需一个</a:t>
            </a:r>
            <a:r>
              <a:rPr lang="en-US" altLang="zh-CN" dirty="0">
                <a:latin typeface="Times New Roman" panose="02020603050405020304" pitchFamily="18" charset="0"/>
              </a:rPr>
              <a:t>n+2</a:t>
            </a:r>
            <a:r>
              <a:rPr lang="zh-CN" altLang="en-US" dirty="0">
                <a:latin typeface="Times New Roman" panose="02020603050405020304" pitchFamily="18" charset="0"/>
              </a:rPr>
              <a:t>位的加法器、</a:t>
            </a:r>
            <a:r>
              <a:rPr lang="en-US" altLang="zh-CN" dirty="0">
                <a:latin typeface="Times New Roman" panose="02020603050405020304" pitchFamily="18" charset="0"/>
              </a:rPr>
              <a:t>n+2</a:t>
            </a:r>
            <a:r>
              <a:rPr lang="zh-CN" altLang="en-US" dirty="0">
                <a:latin typeface="Times New Roman" panose="02020603050405020304" pitchFamily="18" charset="0"/>
              </a:rPr>
              <a:t>个与或门和一个计数器。</a:t>
            </a:r>
            <a:endParaRPr lang="en-US" altLang="zh-CN" dirty="0">
              <a:latin typeface="Times New Roman" panose="02020603050405020304" pitchFamily="18" charset="0"/>
            </a:endParaRPr>
          </a:p>
          <a:p>
            <a:pPr>
              <a:spcBef>
                <a:spcPts val="1200"/>
              </a:spcBef>
            </a:pPr>
            <a:r>
              <a:rPr lang="zh-CN" altLang="en-US" dirty="0">
                <a:latin typeface="Times New Roman" panose="02020603050405020304" pitchFamily="18" charset="0"/>
              </a:rPr>
              <a:t>由</a:t>
            </a:r>
            <a:r>
              <a:rPr lang="en-US" altLang="zh-CN" dirty="0">
                <a:latin typeface="Times New Roman" panose="02020603050405020304" pitchFamily="18" charset="0"/>
              </a:rPr>
              <a:t>C</a:t>
            </a:r>
            <a:r>
              <a:rPr lang="zh-CN" altLang="en-US" dirty="0">
                <a:latin typeface="Times New Roman" panose="02020603050405020304" pitchFamily="18" charset="0"/>
              </a:rPr>
              <a:t>寄存器的最低两位</a:t>
            </a:r>
            <a:r>
              <a:rPr lang="en-US" altLang="zh-CN" dirty="0">
                <a:latin typeface="Times New Roman" panose="02020603050405020304" pitchFamily="18" charset="0"/>
              </a:rPr>
              <a:t>C</a:t>
            </a:r>
            <a:r>
              <a:rPr lang="en-US" altLang="zh-CN" baseline="-25000" dirty="0">
                <a:latin typeface="Times New Roman" panose="02020603050405020304" pitchFamily="18" charset="0"/>
              </a:rPr>
              <a:t>n</a:t>
            </a:r>
            <a:r>
              <a:rPr lang="en-US" altLang="zh-CN" dirty="0">
                <a:latin typeface="Times New Roman" panose="02020603050405020304" pitchFamily="18" charset="0"/>
              </a:rPr>
              <a:t>C</a:t>
            </a:r>
            <a:r>
              <a:rPr lang="en-US" altLang="zh-CN" baseline="-25000" dirty="0">
                <a:latin typeface="Times New Roman" panose="02020603050405020304" pitchFamily="18" charset="0"/>
              </a:rPr>
              <a:t>n+1</a:t>
            </a:r>
            <a:r>
              <a:rPr lang="zh-CN" altLang="en-US" dirty="0">
                <a:latin typeface="Times New Roman" panose="02020603050405020304" pitchFamily="18" charset="0"/>
              </a:rPr>
              <a:t>来控制是加</a:t>
            </a:r>
            <a:r>
              <a:rPr lang="en-US" altLang="zh-CN" dirty="0">
                <a:latin typeface="Times New Roman" panose="02020603050405020304" pitchFamily="18" charset="0"/>
              </a:rPr>
              <a:t>/</a:t>
            </a:r>
            <a:r>
              <a:rPr lang="zh-CN" altLang="en-US" dirty="0">
                <a:latin typeface="Times New Roman" panose="02020603050405020304" pitchFamily="18" charset="0"/>
              </a:rPr>
              <a:t>减被乘数还是加</a:t>
            </a:r>
            <a:r>
              <a:rPr lang="en-US" altLang="zh-CN" dirty="0">
                <a:latin typeface="Times New Roman" panose="02020603050405020304" pitchFamily="18" charset="0"/>
              </a:rPr>
              <a:t>0</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spcBef>
                <a:spcPts val="600"/>
              </a:spcBef>
            </a:pPr>
            <a:r>
              <a:rPr lang="zh-CN" altLang="en-US" sz="2400" dirty="0">
                <a:latin typeface="Times New Roman" panose="02020603050405020304" pitchFamily="18" charset="0"/>
              </a:rPr>
              <a:t>当</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n</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n+1</a:t>
            </a:r>
            <a:r>
              <a:rPr lang="en-US" altLang="zh-CN" sz="2400" dirty="0">
                <a:latin typeface="Times New Roman" panose="02020603050405020304" pitchFamily="18" charset="0"/>
              </a:rPr>
              <a:t>=01</a:t>
            </a:r>
            <a:r>
              <a:rPr lang="zh-CN" altLang="en-US" sz="2400" dirty="0">
                <a:latin typeface="Times New Roman" panose="02020603050405020304" pitchFamily="18" charset="0"/>
              </a:rPr>
              <a:t>时，加被乘数，即加</a:t>
            </a:r>
            <a:r>
              <a:rPr lang="en-US" altLang="zh-CN" sz="2400" dirty="0">
                <a:latin typeface="Times New Roman" panose="02020603050405020304" pitchFamily="18" charset="0"/>
              </a:rPr>
              <a:t>B</a:t>
            </a:r>
            <a:r>
              <a:rPr lang="zh-CN" altLang="en-US" sz="2400" dirty="0">
                <a:latin typeface="Times New Roman" panose="02020603050405020304" pitchFamily="18" charset="0"/>
              </a:rPr>
              <a:t>寄存器的内容；</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n</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n+1</a:t>
            </a:r>
            <a:r>
              <a:rPr lang="en-US" altLang="zh-CN" sz="2400" dirty="0">
                <a:latin typeface="Times New Roman" panose="02020603050405020304" pitchFamily="18" charset="0"/>
              </a:rPr>
              <a:t>=10</a:t>
            </a:r>
            <a:r>
              <a:rPr lang="zh-CN" altLang="en-US" sz="2400" dirty="0">
                <a:latin typeface="Times New Roman" panose="02020603050405020304" pitchFamily="18" charset="0"/>
              </a:rPr>
              <a:t>时，减被乘数，即加上</a:t>
            </a:r>
            <a:r>
              <a:rPr lang="en-US" altLang="zh-CN" sz="2400" dirty="0">
                <a:latin typeface="Times New Roman" panose="02020603050405020304" pitchFamily="18" charset="0"/>
              </a:rPr>
              <a:t>B</a:t>
            </a:r>
            <a:r>
              <a:rPr lang="zh-CN" altLang="en-US" sz="2400" dirty="0">
                <a:latin typeface="Times New Roman" panose="02020603050405020304" pitchFamily="18" charset="0"/>
              </a:rPr>
              <a:t>寄存器中内容的反，并在加法器的最低位加</a:t>
            </a:r>
            <a:r>
              <a:rPr lang="en-US" altLang="zh-CN" sz="2400" dirty="0">
                <a:latin typeface="Times New Roman" panose="02020603050405020304" pitchFamily="18" charset="0"/>
              </a:rPr>
              <a:t>1</a:t>
            </a:r>
            <a:r>
              <a:rPr lang="zh-CN" altLang="en-US" sz="2400" dirty="0">
                <a:latin typeface="Times New Roman" panose="02020603050405020304" pitchFamily="18" charset="0"/>
              </a:rPr>
              <a:t>；</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n</a:t>
            </a:r>
            <a:r>
              <a:rPr lang="en-US" altLang="zh-CN" sz="2400" dirty="0">
                <a:latin typeface="Times New Roman" panose="02020603050405020304" pitchFamily="18" charset="0"/>
              </a:rPr>
              <a:t>C</a:t>
            </a:r>
            <a:r>
              <a:rPr lang="en-US" altLang="zh-CN" sz="2400" baseline="-25000" dirty="0">
                <a:latin typeface="Times New Roman" panose="02020603050405020304" pitchFamily="18" charset="0"/>
              </a:rPr>
              <a:t>n+1</a:t>
            </a:r>
            <a:r>
              <a:rPr lang="en-US" altLang="zh-CN" sz="2400" dirty="0">
                <a:latin typeface="Times New Roman" panose="02020603050405020304" pitchFamily="18" charset="0"/>
              </a:rPr>
              <a:t>=00</a:t>
            </a:r>
            <a:r>
              <a:rPr lang="zh-CN" altLang="en-US" sz="2400" dirty="0">
                <a:latin typeface="Times New Roman" panose="02020603050405020304" pitchFamily="18" charset="0"/>
              </a:rPr>
              <a:t>或</a:t>
            </a:r>
            <a:r>
              <a:rPr lang="en-US" altLang="zh-CN" sz="2400" dirty="0">
                <a:latin typeface="Times New Roman" panose="02020603050405020304" pitchFamily="18" charset="0"/>
              </a:rPr>
              <a:t>11</a:t>
            </a:r>
            <a:r>
              <a:rPr lang="zh-CN" altLang="en-US" sz="2400" dirty="0">
                <a:latin typeface="Times New Roman" panose="02020603050405020304" pitchFamily="18" charset="0"/>
              </a:rPr>
              <a:t>时，不加也不减（加</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a:spcBef>
                <a:spcPts val="1200"/>
              </a:spcBef>
            </a:pPr>
            <a:r>
              <a:rPr lang="zh-CN" altLang="en-US" dirty="0">
                <a:latin typeface="Times New Roman" panose="02020603050405020304" pitchFamily="18" charset="0"/>
              </a:rPr>
              <a:t>符号位参与运算，不需要处理符号位的异或门。</a:t>
            </a:r>
            <a:endParaRPr lang="zh-CN" altLang="en-US" dirty="0">
              <a:latin typeface="Times New Roman" panose="02020603050405020304" pitchFamily="18" charset="0"/>
            </a:endParaRPr>
          </a:p>
          <a:p>
            <a:pPr>
              <a:spcBef>
                <a:spcPts val="1200"/>
              </a:spcBef>
            </a:pP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6257" name="标题 1"/>
          <p:cNvSpPr>
            <a:spLocks noGrp="1"/>
          </p:cNvSpPr>
          <p:nvPr>
            <p:ph type="title"/>
          </p:nvPr>
        </p:nvSpPr>
        <p:spPr>
          <a:noFill/>
          <a:ln>
            <a:noFill/>
          </a:ln>
        </p:spPr>
        <p:txBody>
          <a:bodyPr anchor="t" anchorCtr="0"/>
          <a:p>
            <a:r>
              <a:rPr lang="zh-CN" altLang="en-US" dirty="0"/>
              <a:t>*</a:t>
            </a:r>
            <a:r>
              <a:rPr lang="en-US" altLang="zh-CN" dirty="0"/>
              <a:t>4.4.3 </a:t>
            </a:r>
            <a:r>
              <a:rPr lang="zh-CN" altLang="en-US" dirty="0"/>
              <a:t>补码两位乘法</a:t>
            </a:r>
            <a:endParaRPr lang="zh-CN" altLang="en-US" dirty="0"/>
          </a:p>
        </p:txBody>
      </p:sp>
      <p:sp>
        <p:nvSpPr>
          <p:cNvPr id="96258" name="内容占位符 2"/>
          <p:cNvSpPr>
            <a:spLocks noGrp="1"/>
          </p:cNvSpPr>
          <p:nvPr>
            <p:ph idx="1"/>
          </p:nvPr>
        </p:nvSpPr>
        <p:spPr>
          <a:noFill/>
          <a:ln>
            <a:noFill/>
          </a:ln>
        </p:spPr>
        <p:txBody>
          <a:bodyPr anchor="t" anchorCtr="0"/>
          <a:p>
            <a:pPr>
              <a:spcBef>
                <a:spcPts val="1200"/>
              </a:spcBef>
            </a:pPr>
            <a:r>
              <a:rPr lang="zh-CN" altLang="en-US" dirty="0"/>
              <a:t>为了提高乘法的执行速度，可以选用两位乘法的方案。所谓两位乘法，就是每次处理乘数中的两位，从而使乘法的速度提高了一倍。</a:t>
            </a:r>
            <a:endParaRPr lang="zh-CN" altLang="en-US" dirty="0"/>
          </a:p>
          <a:p>
            <a:pPr>
              <a:spcBef>
                <a:spcPts val="1200"/>
              </a:spcBef>
            </a:pPr>
            <a:r>
              <a:rPr lang="zh-CN" altLang="en-US" dirty="0"/>
              <a:t>根据</a:t>
            </a:r>
            <a:r>
              <a:rPr lang="en-US" altLang="zh-CN" dirty="0"/>
              <a:t>Booth</a:t>
            </a:r>
            <a:r>
              <a:rPr lang="zh-CN" altLang="en-US" dirty="0"/>
              <a:t>乘法方便地推导出补码两位乘法，即把补码两位乘理解为将</a:t>
            </a:r>
            <a:r>
              <a:rPr lang="en-US" altLang="zh-CN" dirty="0"/>
              <a:t>Booth</a:t>
            </a:r>
            <a:r>
              <a:rPr lang="zh-CN" altLang="en-US" dirty="0"/>
              <a:t>乘法的两次合并为一次来做。 </a:t>
            </a:r>
            <a:endParaRPr lang="zh-CN" altLang="en-US" dirty="0"/>
          </a:p>
          <a:p>
            <a:pPr>
              <a:spcBef>
                <a:spcPts val="1200"/>
              </a:spcBef>
            </a:pPr>
            <a:endParaRPr lang="zh-CN" alt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6" name="标题 1"/>
          <p:cNvSpPr>
            <a:spLocks noGrp="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zh-CN" altLang="en-US" sz="32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*补码两位乘法操作</a:t>
            </a:r>
            <a:endParaRPr kumimoji="0" lang="zh-CN" altLang="en-US" sz="32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97282" name="内容占位符 2"/>
          <p:cNvSpPr>
            <a:spLocks noGrp="1"/>
          </p:cNvSpPr>
          <p:nvPr>
            <p:ph idx="1"/>
          </p:nvPr>
        </p:nvSpPr>
        <p:spPr>
          <a:noFill/>
          <a:ln>
            <a:noFill/>
          </a:ln>
        </p:spPr>
        <p:txBody>
          <a:bodyPr anchor="t" anchorCtr="0"/>
          <a:p>
            <a:pPr marL="533400" indent="-533400" algn="just" eaLnBrk="1" hangingPunct="1">
              <a:lnSpc>
                <a:spcPct val="90000"/>
              </a:lnSpc>
              <a:buFontTx/>
              <a:buNone/>
            </a:pPr>
            <a:r>
              <a:rPr lang="en-US" altLang="zh-CN" dirty="0">
                <a:solidFill>
                  <a:srgbClr val="FF3300"/>
                </a:solidFill>
                <a:latin typeface="Times New Roman" panose="02020603050405020304" pitchFamily="18" charset="0"/>
              </a:rPr>
              <a:t>Y</a:t>
            </a:r>
            <a:r>
              <a:rPr lang="en-US" altLang="zh-CN" baseline="-25000" dirty="0">
                <a:solidFill>
                  <a:srgbClr val="FF3300"/>
                </a:solidFill>
                <a:latin typeface="Times New Roman" panose="02020603050405020304" pitchFamily="18" charset="0"/>
              </a:rPr>
              <a:t>n-1</a:t>
            </a:r>
            <a:r>
              <a:rPr lang="en-US" altLang="zh-CN" dirty="0">
                <a:solidFill>
                  <a:srgbClr val="FF3300"/>
                </a:solidFill>
                <a:latin typeface="Times New Roman" panose="02020603050405020304" pitchFamily="18" charset="0"/>
              </a:rPr>
              <a:t>Y</a:t>
            </a:r>
            <a:r>
              <a:rPr lang="en-US" altLang="zh-CN" baseline="-25000" dirty="0">
                <a:solidFill>
                  <a:srgbClr val="FF3300"/>
                </a:solidFill>
                <a:latin typeface="Times New Roman" panose="02020603050405020304" pitchFamily="18" charset="0"/>
              </a:rPr>
              <a:t>n</a:t>
            </a:r>
            <a:r>
              <a:rPr lang="en-US" altLang="zh-CN" dirty="0">
                <a:solidFill>
                  <a:srgbClr val="FF3300"/>
                </a:solidFill>
                <a:latin typeface="Times New Roman" panose="02020603050405020304" pitchFamily="18" charset="0"/>
              </a:rPr>
              <a:t>Y</a:t>
            </a:r>
            <a:r>
              <a:rPr lang="en-US" altLang="zh-CN" baseline="-25000" dirty="0">
                <a:solidFill>
                  <a:srgbClr val="FF3300"/>
                </a:solidFill>
                <a:latin typeface="Times New Roman" panose="02020603050405020304" pitchFamily="18" charset="0"/>
              </a:rPr>
              <a:t>n+1</a:t>
            </a:r>
            <a:endParaRPr lang="en-US" altLang="zh-CN" baseline="-25000" dirty="0">
              <a:solidFill>
                <a:srgbClr val="FF3300"/>
              </a:solidFill>
              <a:latin typeface="Times New Roman" panose="02020603050405020304" pitchFamily="18" charset="0"/>
            </a:endParaRPr>
          </a:p>
          <a:p>
            <a:pPr marL="533400" indent="-533400" algn="just" eaLnBrk="1" hangingPunct="1">
              <a:lnSpc>
                <a:spcPct val="90000"/>
              </a:lnSpc>
              <a:buFontTx/>
              <a:buNone/>
            </a:pPr>
            <a:r>
              <a:rPr lang="en-US" altLang="zh-CN" dirty="0">
                <a:latin typeface="Times New Roman" panose="02020603050405020304" pitchFamily="18" charset="0"/>
              </a:rPr>
              <a:t>0     0    0      +0，</a:t>
            </a:r>
            <a:r>
              <a:rPr lang="zh-CN" altLang="en-US" dirty="0">
                <a:latin typeface="Times New Roman" panose="02020603050405020304" pitchFamily="18" charset="0"/>
              </a:rPr>
              <a:t>右移2位</a:t>
            </a:r>
            <a:endParaRPr lang="zh-CN" altLang="en-US" dirty="0">
              <a:latin typeface="Times New Roman" panose="02020603050405020304" pitchFamily="18" charset="0"/>
            </a:endParaRPr>
          </a:p>
          <a:p>
            <a:pPr marL="533400" indent="-533400" algn="just" eaLnBrk="1" hangingPunct="1">
              <a:lnSpc>
                <a:spcPct val="90000"/>
              </a:lnSpc>
              <a:buFontTx/>
              <a:buNone/>
            </a:pPr>
            <a:r>
              <a:rPr lang="zh-CN" altLang="en-US" dirty="0">
                <a:latin typeface="Times New Roman" panose="02020603050405020304" pitchFamily="18" charset="0"/>
              </a:rPr>
              <a:t>0     0    1      +[</a:t>
            </a:r>
            <a:r>
              <a:rPr lang="en-US" altLang="zh-CN" dirty="0">
                <a:latin typeface="Times New Roman" panose="02020603050405020304" pitchFamily="18" charset="0"/>
              </a:rPr>
              <a:t>X]</a:t>
            </a:r>
            <a:r>
              <a:rPr lang="zh-CN" altLang="en-US" baseline="-25000" dirty="0">
                <a:latin typeface="Times New Roman" panose="02020603050405020304" pitchFamily="18" charset="0"/>
              </a:rPr>
              <a:t>补</a:t>
            </a:r>
            <a:r>
              <a:rPr lang="zh-CN" altLang="en-US" dirty="0">
                <a:latin typeface="Times New Roman" panose="02020603050405020304" pitchFamily="18" charset="0"/>
              </a:rPr>
              <a:t>，右移2位</a:t>
            </a:r>
            <a:endParaRPr lang="zh-CN" altLang="en-US" dirty="0">
              <a:latin typeface="Times New Roman" panose="02020603050405020304" pitchFamily="18" charset="0"/>
            </a:endParaRPr>
          </a:p>
          <a:p>
            <a:pPr marL="533400" indent="-533400" algn="just" eaLnBrk="1" hangingPunct="1">
              <a:lnSpc>
                <a:spcPct val="90000"/>
              </a:lnSpc>
              <a:buFontTx/>
              <a:buNone/>
            </a:pPr>
            <a:r>
              <a:rPr lang="zh-CN" altLang="en-US" dirty="0">
                <a:latin typeface="Times New Roman" panose="02020603050405020304" pitchFamily="18" charset="0"/>
              </a:rPr>
              <a:t>0     1    0      +[</a:t>
            </a:r>
            <a:r>
              <a:rPr lang="en-US" altLang="zh-CN" dirty="0">
                <a:latin typeface="Times New Roman" panose="02020603050405020304" pitchFamily="18" charset="0"/>
              </a:rPr>
              <a:t>X]</a:t>
            </a:r>
            <a:r>
              <a:rPr lang="zh-CN" altLang="en-US" baseline="-25000" dirty="0">
                <a:latin typeface="Times New Roman" panose="02020603050405020304" pitchFamily="18" charset="0"/>
              </a:rPr>
              <a:t>补</a:t>
            </a:r>
            <a:r>
              <a:rPr lang="zh-CN" altLang="en-US" dirty="0">
                <a:latin typeface="Times New Roman" panose="02020603050405020304" pitchFamily="18" charset="0"/>
              </a:rPr>
              <a:t>，右移2位</a:t>
            </a:r>
            <a:endParaRPr lang="zh-CN" altLang="en-US" dirty="0">
              <a:latin typeface="Times New Roman" panose="02020603050405020304" pitchFamily="18" charset="0"/>
            </a:endParaRPr>
          </a:p>
          <a:p>
            <a:pPr marL="533400" indent="-533400" algn="just" eaLnBrk="1" hangingPunct="1">
              <a:lnSpc>
                <a:spcPct val="90000"/>
              </a:lnSpc>
              <a:buFontTx/>
              <a:buNone/>
            </a:pPr>
            <a:r>
              <a:rPr lang="zh-CN" altLang="en-US" dirty="0">
                <a:latin typeface="Times New Roman" panose="02020603050405020304" pitchFamily="18" charset="0"/>
              </a:rPr>
              <a:t>0     1    1      +2[</a:t>
            </a:r>
            <a:r>
              <a:rPr lang="en-US" altLang="zh-CN" dirty="0">
                <a:latin typeface="Times New Roman" panose="02020603050405020304" pitchFamily="18" charset="0"/>
              </a:rPr>
              <a:t>X]</a:t>
            </a:r>
            <a:r>
              <a:rPr lang="zh-CN" altLang="en-US" baseline="-25000" dirty="0">
                <a:latin typeface="Times New Roman" panose="02020603050405020304" pitchFamily="18" charset="0"/>
              </a:rPr>
              <a:t>补</a:t>
            </a:r>
            <a:r>
              <a:rPr lang="zh-CN" altLang="en-US" dirty="0">
                <a:latin typeface="Times New Roman" panose="02020603050405020304" pitchFamily="18" charset="0"/>
              </a:rPr>
              <a:t>，右移2位</a:t>
            </a:r>
            <a:endParaRPr lang="zh-CN" altLang="en-US" dirty="0">
              <a:latin typeface="Times New Roman" panose="02020603050405020304" pitchFamily="18" charset="0"/>
            </a:endParaRPr>
          </a:p>
          <a:p>
            <a:pPr marL="533400" indent="-533400" algn="just" eaLnBrk="1" hangingPunct="1">
              <a:lnSpc>
                <a:spcPct val="90000"/>
              </a:lnSpc>
              <a:buFontTx/>
              <a:buNone/>
            </a:pPr>
            <a:r>
              <a:rPr lang="zh-CN" altLang="en-US" dirty="0">
                <a:latin typeface="Times New Roman" panose="02020603050405020304" pitchFamily="18" charset="0"/>
              </a:rPr>
              <a:t>1     0    0      +2[-</a:t>
            </a:r>
            <a:r>
              <a:rPr lang="en-US" altLang="zh-CN" dirty="0">
                <a:latin typeface="Times New Roman" panose="02020603050405020304" pitchFamily="18" charset="0"/>
              </a:rPr>
              <a:t>X]</a:t>
            </a:r>
            <a:r>
              <a:rPr lang="zh-CN" altLang="en-US" baseline="-25000" dirty="0">
                <a:latin typeface="Times New Roman" panose="02020603050405020304" pitchFamily="18" charset="0"/>
              </a:rPr>
              <a:t>补</a:t>
            </a:r>
            <a:r>
              <a:rPr lang="zh-CN" altLang="en-US" dirty="0">
                <a:latin typeface="Times New Roman" panose="02020603050405020304" pitchFamily="18" charset="0"/>
              </a:rPr>
              <a:t>，右移2位</a:t>
            </a:r>
            <a:endParaRPr lang="zh-CN" altLang="en-US" dirty="0">
              <a:latin typeface="Times New Roman" panose="02020603050405020304" pitchFamily="18" charset="0"/>
            </a:endParaRPr>
          </a:p>
          <a:p>
            <a:pPr marL="533400" indent="-533400" algn="just" eaLnBrk="1" hangingPunct="1">
              <a:lnSpc>
                <a:spcPct val="90000"/>
              </a:lnSpc>
              <a:buFontTx/>
              <a:buNone/>
            </a:pPr>
            <a:r>
              <a:rPr lang="zh-CN" altLang="en-US" dirty="0">
                <a:latin typeface="Times New Roman" panose="02020603050405020304" pitchFamily="18" charset="0"/>
              </a:rPr>
              <a:t>1     0    1      +[-</a:t>
            </a:r>
            <a:r>
              <a:rPr lang="en-US" altLang="zh-CN" dirty="0">
                <a:latin typeface="Times New Roman" panose="02020603050405020304" pitchFamily="18" charset="0"/>
              </a:rPr>
              <a:t>X]</a:t>
            </a:r>
            <a:r>
              <a:rPr lang="zh-CN" altLang="en-US" baseline="-25000" dirty="0">
                <a:latin typeface="Times New Roman" panose="02020603050405020304" pitchFamily="18" charset="0"/>
              </a:rPr>
              <a:t>补</a:t>
            </a:r>
            <a:r>
              <a:rPr lang="zh-CN" altLang="en-US" dirty="0">
                <a:latin typeface="Times New Roman" panose="02020603050405020304" pitchFamily="18" charset="0"/>
              </a:rPr>
              <a:t>，右移2位</a:t>
            </a:r>
            <a:endParaRPr lang="zh-CN" altLang="en-US" dirty="0">
              <a:latin typeface="Times New Roman" panose="02020603050405020304" pitchFamily="18" charset="0"/>
            </a:endParaRPr>
          </a:p>
          <a:p>
            <a:pPr marL="533400" indent="-533400" algn="just" eaLnBrk="1" hangingPunct="1">
              <a:lnSpc>
                <a:spcPct val="90000"/>
              </a:lnSpc>
              <a:buFontTx/>
              <a:buNone/>
            </a:pPr>
            <a:r>
              <a:rPr lang="zh-CN" altLang="en-US" dirty="0">
                <a:latin typeface="Times New Roman" panose="02020603050405020304" pitchFamily="18" charset="0"/>
              </a:rPr>
              <a:t>1     1    0      +[-</a:t>
            </a:r>
            <a:r>
              <a:rPr lang="en-US" altLang="zh-CN" dirty="0">
                <a:latin typeface="Times New Roman" panose="02020603050405020304" pitchFamily="18" charset="0"/>
              </a:rPr>
              <a:t>X]</a:t>
            </a:r>
            <a:r>
              <a:rPr lang="zh-CN" altLang="en-US" baseline="-25000" dirty="0">
                <a:latin typeface="Times New Roman" panose="02020603050405020304" pitchFamily="18" charset="0"/>
              </a:rPr>
              <a:t>补</a:t>
            </a:r>
            <a:r>
              <a:rPr lang="zh-CN" altLang="en-US" dirty="0">
                <a:latin typeface="Times New Roman" panose="02020603050405020304" pitchFamily="18" charset="0"/>
              </a:rPr>
              <a:t>，右移2位</a:t>
            </a:r>
            <a:endParaRPr lang="zh-CN" altLang="en-US" dirty="0">
              <a:latin typeface="Times New Roman" panose="02020603050405020304" pitchFamily="18" charset="0"/>
            </a:endParaRPr>
          </a:p>
          <a:p>
            <a:pPr marL="533400" indent="-533400" algn="just" eaLnBrk="1" hangingPunct="1">
              <a:lnSpc>
                <a:spcPct val="90000"/>
              </a:lnSpc>
              <a:buFontTx/>
              <a:buNone/>
            </a:pPr>
            <a:r>
              <a:rPr lang="zh-CN" altLang="en-US" dirty="0">
                <a:latin typeface="Times New Roman" panose="02020603050405020304" pitchFamily="18" charset="0"/>
              </a:rPr>
              <a:t>1     1    1      +0，右移2位</a:t>
            </a:r>
            <a:endParaRPr lang="zh-CN" altLang="en-US" dirty="0">
              <a:latin typeface="Times New Roman" panose="02020603050405020304" pitchFamily="18" charset="0"/>
            </a:endParaRPr>
          </a:p>
          <a:p>
            <a:pPr marL="533400" indent="-533400"/>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8305" name="标题 1"/>
          <p:cNvSpPr>
            <a:spLocks noGrp="1"/>
          </p:cNvSpPr>
          <p:nvPr>
            <p:ph type="title"/>
          </p:nvPr>
        </p:nvSpPr>
        <p:spPr>
          <a:noFill/>
          <a:ln>
            <a:noFill/>
          </a:ln>
        </p:spPr>
        <p:txBody>
          <a:bodyPr anchor="t" anchorCtr="0"/>
          <a:p>
            <a:r>
              <a:rPr lang="zh-CN" altLang="en-US" dirty="0"/>
              <a:t>*</a:t>
            </a:r>
            <a:r>
              <a:rPr lang="en-US" altLang="zh-CN" dirty="0"/>
              <a:t>4.4.3 </a:t>
            </a:r>
            <a:r>
              <a:rPr lang="zh-CN" altLang="en-US" dirty="0"/>
              <a:t>补码两位乘法（续）</a:t>
            </a:r>
            <a:endParaRPr lang="zh-CN" altLang="en-US" dirty="0"/>
          </a:p>
        </p:txBody>
      </p:sp>
      <p:sp>
        <p:nvSpPr>
          <p:cNvPr id="98306" name="内容占位符 2"/>
          <p:cNvSpPr>
            <a:spLocks noGrp="1"/>
          </p:cNvSpPr>
          <p:nvPr>
            <p:ph idx="1"/>
          </p:nvPr>
        </p:nvSpPr>
        <p:spPr>
          <a:xfrm>
            <a:off x="373063" y="1268413"/>
            <a:ext cx="8229600" cy="5324475"/>
          </a:xfrm>
          <a:noFill/>
          <a:ln>
            <a:noFill/>
          </a:ln>
        </p:spPr>
        <p:txBody>
          <a:bodyPr anchor="t" anchorCtr="0"/>
          <a:p>
            <a:r>
              <a:rPr lang="zh-CN" altLang="en-US" dirty="0"/>
              <a:t>被乘数和部分积取</a:t>
            </a:r>
            <a:r>
              <a:rPr lang="en-US" altLang="zh-CN" dirty="0"/>
              <a:t>3</a:t>
            </a:r>
            <a:r>
              <a:rPr lang="zh-CN" altLang="en-US" dirty="0"/>
              <a:t>符号位，当乘数的数值位</a:t>
            </a:r>
            <a:r>
              <a:rPr lang="en-US" altLang="zh-CN" dirty="0"/>
              <a:t>n</a:t>
            </a:r>
            <a:r>
              <a:rPr lang="zh-CN" altLang="en-US" dirty="0"/>
              <a:t>为偶数时，乘数取两符号位，共需作  </a:t>
            </a:r>
            <a:r>
              <a:rPr lang="en-US" altLang="zh-CN" dirty="0"/>
              <a:t>+1</a:t>
            </a:r>
            <a:r>
              <a:rPr lang="zh-CN" altLang="en-US" dirty="0"/>
              <a:t>次累加，   次移位（最后一次不移位）；当</a:t>
            </a:r>
            <a:r>
              <a:rPr lang="en-US" altLang="zh-CN" dirty="0"/>
              <a:t>n</a:t>
            </a:r>
            <a:r>
              <a:rPr lang="zh-CN" altLang="en-US" dirty="0"/>
              <a:t>为奇数时，乘数只需一个符号位，共需      次累加和移位，但最后一次仅移一位。</a:t>
            </a:r>
            <a:endParaRPr lang="zh-CN" altLang="en-US" dirty="0"/>
          </a:p>
          <a:p>
            <a:pPr lvl="1"/>
            <a:r>
              <a:rPr lang="zh-CN" altLang="en-US" dirty="0"/>
              <a:t>例</a:t>
            </a:r>
            <a:r>
              <a:rPr lang="en-US" altLang="zh-CN" dirty="0"/>
              <a:t>10</a:t>
            </a:r>
            <a:r>
              <a:rPr lang="zh-CN" altLang="en-US" dirty="0"/>
              <a:t>：已知：</a:t>
            </a:r>
            <a:r>
              <a:rPr lang="en-US" altLang="zh-CN" dirty="0"/>
              <a:t>X=0.0110011</a:t>
            </a:r>
            <a:r>
              <a:rPr lang="zh-CN" altLang="en-US" dirty="0"/>
              <a:t>，</a:t>
            </a:r>
            <a:r>
              <a:rPr lang="en-US" altLang="zh-CN" dirty="0"/>
              <a:t>Y=-0.0110010</a:t>
            </a:r>
            <a:r>
              <a:rPr lang="zh-CN" altLang="en-US" dirty="0"/>
              <a:t>，求：</a:t>
            </a:r>
            <a:r>
              <a:rPr lang="en-US" altLang="zh-CN" dirty="0"/>
              <a:t>X×Y</a:t>
            </a:r>
            <a:r>
              <a:rPr lang="zh-CN" altLang="en-US" dirty="0"/>
              <a:t>。</a:t>
            </a:r>
            <a:endParaRPr lang="zh-CN" altLang="en-US" dirty="0"/>
          </a:p>
          <a:p>
            <a:pPr lvl="1"/>
            <a:r>
              <a:rPr lang="en-US" altLang="zh-CN" dirty="0"/>
              <a:t>[X]</a:t>
            </a:r>
            <a:r>
              <a:rPr lang="zh-CN" altLang="en-US" dirty="0"/>
              <a:t>补</a:t>
            </a:r>
            <a:r>
              <a:rPr lang="en-US" altLang="zh-CN" dirty="0"/>
              <a:t>=000.0110011→B</a:t>
            </a:r>
            <a:r>
              <a:rPr lang="zh-CN" altLang="en-US" dirty="0"/>
              <a:t>，</a:t>
            </a:r>
            <a:endParaRPr lang="zh-CN" altLang="en-US" dirty="0"/>
          </a:p>
          <a:p>
            <a:pPr lvl="1"/>
            <a:r>
              <a:rPr lang="en-US" altLang="zh-CN" dirty="0"/>
              <a:t>[Y]</a:t>
            </a:r>
            <a:r>
              <a:rPr lang="zh-CN" altLang="en-US" dirty="0"/>
              <a:t>补</a:t>
            </a:r>
            <a:r>
              <a:rPr lang="en-US" altLang="zh-CN" dirty="0"/>
              <a:t>=1.1001110→C</a:t>
            </a:r>
            <a:r>
              <a:rPr lang="zh-CN" altLang="en-US" dirty="0"/>
              <a:t>，</a:t>
            </a:r>
            <a:r>
              <a:rPr lang="en-US" altLang="zh-CN" dirty="0"/>
              <a:t>0→A</a:t>
            </a:r>
            <a:endParaRPr lang="en-US" altLang="zh-CN" dirty="0"/>
          </a:p>
          <a:p>
            <a:pPr lvl="1"/>
            <a:r>
              <a:rPr lang="en-US" altLang="zh-CN" dirty="0"/>
              <a:t>2[X]</a:t>
            </a:r>
            <a:r>
              <a:rPr lang="zh-CN" altLang="en-US" dirty="0"/>
              <a:t>补</a:t>
            </a:r>
            <a:r>
              <a:rPr lang="en-US" altLang="zh-CN" dirty="0"/>
              <a:t>=000.1100110</a:t>
            </a:r>
            <a:r>
              <a:rPr lang="zh-CN" altLang="en-US" dirty="0"/>
              <a:t>，</a:t>
            </a:r>
            <a:endParaRPr lang="zh-CN" altLang="en-US" dirty="0"/>
          </a:p>
          <a:p>
            <a:pPr lvl="1"/>
            <a:r>
              <a:rPr lang="en-US" altLang="zh-CN" dirty="0"/>
              <a:t>[-X]</a:t>
            </a:r>
            <a:r>
              <a:rPr lang="zh-CN" altLang="en-US" dirty="0"/>
              <a:t>补</a:t>
            </a:r>
            <a:r>
              <a:rPr lang="en-US" altLang="zh-CN" dirty="0"/>
              <a:t>=111.1001101</a:t>
            </a:r>
            <a:r>
              <a:rPr lang="zh-CN" altLang="en-US" dirty="0"/>
              <a:t>，</a:t>
            </a:r>
            <a:r>
              <a:rPr lang="en-US" altLang="zh-CN" dirty="0"/>
              <a:t>2[-X]</a:t>
            </a:r>
            <a:r>
              <a:rPr lang="zh-CN" altLang="en-US" dirty="0"/>
              <a:t>补</a:t>
            </a:r>
            <a:r>
              <a:rPr lang="en-US" altLang="zh-CN" dirty="0"/>
              <a:t>=111.0011010</a:t>
            </a:r>
            <a:endParaRPr lang="en-US" altLang="zh-CN" dirty="0"/>
          </a:p>
          <a:p>
            <a:endParaRPr lang="zh-CN" altLang="en-US" dirty="0"/>
          </a:p>
        </p:txBody>
      </p:sp>
      <p:pic>
        <p:nvPicPr>
          <p:cNvPr id="98307" name="图片 3"/>
          <p:cNvPicPr>
            <a:picLocks noChangeAspect="1"/>
          </p:cNvPicPr>
          <p:nvPr/>
        </p:nvPicPr>
        <p:blipFill>
          <a:blip r:embed="rId1"/>
          <a:stretch>
            <a:fillRect/>
          </a:stretch>
        </p:blipFill>
        <p:spPr>
          <a:xfrm>
            <a:off x="6227763" y="1622425"/>
            <a:ext cx="303212" cy="762000"/>
          </a:xfrm>
          <a:prstGeom prst="rect">
            <a:avLst/>
          </a:prstGeom>
          <a:noFill/>
          <a:ln w="9525">
            <a:noFill/>
          </a:ln>
        </p:spPr>
      </p:pic>
      <p:pic>
        <p:nvPicPr>
          <p:cNvPr id="98308" name="图片 4"/>
          <p:cNvPicPr>
            <a:picLocks noChangeAspect="1"/>
          </p:cNvPicPr>
          <p:nvPr/>
        </p:nvPicPr>
        <p:blipFill>
          <a:blip r:embed="rId1"/>
          <a:stretch>
            <a:fillRect/>
          </a:stretch>
        </p:blipFill>
        <p:spPr>
          <a:xfrm>
            <a:off x="8194675" y="1622425"/>
            <a:ext cx="303213" cy="762000"/>
          </a:xfrm>
          <a:prstGeom prst="rect">
            <a:avLst/>
          </a:prstGeom>
          <a:noFill/>
          <a:ln w="9525">
            <a:noFill/>
          </a:ln>
        </p:spPr>
      </p:pic>
      <p:pic>
        <p:nvPicPr>
          <p:cNvPr id="98309" name="图片 5"/>
          <p:cNvPicPr>
            <a:picLocks noChangeAspect="1"/>
          </p:cNvPicPr>
          <p:nvPr/>
        </p:nvPicPr>
        <p:blipFill>
          <a:blip r:embed="rId2"/>
          <a:stretch>
            <a:fillRect/>
          </a:stretch>
        </p:blipFill>
        <p:spPr>
          <a:xfrm>
            <a:off x="4595813" y="2622550"/>
            <a:ext cx="595312" cy="704850"/>
          </a:xfrm>
          <a:prstGeom prst="rect">
            <a:avLst/>
          </a:prstGeom>
          <a:noFill/>
          <a:ln w="9525">
            <a:noFill/>
          </a:ln>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9329" name="标题 1"/>
          <p:cNvSpPr>
            <a:spLocks noGrp="1"/>
          </p:cNvSpPr>
          <p:nvPr>
            <p:ph type="title"/>
          </p:nvPr>
        </p:nvSpPr>
        <p:spPr>
          <a:noFill/>
          <a:ln>
            <a:noFill/>
          </a:ln>
        </p:spPr>
        <p:txBody>
          <a:bodyPr anchor="t" anchorCtr="0"/>
          <a:p>
            <a:r>
              <a:rPr lang="zh-CN" altLang="en-US" dirty="0"/>
              <a:t>*补码两位乘法示例</a:t>
            </a:r>
            <a:endParaRPr lang="zh-CN" altLang="en-US" dirty="0"/>
          </a:p>
        </p:txBody>
      </p:sp>
      <p:sp>
        <p:nvSpPr>
          <p:cNvPr id="99330" name="Text Box 4"/>
          <p:cNvSpPr txBox="1"/>
          <p:nvPr/>
        </p:nvSpPr>
        <p:spPr>
          <a:xfrm>
            <a:off x="565150" y="1449388"/>
            <a:ext cx="53721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+2[-</a:t>
            </a:r>
            <a:r>
              <a:rPr lang="en-US" altLang="zh-CN" sz="2800" b="1" dirty="0">
                <a:solidFill>
                  <a:srgbClr val="0000FF"/>
                </a:solidFill>
                <a:latin typeface="Times New Roman" panose="02020603050405020304" pitchFamily="18" charset="0"/>
                <a:ea typeface="宋体" panose="02010600030101010101" pitchFamily="2" charset="-122"/>
              </a:rPr>
              <a:t>X]</a:t>
            </a:r>
            <a:r>
              <a:rPr lang="zh-CN" altLang="en-US" sz="2800" b="1" baseline="-25000" dirty="0">
                <a:solidFill>
                  <a:srgbClr val="0000FF"/>
                </a:solidFill>
                <a:latin typeface="Times New Roman" panose="02020603050405020304" pitchFamily="18" charset="0"/>
                <a:ea typeface="宋体" panose="02010600030101010101" pitchFamily="2" charset="-122"/>
              </a:rPr>
              <a:t>补    </a:t>
            </a:r>
            <a:r>
              <a:rPr lang="zh-CN" altLang="en-US" sz="2800" b="1" dirty="0">
                <a:solidFill>
                  <a:srgbClr val="0000FF"/>
                </a:solidFill>
                <a:latin typeface="Times New Roman" panose="02020603050405020304" pitchFamily="18" charset="0"/>
                <a:ea typeface="宋体" panose="02010600030101010101" pitchFamily="2" charset="-122"/>
              </a:rPr>
              <a:t>1 1 1.0 0 1 1 0 1 0</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31" name="Text Box 5"/>
          <p:cNvSpPr txBox="1"/>
          <p:nvPr/>
        </p:nvSpPr>
        <p:spPr>
          <a:xfrm>
            <a:off x="2051050" y="1125538"/>
            <a:ext cx="59055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0 0 0.0 0 0 0 0 0 0      1.1 0 0 1 1 1 0   </a:t>
            </a:r>
            <a:r>
              <a:rPr lang="zh-CN" altLang="en-US" sz="2800" b="1" dirty="0">
                <a:solidFill>
                  <a:srgbClr val="FF3300"/>
                </a:solidFill>
                <a:latin typeface="Times New Roman" panose="02020603050405020304" pitchFamily="18" charset="0"/>
                <a:ea typeface="宋体" panose="02010600030101010101" pitchFamily="2" charset="-122"/>
              </a:rPr>
              <a:t>0</a:t>
            </a:r>
            <a:r>
              <a:rPr lang="zh-CN" altLang="en-US" sz="2800" b="1" dirty="0">
                <a:solidFill>
                  <a:srgbClr val="0000FF"/>
                </a:solidFill>
                <a:latin typeface="Times New Roman" panose="02020603050405020304" pitchFamily="18" charset="0"/>
                <a:ea typeface="宋体" panose="02010600030101010101" pitchFamily="2" charset="-122"/>
              </a:rPr>
              <a:t> </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32" name="Line 6"/>
          <p:cNvSpPr/>
          <p:nvPr/>
        </p:nvSpPr>
        <p:spPr>
          <a:xfrm>
            <a:off x="6927850" y="1582738"/>
            <a:ext cx="800100" cy="0"/>
          </a:xfrm>
          <a:prstGeom prst="line">
            <a:avLst/>
          </a:prstGeom>
          <a:ln w="57150" cap="sq" cmpd="sng">
            <a:solidFill>
              <a:srgbClr val="FF3300"/>
            </a:solidFill>
            <a:prstDash val="solid"/>
            <a:round/>
            <a:headEnd type="none" w="sm" len="sm"/>
            <a:tailEnd type="none" w="sm" len="sm"/>
          </a:ln>
        </p:spPr>
      </p:sp>
      <p:sp>
        <p:nvSpPr>
          <p:cNvPr id="99333" name="Line 7"/>
          <p:cNvSpPr/>
          <p:nvPr/>
        </p:nvSpPr>
        <p:spPr>
          <a:xfrm>
            <a:off x="565150" y="1906588"/>
            <a:ext cx="4438650" cy="0"/>
          </a:xfrm>
          <a:prstGeom prst="line">
            <a:avLst/>
          </a:prstGeom>
          <a:ln w="19050" cap="sq" cmpd="sng">
            <a:solidFill>
              <a:srgbClr val="7A48C4"/>
            </a:solidFill>
            <a:prstDash val="solid"/>
            <a:round/>
            <a:headEnd type="none" w="sm" len="sm"/>
            <a:tailEnd type="none" w="sm" len="sm"/>
          </a:ln>
        </p:spPr>
      </p:sp>
      <p:sp>
        <p:nvSpPr>
          <p:cNvPr id="99334" name="Text Box 8"/>
          <p:cNvSpPr txBox="1"/>
          <p:nvPr/>
        </p:nvSpPr>
        <p:spPr>
          <a:xfrm>
            <a:off x="2070100" y="1773238"/>
            <a:ext cx="53721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1 1 1.0 0 1 1 0 1 0</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35" name="Text Box 9"/>
          <p:cNvSpPr txBox="1"/>
          <p:nvPr/>
        </p:nvSpPr>
        <p:spPr>
          <a:xfrm>
            <a:off x="1250950" y="2078038"/>
            <a:ext cx="67056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2→   1 1 1.1 1 0 0 1 1 0      1 0 1 1 0 0 1 1   </a:t>
            </a:r>
            <a:r>
              <a:rPr lang="zh-CN" altLang="en-US" sz="2800" b="1" dirty="0">
                <a:solidFill>
                  <a:srgbClr val="FF3300"/>
                </a:solidFill>
                <a:latin typeface="Times New Roman" panose="02020603050405020304" pitchFamily="18" charset="0"/>
                <a:ea typeface="宋体" panose="02010600030101010101" pitchFamily="2" charset="-122"/>
              </a:rPr>
              <a:t>1</a:t>
            </a:r>
            <a:r>
              <a:rPr lang="zh-CN" altLang="en-US" sz="2800" b="1" dirty="0">
                <a:solidFill>
                  <a:srgbClr val="0000FF"/>
                </a:solidFill>
                <a:latin typeface="Times New Roman" panose="02020603050405020304" pitchFamily="18" charset="0"/>
                <a:ea typeface="宋体" panose="02010600030101010101" pitchFamily="2" charset="-122"/>
              </a:rPr>
              <a:t> </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36" name="Line 10"/>
          <p:cNvSpPr/>
          <p:nvPr/>
        </p:nvSpPr>
        <p:spPr>
          <a:xfrm>
            <a:off x="6927850" y="2535238"/>
            <a:ext cx="800100" cy="0"/>
          </a:xfrm>
          <a:prstGeom prst="line">
            <a:avLst/>
          </a:prstGeom>
          <a:ln w="57150" cap="sq" cmpd="sng">
            <a:solidFill>
              <a:srgbClr val="FF3300"/>
            </a:solidFill>
            <a:prstDash val="solid"/>
            <a:round/>
            <a:headEnd type="none" w="sm" len="sm"/>
            <a:tailEnd type="none" w="sm" len="sm"/>
          </a:ln>
        </p:spPr>
      </p:sp>
      <p:sp>
        <p:nvSpPr>
          <p:cNvPr id="99337" name="Text Box 11"/>
          <p:cNvSpPr txBox="1"/>
          <p:nvPr/>
        </p:nvSpPr>
        <p:spPr>
          <a:xfrm>
            <a:off x="546100" y="2363788"/>
            <a:ext cx="53721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    +0</a:t>
            </a:r>
            <a:r>
              <a:rPr lang="zh-CN" altLang="en-US" sz="2800" b="1" baseline="-25000" dirty="0">
                <a:solidFill>
                  <a:srgbClr val="0000FF"/>
                </a:solidFill>
                <a:latin typeface="Times New Roman" panose="02020603050405020304" pitchFamily="18" charset="0"/>
                <a:ea typeface="宋体" panose="02010600030101010101" pitchFamily="2" charset="-122"/>
              </a:rPr>
              <a:t>             </a:t>
            </a:r>
            <a:r>
              <a:rPr lang="zh-CN" altLang="en-US" sz="2800" b="1" dirty="0">
                <a:solidFill>
                  <a:srgbClr val="0000FF"/>
                </a:solidFill>
                <a:latin typeface="Times New Roman" panose="02020603050405020304" pitchFamily="18" charset="0"/>
                <a:ea typeface="宋体" panose="02010600030101010101" pitchFamily="2" charset="-122"/>
              </a:rPr>
              <a:t>0 0 0.0 0 0 0 0 0 0</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38" name="Line 12"/>
          <p:cNvSpPr/>
          <p:nvPr/>
        </p:nvSpPr>
        <p:spPr>
          <a:xfrm>
            <a:off x="565150" y="2801938"/>
            <a:ext cx="4438650" cy="0"/>
          </a:xfrm>
          <a:prstGeom prst="line">
            <a:avLst/>
          </a:prstGeom>
          <a:ln w="19050" cap="sq" cmpd="sng">
            <a:solidFill>
              <a:srgbClr val="7A48C4"/>
            </a:solidFill>
            <a:prstDash val="solid"/>
            <a:round/>
            <a:headEnd type="none" w="sm" len="sm"/>
            <a:tailEnd type="none" w="sm" len="sm"/>
          </a:ln>
        </p:spPr>
      </p:sp>
      <p:sp>
        <p:nvSpPr>
          <p:cNvPr id="99339" name="Text Box 13"/>
          <p:cNvSpPr txBox="1"/>
          <p:nvPr/>
        </p:nvSpPr>
        <p:spPr>
          <a:xfrm>
            <a:off x="2051050" y="2744788"/>
            <a:ext cx="53721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1 1 1.1 1 0 0 1 1 0</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40" name="Text Box 14"/>
          <p:cNvSpPr txBox="1"/>
          <p:nvPr/>
        </p:nvSpPr>
        <p:spPr>
          <a:xfrm>
            <a:off x="1250950" y="3049588"/>
            <a:ext cx="67056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2→   1 1 1.1 1 1 1 0 0 1      1 0 1 0 1 1 0 0   </a:t>
            </a:r>
            <a:r>
              <a:rPr lang="zh-CN" altLang="en-US" sz="2800" b="1" dirty="0">
                <a:solidFill>
                  <a:srgbClr val="FF3300"/>
                </a:solidFill>
                <a:latin typeface="Times New Roman" panose="02020603050405020304" pitchFamily="18" charset="0"/>
                <a:ea typeface="宋体" panose="02010600030101010101" pitchFamily="2" charset="-122"/>
              </a:rPr>
              <a:t>1</a:t>
            </a:r>
            <a:r>
              <a:rPr lang="zh-CN" altLang="en-US" sz="2800" b="1" dirty="0">
                <a:solidFill>
                  <a:srgbClr val="0000FF"/>
                </a:solidFill>
                <a:latin typeface="Times New Roman" panose="02020603050405020304" pitchFamily="18" charset="0"/>
                <a:ea typeface="宋体" panose="02010600030101010101" pitchFamily="2" charset="-122"/>
              </a:rPr>
              <a:t> </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41" name="Text Box 15"/>
          <p:cNvSpPr txBox="1"/>
          <p:nvPr/>
        </p:nvSpPr>
        <p:spPr>
          <a:xfrm>
            <a:off x="660400" y="3335338"/>
            <a:ext cx="53721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 [</a:t>
            </a:r>
            <a:r>
              <a:rPr lang="en-US" altLang="zh-CN" sz="2800" b="1" dirty="0">
                <a:solidFill>
                  <a:srgbClr val="0000FF"/>
                </a:solidFill>
                <a:latin typeface="Times New Roman" panose="02020603050405020304" pitchFamily="18" charset="0"/>
                <a:ea typeface="宋体" panose="02010600030101010101" pitchFamily="2" charset="-122"/>
              </a:rPr>
              <a:t>X]</a:t>
            </a:r>
            <a:r>
              <a:rPr lang="zh-CN" altLang="en-US" sz="2800" b="1" baseline="-25000" dirty="0">
                <a:solidFill>
                  <a:srgbClr val="0000FF"/>
                </a:solidFill>
                <a:latin typeface="Times New Roman" panose="02020603050405020304" pitchFamily="18" charset="0"/>
                <a:ea typeface="宋体" panose="02010600030101010101" pitchFamily="2" charset="-122"/>
              </a:rPr>
              <a:t>补     </a:t>
            </a:r>
            <a:r>
              <a:rPr lang="zh-CN" altLang="en-US" sz="2800" b="1" dirty="0">
                <a:solidFill>
                  <a:srgbClr val="0000FF"/>
                </a:solidFill>
                <a:latin typeface="Times New Roman" panose="02020603050405020304" pitchFamily="18" charset="0"/>
                <a:ea typeface="宋体" panose="02010600030101010101" pitchFamily="2" charset="-122"/>
              </a:rPr>
              <a:t> 0 0 0.0 1 1 0 0 1 1</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42" name="Line 16"/>
          <p:cNvSpPr/>
          <p:nvPr/>
        </p:nvSpPr>
        <p:spPr>
          <a:xfrm>
            <a:off x="584200" y="3811588"/>
            <a:ext cx="4438650" cy="0"/>
          </a:xfrm>
          <a:prstGeom prst="line">
            <a:avLst/>
          </a:prstGeom>
          <a:ln w="19050" cap="sq" cmpd="sng">
            <a:solidFill>
              <a:srgbClr val="7A48C4"/>
            </a:solidFill>
            <a:prstDash val="solid"/>
            <a:round/>
            <a:headEnd type="none" w="sm" len="sm"/>
            <a:tailEnd type="none" w="sm" len="sm"/>
          </a:ln>
        </p:spPr>
      </p:sp>
      <p:sp>
        <p:nvSpPr>
          <p:cNvPr id="99343" name="Text Box 17"/>
          <p:cNvSpPr txBox="1"/>
          <p:nvPr/>
        </p:nvSpPr>
        <p:spPr>
          <a:xfrm>
            <a:off x="2089150" y="3697288"/>
            <a:ext cx="53721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0 0 0.0 1 0 1 1 0 0</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44" name="Text Box 18"/>
          <p:cNvSpPr txBox="1"/>
          <p:nvPr/>
        </p:nvSpPr>
        <p:spPr>
          <a:xfrm>
            <a:off x="1250950" y="4040188"/>
            <a:ext cx="67056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2→   0 0 0.0 0 0 1 0 1 1      0 0 1 0 1 0 1 1   </a:t>
            </a:r>
            <a:r>
              <a:rPr lang="zh-CN" altLang="en-US" sz="2800" b="1" dirty="0">
                <a:solidFill>
                  <a:srgbClr val="FF3300"/>
                </a:solidFill>
                <a:latin typeface="Times New Roman" panose="02020603050405020304" pitchFamily="18" charset="0"/>
                <a:ea typeface="宋体" panose="02010600030101010101" pitchFamily="2" charset="-122"/>
              </a:rPr>
              <a:t>0</a:t>
            </a:r>
            <a:r>
              <a:rPr lang="zh-CN" altLang="en-US" sz="2800" b="1" dirty="0">
                <a:solidFill>
                  <a:srgbClr val="0000FF"/>
                </a:solidFill>
                <a:latin typeface="Times New Roman" panose="02020603050405020304" pitchFamily="18" charset="0"/>
                <a:ea typeface="宋体" panose="02010600030101010101" pitchFamily="2" charset="-122"/>
              </a:rPr>
              <a:t> </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45" name="Line 19"/>
          <p:cNvSpPr/>
          <p:nvPr/>
        </p:nvSpPr>
        <p:spPr>
          <a:xfrm>
            <a:off x="6889750" y="3506788"/>
            <a:ext cx="800100" cy="0"/>
          </a:xfrm>
          <a:prstGeom prst="line">
            <a:avLst/>
          </a:prstGeom>
          <a:ln w="57150" cap="sq" cmpd="sng">
            <a:solidFill>
              <a:srgbClr val="FF3300"/>
            </a:solidFill>
            <a:prstDash val="solid"/>
            <a:round/>
            <a:headEnd type="none" w="sm" len="sm"/>
            <a:tailEnd type="none" w="sm" len="sm"/>
          </a:ln>
        </p:spPr>
      </p:sp>
      <p:sp>
        <p:nvSpPr>
          <p:cNvPr id="99346" name="Line 20"/>
          <p:cNvSpPr/>
          <p:nvPr/>
        </p:nvSpPr>
        <p:spPr>
          <a:xfrm>
            <a:off x="6908800" y="4516438"/>
            <a:ext cx="800100" cy="0"/>
          </a:xfrm>
          <a:prstGeom prst="line">
            <a:avLst/>
          </a:prstGeom>
          <a:ln w="57150" cap="sq" cmpd="sng">
            <a:solidFill>
              <a:srgbClr val="FF3300"/>
            </a:solidFill>
            <a:prstDash val="solid"/>
            <a:round/>
            <a:headEnd type="none" w="sm" len="sm"/>
            <a:tailEnd type="none" w="sm" len="sm"/>
          </a:ln>
        </p:spPr>
      </p:sp>
      <p:sp>
        <p:nvSpPr>
          <p:cNvPr id="99347" name="Text Box 21"/>
          <p:cNvSpPr txBox="1"/>
          <p:nvPr/>
        </p:nvSpPr>
        <p:spPr>
          <a:xfrm>
            <a:off x="565150" y="4402138"/>
            <a:ext cx="53721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 + [-</a:t>
            </a:r>
            <a:r>
              <a:rPr lang="en-US" altLang="zh-CN" sz="2800" b="1" dirty="0">
                <a:solidFill>
                  <a:srgbClr val="0000FF"/>
                </a:solidFill>
                <a:latin typeface="Times New Roman" panose="02020603050405020304" pitchFamily="18" charset="0"/>
                <a:ea typeface="宋体" panose="02010600030101010101" pitchFamily="2" charset="-122"/>
              </a:rPr>
              <a:t>X]</a:t>
            </a:r>
            <a:r>
              <a:rPr lang="zh-CN" altLang="en-US" sz="2800" b="1" baseline="-25000" dirty="0">
                <a:solidFill>
                  <a:srgbClr val="0000FF"/>
                </a:solidFill>
                <a:latin typeface="Times New Roman" panose="02020603050405020304" pitchFamily="18" charset="0"/>
                <a:ea typeface="宋体" panose="02010600030101010101" pitchFamily="2" charset="-122"/>
              </a:rPr>
              <a:t>补    </a:t>
            </a:r>
            <a:r>
              <a:rPr lang="zh-CN" altLang="en-US" sz="2800" b="1" dirty="0">
                <a:solidFill>
                  <a:srgbClr val="0000FF"/>
                </a:solidFill>
                <a:latin typeface="Times New Roman" panose="02020603050405020304" pitchFamily="18" charset="0"/>
                <a:ea typeface="宋体" panose="02010600030101010101" pitchFamily="2" charset="-122"/>
              </a:rPr>
              <a:t>1 1 1.1 0 0 1 1 0 1</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48" name="Line 22"/>
          <p:cNvSpPr/>
          <p:nvPr/>
        </p:nvSpPr>
        <p:spPr>
          <a:xfrm>
            <a:off x="565150" y="4859338"/>
            <a:ext cx="4438650" cy="0"/>
          </a:xfrm>
          <a:prstGeom prst="line">
            <a:avLst/>
          </a:prstGeom>
          <a:ln w="19050" cap="sq" cmpd="sng">
            <a:solidFill>
              <a:srgbClr val="7A48C4"/>
            </a:solidFill>
            <a:prstDash val="solid"/>
            <a:round/>
            <a:headEnd type="none" w="sm" len="sm"/>
            <a:tailEnd type="none" w="sm" len="sm"/>
          </a:ln>
        </p:spPr>
      </p:sp>
      <p:sp>
        <p:nvSpPr>
          <p:cNvPr id="99349" name="Text Box 23"/>
          <p:cNvSpPr txBox="1"/>
          <p:nvPr/>
        </p:nvSpPr>
        <p:spPr>
          <a:xfrm>
            <a:off x="2032000" y="4783138"/>
            <a:ext cx="53721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1 1 1.1 0 1 1 0 0 0</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50" name="Text Box 24"/>
          <p:cNvSpPr txBox="1"/>
          <p:nvPr/>
        </p:nvSpPr>
        <p:spPr>
          <a:xfrm>
            <a:off x="1212850" y="5068888"/>
            <a:ext cx="6705600" cy="517525"/>
          </a:xfrm>
          <a:prstGeom prst="rect">
            <a:avLst/>
          </a:prstGeom>
          <a:noFill/>
          <a:ln w="57150">
            <a:noFill/>
          </a:ln>
        </p:spPr>
        <p:txBody>
          <a:bodyPr anchor="t" anchorCtr="0">
            <a:spAutoFit/>
          </a:bodyPr>
          <a:p>
            <a:pPr eaLnBrk="0" hangingPunct="0">
              <a:spcBef>
                <a:spcPct val="50000"/>
              </a:spcBef>
            </a:pPr>
            <a:r>
              <a:rPr lang="zh-CN" altLang="en-US" sz="2800" b="1" dirty="0">
                <a:solidFill>
                  <a:srgbClr val="0000FF"/>
                </a:solidFill>
                <a:latin typeface="Times New Roman" panose="02020603050405020304" pitchFamily="18" charset="0"/>
                <a:ea typeface="宋体" panose="02010600030101010101" pitchFamily="2" charset="-122"/>
              </a:rPr>
              <a:t>1→   1 1 1.1 1 0 1 1 0 0      0 0 0 1 0 1 0 1   </a:t>
            </a:r>
            <a:r>
              <a:rPr lang="zh-CN" altLang="en-US" sz="2800" b="1" dirty="0">
                <a:solidFill>
                  <a:srgbClr val="FF3300"/>
                </a:solidFill>
                <a:latin typeface="Times New Roman" panose="02020603050405020304" pitchFamily="18" charset="0"/>
                <a:ea typeface="宋体" panose="02010600030101010101" pitchFamily="2" charset="-122"/>
              </a:rPr>
              <a:t>1</a:t>
            </a:r>
            <a:r>
              <a:rPr lang="zh-CN" altLang="en-US" sz="2800" b="1" dirty="0">
                <a:solidFill>
                  <a:srgbClr val="0000FF"/>
                </a:solidFill>
                <a:latin typeface="Times New Roman" panose="02020603050405020304" pitchFamily="18" charset="0"/>
                <a:ea typeface="宋体" panose="02010600030101010101" pitchFamily="2" charset="-122"/>
              </a:rPr>
              <a:t> </a:t>
            </a:r>
            <a:endParaRPr lang="zh-CN" altLang="en-US" sz="2800" b="1" dirty="0">
              <a:solidFill>
                <a:srgbClr val="0000FF"/>
              </a:solidFill>
              <a:latin typeface="Times New Roman" panose="02020603050405020304" pitchFamily="18" charset="0"/>
              <a:ea typeface="宋体" panose="02010600030101010101" pitchFamily="2" charset="-122"/>
            </a:endParaRPr>
          </a:p>
        </p:txBody>
      </p:sp>
      <p:sp>
        <p:nvSpPr>
          <p:cNvPr id="99351" name="Text Box 25"/>
          <p:cNvSpPr txBox="1"/>
          <p:nvPr/>
        </p:nvSpPr>
        <p:spPr>
          <a:xfrm>
            <a:off x="1689100" y="5643563"/>
            <a:ext cx="5619750" cy="1031875"/>
          </a:xfrm>
          <a:prstGeom prst="rect">
            <a:avLst/>
          </a:prstGeom>
          <a:noFill/>
          <a:ln w="57150">
            <a:noFill/>
          </a:ln>
        </p:spPr>
        <p:txBody>
          <a:bodyPr anchor="t" anchorCtr="0">
            <a:spAutoFit/>
          </a:bodyPr>
          <a:p>
            <a:pPr algn="just" eaLnBrk="0" hangingPunct="0">
              <a:spcBef>
                <a:spcPct val="50000"/>
              </a:spcBef>
            </a:pPr>
            <a:r>
              <a:rPr lang="zh-CN" altLang="en-US" sz="2800" b="1" dirty="0">
                <a:solidFill>
                  <a:schemeClr val="tx1"/>
                </a:solidFill>
                <a:latin typeface="Times New Roman" panose="02020603050405020304" pitchFamily="18" charset="0"/>
                <a:ea typeface="宋体" panose="02010600030101010101" pitchFamily="2" charset="-122"/>
              </a:rPr>
              <a:t>∴[</a:t>
            </a:r>
            <a:r>
              <a:rPr lang="en-US" altLang="zh-CN" sz="2800" b="1" dirty="0">
                <a:solidFill>
                  <a:schemeClr val="tx1"/>
                </a:solidFill>
                <a:latin typeface="Times New Roman" panose="02020603050405020304" pitchFamily="18" charset="0"/>
                <a:ea typeface="宋体" panose="02010600030101010101" pitchFamily="2" charset="-122"/>
              </a:rPr>
              <a:t>X×Y]</a:t>
            </a:r>
            <a:r>
              <a:rPr lang="zh-CN" altLang="en-US" sz="2800" b="1" baseline="-25000" dirty="0">
                <a:solidFill>
                  <a:schemeClr val="tx1"/>
                </a:solidFill>
                <a:latin typeface="Times New Roman" panose="02020603050405020304" pitchFamily="18" charset="0"/>
                <a:ea typeface="宋体" panose="02010600030101010101" pitchFamily="2" charset="-122"/>
              </a:rPr>
              <a:t>补</a:t>
            </a:r>
            <a:r>
              <a:rPr lang="zh-CN" altLang="en-US" sz="2800" b="1" dirty="0">
                <a:solidFill>
                  <a:schemeClr val="tx1"/>
                </a:solidFill>
                <a:latin typeface="Times New Roman" panose="02020603050405020304" pitchFamily="18" charset="0"/>
                <a:ea typeface="宋体" panose="02010600030101010101" pitchFamily="2" charset="-122"/>
              </a:rPr>
              <a:t>＝</a:t>
            </a:r>
            <a:r>
              <a:rPr lang="zh-CN" altLang="en-US" sz="2800" b="1" dirty="0">
                <a:solidFill>
                  <a:srgbClr val="FF3300"/>
                </a:solidFill>
                <a:latin typeface="Times New Roman" panose="02020603050405020304" pitchFamily="18" charset="0"/>
                <a:ea typeface="宋体" panose="02010600030101010101" pitchFamily="2" charset="-122"/>
              </a:rPr>
              <a:t>1.11011000001010</a:t>
            </a:r>
            <a:endParaRPr lang="zh-CN" altLang="en-US" sz="2800" b="1" dirty="0">
              <a:solidFill>
                <a:srgbClr val="FF3300"/>
              </a:solidFill>
              <a:latin typeface="Times New Roman" panose="02020603050405020304" pitchFamily="18" charset="0"/>
              <a:ea typeface="宋体" panose="02010600030101010101" pitchFamily="2" charset="-122"/>
            </a:endParaRPr>
          </a:p>
          <a:p>
            <a:pPr algn="just" eaLnBrk="0" hangingPunct="0">
              <a:lnSpc>
                <a:spcPct val="70000"/>
              </a:lnSpc>
              <a:spcBef>
                <a:spcPct val="50000"/>
              </a:spcBef>
            </a:pPr>
            <a:r>
              <a:rPr lang="zh-CN" altLang="en-US" sz="2800" b="1" dirty="0">
                <a:solidFill>
                  <a:schemeClr val="tx1"/>
                </a:solidFill>
                <a:latin typeface="Times New Roman" panose="02020603050405020304" pitchFamily="18" charset="0"/>
                <a:ea typeface="宋体" panose="02010600030101010101" pitchFamily="2" charset="-122"/>
              </a:rPr>
              <a:t>    </a:t>
            </a:r>
            <a:r>
              <a:rPr lang="en-US" altLang="zh-CN" sz="2800" b="1" dirty="0">
                <a:solidFill>
                  <a:schemeClr val="tx1"/>
                </a:solidFill>
                <a:latin typeface="Times New Roman" panose="02020603050405020304" pitchFamily="18" charset="0"/>
                <a:ea typeface="宋体" panose="02010600030101010101" pitchFamily="2" charset="-122"/>
              </a:rPr>
              <a:t>X×Y＝</a:t>
            </a:r>
            <a:r>
              <a:rPr lang="en-US" altLang="zh-CN" sz="2800" b="1" dirty="0">
                <a:solidFill>
                  <a:srgbClr val="FF3300"/>
                </a:solidFill>
                <a:latin typeface="Times New Roman" panose="02020603050405020304" pitchFamily="18" charset="0"/>
                <a:ea typeface="宋体" panose="02010600030101010101" pitchFamily="2" charset="-122"/>
              </a:rPr>
              <a:t>-0.00100111110110</a:t>
            </a:r>
            <a:r>
              <a:rPr lang="en-US" altLang="zh-CN" sz="2800" b="1" dirty="0">
                <a:solidFill>
                  <a:schemeClr val="tx1"/>
                </a:solidFill>
                <a:latin typeface="Times New Roman" panose="02020603050405020304" pitchFamily="18" charset="0"/>
                <a:ea typeface="宋体" panose="02010600030101010101" pitchFamily="2" charset="-122"/>
              </a:rPr>
              <a:t> </a:t>
            </a:r>
            <a:endParaRPr lang="en-US" altLang="zh-CN" sz="2800" b="1" dirty="0">
              <a:solidFill>
                <a:schemeClr val="tx1"/>
              </a:solidFill>
              <a:latin typeface="Times New Roman" panose="02020603050405020304" pitchFamily="18" charset="0"/>
              <a:ea typeface="宋体" panose="02010600030101010101" pitchFamily="2" charset="-122"/>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0353" name="Rectangle 2"/>
          <p:cNvSpPr>
            <a:spLocks noGrp="1" noRot="1"/>
          </p:cNvSpPr>
          <p:nvPr>
            <p:ph type="title"/>
          </p:nvPr>
        </p:nvSpPr>
        <p:spPr>
          <a:xfrm>
            <a:off x="250825" y="404813"/>
            <a:ext cx="8540750" cy="815975"/>
          </a:xfrm>
          <a:noFill/>
          <a:ln>
            <a:noFill/>
          </a:ln>
        </p:spPr>
        <p:txBody>
          <a:bodyPr anchor="t" anchorCtr="0"/>
          <a:p>
            <a:pPr eaLnBrk="1" hangingPunct="1"/>
            <a:r>
              <a:rPr lang="en-US" altLang="zh-CN" dirty="0">
                <a:solidFill>
                  <a:srgbClr val="0000FF"/>
                </a:solidFill>
                <a:latin typeface="Times New Roman" panose="02020603050405020304" pitchFamily="18" charset="0"/>
              </a:rPr>
              <a:t>4.4.4 </a:t>
            </a:r>
            <a:r>
              <a:rPr lang="zh-CN" altLang="en-US" dirty="0">
                <a:solidFill>
                  <a:srgbClr val="0000FF"/>
                </a:solidFill>
                <a:latin typeface="Times New Roman" panose="02020603050405020304" pitchFamily="18" charset="0"/>
              </a:rPr>
              <a:t>阵列乘法器</a:t>
            </a:r>
            <a:endParaRPr lang="zh-CN" altLang="en-US" dirty="0">
              <a:solidFill>
                <a:srgbClr val="0000FF"/>
              </a:solidFill>
              <a:latin typeface="Times New Roman" panose="02020603050405020304" pitchFamily="18" charset="0"/>
            </a:endParaRPr>
          </a:p>
        </p:txBody>
      </p:sp>
      <p:sp>
        <p:nvSpPr>
          <p:cNvPr id="100354" name="Rectangle 3"/>
          <p:cNvSpPr>
            <a:spLocks noGrp="1" noRot="1"/>
          </p:cNvSpPr>
          <p:nvPr>
            <p:ph idx="1"/>
          </p:nvPr>
        </p:nvSpPr>
        <p:spPr>
          <a:xfrm>
            <a:off x="323850" y="1773238"/>
            <a:ext cx="8540750" cy="1800225"/>
          </a:xfrm>
          <a:noFill/>
          <a:ln>
            <a:noFill/>
          </a:ln>
        </p:spPr>
        <p:txBody>
          <a:bodyPr anchor="t" anchorCtr="0"/>
          <a:p>
            <a:pPr eaLnBrk="1" hangingPunct="1"/>
            <a:r>
              <a:rPr lang="zh-CN" altLang="en-US" dirty="0">
                <a:latin typeface="Times New Roman" panose="02020603050405020304" pitchFamily="18" charset="0"/>
              </a:rPr>
              <a:t>设有两个不带符号的二进制整数：</a:t>
            </a:r>
            <a:endParaRPr lang="zh-CN" altLang="en-US" dirty="0">
              <a:latin typeface="Times New Roman" panose="02020603050405020304" pitchFamily="18" charset="0"/>
            </a:endParaRPr>
          </a:p>
          <a:p>
            <a:pPr lvl="1" eaLnBrk="1" hangingPunct="1"/>
            <a:r>
              <a:rPr lang="zh-CN" altLang="en-US" dirty="0">
                <a:latin typeface="Times New Roman" panose="02020603050405020304" pitchFamily="18" charset="0"/>
              </a:rPr>
              <a:t> </a:t>
            </a:r>
            <a:r>
              <a:rPr lang="en-US" altLang="zh-CN" i="1" dirty="0">
                <a:solidFill>
                  <a:srgbClr val="0000FF"/>
                </a:solidFill>
                <a:latin typeface="Times New Roman" panose="02020603050405020304" pitchFamily="18" charset="0"/>
              </a:rPr>
              <a:t>A</a:t>
            </a:r>
            <a:r>
              <a:rPr lang="en-US" altLang="zh-CN" dirty="0">
                <a:solidFill>
                  <a:srgbClr val="0000FF"/>
                </a:solidFill>
                <a:latin typeface="Times New Roman" panose="02020603050405020304" pitchFamily="18" charset="0"/>
              </a:rPr>
              <a:t>=</a:t>
            </a:r>
            <a:r>
              <a:rPr lang="en-US" altLang="zh-CN" i="1" dirty="0">
                <a:solidFill>
                  <a:srgbClr val="0000FF"/>
                </a:solidFill>
                <a:latin typeface="Times New Roman" panose="02020603050405020304" pitchFamily="18" charset="0"/>
              </a:rPr>
              <a:t>a</a:t>
            </a:r>
            <a:r>
              <a:rPr lang="en-US" altLang="zh-CN" i="1" baseline="-30000" dirty="0">
                <a:solidFill>
                  <a:srgbClr val="0000FF"/>
                </a:solidFill>
                <a:latin typeface="Times New Roman" panose="02020603050405020304" pitchFamily="18" charset="0"/>
              </a:rPr>
              <a:t>m-1</a:t>
            </a:r>
            <a:r>
              <a:rPr lang="en-US" altLang="zh-CN" i="1" dirty="0">
                <a:solidFill>
                  <a:srgbClr val="0000FF"/>
                </a:solidFill>
                <a:latin typeface="Times New Roman" panose="02020603050405020304" pitchFamily="18" charset="0"/>
              </a:rPr>
              <a:t>…a</a:t>
            </a:r>
            <a:r>
              <a:rPr lang="en-US" altLang="zh-CN" i="1" baseline="-30000" dirty="0">
                <a:solidFill>
                  <a:srgbClr val="0000FF"/>
                </a:solidFill>
                <a:latin typeface="Times New Roman" panose="02020603050405020304" pitchFamily="18" charset="0"/>
              </a:rPr>
              <a:t>1</a:t>
            </a:r>
            <a:r>
              <a:rPr lang="en-US" altLang="zh-CN" i="1" dirty="0">
                <a:solidFill>
                  <a:srgbClr val="0000FF"/>
                </a:solidFill>
                <a:latin typeface="Times New Roman" panose="02020603050405020304" pitchFamily="18" charset="0"/>
              </a:rPr>
              <a:t>a</a:t>
            </a:r>
            <a:r>
              <a:rPr lang="en-US" altLang="zh-CN" i="1" baseline="-30000" dirty="0">
                <a:solidFill>
                  <a:srgbClr val="0000FF"/>
                </a:solidFill>
                <a:latin typeface="Times New Roman" panose="02020603050405020304" pitchFamily="18" charset="0"/>
              </a:rPr>
              <a:t>0  </a:t>
            </a:r>
            <a:r>
              <a:rPr lang="en-US" altLang="zh-CN" i="1" dirty="0">
                <a:solidFill>
                  <a:srgbClr val="0000FF"/>
                </a:solidFill>
                <a:latin typeface="Times New Roman" panose="02020603050405020304" pitchFamily="18" charset="0"/>
              </a:rPr>
              <a:t>,  B</a:t>
            </a:r>
            <a:r>
              <a:rPr lang="en-US" altLang="zh-CN" dirty="0">
                <a:solidFill>
                  <a:srgbClr val="0000FF"/>
                </a:solidFill>
                <a:latin typeface="Times New Roman" panose="02020603050405020304" pitchFamily="18" charset="0"/>
              </a:rPr>
              <a:t>=</a:t>
            </a:r>
            <a:r>
              <a:rPr lang="en-US" altLang="zh-CN" i="1" dirty="0">
                <a:solidFill>
                  <a:srgbClr val="0000FF"/>
                </a:solidFill>
                <a:latin typeface="Times New Roman" panose="02020603050405020304" pitchFamily="18" charset="0"/>
              </a:rPr>
              <a:t>b</a:t>
            </a:r>
            <a:r>
              <a:rPr lang="en-US" altLang="zh-CN" i="1" baseline="-30000" dirty="0">
                <a:solidFill>
                  <a:srgbClr val="0000FF"/>
                </a:solidFill>
                <a:latin typeface="Times New Roman" panose="02020603050405020304" pitchFamily="18" charset="0"/>
              </a:rPr>
              <a:t>n-1</a:t>
            </a:r>
            <a:r>
              <a:rPr lang="en-US" altLang="zh-CN" i="1" dirty="0">
                <a:solidFill>
                  <a:srgbClr val="0000FF"/>
                </a:solidFill>
                <a:latin typeface="Times New Roman" panose="02020603050405020304" pitchFamily="18" charset="0"/>
              </a:rPr>
              <a:t>…b</a:t>
            </a:r>
            <a:r>
              <a:rPr lang="en-US" altLang="zh-CN" i="1" baseline="-30000" dirty="0">
                <a:solidFill>
                  <a:srgbClr val="0000FF"/>
                </a:solidFill>
                <a:latin typeface="Times New Roman" panose="02020603050405020304" pitchFamily="18" charset="0"/>
              </a:rPr>
              <a:t>1</a:t>
            </a:r>
            <a:r>
              <a:rPr lang="en-US" altLang="zh-CN" i="1" dirty="0">
                <a:solidFill>
                  <a:srgbClr val="0000FF"/>
                </a:solidFill>
                <a:latin typeface="Times New Roman" panose="02020603050405020304" pitchFamily="18" charset="0"/>
              </a:rPr>
              <a:t>b</a:t>
            </a:r>
            <a:r>
              <a:rPr lang="en-US" altLang="zh-CN" i="1" baseline="-30000" dirty="0">
                <a:solidFill>
                  <a:srgbClr val="0000FF"/>
                </a:solidFill>
                <a:latin typeface="Times New Roman" panose="02020603050405020304" pitchFamily="18" charset="0"/>
              </a:rPr>
              <a:t>0</a:t>
            </a:r>
            <a:endParaRPr lang="en-US" altLang="zh-CN" i="1" baseline="-30000" dirty="0">
              <a:solidFill>
                <a:srgbClr val="0000FF"/>
              </a:solidFill>
              <a:latin typeface="Times New Roman" panose="02020603050405020304" pitchFamily="18" charset="0"/>
            </a:endParaRPr>
          </a:p>
          <a:p>
            <a:pPr eaLnBrk="1" latinLnBrk="0" hangingPunct="1">
              <a:spcBef>
                <a:spcPts val="2400"/>
              </a:spcBef>
            </a:pPr>
            <a:r>
              <a:rPr lang="zh-CN" altLang="en-US" dirty="0">
                <a:latin typeface="Times New Roman" panose="02020603050405020304" pitchFamily="18" charset="0"/>
              </a:rPr>
              <a:t>它们的数值分别为</a:t>
            </a:r>
            <a:r>
              <a:rPr lang="en-US" altLang="zh-CN" i="1" dirty="0">
                <a:latin typeface="Times New Roman" panose="02020603050405020304" pitchFamily="18" charset="0"/>
              </a:rPr>
              <a:t>a</a:t>
            </a:r>
            <a:r>
              <a:rPr lang="zh-CN" altLang="en-US" dirty="0">
                <a:latin typeface="Times New Roman" panose="02020603050405020304" pitchFamily="18" charset="0"/>
              </a:rPr>
              <a:t>和</a:t>
            </a:r>
            <a:r>
              <a:rPr lang="en-US" altLang="zh-CN" i="1" dirty="0">
                <a:latin typeface="Times New Roman" panose="02020603050405020304" pitchFamily="18" charset="0"/>
              </a:rPr>
              <a:t>b</a:t>
            </a:r>
            <a:r>
              <a:rPr lang="en-US" altLang="zh-CN" dirty="0">
                <a:latin typeface="Times New Roman" panose="02020603050405020304" pitchFamily="18" charset="0"/>
              </a:rPr>
              <a:t>,</a:t>
            </a:r>
            <a:r>
              <a:rPr lang="zh-CN" altLang="en-US" dirty="0">
                <a:latin typeface="Times New Roman" panose="02020603050405020304" pitchFamily="18" charset="0"/>
              </a:rPr>
              <a:t>即：</a:t>
            </a:r>
            <a:endParaRPr lang="zh-CN" altLang="en-US" dirty="0">
              <a:latin typeface="Times New Roman" panose="02020603050405020304" pitchFamily="18" charset="0"/>
            </a:endParaRPr>
          </a:p>
        </p:txBody>
      </p:sp>
      <p:grpSp>
        <p:nvGrpSpPr>
          <p:cNvPr id="207876" name="Group 4"/>
          <p:cNvGrpSpPr/>
          <p:nvPr>
            <p:custDataLst>
              <p:tags r:id="rId1"/>
            </p:custDataLst>
          </p:nvPr>
        </p:nvGrpSpPr>
        <p:grpSpPr>
          <a:xfrm>
            <a:off x="1338263" y="3970030"/>
            <a:ext cx="1711631" cy="1090792"/>
            <a:chOff x="3728" y="338"/>
            <a:chExt cx="756" cy="565"/>
          </a:xfrm>
        </p:grpSpPr>
        <p:sp>
          <p:nvSpPr>
            <p:cNvPr id="100356" name="Text Box 5"/>
            <p:cNvSpPr txBox="1"/>
            <p:nvPr>
              <p:custDataLst>
                <p:tags r:id="rId2"/>
              </p:custDataLst>
            </p:nvPr>
          </p:nvSpPr>
          <p:spPr>
            <a:xfrm>
              <a:off x="3884" y="338"/>
              <a:ext cx="600" cy="190"/>
            </a:xfrm>
            <a:prstGeom prst="rect">
              <a:avLst/>
            </a:prstGeom>
            <a:noFill/>
            <a:ln w="9525">
              <a:noFill/>
            </a:ln>
          </p:spPr>
          <p:txBody>
            <a:bodyPr anchor="t" anchorCtr="0">
              <a:spAutoFit/>
            </a:bodyPr>
            <a:p>
              <a:pPr>
                <a:spcBef>
                  <a:spcPct val="50000"/>
                </a:spcBef>
              </a:pPr>
              <a:r>
                <a:rPr lang="en-US" altLang="zh-CN" i="1" dirty="0">
                  <a:solidFill>
                    <a:srgbClr val="0000FF"/>
                  </a:solidFill>
                  <a:latin typeface="Times New Roman" panose="02020603050405020304" pitchFamily="18" charset="0"/>
                  <a:ea typeface="宋体" panose="02010600030101010101" pitchFamily="2" charset="-122"/>
                </a:rPr>
                <a:t>m-1</a:t>
              </a:r>
              <a:endParaRPr lang="en-US" altLang="zh-CN" i="1" dirty="0">
                <a:solidFill>
                  <a:srgbClr val="0000FF"/>
                </a:solidFill>
                <a:latin typeface="Times New Roman" panose="02020603050405020304" pitchFamily="18" charset="0"/>
                <a:ea typeface="宋体" panose="02010600030101010101" pitchFamily="2" charset="-122"/>
              </a:endParaRPr>
            </a:p>
          </p:txBody>
        </p:sp>
        <p:sp>
          <p:nvSpPr>
            <p:cNvPr id="100357" name="Rectangle 6"/>
            <p:cNvSpPr/>
            <p:nvPr>
              <p:custDataLst>
                <p:tags r:id="rId3"/>
              </p:custDataLst>
            </p:nvPr>
          </p:nvSpPr>
          <p:spPr>
            <a:xfrm>
              <a:off x="3728" y="471"/>
              <a:ext cx="696" cy="237"/>
            </a:xfrm>
            <a:prstGeom prst="rect">
              <a:avLst/>
            </a:prstGeom>
            <a:noFill/>
            <a:ln w="9525">
              <a:noFill/>
            </a:ln>
          </p:spPr>
          <p:txBody>
            <a:bodyPr wrap="none" anchor="t" anchorCtr="0">
              <a:spAutoFit/>
            </a:bodyPr>
            <a:p>
              <a:r>
                <a:rPr lang="en-US" altLang="zh-CN" sz="2400" i="1" dirty="0">
                  <a:solidFill>
                    <a:srgbClr val="0000FF"/>
                  </a:solidFill>
                  <a:latin typeface="Times New Roman" panose="02020603050405020304" pitchFamily="18" charset="0"/>
                  <a:ea typeface="宋体" panose="02010600030101010101" pitchFamily="2" charset="-122"/>
                </a:rPr>
                <a:t>a</a:t>
              </a:r>
              <a:r>
                <a:rPr lang="en-US" altLang="zh-CN" sz="2400" dirty="0">
                  <a:solidFill>
                    <a:srgbClr val="0000FF"/>
                  </a:solidFill>
                  <a:latin typeface="Times New Roman" panose="02020603050405020304" pitchFamily="18" charset="0"/>
                  <a:ea typeface="宋体" panose="02010600030101010101" pitchFamily="2" charset="-122"/>
                </a:rPr>
                <a:t> = ∑ </a:t>
              </a:r>
              <a:r>
                <a:rPr lang="en-US" altLang="zh-CN" sz="2400" i="1" dirty="0">
                  <a:solidFill>
                    <a:srgbClr val="0000FF"/>
                  </a:solidFill>
                  <a:latin typeface="Times New Roman" panose="02020603050405020304" pitchFamily="18" charset="0"/>
                  <a:ea typeface="宋体" panose="02010600030101010101" pitchFamily="2" charset="-122"/>
                </a:rPr>
                <a:t>a</a:t>
              </a:r>
              <a:r>
                <a:rPr lang="en-US" altLang="zh-CN" sz="2400" i="1" baseline="-30000" dirty="0">
                  <a:solidFill>
                    <a:srgbClr val="0000FF"/>
                  </a:solidFill>
                  <a:latin typeface="Times New Roman" panose="02020603050405020304" pitchFamily="18" charset="0"/>
                  <a:ea typeface="宋体" panose="02010600030101010101" pitchFamily="2" charset="-122"/>
                </a:rPr>
                <a:t>i</a:t>
              </a:r>
              <a:r>
                <a:rPr lang="en-US" altLang="zh-CN" sz="2400" dirty="0">
                  <a:solidFill>
                    <a:srgbClr val="0000FF"/>
                  </a:solidFill>
                  <a:latin typeface="Times New Roman" panose="02020603050405020304" pitchFamily="18" charset="0"/>
                  <a:ea typeface="宋体" panose="02010600030101010101" pitchFamily="2" charset="-122"/>
                </a:rPr>
                <a:t>2</a:t>
              </a:r>
              <a:r>
                <a:rPr lang="en-US" altLang="zh-CN" sz="2400" i="1" baseline="30000" dirty="0">
                  <a:solidFill>
                    <a:srgbClr val="0000FF"/>
                  </a:solidFill>
                  <a:latin typeface="Times New Roman" panose="02020603050405020304" pitchFamily="18" charset="0"/>
                  <a:ea typeface="宋体" panose="02010600030101010101" pitchFamily="2" charset="-122"/>
                </a:rPr>
                <a:t>i</a:t>
              </a:r>
              <a:endParaRPr lang="en-US" altLang="zh-CN" sz="2400" i="1" baseline="30000" dirty="0">
                <a:solidFill>
                  <a:srgbClr val="0000FF"/>
                </a:solidFill>
                <a:latin typeface="Times New Roman" panose="02020603050405020304" pitchFamily="18" charset="0"/>
                <a:ea typeface="宋体" panose="02010600030101010101" pitchFamily="2" charset="-122"/>
              </a:endParaRPr>
            </a:p>
          </p:txBody>
        </p:sp>
        <p:sp>
          <p:nvSpPr>
            <p:cNvPr id="100358" name="Rectangle 7"/>
            <p:cNvSpPr/>
            <p:nvPr>
              <p:custDataLst>
                <p:tags r:id="rId4"/>
              </p:custDataLst>
            </p:nvPr>
          </p:nvSpPr>
          <p:spPr>
            <a:xfrm>
              <a:off x="3916" y="729"/>
              <a:ext cx="216" cy="174"/>
            </a:xfrm>
            <a:prstGeom prst="rect">
              <a:avLst/>
            </a:prstGeom>
            <a:noFill/>
            <a:ln w="9525">
              <a:noFill/>
            </a:ln>
          </p:spPr>
          <p:txBody>
            <a:bodyPr wrap="none" anchor="t" anchorCtr="0">
              <a:spAutoFit/>
            </a:bodyPr>
            <a:p>
              <a:r>
                <a:rPr lang="en-US" altLang="zh-CN" sz="2400" i="1" baseline="30000" dirty="0">
                  <a:solidFill>
                    <a:srgbClr val="0000FF"/>
                  </a:solidFill>
                  <a:latin typeface="Times New Roman" panose="02020603050405020304" pitchFamily="18" charset="0"/>
                  <a:ea typeface="宋体" panose="02010600030101010101" pitchFamily="2" charset="-122"/>
                </a:rPr>
                <a:t>i</a:t>
              </a:r>
              <a:r>
                <a:rPr lang="en-US" altLang="zh-CN" sz="2400" baseline="30000" dirty="0">
                  <a:solidFill>
                    <a:srgbClr val="0000FF"/>
                  </a:solidFill>
                  <a:latin typeface="Times New Roman" panose="02020603050405020304" pitchFamily="18" charset="0"/>
                  <a:ea typeface="宋体" panose="02010600030101010101" pitchFamily="2" charset="-122"/>
                </a:rPr>
                <a:t>=0</a:t>
              </a:r>
              <a:endParaRPr lang="en-US" altLang="zh-CN" sz="2400" baseline="30000" dirty="0">
                <a:solidFill>
                  <a:srgbClr val="0000FF"/>
                </a:solidFill>
                <a:latin typeface="Times New Roman" panose="02020603050405020304" pitchFamily="18" charset="0"/>
                <a:ea typeface="宋体" panose="02010600030101010101" pitchFamily="2" charset="-122"/>
              </a:endParaRPr>
            </a:p>
          </p:txBody>
        </p:sp>
      </p:grpSp>
      <p:grpSp>
        <p:nvGrpSpPr>
          <p:cNvPr id="207880" name="Group 8"/>
          <p:cNvGrpSpPr/>
          <p:nvPr>
            <p:custDataLst>
              <p:tags r:id="rId5"/>
            </p:custDataLst>
          </p:nvPr>
        </p:nvGrpSpPr>
        <p:grpSpPr>
          <a:xfrm>
            <a:off x="4284663" y="3945801"/>
            <a:ext cx="1789482" cy="1074102"/>
            <a:chOff x="3999" y="293"/>
            <a:chExt cx="791" cy="556"/>
          </a:xfrm>
        </p:grpSpPr>
        <p:sp>
          <p:nvSpPr>
            <p:cNvPr id="100360" name="Text Box 9"/>
            <p:cNvSpPr txBox="1"/>
            <p:nvPr>
              <p:custDataLst>
                <p:tags r:id="rId6"/>
              </p:custDataLst>
            </p:nvPr>
          </p:nvSpPr>
          <p:spPr>
            <a:xfrm>
              <a:off x="4190" y="293"/>
              <a:ext cx="600" cy="190"/>
            </a:xfrm>
            <a:prstGeom prst="rect">
              <a:avLst/>
            </a:prstGeom>
            <a:noFill/>
            <a:ln w="9525">
              <a:noFill/>
            </a:ln>
          </p:spPr>
          <p:txBody>
            <a:bodyPr anchor="t" anchorCtr="0">
              <a:spAutoFit/>
            </a:bodyPr>
            <a:p>
              <a:pPr>
                <a:spcBef>
                  <a:spcPct val="50000"/>
                </a:spcBef>
              </a:pPr>
              <a:r>
                <a:rPr lang="en-US" altLang="zh-CN" i="1" dirty="0">
                  <a:solidFill>
                    <a:srgbClr val="0000FF"/>
                  </a:solidFill>
                  <a:latin typeface="Times New Roman" panose="02020603050405020304" pitchFamily="18" charset="0"/>
                  <a:ea typeface="宋体" panose="02010600030101010101" pitchFamily="2" charset="-122"/>
                </a:rPr>
                <a:t>n-1</a:t>
              </a:r>
              <a:endParaRPr lang="en-US" altLang="zh-CN" i="1" dirty="0">
                <a:solidFill>
                  <a:srgbClr val="0000FF"/>
                </a:solidFill>
                <a:latin typeface="Times New Roman" panose="02020603050405020304" pitchFamily="18" charset="0"/>
                <a:ea typeface="宋体" panose="02010600030101010101" pitchFamily="2" charset="-122"/>
              </a:endParaRPr>
            </a:p>
          </p:txBody>
        </p:sp>
        <p:sp>
          <p:nvSpPr>
            <p:cNvPr id="100361" name="Rectangle 10"/>
            <p:cNvSpPr/>
            <p:nvPr>
              <p:custDataLst>
                <p:tags r:id="rId7"/>
              </p:custDataLst>
            </p:nvPr>
          </p:nvSpPr>
          <p:spPr>
            <a:xfrm>
              <a:off x="3999" y="436"/>
              <a:ext cx="714" cy="237"/>
            </a:xfrm>
            <a:prstGeom prst="rect">
              <a:avLst/>
            </a:prstGeom>
            <a:noFill/>
            <a:ln w="9525">
              <a:noFill/>
            </a:ln>
          </p:spPr>
          <p:txBody>
            <a:bodyPr wrap="none" anchor="t" anchorCtr="0">
              <a:spAutoFit/>
            </a:bodyPr>
            <a:p>
              <a:r>
                <a:rPr lang="en-US" altLang="zh-CN" sz="2400" i="1" dirty="0">
                  <a:solidFill>
                    <a:srgbClr val="0000FF"/>
                  </a:solidFill>
                  <a:latin typeface="Times New Roman" panose="02020603050405020304" pitchFamily="18" charset="0"/>
                  <a:ea typeface="宋体" panose="02010600030101010101" pitchFamily="2" charset="-122"/>
                </a:rPr>
                <a:t>b</a:t>
              </a:r>
              <a:r>
                <a:rPr lang="en-US" altLang="zh-CN" sz="2400" dirty="0">
                  <a:solidFill>
                    <a:srgbClr val="0000FF"/>
                  </a:solidFill>
                  <a:latin typeface="Times New Roman" panose="02020603050405020304" pitchFamily="18" charset="0"/>
                  <a:ea typeface="宋体" panose="02010600030101010101" pitchFamily="2" charset="-122"/>
                </a:rPr>
                <a:t> = ∑ </a:t>
              </a:r>
              <a:r>
                <a:rPr lang="en-US" altLang="zh-CN" sz="2400" i="1" dirty="0">
                  <a:solidFill>
                    <a:srgbClr val="0000FF"/>
                  </a:solidFill>
                  <a:latin typeface="Times New Roman" panose="02020603050405020304" pitchFamily="18" charset="0"/>
                  <a:ea typeface="宋体" panose="02010600030101010101" pitchFamily="2" charset="-122"/>
                </a:rPr>
                <a:t>b</a:t>
              </a:r>
              <a:r>
                <a:rPr lang="en-US" altLang="zh-CN" sz="2400" i="1" baseline="-30000" dirty="0">
                  <a:solidFill>
                    <a:srgbClr val="0000FF"/>
                  </a:solidFill>
                  <a:latin typeface="Times New Roman" panose="02020603050405020304" pitchFamily="18" charset="0"/>
                  <a:ea typeface="宋体" panose="02010600030101010101" pitchFamily="2" charset="-122"/>
                </a:rPr>
                <a:t>j</a:t>
              </a:r>
              <a:r>
                <a:rPr lang="en-US" altLang="zh-CN" sz="2400" dirty="0">
                  <a:solidFill>
                    <a:srgbClr val="0000FF"/>
                  </a:solidFill>
                  <a:latin typeface="Times New Roman" panose="02020603050405020304" pitchFamily="18" charset="0"/>
                  <a:ea typeface="宋体" panose="02010600030101010101" pitchFamily="2" charset="-122"/>
                </a:rPr>
                <a:t>2</a:t>
              </a:r>
              <a:r>
                <a:rPr lang="en-US" altLang="zh-CN" sz="2400" i="1" baseline="30000" dirty="0">
                  <a:solidFill>
                    <a:srgbClr val="0000FF"/>
                  </a:solidFill>
                  <a:latin typeface="Times New Roman" panose="02020603050405020304" pitchFamily="18" charset="0"/>
                  <a:ea typeface="宋体" panose="02010600030101010101" pitchFamily="2" charset="-122"/>
                </a:rPr>
                <a:t>j</a:t>
              </a:r>
              <a:endParaRPr lang="en-US" altLang="zh-CN" sz="2400" i="1" baseline="30000" dirty="0">
                <a:solidFill>
                  <a:srgbClr val="0000FF"/>
                </a:solidFill>
                <a:latin typeface="Times New Roman" panose="02020603050405020304" pitchFamily="18" charset="0"/>
                <a:ea typeface="宋体" panose="02010600030101010101" pitchFamily="2" charset="-122"/>
              </a:endParaRPr>
            </a:p>
          </p:txBody>
        </p:sp>
        <p:sp>
          <p:nvSpPr>
            <p:cNvPr id="100362" name="Rectangle 11"/>
            <p:cNvSpPr/>
            <p:nvPr>
              <p:custDataLst>
                <p:tags r:id="rId8"/>
              </p:custDataLst>
            </p:nvPr>
          </p:nvSpPr>
          <p:spPr>
            <a:xfrm>
              <a:off x="4222" y="675"/>
              <a:ext cx="221" cy="174"/>
            </a:xfrm>
            <a:prstGeom prst="rect">
              <a:avLst/>
            </a:prstGeom>
            <a:noFill/>
            <a:ln w="9525">
              <a:noFill/>
            </a:ln>
          </p:spPr>
          <p:txBody>
            <a:bodyPr wrap="none" anchor="t" anchorCtr="0">
              <a:spAutoFit/>
            </a:bodyPr>
            <a:p>
              <a:pPr>
                <a:spcBef>
                  <a:spcPct val="50000"/>
                </a:spcBef>
              </a:pPr>
              <a:r>
                <a:rPr lang="en-US" altLang="zh-CN" sz="2400" i="1" baseline="30000" dirty="0">
                  <a:solidFill>
                    <a:srgbClr val="0000FF"/>
                  </a:solidFill>
                  <a:latin typeface="Times New Roman" panose="02020603050405020304" pitchFamily="18" charset="0"/>
                  <a:ea typeface="宋体" panose="02010600030101010101" pitchFamily="2" charset="-122"/>
                </a:rPr>
                <a:t>j</a:t>
              </a:r>
              <a:r>
                <a:rPr lang="en-US" altLang="zh-CN" sz="2400" baseline="30000" dirty="0">
                  <a:solidFill>
                    <a:srgbClr val="0000FF"/>
                  </a:solidFill>
                  <a:latin typeface="Times New Roman" panose="02020603050405020304" pitchFamily="18" charset="0"/>
                  <a:ea typeface="宋体" panose="02010600030101010101" pitchFamily="2" charset="-122"/>
                </a:rPr>
                <a:t>=0</a:t>
              </a:r>
              <a:endParaRPr lang="en-US" altLang="zh-CN" sz="2400" baseline="30000" dirty="0">
                <a:solidFill>
                  <a:srgbClr val="0000FF"/>
                </a:solidFill>
                <a:latin typeface="Times New Roman" panose="02020603050405020304" pitchFamily="18" charset="0"/>
                <a:ea typeface="宋体" panose="02010600030101010101"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7876"/>
                                        </p:tgtEl>
                                        <p:attrNameLst>
                                          <p:attrName>style.visibility</p:attrName>
                                        </p:attrNameLst>
                                      </p:cBhvr>
                                      <p:to>
                                        <p:strVal val="visible"/>
                                      </p:to>
                                    </p:set>
                                    <p:animEffect transition="in" filter="wipe(left)">
                                      <p:cBhvr>
                                        <p:cTn id="7" dur="500"/>
                                        <p:tgtEl>
                                          <p:spTgt spid="20787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07880"/>
                                        </p:tgtEl>
                                        <p:attrNameLst>
                                          <p:attrName>style.visibility</p:attrName>
                                        </p:attrNameLst>
                                      </p:cBhvr>
                                      <p:to>
                                        <p:strVal val="visible"/>
                                      </p:to>
                                    </p:set>
                                    <p:animEffect transition="in" filter="wipe(left)">
                                      <p:cBhvr>
                                        <p:cTn id="12" dur="500"/>
                                        <p:tgtEl>
                                          <p:spTgt spid="2078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01" name="Rectangle 5"/>
          <p:cNvSpPr>
            <a:spLocks noGrp="1" noRot="1"/>
          </p:cNvSpPr>
          <p:nvPr>
            <p:ph type="title"/>
          </p:nvPr>
        </p:nvSpPr>
        <p:spPr>
          <a:noFill/>
          <a:ln>
            <a:noFill/>
          </a:ln>
        </p:spPr>
        <p:txBody>
          <a:bodyPr anchor="t" anchorCtr="0"/>
          <a:p>
            <a:pPr eaLnBrk="1" hangingPunct="1"/>
            <a:r>
              <a:rPr lang="en-US" altLang="zh-CN" dirty="0">
                <a:solidFill>
                  <a:srgbClr val="0000FF"/>
                </a:solidFill>
                <a:latin typeface="Times New Roman" panose="02020603050405020304" pitchFamily="18" charset="0"/>
              </a:rPr>
              <a:t>4.4.4 </a:t>
            </a:r>
            <a:r>
              <a:rPr lang="zh-CN" altLang="en-US" dirty="0">
                <a:solidFill>
                  <a:srgbClr val="0000FF"/>
                </a:solidFill>
                <a:latin typeface="Times New Roman" panose="02020603050405020304" pitchFamily="18" charset="0"/>
              </a:rPr>
              <a:t>阵列乘法器</a:t>
            </a:r>
            <a:endParaRPr lang="zh-CN" altLang="en-US" dirty="0">
              <a:solidFill>
                <a:srgbClr val="0000FF"/>
              </a:solidFill>
              <a:latin typeface="Times New Roman" panose="02020603050405020304" pitchFamily="18" charset="0"/>
            </a:endParaRPr>
          </a:p>
        </p:txBody>
      </p:sp>
      <p:sp>
        <p:nvSpPr>
          <p:cNvPr id="102402" name="Rectangle 3"/>
          <p:cNvSpPr>
            <a:spLocks noGrp="1" noRot="1"/>
          </p:cNvSpPr>
          <p:nvPr>
            <p:ph type="body" sz="half" idx="1"/>
          </p:nvPr>
        </p:nvSpPr>
        <p:spPr>
          <a:xfrm>
            <a:off x="301625" y="1579563"/>
            <a:ext cx="8518525" cy="2017712"/>
          </a:xfrm>
          <a:noFill/>
          <a:ln>
            <a:noFill/>
          </a:ln>
        </p:spPr>
        <p:txBody>
          <a:bodyPr anchor="t" anchorCtr="0"/>
          <a:p>
            <a:pPr eaLnBrk="1" hangingPunct="1">
              <a:buClr>
                <a:schemeClr val="hlink"/>
              </a:buClr>
              <a:buSzTx/>
              <a:buFont typeface="Wingdings" panose="05000000000000000000" pitchFamily="2" charset="2"/>
            </a:pPr>
            <a:r>
              <a:rPr lang="zh-CN" altLang="en-US" dirty="0">
                <a:latin typeface="Times New Roman" panose="02020603050405020304" pitchFamily="18" charset="0"/>
              </a:rPr>
              <a:t>被乘数</a:t>
            </a:r>
            <a:r>
              <a:rPr lang="en-US" altLang="zh-CN" i="1" dirty="0">
                <a:latin typeface="Times New Roman" panose="02020603050405020304" pitchFamily="18" charset="0"/>
              </a:rPr>
              <a:t>A</a:t>
            </a:r>
            <a:r>
              <a:rPr lang="zh-CN" altLang="en-US" dirty="0">
                <a:latin typeface="Times New Roman" panose="02020603050405020304" pitchFamily="18" charset="0"/>
              </a:rPr>
              <a:t>与乘数</a:t>
            </a:r>
            <a:r>
              <a:rPr lang="en-US" altLang="zh-CN" i="1" dirty="0">
                <a:latin typeface="Times New Roman" panose="02020603050405020304" pitchFamily="18" charset="0"/>
              </a:rPr>
              <a:t>B</a:t>
            </a:r>
            <a:r>
              <a:rPr lang="zh-CN" altLang="en-US" dirty="0">
                <a:latin typeface="Times New Roman" panose="02020603050405020304" pitchFamily="18" charset="0"/>
              </a:rPr>
              <a:t>相乘</a:t>
            </a:r>
            <a:r>
              <a:rPr lang="en-US" altLang="zh-CN" dirty="0">
                <a:latin typeface="Times New Roman" panose="02020603050405020304" pitchFamily="18" charset="0"/>
              </a:rPr>
              <a:t>,</a:t>
            </a:r>
            <a:r>
              <a:rPr lang="zh-CN" altLang="en-US" dirty="0">
                <a:latin typeface="Times New Roman" panose="02020603050405020304" pitchFamily="18" charset="0"/>
              </a:rPr>
              <a:t>产生</a:t>
            </a:r>
            <a:r>
              <a:rPr lang="en-US" altLang="zh-CN" i="1" dirty="0">
                <a:solidFill>
                  <a:srgbClr val="FF0000"/>
                </a:solidFill>
                <a:latin typeface="Times New Roman" panose="02020603050405020304" pitchFamily="18" charset="0"/>
              </a:rPr>
              <a:t>m</a:t>
            </a:r>
            <a:r>
              <a:rPr lang="en-US" altLang="zh-CN" dirty="0">
                <a:solidFill>
                  <a:srgbClr val="FF0000"/>
                </a:solidFill>
                <a:latin typeface="Times New Roman" panose="02020603050405020304" pitchFamily="18" charset="0"/>
              </a:rPr>
              <a:t>+</a:t>
            </a:r>
            <a:r>
              <a:rPr lang="en-US" altLang="zh-CN" i="1" dirty="0">
                <a:solidFill>
                  <a:srgbClr val="FF0000"/>
                </a:solidFill>
                <a:latin typeface="Times New Roman" panose="02020603050405020304" pitchFamily="18" charset="0"/>
              </a:rPr>
              <a:t>n</a:t>
            </a:r>
            <a:r>
              <a:rPr lang="zh-CN" altLang="en-US" dirty="0">
                <a:latin typeface="Times New Roman" panose="02020603050405020304" pitchFamily="18" charset="0"/>
              </a:rPr>
              <a:t>位乘积</a:t>
            </a:r>
            <a:r>
              <a:rPr lang="en-US" altLang="zh-CN" i="1" dirty="0">
                <a:latin typeface="Times New Roman" panose="02020603050405020304" pitchFamily="18" charset="0"/>
              </a:rPr>
              <a:t>P</a:t>
            </a:r>
            <a:r>
              <a:rPr lang="zh-CN" altLang="en-US" dirty="0">
                <a:latin typeface="Times New Roman" panose="02020603050405020304" pitchFamily="18" charset="0"/>
              </a:rPr>
              <a:t>：   </a:t>
            </a:r>
            <a:endParaRPr lang="zh-CN" altLang="en-US" dirty="0">
              <a:latin typeface="Times New Roman" panose="02020603050405020304" pitchFamily="18" charset="0"/>
            </a:endParaRPr>
          </a:p>
          <a:p>
            <a:pPr lvl="1" eaLnBrk="1" hangingPunct="1">
              <a:buClr>
                <a:schemeClr val="accent1"/>
              </a:buClr>
              <a:buFont typeface="Wingdings" panose="05000000000000000000" pitchFamily="2" charset="2"/>
            </a:pPr>
            <a:r>
              <a:rPr lang="en-US" altLang="zh-CN" sz="3200" i="1" dirty="0">
                <a:solidFill>
                  <a:srgbClr val="0000FF"/>
                </a:solidFill>
                <a:latin typeface="Times New Roman" panose="02020603050405020304" pitchFamily="18" charset="0"/>
              </a:rPr>
              <a:t>P</a:t>
            </a:r>
            <a:r>
              <a:rPr lang="en-US" altLang="zh-CN" sz="3200" dirty="0">
                <a:solidFill>
                  <a:srgbClr val="0000FF"/>
                </a:solidFill>
                <a:latin typeface="Times New Roman" panose="02020603050405020304" pitchFamily="18" charset="0"/>
              </a:rPr>
              <a:t>=</a:t>
            </a:r>
            <a:r>
              <a:rPr lang="en-US" altLang="zh-CN" sz="3200" i="1" dirty="0">
                <a:solidFill>
                  <a:srgbClr val="0000FF"/>
                </a:solidFill>
                <a:latin typeface="Times New Roman" panose="02020603050405020304" pitchFamily="18" charset="0"/>
              </a:rPr>
              <a:t>p</a:t>
            </a:r>
            <a:r>
              <a:rPr lang="en-US" altLang="zh-CN" sz="3200" i="1" baseline="-30000" dirty="0">
                <a:solidFill>
                  <a:srgbClr val="0000FF"/>
                </a:solidFill>
                <a:latin typeface="Times New Roman" panose="02020603050405020304" pitchFamily="18" charset="0"/>
              </a:rPr>
              <a:t>m+n-1</a:t>
            </a:r>
            <a:r>
              <a:rPr lang="en-US" altLang="zh-CN" sz="3200" i="1" dirty="0">
                <a:solidFill>
                  <a:srgbClr val="0000FF"/>
                </a:solidFill>
                <a:latin typeface="Times New Roman" panose="02020603050405020304" pitchFamily="18" charset="0"/>
              </a:rPr>
              <a:t>…p</a:t>
            </a:r>
            <a:r>
              <a:rPr lang="en-US" altLang="zh-CN" sz="3200" i="1" baseline="-30000" dirty="0">
                <a:solidFill>
                  <a:srgbClr val="0000FF"/>
                </a:solidFill>
                <a:latin typeface="Times New Roman" panose="02020603050405020304" pitchFamily="18" charset="0"/>
              </a:rPr>
              <a:t>1</a:t>
            </a:r>
            <a:r>
              <a:rPr lang="en-US" altLang="zh-CN" sz="3200" i="1" dirty="0">
                <a:solidFill>
                  <a:srgbClr val="0000FF"/>
                </a:solidFill>
                <a:latin typeface="Times New Roman" panose="02020603050405020304" pitchFamily="18" charset="0"/>
              </a:rPr>
              <a:t>p</a:t>
            </a:r>
            <a:r>
              <a:rPr lang="en-US" altLang="zh-CN" sz="3200" i="1" baseline="-30000" dirty="0">
                <a:solidFill>
                  <a:srgbClr val="0000FF"/>
                </a:solidFill>
                <a:latin typeface="Times New Roman" panose="02020603050405020304" pitchFamily="18" charset="0"/>
              </a:rPr>
              <a:t>0</a:t>
            </a:r>
            <a:endParaRPr lang="en-US" altLang="zh-CN" sz="3200" i="1" baseline="-30000" dirty="0">
              <a:solidFill>
                <a:srgbClr val="0000FF"/>
              </a:solidFill>
              <a:latin typeface="Times New Roman" panose="02020603050405020304" pitchFamily="18" charset="0"/>
            </a:endParaRPr>
          </a:p>
          <a:p>
            <a:pPr lvl="1" eaLnBrk="1" latinLnBrk="0" hangingPunct="1">
              <a:spcBef>
                <a:spcPts val="1800"/>
              </a:spcBef>
              <a:buClr>
                <a:schemeClr val="accent1"/>
              </a:buClr>
              <a:buFont typeface="Wingdings" panose="05000000000000000000" pitchFamily="2" charset="2"/>
            </a:pPr>
            <a:r>
              <a:rPr lang="zh-CN" altLang="en-US" sz="3200" dirty="0">
                <a:latin typeface="Times New Roman" panose="02020603050405020304" pitchFamily="18" charset="0"/>
              </a:rPr>
              <a:t>乘积</a:t>
            </a:r>
            <a:r>
              <a:rPr lang="en-US" altLang="zh-CN" sz="3200" i="1" dirty="0">
                <a:latin typeface="Times New Roman" panose="02020603050405020304" pitchFamily="18" charset="0"/>
              </a:rPr>
              <a:t>P</a:t>
            </a:r>
            <a:r>
              <a:rPr lang="en-US" altLang="zh-CN" sz="3200" dirty="0">
                <a:latin typeface="Times New Roman" panose="02020603050405020304" pitchFamily="18" charset="0"/>
              </a:rPr>
              <a:t> </a:t>
            </a:r>
            <a:r>
              <a:rPr lang="zh-CN" altLang="en-US" sz="3200" dirty="0">
                <a:latin typeface="Times New Roman" panose="02020603050405020304" pitchFamily="18" charset="0"/>
              </a:rPr>
              <a:t>的数值为</a:t>
            </a:r>
            <a:r>
              <a:rPr lang="en-US" altLang="zh-CN" sz="3200" dirty="0">
                <a:latin typeface="Times New Roman" panose="02020603050405020304" pitchFamily="18" charset="0"/>
              </a:rPr>
              <a:t>:</a:t>
            </a:r>
            <a:endParaRPr lang="en-US" altLang="zh-CN" sz="3200" dirty="0">
              <a:latin typeface="Times New Roman" panose="02020603050405020304" pitchFamily="18" charset="0"/>
            </a:endParaRPr>
          </a:p>
        </p:txBody>
      </p:sp>
      <p:graphicFrame>
        <p:nvGraphicFramePr>
          <p:cNvPr id="209924" name="Object 4"/>
          <p:cNvGraphicFramePr>
            <a:graphicFrameLocks noChangeAspect="1"/>
          </p:cNvGraphicFramePr>
          <p:nvPr>
            <p:ph sz="half" idx="2"/>
          </p:nvPr>
        </p:nvGraphicFramePr>
        <p:xfrm>
          <a:off x="539750" y="3965575"/>
          <a:ext cx="7920038" cy="1481138"/>
        </p:xfrm>
        <a:graphic>
          <a:graphicData uri="http://schemas.openxmlformats.org/presentationml/2006/ole">
            <mc:AlternateContent xmlns:mc="http://schemas.openxmlformats.org/markup-compatibility/2006">
              <mc:Choice xmlns:v="urn:schemas-microsoft-com:vml" Requires="v">
                <p:oleObj spid="_x0000_s3086" name="" r:id="rId1" imgW="3492500" imgH="444500" progId="Equation.3">
                  <p:embed/>
                </p:oleObj>
              </mc:Choice>
              <mc:Fallback>
                <p:oleObj name="" r:id="rId1" imgW="3492500" imgH="444500" progId="Equation.3">
                  <p:embed/>
                  <p:pic>
                    <p:nvPicPr>
                      <p:cNvPr id="0" name="图片 3085"/>
                      <p:cNvPicPr/>
                      <p:nvPr/>
                    </p:nvPicPr>
                    <p:blipFill>
                      <a:blip r:embed="rId2"/>
                      <a:stretch>
                        <a:fillRect/>
                      </a:stretch>
                    </p:blipFill>
                    <p:spPr>
                      <a:xfrm>
                        <a:off x="539750" y="3965575"/>
                        <a:ext cx="7920038" cy="1481138"/>
                      </a:xfrm>
                      <a:prstGeom prst="rect">
                        <a:avLst/>
                      </a:prstGeom>
                      <a:noFill/>
                      <a:ln w="28575">
                        <a:solidFill>
                          <a:srgbClr val="FF0000"/>
                        </a:solidFill>
                        <a:miter/>
                      </a:ln>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09924"/>
                                        </p:tgtEl>
                                        <p:attrNameLst>
                                          <p:attrName>style.visibility</p:attrName>
                                        </p:attrNameLst>
                                      </p:cBhvr>
                                      <p:to>
                                        <p:strVal val="visible"/>
                                      </p:to>
                                    </p:set>
                                    <p:animEffect transition="in" filter="wipe(left)">
                                      <p:cBhvr>
                                        <p:cTn id="7" dur="500"/>
                                        <p:tgtEl>
                                          <p:spTgt spid="2099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4449" name="Rectangle 2"/>
          <p:cNvSpPr>
            <a:spLocks noGrp="1" noRot="1"/>
          </p:cNvSpPr>
          <p:nvPr>
            <p:ph type="title"/>
          </p:nvPr>
        </p:nvSpPr>
        <p:spPr>
          <a:noFill/>
          <a:ln>
            <a:noFill/>
          </a:ln>
        </p:spPr>
        <p:txBody>
          <a:bodyPr anchor="t" anchorCtr="0"/>
          <a:p>
            <a:pPr eaLnBrk="1" hangingPunct="1"/>
            <a:r>
              <a:rPr lang="zh-CN" altLang="en-US" dirty="0">
                <a:solidFill>
                  <a:srgbClr val="FF0000"/>
                </a:solidFill>
              </a:rPr>
              <a:t>习惯方法运算过程</a:t>
            </a:r>
            <a:endParaRPr lang="zh-CN" altLang="en-US" dirty="0">
              <a:solidFill>
                <a:srgbClr val="FF0000"/>
              </a:solidFill>
            </a:endParaRPr>
          </a:p>
        </p:txBody>
      </p:sp>
      <p:sp>
        <p:nvSpPr>
          <p:cNvPr id="104450" name="AutoShape 4"/>
          <p:cNvSpPr/>
          <p:nvPr/>
        </p:nvSpPr>
        <p:spPr>
          <a:xfrm>
            <a:off x="2128838" y="4845050"/>
            <a:ext cx="3605212" cy="831850"/>
          </a:xfrm>
          <a:prstGeom prst="accentCallout2">
            <a:avLst>
              <a:gd name="adj1" fmla="val 9551"/>
              <a:gd name="adj2" fmla="val 102116"/>
              <a:gd name="adj3" fmla="val 9551"/>
              <a:gd name="adj4" fmla="val 106912"/>
              <a:gd name="adj5" fmla="val -91514"/>
              <a:gd name="adj6" fmla="val 112023"/>
            </a:avLst>
          </a:prstGeom>
          <a:solidFill>
            <a:srgbClr val="FFFF00"/>
          </a:solidFill>
          <a:ln w="9525" cap="flat" cmpd="sng">
            <a:solidFill>
              <a:schemeClr val="tx1"/>
            </a:solidFill>
            <a:prstDash val="solid"/>
            <a:miter/>
            <a:headEnd type="none" w="med" len="med"/>
            <a:tailEnd type="none" w="med" len="med"/>
          </a:ln>
        </p:spPr>
        <p:txBody>
          <a:bodyPr anchor="t" anchorCtr="0">
            <a:spAutoFit/>
          </a:bodyPr>
          <a:p>
            <a:pPr eaLnBrk="0" hangingPunct="0"/>
            <a:r>
              <a:rPr lang="en-US" altLang="zh-CN" sz="2400" dirty="0">
                <a:solidFill>
                  <a:schemeClr val="tx1"/>
                </a:solidFill>
                <a:latin typeface="Tahoma" panose="020B0604030504040204" pitchFamily="34" charset="0"/>
                <a:ea typeface="宋体" panose="02010600030101010101" pitchFamily="2" charset="-122"/>
              </a:rPr>
              <a:t>k=4  </a:t>
            </a:r>
            <a:r>
              <a:rPr lang="zh-CN" altLang="en-US" sz="2400" dirty="0">
                <a:solidFill>
                  <a:schemeClr val="tx1"/>
                </a:solidFill>
                <a:latin typeface="Tahoma" panose="020B0604030504040204" pitchFamily="34" charset="0"/>
                <a:ea typeface="宋体" panose="02010600030101010101" pitchFamily="2" charset="-122"/>
              </a:rPr>
              <a:t>权为</a:t>
            </a:r>
            <a:r>
              <a:rPr lang="en-US" altLang="zh-CN" sz="2400" dirty="0">
                <a:solidFill>
                  <a:schemeClr val="tx1"/>
                </a:solidFill>
                <a:latin typeface="Tahoma" panose="020B0604030504040204" pitchFamily="34" charset="0"/>
                <a:ea typeface="宋体" panose="02010600030101010101" pitchFamily="2" charset="-122"/>
              </a:rPr>
              <a:t>2^4</a:t>
            </a:r>
            <a:endParaRPr lang="en-US" altLang="zh-CN" sz="2400" dirty="0">
              <a:solidFill>
                <a:schemeClr val="tx1"/>
              </a:solidFill>
              <a:latin typeface="Tahoma" panose="020B0604030504040204" pitchFamily="34" charset="0"/>
              <a:ea typeface="宋体" panose="02010600030101010101" pitchFamily="2" charset="-122"/>
            </a:endParaRPr>
          </a:p>
          <a:p>
            <a:pPr eaLnBrk="0" hangingPunct="0"/>
            <a:r>
              <a:rPr lang="en-US" altLang="zh-CN" sz="2400" dirty="0">
                <a:solidFill>
                  <a:schemeClr val="tx1"/>
                </a:solidFill>
                <a:latin typeface="Tahoma" panose="020B0604030504040204" pitchFamily="34" charset="0"/>
                <a:ea typeface="宋体" panose="02010600030101010101" pitchFamily="2" charset="-122"/>
              </a:rPr>
              <a:t>i,j=4,0  3,1  2,2  1,3  0,4</a:t>
            </a:r>
            <a:endParaRPr lang="en-US" altLang="zh-CN" sz="2400" dirty="0">
              <a:solidFill>
                <a:schemeClr val="tx1"/>
              </a:solidFill>
              <a:latin typeface="Tahoma" panose="020B0604030504040204" pitchFamily="34" charset="0"/>
              <a:ea typeface="宋体" panose="02010600030101010101" pitchFamily="2" charset="-122"/>
            </a:endParaRPr>
          </a:p>
        </p:txBody>
      </p:sp>
      <p:graphicFrame>
        <p:nvGraphicFramePr>
          <p:cNvPr id="213126" name="Group 134"/>
          <p:cNvGraphicFramePr>
            <a:graphicFrameLocks noGrp="1"/>
          </p:cNvGraphicFramePr>
          <p:nvPr/>
        </p:nvGraphicFramePr>
        <p:xfrm>
          <a:off x="179388" y="1416050"/>
          <a:ext cx="8785225" cy="2773365"/>
        </p:xfrm>
        <a:graphic>
          <a:graphicData uri="http://schemas.openxmlformats.org/drawingml/2006/table">
            <a:tbl>
              <a:tblPr/>
              <a:tblGrid>
                <a:gridCol w="868362"/>
                <a:gridCol w="1042988"/>
                <a:gridCol w="1041400"/>
                <a:gridCol w="879475"/>
                <a:gridCol w="881062"/>
                <a:gridCol w="989013"/>
                <a:gridCol w="519112"/>
                <a:gridCol w="671513"/>
                <a:gridCol w="671512"/>
                <a:gridCol w="673100"/>
                <a:gridCol w="547688"/>
              </a:tblGrid>
              <a:tr h="39619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cap="flat">
                      <a:noFill/>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m-2</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rPr>
                        <a:t>=</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cap="flat">
                      <a:noFill/>
                    </a:lnR>
                    <a:lnT cap="flat">
                      <a:noFill/>
                    </a:lnT>
                    <a:lnB w="12700"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rPr>
                        <a:t>x)</a:t>
                      </a:r>
                      <a:endPar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1" lang="zh-CN"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rPr>
                        <a:t>n-1</a:t>
                      </a:r>
                      <a:endPar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 </a:t>
                      </a:r>
                      <a:endPar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 </a:t>
                      </a:r>
                      <a:endPar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rPr>
                        <a:t>1</a:t>
                      </a:r>
                      <a:endPar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rPr>
                        <a:t>0</a:t>
                      </a:r>
                      <a:endPar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rPr>
                        <a:t>=</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m-1</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endPar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m-2</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1</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cap="flat">
                      <a:noFill/>
                    </a:lnR>
                    <a:lnT w="381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m-1</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1</a:t>
                      </a:r>
                      <a:endPar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m-2</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1</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cap="flat">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m-1</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n-1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m-2</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n-1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1</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n-1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b</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n-1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endParaRPr kumimoji="0" lang="zh-CN" altLang="zh-CN" sz="20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cap="flat">
                      <a:noFill/>
                    </a:lnR>
                    <a:lnT w="12700" cap="flat" cmpd="sng" algn="ctr">
                      <a:solidFill>
                        <a:schemeClr val="tx1"/>
                      </a:solidFill>
                      <a:prstDash val="solid"/>
                      <a:round/>
                      <a:headEnd type="none" w="med" len="med"/>
                      <a:tailEnd type="none" w="med" len="med"/>
                    </a:lnT>
                    <a:lnB w="38100" cap="flat" cmpd="sng" algn="ctr">
                      <a:solidFill>
                        <a:schemeClr val="tx1"/>
                      </a:solidFill>
                      <a:prstDash val="solid"/>
                      <a:round/>
                      <a:headEnd type="none" w="med" len="med"/>
                      <a:tailEnd type="none" w="med" len="med"/>
                    </a:lnB>
                    <a:lnTlToBr>
                      <a:noFill/>
                    </a:lnTlToBr>
                    <a:lnBlToTr>
                      <a:noFill/>
                    </a:lnBlToTr>
                    <a:noFill/>
                  </a:tcPr>
                </a:tc>
              </a:tr>
              <a:tr h="396195">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p</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m+n-1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cap="flat">
                      <a:noFill/>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p</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m+n-2</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p</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m+n-3</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0" u="none" strike="noStrike" cap="none" normalizeH="0" baseline="-25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p</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n-1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p</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1</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Tx/>
                        <a:buFont typeface="Wingdings" panose="05000000000000000000" pitchFamily="2" charset="2"/>
                        <a:buNone/>
                      </a:pP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p</a:t>
                      </a:r>
                      <a:r>
                        <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rPr>
                        <a:t>0</a:t>
                      </a:r>
                      <a:endParaRPr kumimoji="1" lang="en-US" altLang="zh-CN" sz="2000" b="0" i="0" u="none" strike="noStrike" cap="none" normalizeH="0" baseline="-3000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38100" cap="flat" cmpd="sng" algn="ctr">
                      <a:solidFill>
                        <a:schemeClr val="tx1"/>
                      </a:solidFill>
                      <a:prstDash val="solid"/>
                      <a:round/>
                      <a:headEnd type="none" w="med" len="med"/>
                      <a:tailEnd type="none" w="med" len="med"/>
                    </a:lnT>
                    <a:lnB cap="flat">
                      <a:noFill/>
                    </a:lnB>
                    <a:lnTlToBr>
                      <a:noFill/>
                    </a:lnTlToBr>
                    <a:lnBlToTr>
                      <a:noFill/>
                    </a:lnBlToTr>
                    <a:noFill/>
                  </a:tcPr>
                </a:tc>
                <a:tc>
                  <a:txBody>
                    <a:bodyPr/>
                    <a:lstStyle>
                      <a:lvl1pPr>
                        <a:spcBef>
                          <a:spcPct val="20000"/>
                        </a:spcBef>
                        <a:buClr>
                          <a:schemeClr val="folHlink"/>
                        </a:buClr>
                        <a:buFont typeface="Wingdings" panose="05000000000000000000" pitchFamily="2" charset="2"/>
                        <a:defRPr sz="2800">
                          <a:solidFill>
                            <a:schemeClr val="tx1"/>
                          </a:solidFill>
                          <a:latin typeface="Arial" panose="020B0604020202020204" pitchFamily="34" charset="0"/>
                          <a:ea typeface="宋体" panose="02010600030101010101" pitchFamily="2" charset="-122"/>
                        </a:defRPr>
                      </a:lvl1pPr>
                      <a:lvl2pPr marL="287655">
                        <a:spcBef>
                          <a:spcPct val="20000"/>
                        </a:spcBef>
                        <a:buClr>
                          <a:schemeClr val="hlink"/>
                        </a:buClr>
                        <a:defRPr sz="2400">
                          <a:solidFill>
                            <a:schemeClr val="tx1"/>
                          </a:solidFill>
                          <a:latin typeface="Arial" panose="020B0604020202020204" pitchFamily="34" charset="0"/>
                          <a:ea typeface="宋体" panose="02010600030101010101" pitchFamily="2" charset="-122"/>
                        </a:defRPr>
                      </a:lvl2pPr>
                      <a:lvl3pPr marL="571500">
                        <a:spcBef>
                          <a:spcPct val="20000"/>
                        </a:spcBef>
                        <a:buClr>
                          <a:schemeClr val="folHlink"/>
                        </a:buClr>
                        <a:buFont typeface="Wingdings" panose="05000000000000000000" pitchFamily="2" charset="2"/>
                        <a:defRPr sz="2000">
                          <a:solidFill>
                            <a:schemeClr val="tx1"/>
                          </a:solidFill>
                          <a:latin typeface="Arial" panose="020B0604020202020204" pitchFamily="34" charset="0"/>
                          <a:ea typeface="宋体" panose="02010600030101010101" pitchFamily="2" charset="-122"/>
                        </a:defRPr>
                      </a:lvl3pPr>
                      <a:lvl4pPr marL="855980">
                        <a:spcBef>
                          <a:spcPct val="20000"/>
                        </a:spcBef>
                        <a:buClr>
                          <a:schemeClr val="hlink"/>
                        </a:buClr>
                        <a:buSzPct val="115000"/>
                        <a:defRPr>
                          <a:solidFill>
                            <a:schemeClr val="tx1"/>
                          </a:solidFill>
                          <a:latin typeface="Arial" panose="020B0604020202020204" pitchFamily="34" charset="0"/>
                          <a:ea typeface="宋体" panose="02010600030101010101" pitchFamily="2" charset="-122"/>
                        </a:defRPr>
                      </a:lvl4pPr>
                      <a:lvl5pPr marL="1139825">
                        <a:spcBef>
                          <a:spcPct val="20000"/>
                        </a:spcBef>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5pPr>
                      <a:lvl6pPr marL="15970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6pPr>
                      <a:lvl7pPr marL="20542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7pPr>
                      <a:lvl8pPr marL="25114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8pPr>
                      <a:lvl9pPr marL="2968625" fontAlgn="base">
                        <a:spcBef>
                          <a:spcPct val="20000"/>
                        </a:spcBef>
                        <a:spcAft>
                          <a:spcPct val="0"/>
                        </a:spcAft>
                        <a:buClr>
                          <a:schemeClr val="folHlink"/>
                        </a:buClr>
                        <a:buFont typeface="Wingdings" panose="05000000000000000000" pitchFamily="2" charset="2"/>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en-US" altLang="zh-CN" sz="2000" b="0" i="0" u="none" strike="noStrike" cap="none" normalizeH="0" baseline="0">
                          <a:ln>
                            <a:noFill/>
                          </a:ln>
                          <a:solidFill>
                            <a:srgbClr val="0000FF"/>
                          </a:solidFill>
                          <a:effectLst/>
                          <a:latin typeface="Arial" panose="020B0604020202020204" pitchFamily="34" charset="0"/>
                          <a:ea typeface="宋体" panose="02010600030101010101" pitchFamily="2" charset="-122"/>
                        </a:rPr>
                        <a:t>=</a:t>
                      </a:r>
                      <a:r>
                        <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rPr>
                        <a:t>p</a:t>
                      </a:r>
                      <a:endParaRPr kumimoji="1" lang="en-US" altLang="zh-CN" sz="2000" b="0" i="1" u="none" strike="noStrike" cap="none" normalizeH="0" baseline="0">
                        <a:ln>
                          <a:noFill/>
                        </a:ln>
                        <a:solidFill>
                          <a:srgbClr val="0000FF"/>
                        </a:solidFill>
                        <a:effectLst/>
                        <a:latin typeface="Arial" panose="020B0604020202020204" pitchFamily="34" charset="0"/>
                        <a:ea typeface="宋体" panose="02010600030101010101" pitchFamily="2" charset="-122"/>
                      </a:endParaRPr>
                    </a:p>
                  </a:txBody>
                  <a:tcPr marT="45699" marB="45699" horzOverflow="overflow">
                    <a:lnL w="12700" cap="flat" cmpd="sng" algn="ctr">
                      <a:solidFill>
                        <a:schemeClr val="tx1"/>
                      </a:solidFill>
                      <a:prstDash val="solid"/>
                      <a:round/>
                      <a:headEnd type="none" w="med" len="med"/>
                      <a:tailEnd type="none" w="med" len="med"/>
                    </a:lnL>
                    <a:lnR cap="flat">
                      <a:noFill/>
                    </a:lnR>
                    <a:lnT w="38100" cap="flat" cmpd="sng" algn="ctr">
                      <a:solidFill>
                        <a:schemeClr val="tx1"/>
                      </a:solidFill>
                      <a:prstDash val="solid"/>
                      <a:round/>
                      <a:headEnd type="none" w="med" len="med"/>
                      <a:tailEnd type="none" w="med" len="med"/>
                    </a:lnT>
                    <a:lnB cap="flat">
                      <a:noFill/>
                    </a:lnB>
                    <a:lnTlToBr>
                      <a:noFill/>
                    </a:lnTlToBr>
                    <a:lnBlToTr>
                      <a:noFill/>
                    </a:lnBlToTr>
                    <a:noFill/>
                  </a:tcPr>
                </a:tc>
              </a:tr>
            </a:tbl>
          </a:graphicData>
        </a:graphic>
      </p:graphicFrame>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6497" name="Rectangle 2"/>
          <p:cNvSpPr>
            <a:spLocks noGrp="1" noRot="1"/>
          </p:cNvSpPr>
          <p:nvPr>
            <p:ph type="title"/>
          </p:nvPr>
        </p:nvSpPr>
        <p:spPr>
          <a:xfrm>
            <a:off x="323850" y="188913"/>
            <a:ext cx="8540750" cy="936625"/>
          </a:xfrm>
          <a:noFill/>
          <a:ln>
            <a:noFill/>
          </a:ln>
        </p:spPr>
        <p:txBody>
          <a:bodyPr anchor="t" anchorCtr="0"/>
          <a:p>
            <a:pPr eaLnBrk="1" hangingPunct="1"/>
            <a:r>
              <a:rPr lang="zh-CN" altLang="en-US" dirty="0">
                <a:solidFill>
                  <a:srgbClr val="FF0000"/>
                </a:solidFill>
                <a:latin typeface="Times New Roman" panose="02020603050405020304" pitchFamily="18" charset="0"/>
              </a:rPr>
              <a:t>并行乘法器</a:t>
            </a:r>
            <a:endParaRPr lang="zh-CN" altLang="en-US" dirty="0">
              <a:solidFill>
                <a:srgbClr val="FF0000"/>
              </a:solidFill>
              <a:latin typeface="Times New Roman" panose="02020603050405020304" pitchFamily="18" charset="0"/>
            </a:endParaRPr>
          </a:p>
        </p:txBody>
      </p:sp>
      <p:sp>
        <p:nvSpPr>
          <p:cNvPr id="106498" name="Rectangle 3"/>
          <p:cNvSpPr>
            <a:spLocks noGrp="1" noRot="1"/>
          </p:cNvSpPr>
          <p:nvPr>
            <p:ph idx="1"/>
          </p:nvPr>
        </p:nvSpPr>
        <p:spPr>
          <a:xfrm>
            <a:off x="323850" y="1125538"/>
            <a:ext cx="8540750" cy="647700"/>
          </a:xfrm>
          <a:noFill/>
          <a:ln>
            <a:noFill/>
          </a:ln>
        </p:spPr>
        <p:txBody>
          <a:bodyPr anchor="t" anchorCtr="0"/>
          <a:p>
            <a:pPr eaLnBrk="1" hangingPunct="1"/>
            <a:r>
              <a:rPr lang="zh-CN" altLang="en-US" dirty="0">
                <a:latin typeface="Times New Roman" panose="02020603050405020304" pitchFamily="18" charset="0"/>
              </a:rPr>
              <a:t>实现</a:t>
            </a:r>
            <a:r>
              <a:rPr lang="en-US" altLang="zh-CN" i="1" dirty="0">
                <a:latin typeface="Times New Roman" panose="02020603050405020304" pitchFamily="18" charset="0"/>
              </a:rPr>
              <a:t>n</a:t>
            </a:r>
            <a:r>
              <a:rPr lang="zh-CN" altLang="en-US" dirty="0">
                <a:latin typeface="Times New Roman" panose="02020603050405020304" pitchFamily="18" charset="0"/>
              </a:rPr>
              <a:t>位</a:t>
            </a:r>
            <a:r>
              <a:rPr lang="en-US" altLang="zh-CN" i="1" dirty="0">
                <a:latin typeface="Times New Roman" panose="02020603050405020304" pitchFamily="18" charset="0"/>
              </a:rPr>
              <a:t>×n</a:t>
            </a:r>
            <a:r>
              <a:rPr lang="zh-CN" altLang="en-US" dirty="0">
                <a:latin typeface="Times New Roman" panose="02020603050405020304" pitchFamily="18" charset="0"/>
              </a:rPr>
              <a:t>位</a:t>
            </a:r>
            <a:r>
              <a:rPr lang="en-US" altLang="zh-CN" dirty="0">
                <a:latin typeface="Times New Roman" panose="02020603050405020304" pitchFamily="18" charset="0"/>
              </a:rPr>
              <a:t>,</a:t>
            </a:r>
            <a:r>
              <a:rPr lang="zh-CN" altLang="en-US" dirty="0">
                <a:latin typeface="Times New Roman" panose="02020603050405020304" pitchFamily="18" charset="0"/>
              </a:rPr>
              <a:t>需要</a:t>
            </a:r>
            <a:r>
              <a:rPr lang="en-US" altLang="zh-CN" i="1" dirty="0">
                <a:latin typeface="Times New Roman" panose="02020603050405020304" pitchFamily="18" charset="0"/>
              </a:rPr>
              <a:t>n</a:t>
            </a:r>
            <a:r>
              <a:rPr lang="en-US" altLang="zh-CN" dirty="0">
                <a:latin typeface="Times New Roman" panose="02020603050405020304" pitchFamily="18" charset="0"/>
              </a:rPr>
              <a:t>(</a:t>
            </a:r>
            <a:r>
              <a:rPr lang="en-US" altLang="zh-CN" i="1" dirty="0">
                <a:latin typeface="Times New Roman" panose="02020603050405020304" pitchFamily="18" charset="0"/>
              </a:rPr>
              <a:t>n</a:t>
            </a:r>
            <a:r>
              <a:rPr lang="en-US" altLang="zh-CN" dirty="0">
                <a:latin typeface="Times New Roman" panose="02020603050405020304" pitchFamily="18" charset="0"/>
              </a:rPr>
              <a:t>-1)</a:t>
            </a:r>
            <a:r>
              <a:rPr lang="zh-CN" altLang="en-US" dirty="0">
                <a:latin typeface="Times New Roman" panose="02020603050405020304" pitchFamily="18" charset="0"/>
              </a:rPr>
              <a:t>个全加器和</a:t>
            </a:r>
            <a:r>
              <a:rPr lang="en-US" altLang="zh-CN" i="1" dirty="0">
                <a:latin typeface="Times New Roman" panose="02020603050405020304" pitchFamily="18" charset="0"/>
              </a:rPr>
              <a:t>n</a:t>
            </a:r>
            <a:r>
              <a:rPr lang="en-US" altLang="zh-CN" baseline="30000" dirty="0">
                <a:latin typeface="Times New Roman" panose="02020603050405020304" pitchFamily="18" charset="0"/>
              </a:rPr>
              <a:t>2</a:t>
            </a:r>
            <a:r>
              <a:rPr lang="zh-CN" altLang="en-US" dirty="0">
                <a:latin typeface="Times New Roman" panose="02020603050405020304" pitchFamily="18" charset="0"/>
              </a:rPr>
              <a:t>个“与”门</a:t>
            </a:r>
            <a:endParaRPr lang="zh-CN" altLang="en-US" dirty="0">
              <a:latin typeface="Times New Roman" panose="02020603050405020304" pitchFamily="18" charset="0"/>
            </a:endParaRPr>
          </a:p>
        </p:txBody>
      </p:sp>
      <p:pic>
        <p:nvPicPr>
          <p:cNvPr id="106499" name="Picture 5"/>
          <p:cNvPicPr>
            <a:picLocks noChangeAspect="1"/>
          </p:cNvPicPr>
          <p:nvPr/>
        </p:nvPicPr>
        <p:blipFill>
          <a:blip r:embed="rId1"/>
          <a:stretch>
            <a:fillRect/>
          </a:stretch>
        </p:blipFill>
        <p:spPr>
          <a:xfrm>
            <a:off x="827088" y="1916113"/>
            <a:ext cx="7273925" cy="4457700"/>
          </a:xfrm>
          <a:prstGeom prst="rect">
            <a:avLst/>
          </a:prstGeom>
          <a:noFill/>
          <a:ln w="9525">
            <a:noFill/>
          </a:ln>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8545" name="Rectangle 4"/>
          <p:cNvSpPr>
            <a:spLocks noGrp="1"/>
          </p:cNvSpPr>
          <p:nvPr>
            <p:ph idx="1"/>
          </p:nvPr>
        </p:nvSpPr>
        <p:spPr>
          <a:xfrm>
            <a:off x="304800" y="457200"/>
            <a:ext cx="8534400" cy="5867400"/>
          </a:xfrm>
          <a:noFill/>
          <a:ln>
            <a:noFill/>
          </a:ln>
        </p:spPr>
        <p:txBody>
          <a:bodyPr anchor="t" anchorCtr="0"/>
          <a:p>
            <a:pPr eaLnBrk="1" hangingPunct="1"/>
            <a:endParaRPr lang="zh-CN" altLang="zh-CN" dirty="0"/>
          </a:p>
        </p:txBody>
      </p:sp>
      <p:graphicFrame>
        <p:nvGraphicFramePr>
          <p:cNvPr id="108546" name="Object 5"/>
          <p:cNvGraphicFramePr>
            <a:graphicFrameLocks noChangeAspect="1"/>
          </p:cNvGraphicFramePr>
          <p:nvPr/>
        </p:nvGraphicFramePr>
        <p:xfrm>
          <a:off x="4763" y="474663"/>
          <a:ext cx="8732837" cy="5219700"/>
        </p:xfrm>
        <a:graphic>
          <a:graphicData uri="http://schemas.openxmlformats.org/presentationml/2006/ole">
            <mc:AlternateContent xmlns:mc="http://schemas.openxmlformats.org/markup-compatibility/2006">
              <mc:Choice xmlns:v="urn:schemas-microsoft-com:vml" Requires="v">
                <p:oleObj spid="_x0000_s3087" name="" r:id="rId1" imgW="8928100" imgH="6870700" progId="Photoshop.Image.6">
                  <p:embed/>
                </p:oleObj>
              </mc:Choice>
              <mc:Fallback>
                <p:oleObj name="" r:id="rId1" imgW="8928100" imgH="6870700" progId="Photoshop.Image.6">
                  <p:embed/>
                  <p:pic>
                    <p:nvPicPr>
                      <p:cNvPr id="0" name="图片 3086"/>
                      <p:cNvPicPr/>
                      <p:nvPr/>
                    </p:nvPicPr>
                    <p:blipFill>
                      <a:blip r:embed="rId2"/>
                      <a:stretch>
                        <a:fillRect/>
                      </a:stretch>
                    </p:blipFill>
                    <p:spPr>
                      <a:xfrm>
                        <a:off x="4763" y="474663"/>
                        <a:ext cx="8732837" cy="5219700"/>
                      </a:xfrm>
                      <a:prstGeom prst="rect">
                        <a:avLst/>
                      </a:prstGeom>
                      <a:noFill/>
                      <a:ln w="38100">
                        <a:noFill/>
                        <a:miter/>
                      </a:ln>
                    </p:spPr>
                  </p:pic>
                </p:oleObj>
              </mc:Fallback>
            </mc:AlternateContent>
          </a:graphicData>
        </a:graphic>
      </p:graphicFrame>
      <p:graphicFrame>
        <p:nvGraphicFramePr>
          <p:cNvPr id="217095" name="Object 7"/>
          <p:cNvGraphicFramePr>
            <a:graphicFrameLocks noChangeAspect="1"/>
          </p:cNvGraphicFramePr>
          <p:nvPr/>
        </p:nvGraphicFramePr>
        <p:xfrm>
          <a:off x="603250" y="5648325"/>
          <a:ext cx="2909888" cy="1181100"/>
        </p:xfrm>
        <a:graphic>
          <a:graphicData uri="http://schemas.openxmlformats.org/presentationml/2006/ole">
            <mc:AlternateContent xmlns:mc="http://schemas.openxmlformats.org/markup-compatibility/2006">
              <mc:Choice xmlns:v="urn:schemas-microsoft-com:vml" Requires="v">
                <p:oleObj spid="_x0000_s3088" name="" r:id="rId3" imgW="1155700" imgH="469900" progId="Equation.3">
                  <p:embed/>
                </p:oleObj>
              </mc:Choice>
              <mc:Fallback>
                <p:oleObj name="" r:id="rId3" imgW="1155700" imgH="469900" progId="Equation.3">
                  <p:embed/>
                  <p:pic>
                    <p:nvPicPr>
                      <p:cNvPr id="0" name="图片 3087"/>
                      <p:cNvPicPr/>
                      <p:nvPr/>
                    </p:nvPicPr>
                    <p:blipFill>
                      <a:blip r:embed="rId4"/>
                      <a:stretch>
                        <a:fillRect/>
                      </a:stretch>
                    </p:blipFill>
                    <p:spPr>
                      <a:xfrm>
                        <a:off x="603250" y="5648325"/>
                        <a:ext cx="2909888" cy="1181100"/>
                      </a:xfrm>
                      <a:prstGeom prst="rect">
                        <a:avLst/>
                      </a:prstGeom>
                      <a:noFill/>
                      <a:ln w="38100">
                        <a:noFill/>
                        <a:miter/>
                      </a:ln>
                    </p:spPr>
                  </p:pic>
                </p:oleObj>
              </mc:Fallback>
            </mc:AlternateContent>
          </a:graphicData>
        </a:graphic>
      </p:graphicFrame>
      <p:sp>
        <p:nvSpPr>
          <p:cNvPr id="108548" name="AutoShape 8"/>
          <p:cNvSpPr/>
          <p:nvPr/>
        </p:nvSpPr>
        <p:spPr>
          <a:xfrm>
            <a:off x="4767263" y="5864225"/>
            <a:ext cx="3060700" cy="690563"/>
          </a:xfrm>
          <a:prstGeom prst="wedgeRectCallout">
            <a:avLst>
              <a:gd name="adj1" fmla="val -39315"/>
              <a:gd name="adj2" fmla="val -66782"/>
            </a:avLst>
          </a:prstGeom>
          <a:noFill/>
          <a:ln w="9525" cap="flat" cmpd="sng">
            <a:solidFill>
              <a:schemeClr val="tx1"/>
            </a:solidFill>
            <a:prstDash val="solid"/>
            <a:miter/>
            <a:headEnd type="none" w="med" len="med"/>
            <a:tailEnd type="none" w="med" len="med"/>
          </a:ln>
        </p:spPr>
        <p:txBody>
          <a:bodyPr anchor="t" anchorCtr="0"/>
          <a:p>
            <a:pPr eaLnBrk="0" hangingPunct="0"/>
            <a:r>
              <a:rPr lang="en-US" altLang="zh-CN" sz="2000" dirty="0">
                <a:solidFill>
                  <a:schemeClr val="tx1"/>
                </a:solidFill>
                <a:latin typeface="Tahoma" panose="020B0604030504040204" pitchFamily="34" charset="0"/>
                <a:ea typeface="宋体" panose="02010600030101010101" pitchFamily="2" charset="-122"/>
              </a:rPr>
              <a:t>k=4  </a:t>
            </a:r>
            <a:r>
              <a:rPr lang="zh-CN" altLang="en-US" sz="2000" dirty="0">
                <a:solidFill>
                  <a:schemeClr val="tx1"/>
                </a:solidFill>
                <a:latin typeface="Tahoma" panose="020B0604030504040204" pitchFamily="34" charset="0"/>
                <a:ea typeface="宋体" panose="02010600030101010101" pitchFamily="2" charset="-122"/>
              </a:rPr>
              <a:t>权为</a:t>
            </a:r>
            <a:r>
              <a:rPr lang="en-US" altLang="zh-CN" sz="2000" dirty="0">
                <a:solidFill>
                  <a:schemeClr val="tx1"/>
                </a:solidFill>
                <a:latin typeface="Tahoma" panose="020B0604030504040204" pitchFamily="34" charset="0"/>
                <a:ea typeface="宋体" panose="02010600030101010101" pitchFamily="2" charset="-122"/>
              </a:rPr>
              <a:t>2^4</a:t>
            </a:r>
            <a:endParaRPr lang="en-US" altLang="zh-CN" sz="2000" dirty="0">
              <a:solidFill>
                <a:schemeClr val="tx1"/>
              </a:solidFill>
              <a:latin typeface="Tahoma" panose="020B0604030504040204" pitchFamily="34" charset="0"/>
              <a:ea typeface="宋体" panose="02010600030101010101" pitchFamily="2" charset="-122"/>
            </a:endParaRPr>
          </a:p>
          <a:p>
            <a:pPr eaLnBrk="0" hangingPunct="0"/>
            <a:r>
              <a:rPr lang="en-US" altLang="zh-CN" sz="2000" dirty="0">
                <a:solidFill>
                  <a:schemeClr val="tx1"/>
                </a:solidFill>
                <a:latin typeface="Tahoma" panose="020B0604030504040204" pitchFamily="34" charset="0"/>
                <a:ea typeface="宋体" panose="02010600030101010101" pitchFamily="2" charset="-122"/>
              </a:rPr>
              <a:t>i,j=4,0  3,1  2,2  1,3  0,4</a:t>
            </a:r>
            <a:endParaRPr lang="en-US" altLang="zh-CN" sz="2000" dirty="0">
              <a:solidFill>
                <a:schemeClr val="tx1"/>
              </a:solidFill>
              <a:latin typeface="Tahoma" panose="020B0604030504040204" pitchFamily="34" charset="0"/>
              <a:ea typeface="宋体" panose="02010600030101010101" pitchFamily="2" charset="-122"/>
            </a:endParaRPr>
          </a:p>
        </p:txBody>
      </p:sp>
      <p:sp>
        <p:nvSpPr>
          <p:cNvPr id="108549" name="Rectangle 10"/>
          <p:cNvSpPr/>
          <p:nvPr/>
        </p:nvSpPr>
        <p:spPr>
          <a:xfrm>
            <a:off x="8712200" y="500063"/>
            <a:ext cx="606425" cy="3270250"/>
          </a:xfrm>
          <a:prstGeom prst="rect">
            <a:avLst/>
          </a:prstGeom>
          <a:noFill/>
          <a:ln w="9525">
            <a:noFill/>
          </a:ln>
        </p:spPr>
        <p:txBody>
          <a:bodyPr anchor="t" anchorCtr="0">
            <a:spAutoFit/>
          </a:bodyPr>
          <a:p>
            <a:pPr>
              <a:lnSpc>
                <a:spcPct val="80000"/>
              </a:lnSpc>
            </a:pPr>
            <a:r>
              <a:rPr lang="en-US" altLang="zh-CN" sz="2000" dirty="0">
                <a:solidFill>
                  <a:srgbClr val="6600FF"/>
                </a:solidFill>
                <a:latin typeface="Tahoma" panose="020B0604030504040204" pitchFamily="34" charset="0"/>
                <a:ea typeface="宋体" panose="02010600030101010101" pitchFamily="2" charset="-122"/>
              </a:rPr>
              <a:t>b0</a:t>
            </a: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r>
              <a:rPr lang="en-US" altLang="zh-CN" sz="2000" dirty="0">
                <a:solidFill>
                  <a:srgbClr val="6600FF"/>
                </a:solidFill>
                <a:latin typeface="Tahoma" panose="020B0604030504040204" pitchFamily="34" charset="0"/>
                <a:ea typeface="宋体" panose="02010600030101010101" pitchFamily="2" charset="-122"/>
              </a:rPr>
              <a:t>b1</a:t>
            </a: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r>
              <a:rPr lang="en-US" altLang="zh-CN" sz="2000" dirty="0">
                <a:solidFill>
                  <a:srgbClr val="6600FF"/>
                </a:solidFill>
                <a:latin typeface="Tahoma" panose="020B0604030504040204" pitchFamily="34" charset="0"/>
                <a:ea typeface="宋体" panose="02010600030101010101" pitchFamily="2" charset="-122"/>
              </a:rPr>
              <a:t>b2</a:t>
            </a: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r>
              <a:rPr lang="en-US" altLang="zh-CN" sz="2000" dirty="0">
                <a:solidFill>
                  <a:srgbClr val="6600FF"/>
                </a:solidFill>
                <a:latin typeface="Tahoma" panose="020B0604030504040204" pitchFamily="34" charset="0"/>
                <a:ea typeface="宋体" panose="02010600030101010101" pitchFamily="2" charset="-122"/>
              </a:rPr>
              <a:t>b3</a:t>
            </a: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endParaRPr lang="en-US" altLang="zh-CN" sz="2000" dirty="0">
              <a:solidFill>
                <a:srgbClr val="6600FF"/>
              </a:solidFill>
              <a:latin typeface="Tahoma" panose="020B0604030504040204" pitchFamily="34" charset="0"/>
              <a:ea typeface="宋体" panose="02010600030101010101" pitchFamily="2" charset="-122"/>
            </a:endParaRPr>
          </a:p>
          <a:p>
            <a:pPr>
              <a:lnSpc>
                <a:spcPct val="80000"/>
              </a:lnSpc>
            </a:pPr>
            <a:r>
              <a:rPr lang="en-US" altLang="zh-CN" sz="2000" dirty="0">
                <a:solidFill>
                  <a:srgbClr val="6600FF"/>
                </a:solidFill>
                <a:latin typeface="Tahoma" panose="020B0604030504040204" pitchFamily="34" charset="0"/>
                <a:ea typeface="宋体" panose="02010600030101010101" pitchFamily="2" charset="-122"/>
              </a:rPr>
              <a:t>b4</a:t>
            </a:r>
            <a:endParaRPr lang="en-US" altLang="zh-CN" sz="2000" dirty="0">
              <a:solidFill>
                <a:srgbClr val="6600FF"/>
              </a:solidFill>
              <a:latin typeface="Tahoma" panose="020B0604030504040204" pitchFamily="34" charset="0"/>
              <a:ea typeface="宋体" panose="02010600030101010101" pitchFamily="2" charset="-122"/>
            </a:endParaRPr>
          </a:p>
        </p:txBody>
      </p:sp>
      <p:sp>
        <p:nvSpPr>
          <p:cNvPr id="108551" name="AutoShape 12"/>
          <p:cNvSpPr/>
          <p:nvPr/>
        </p:nvSpPr>
        <p:spPr>
          <a:xfrm>
            <a:off x="190500" y="1016000"/>
            <a:ext cx="1770063" cy="1146175"/>
          </a:xfrm>
          <a:prstGeom prst="wedgeRectCallout">
            <a:avLst>
              <a:gd name="adj1" fmla="val 63185"/>
              <a:gd name="adj2" fmla="val 128532"/>
            </a:avLst>
          </a:prstGeom>
          <a:noFill/>
          <a:ln w="9525" cap="flat" cmpd="sng">
            <a:solidFill>
              <a:schemeClr val="tx1"/>
            </a:solidFill>
            <a:prstDash val="solid"/>
            <a:miter/>
            <a:headEnd type="none" w="med" len="med"/>
            <a:tailEnd type="none" w="med" len="med"/>
          </a:ln>
        </p:spPr>
        <p:txBody>
          <a:bodyPr anchor="t" anchorCtr="0"/>
          <a:p>
            <a:pPr eaLnBrk="0" hangingPunct="0"/>
            <a:r>
              <a:rPr lang="zh-CN" altLang="en-US" sz="2000" dirty="0">
                <a:solidFill>
                  <a:schemeClr val="tx1"/>
                </a:solidFill>
                <a:latin typeface="Tahoma" panose="020B0604030504040204" pitchFamily="34" charset="0"/>
                <a:ea typeface="宋体" panose="02010600030101010101" pitchFamily="2" charset="-122"/>
              </a:rPr>
              <a:t>斜线进位</a:t>
            </a:r>
            <a:endParaRPr lang="zh-CN" altLang="en-US" sz="2000" dirty="0">
              <a:solidFill>
                <a:schemeClr val="tx1"/>
              </a:solidFill>
              <a:latin typeface="Tahoma" panose="020B0604030504040204" pitchFamily="34" charset="0"/>
              <a:ea typeface="宋体" panose="02010600030101010101" pitchFamily="2" charset="-122"/>
            </a:endParaRPr>
          </a:p>
          <a:p>
            <a:pPr eaLnBrk="0" hangingPunct="0"/>
            <a:r>
              <a:rPr lang="zh-CN" altLang="en-US" sz="2000" dirty="0">
                <a:solidFill>
                  <a:schemeClr val="tx1"/>
                </a:solidFill>
                <a:latin typeface="Tahoma" panose="020B0604030504040204" pitchFamily="34" charset="0"/>
                <a:ea typeface="宋体" panose="02010600030101010101" pitchFamily="2" charset="-122"/>
              </a:rPr>
              <a:t>垂直线水平线进位和</a:t>
            </a:r>
            <a:endParaRPr lang="zh-CN" altLang="en-US" sz="2000" dirty="0">
              <a:solidFill>
                <a:schemeClr val="tx1"/>
              </a:solidFill>
              <a:latin typeface="Tahoma" panose="020B060403050404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17095"/>
                                        </p:tgtEl>
                                        <p:attrNameLst>
                                          <p:attrName>style.visibility</p:attrName>
                                        </p:attrNameLst>
                                      </p:cBhvr>
                                      <p:to>
                                        <p:strVal val="visible"/>
                                      </p:to>
                                    </p:set>
                                    <p:animEffect transition="in" filter="wipe(left)">
                                      <p:cBhvr>
                                        <p:cTn id="7" dur="500"/>
                                        <p:tgtEl>
                                          <p:spTgt spid="2170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059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4.5 </a:t>
            </a:r>
            <a:r>
              <a:rPr lang="zh-CN" altLang="en-US" dirty="0">
                <a:latin typeface="Times New Roman" panose="02020603050405020304" pitchFamily="18" charset="0"/>
              </a:rPr>
              <a:t>定点除法运算</a:t>
            </a:r>
            <a:endParaRPr lang="zh-CN" altLang="en-US" dirty="0">
              <a:latin typeface="Times New Roman" panose="02020603050405020304" pitchFamily="18" charset="0"/>
            </a:endParaRPr>
          </a:p>
        </p:txBody>
      </p:sp>
      <p:sp>
        <p:nvSpPr>
          <p:cNvPr id="110594" name="内容占位符 2"/>
          <p:cNvSpPr>
            <a:spLocks noGrp="1"/>
          </p:cNvSpPr>
          <p:nvPr>
            <p:ph idx="1"/>
          </p:nvPr>
        </p:nvSpPr>
        <p:spPr>
          <a:xfrm>
            <a:off x="457200" y="1417638"/>
            <a:ext cx="8229600" cy="5032375"/>
          </a:xfrm>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原码比较法和恢复余数法</a:t>
            </a:r>
            <a:endParaRPr lang="zh-CN" altLang="en-US" dirty="0">
              <a:latin typeface="Times New Roman" panose="02020603050405020304" pitchFamily="18" charset="0"/>
            </a:endParaRPr>
          </a:p>
          <a:p>
            <a:pPr>
              <a:spcBef>
                <a:spcPts val="1200"/>
              </a:spcBef>
            </a:pPr>
            <a:r>
              <a:rPr lang="zh-CN" altLang="en-US" dirty="0">
                <a:latin typeface="Times New Roman" panose="02020603050405020304" pitchFamily="18" charset="0"/>
              </a:rPr>
              <a:t>⑴比较法</a:t>
            </a:r>
            <a:endParaRPr lang="zh-CN" altLang="en-US"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比较法类似于手工运算；</a:t>
            </a:r>
            <a:endParaRPr lang="zh-CN" altLang="en-US" sz="2400" dirty="0">
              <a:latin typeface="Times New Roman" panose="02020603050405020304" pitchFamily="18" charset="0"/>
            </a:endParaRPr>
          </a:p>
          <a:p>
            <a:pPr lvl="1">
              <a:spcBef>
                <a:spcPts val="1200"/>
              </a:spcBef>
            </a:pPr>
            <a:r>
              <a:rPr lang="zh-CN" altLang="en-US" sz="2400" dirty="0">
                <a:solidFill>
                  <a:srgbClr val="FF0000"/>
                </a:solidFill>
                <a:latin typeface="Times New Roman" panose="02020603050405020304" pitchFamily="18" charset="0"/>
              </a:rPr>
              <a:t>将除数右移改为部分余数左移</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每一位的上商直接写到寄存器的最低位。</a:t>
            </a:r>
            <a:endParaRPr lang="en-US" altLang="zh-CN" sz="2400" dirty="0">
              <a:latin typeface="Times New Roman" panose="02020603050405020304" pitchFamily="18" charset="0"/>
            </a:endParaRPr>
          </a:p>
          <a:p>
            <a:pPr lvl="2" latinLnBrk="0">
              <a:spcBef>
                <a:spcPts val="600"/>
              </a:spcBef>
            </a:pPr>
            <a:r>
              <a:rPr lang="zh-CN" altLang="en-US" sz="2000" dirty="0">
                <a:latin typeface="Times New Roman" panose="02020603050405020304" pitchFamily="18" charset="0"/>
              </a:rPr>
              <a:t>设</a:t>
            </a:r>
            <a:r>
              <a:rPr lang="en-US" altLang="zh-CN" sz="2000" dirty="0">
                <a:latin typeface="Times New Roman" panose="02020603050405020304" pitchFamily="18" charset="0"/>
              </a:rPr>
              <a:t>A</a:t>
            </a:r>
            <a:r>
              <a:rPr lang="zh-CN" altLang="en-US" sz="2000" dirty="0">
                <a:latin typeface="Times New Roman" panose="02020603050405020304" pitchFamily="18" charset="0"/>
              </a:rPr>
              <a:t>中存放被除数（或部分余数）；</a:t>
            </a:r>
            <a:endParaRPr lang="zh-CN" altLang="en-US" sz="2000" dirty="0">
              <a:latin typeface="Times New Roman" panose="02020603050405020304" pitchFamily="18" charset="0"/>
            </a:endParaRPr>
          </a:p>
          <a:p>
            <a:pPr lvl="2" latinLnBrk="0">
              <a:spcBef>
                <a:spcPts val="600"/>
              </a:spcBef>
            </a:pPr>
            <a:r>
              <a:rPr lang="en-US" altLang="zh-CN" sz="2000" dirty="0">
                <a:latin typeface="Times New Roman" panose="02020603050405020304" pitchFamily="18" charset="0"/>
              </a:rPr>
              <a:t>B</a:t>
            </a:r>
            <a:r>
              <a:rPr lang="zh-CN" altLang="en-US" sz="2000" dirty="0">
                <a:latin typeface="Times New Roman" panose="02020603050405020304" pitchFamily="18" charset="0"/>
              </a:rPr>
              <a:t>中存放除数，</a:t>
            </a:r>
            <a:r>
              <a:rPr lang="en-US" altLang="zh-CN" sz="2000" dirty="0">
                <a:latin typeface="Times New Roman" panose="02020603050405020304" pitchFamily="18" charset="0"/>
              </a:rPr>
              <a:t>C </a:t>
            </a:r>
            <a:r>
              <a:rPr lang="zh-CN" altLang="en-US" sz="2000" dirty="0">
                <a:latin typeface="Times New Roman" panose="02020603050405020304" pitchFamily="18" charset="0"/>
              </a:rPr>
              <a:t>寄存器用来存放商</a:t>
            </a:r>
            <a:r>
              <a:rPr lang="en-US" altLang="zh-CN" sz="2000" dirty="0">
                <a:latin typeface="Times New Roman" panose="02020603050405020304" pitchFamily="18" charset="0"/>
              </a:rPr>
              <a:t>Q</a:t>
            </a:r>
            <a:r>
              <a:rPr lang="zh-CN" altLang="en-US" sz="2000" dirty="0">
                <a:latin typeface="Times New Roman" panose="02020603050405020304" pitchFamily="18" charset="0"/>
              </a:rPr>
              <a:t>；</a:t>
            </a:r>
            <a:endParaRPr lang="zh-CN" altLang="en-US" sz="2000" dirty="0">
              <a:latin typeface="Times New Roman" panose="02020603050405020304" pitchFamily="18" charset="0"/>
            </a:endParaRPr>
          </a:p>
          <a:p>
            <a:pPr lvl="2" latinLnBrk="0">
              <a:spcBef>
                <a:spcPts val="600"/>
              </a:spcBef>
            </a:pPr>
            <a:r>
              <a:rPr lang="zh-CN" altLang="en-US" sz="2000" dirty="0">
                <a:latin typeface="Times New Roman" panose="02020603050405020304" pitchFamily="18" charset="0"/>
              </a:rPr>
              <a:t>若</a:t>
            </a:r>
            <a:r>
              <a:rPr lang="en-US" altLang="zh-CN" sz="2000" dirty="0">
                <a:latin typeface="Times New Roman" panose="02020603050405020304" pitchFamily="18" charset="0"/>
              </a:rPr>
              <a:t>A≥B</a:t>
            </a:r>
            <a:r>
              <a:rPr lang="zh-CN" altLang="en-US" sz="2000" dirty="0">
                <a:latin typeface="Times New Roman" panose="02020603050405020304" pitchFamily="18" charset="0"/>
              </a:rPr>
              <a:t>，则上商</a:t>
            </a:r>
            <a:r>
              <a:rPr lang="en-US" altLang="zh-CN" sz="2000" dirty="0">
                <a:latin typeface="Times New Roman" panose="02020603050405020304" pitchFamily="18" charset="0"/>
              </a:rPr>
              <a:t>1</a:t>
            </a:r>
            <a:r>
              <a:rPr lang="zh-CN" altLang="en-US" sz="2000" dirty="0">
                <a:latin typeface="Times New Roman" panose="02020603050405020304" pitchFamily="18" charset="0"/>
              </a:rPr>
              <a:t>，减除数；若</a:t>
            </a:r>
            <a:r>
              <a:rPr lang="en-US" altLang="zh-CN" sz="2000" dirty="0">
                <a:latin typeface="Times New Roman" panose="02020603050405020304" pitchFamily="18" charset="0"/>
              </a:rPr>
              <a:t>A&lt;B</a:t>
            </a:r>
            <a:r>
              <a:rPr lang="zh-CN" altLang="en-US" sz="2000" dirty="0">
                <a:latin typeface="Times New Roman" panose="02020603050405020304" pitchFamily="18" charset="0"/>
              </a:rPr>
              <a:t>，则上商</a:t>
            </a:r>
            <a:r>
              <a:rPr lang="en-US" altLang="zh-CN" sz="2000" dirty="0">
                <a:latin typeface="Times New Roman" panose="02020603050405020304" pitchFamily="18" charset="0"/>
              </a:rPr>
              <a:t>0</a:t>
            </a:r>
            <a:r>
              <a:rPr lang="zh-CN" altLang="en-US" sz="2000" dirty="0">
                <a:latin typeface="Times New Roman" panose="02020603050405020304" pitchFamily="18" charset="0"/>
              </a:rPr>
              <a:t>。</a:t>
            </a:r>
            <a:endParaRPr lang="en-US" altLang="zh-CN" sz="2000" dirty="0">
              <a:latin typeface="Times New Roman" panose="02020603050405020304" pitchFamily="18" charset="0"/>
            </a:endParaRPr>
          </a:p>
          <a:p>
            <a:pPr lvl="1">
              <a:spcBef>
                <a:spcPts val="1200"/>
              </a:spcBef>
            </a:pPr>
            <a:r>
              <a:rPr lang="zh-CN" altLang="en-US" sz="2400" dirty="0">
                <a:solidFill>
                  <a:srgbClr val="FF0000"/>
                </a:solidFill>
                <a:latin typeface="Times New Roman" panose="02020603050405020304" pitchFamily="18" charset="0"/>
              </a:rPr>
              <a:t>需要设置比较线路，增加了硬件的代价</a:t>
            </a:r>
            <a:r>
              <a:rPr lang="zh-CN" altLang="en-US" sz="2400"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pic>
        <p:nvPicPr>
          <p:cNvPr id="2" name="图片 1"/>
          <p:cNvPicPr>
            <a:picLocks noChangeAspect="1"/>
          </p:cNvPicPr>
          <p:nvPr/>
        </p:nvPicPr>
        <p:blipFill>
          <a:blip r:embed="rId1"/>
          <a:stretch>
            <a:fillRect/>
          </a:stretch>
        </p:blipFill>
        <p:spPr>
          <a:xfrm>
            <a:off x="5436235" y="1268730"/>
            <a:ext cx="3355340" cy="2206625"/>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161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4.5.1 </a:t>
            </a:r>
            <a:r>
              <a:rPr lang="zh-CN" altLang="en-US" dirty="0">
                <a:latin typeface="Times New Roman" panose="02020603050405020304" pitchFamily="18" charset="0"/>
              </a:rPr>
              <a:t>原码除法运算</a:t>
            </a:r>
            <a:endParaRPr lang="zh-CN" altLang="en-US" dirty="0">
              <a:latin typeface="Times New Roman" panose="02020603050405020304" pitchFamily="18" charset="0"/>
            </a:endParaRPr>
          </a:p>
        </p:txBody>
      </p:sp>
      <p:graphicFrame>
        <p:nvGraphicFramePr>
          <p:cNvPr id="111618" name="Object 4"/>
          <p:cNvGraphicFramePr>
            <a:graphicFrameLocks noChangeAspect="1"/>
          </p:cNvGraphicFramePr>
          <p:nvPr/>
        </p:nvGraphicFramePr>
        <p:xfrm>
          <a:off x="417513" y="1749425"/>
          <a:ext cx="5867400" cy="2692400"/>
        </p:xfrm>
        <a:graphic>
          <a:graphicData uri="http://schemas.openxmlformats.org/presentationml/2006/ole">
            <mc:AlternateContent xmlns:mc="http://schemas.openxmlformats.org/markup-compatibility/2006">
              <mc:Choice xmlns:v="urn:schemas-microsoft-com:vml" Requires="v">
                <p:oleObj spid="_x0000_s3081" name="" r:id="rId1" imgW="2437130" imgH="1119505" progId="Visio.Drawing.6">
                  <p:embed/>
                </p:oleObj>
              </mc:Choice>
              <mc:Fallback>
                <p:oleObj name="" r:id="rId1" imgW="2437130" imgH="1119505" progId="Visio.Drawing.6">
                  <p:embed/>
                  <p:pic>
                    <p:nvPicPr>
                      <p:cNvPr id="0" name="图片 3080"/>
                      <p:cNvPicPr/>
                      <p:nvPr/>
                    </p:nvPicPr>
                    <p:blipFill>
                      <a:blip r:embed="rId2"/>
                      <a:stretch>
                        <a:fillRect/>
                      </a:stretch>
                    </p:blipFill>
                    <p:spPr>
                      <a:xfrm>
                        <a:off x="417513" y="1749425"/>
                        <a:ext cx="5867400" cy="2692400"/>
                      </a:xfrm>
                      <a:prstGeom prst="rect">
                        <a:avLst/>
                      </a:prstGeom>
                      <a:noFill/>
                      <a:ln w="38100">
                        <a:noFill/>
                        <a:miter/>
                      </a:ln>
                    </p:spPr>
                  </p:pic>
                </p:oleObj>
              </mc:Fallback>
            </mc:AlternateContent>
          </a:graphicData>
        </a:graphic>
      </p:graphicFrame>
      <p:sp>
        <p:nvSpPr>
          <p:cNvPr id="111619" name="Rectangle 5"/>
          <p:cNvSpPr>
            <a:spLocks noGrp="1"/>
          </p:cNvSpPr>
          <p:nvPr>
            <p:ph idx="1"/>
          </p:nvPr>
        </p:nvSpPr>
        <p:spPr>
          <a:xfrm>
            <a:off x="422275" y="4797425"/>
            <a:ext cx="6272213" cy="762000"/>
          </a:xfrm>
          <a:noFill/>
          <a:ln>
            <a:noFill/>
          </a:ln>
        </p:spPr>
        <p:txBody>
          <a:bodyPr anchor="t" anchorCtr="0"/>
          <a:p>
            <a:pPr algn="ctr" eaLnBrk="1" hangingPunct="1">
              <a:buFontTx/>
              <a:buNone/>
            </a:pPr>
            <a:r>
              <a:rPr lang="zh-CN" altLang="en-US" sz="2400" dirty="0">
                <a:latin typeface="Times New Roman" panose="02020603050405020304" pitchFamily="18" charset="0"/>
              </a:rPr>
              <a:t>图4-16(</a:t>
            </a:r>
            <a:r>
              <a:rPr lang="en-US" altLang="zh-CN" sz="2400" dirty="0">
                <a:latin typeface="Times New Roman" panose="02020603050405020304" pitchFamily="18" charset="0"/>
              </a:rPr>
              <a:t>a)  </a:t>
            </a:r>
            <a:r>
              <a:rPr lang="zh-CN" altLang="en-US" sz="2400" dirty="0">
                <a:latin typeface="Times New Roman" panose="02020603050405020304" pitchFamily="18" charset="0"/>
              </a:rPr>
              <a:t>比较过程流程</a:t>
            </a:r>
            <a:r>
              <a:rPr lang="en-US" altLang="zh-CN" sz="2400" dirty="0">
                <a:latin typeface="Times New Roman" panose="02020603050405020304" pitchFamily="18" charset="0"/>
              </a:rPr>
              <a:t> </a:t>
            </a:r>
            <a:endParaRPr lang="en-US" altLang="zh-CN" sz="2400" dirty="0">
              <a:latin typeface="Times New Roman" panose="02020603050405020304" pitchFamily="18" charset="0"/>
            </a:endParaRPr>
          </a:p>
        </p:txBody>
      </p:sp>
      <p:sp>
        <p:nvSpPr>
          <p:cNvPr id="111620" name="文本框 1"/>
          <p:cNvSpPr txBox="1"/>
          <p:nvPr/>
        </p:nvSpPr>
        <p:spPr>
          <a:xfrm>
            <a:off x="6472238" y="1749425"/>
            <a:ext cx="2339975" cy="3938588"/>
          </a:xfrm>
          <a:prstGeom prst="rect">
            <a:avLst/>
          </a:prstGeom>
          <a:noFill/>
          <a:ln w="9525">
            <a:noFill/>
          </a:ln>
        </p:spPr>
        <p:txBody>
          <a:bodyPr wrap="square" anchor="t">
            <a:spAutoFit/>
          </a:bodyPr>
          <a:p>
            <a:pPr eaLnBrk="0" hangingPunct="0"/>
            <a:r>
              <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A/B</a:t>
            </a:r>
            <a:r>
              <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eaLnBrk="0" hangingPunct="0"/>
            <a:endPar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spcBef>
                <a:spcPts val="1200"/>
              </a:spcBef>
              <a:buFont typeface="Wingdings" panose="05000000000000000000" charset="0"/>
              <a:buChar char="u"/>
            </a:pPr>
            <a:r>
              <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a:t>
            </a:r>
            <a:r>
              <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中存放被除数（部分余数）；</a:t>
            </a:r>
            <a:endPar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spcBef>
                <a:spcPts val="1200"/>
              </a:spcBef>
              <a:buFont typeface="Wingdings" panose="05000000000000000000" charset="0"/>
              <a:buChar char="u"/>
            </a:pPr>
            <a:r>
              <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B</a:t>
            </a:r>
            <a:r>
              <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中存放除数；</a:t>
            </a:r>
            <a:endPar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spcBef>
                <a:spcPts val="1200"/>
              </a:spcBef>
              <a:buFont typeface="Wingdings" panose="05000000000000000000" charset="0"/>
              <a:buChar char="u"/>
            </a:pPr>
            <a:r>
              <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C</a:t>
            </a:r>
            <a:r>
              <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中存放商。</a:t>
            </a:r>
            <a:endPar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eaLnBrk="0" hangingPunct="0"/>
            <a:endPar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buFont typeface="Wingdings" panose="05000000000000000000" charset="0"/>
              <a:buChar char="u"/>
            </a:pPr>
            <a:r>
              <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根据比较的结果决定商</a:t>
            </a:r>
            <a:r>
              <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1</a:t>
            </a:r>
            <a:r>
              <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或商</a:t>
            </a:r>
            <a:r>
              <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0</a:t>
            </a:r>
            <a:r>
              <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a:t>
            </a:r>
            <a:endPar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endParaRPr lang="en-US" altLang="zh-CN"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a:p>
            <a:pPr marL="342900" indent="-342900" eaLnBrk="0" hangingPunct="0">
              <a:buFont typeface="Wingdings" panose="05000000000000000000" charset="0"/>
              <a:buChar char="u"/>
            </a:pPr>
            <a:r>
              <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rPr>
              <a:t>需要比较电路</a:t>
            </a:r>
            <a:endParaRPr lang="zh-CN" altLang="en-US" sz="2000" noProof="1" dirty="0">
              <a:solidFill>
                <a:srgbClr val="0000FF"/>
              </a:solidFill>
              <a:latin typeface="Times New Roman" panose="02020603050405020304" pitchFamily="18" charset="0"/>
              <a:ea typeface="宋体" panose="02010600030101010101" pitchFamily="2" charset="-122"/>
              <a:cs typeface="Times New Roman" panose="02020603050405020304" pitchFamily="18" charset="0"/>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4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恢复余数法</a:t>
            </a:r>
            <a:endParaRPr lang="zh-CN" altLang="en-US" dirty="0">
              <a:latin typeface="Times New Roman" panose="02020603050405020304" pitchFamily="18" charset="0"/>
              <a:ea typeface="Times New Roman" panose="02020603050405020304" pitchFamily="18" charset="0"/>
            </a:endParaRPr>
          </a:p>
        </p:txBody>
      </p:sp>
      <p:sp>
        <p:nvSpPr>
          <p:cNvPr id="11264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⑵恢复余数法</a:t>
            </a:r>
            <a:endParaRPr lang="zh-CN" altLang="en-US" dirty="0">
              <a:latin typeface="Times New Roman" panose="02020603050405020304" pitchFamily="18" charset="0"/>
            </a:endParaRPr>
          </a:p>
          <a:p>
            <a:pPr lvl="1">
              <a:spcBef>
                <a:spcPts val="1200"/>
              </a:spcBef>
            </a:pPr>
            <a:r>
              <a:rPr lang="zh-CN" altLang="en-US" dirty="0">
                <a:solidFill>
                  <a:srgbClr val="FF0000"/>
                </a:solidFill>
                <a:latin typeface="Times New Roman" panose="02020603050405020304" pitchFamily="18" charset="0"/>
              </a:rPr>
              <a:t>直接作减法</a:t>
            </a:r>
            <a:r>
              <a:rPr lang="zh-CN" altLang="en-US" dirty="0">
                <a:latin typeface="Times New Roman" panose="02020603050405020304" pitchFamily="18" charset="0"/>
              </a:rPr>
              <a:t>试探；</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不管是否够减，都一律先做减法。</a:t>
            </a:r>
            <a:endParaRPr lang="en-US" altLang="zh-CN" dirty="0">
              <a:latin typeface="Times New Roman" panose="02020603050405020304" pitchFamily="18" charset="0"/>
            </a:endParaRPr>
          </a:p>
          <a:p>
            <a:pPr lvl="2">
              <a:spcBef>
                <a:spcPts val="1200"/>
              </a:spcBef>
            </a:pPr>
            <a:r>
              <a:rPr lang="zh-CN" altLang="en-US" dirty="0">
                <a:latin typeface="Times New Roman" panose="02020603050405020304" pitchFamily="18" charset="0"/>
              </a:rPr>
              <a:t>若部分余数为正，表示够减，该位商上“</a:t>
            </a:r>
            <a:r>
              <a:rPr lang="en-US" altLang="zh-CN" dirty="0">
                <a:latin typeface="Times New Roman" panose="02020603050405020304" pitchFamily="18" charset="0"/>
              </a:rPr>
              <a:t>1”</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若部分余数为负，表示不够减，该位商上“</a:t>
            </a:r>
            <a:r>
              <a:rPr lang="en-US" altLang="zh-CN" dirty="0">
                <a:latin typeface="Times New Roman" panose="02020603050405020304" pitchFamily="18" charset="0"/>
              </a:rPr>
              <a:t>0”</a:t>
            </a:r>
            <a:endParaRPr lang="en-US" altLang="zh-CN" dirty="0">
              <a:latin typeface="Times New Roman" panose="02020603050405020304" pitchFamily="18" charset="0"/>
            </a:endParaRPr>
          </a:p>
          <a:p>
            <a:pPr lvl="2">
              <a:spcBef>
                <a:spcPts val="1200"/>
              </a:spcBef>
            </a:pPr>
            <a:r>
              <a:rPr lang="zh-CN" altLang="en-US" dirty="0">
                <a:latin typeface="Times New Roman" panose="02020603050405020304" pitchFamily="18" charset="0"/>
              </a:rPr>
              <a:t>不够减时，要恢复余数。</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366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恢复余数过程的流程图</a:t>
            </a:r>
            <a:endParaRPr lang="zh-CN" altLang="en-US" dirty="0">
              <a:latin typeface="Times New Roman" panose="02020603050405020304" pitchFamily="18" charset="0"/>
            </a:endParaRPr>
          </a:p>
        </p:txBody>
      </p:sp>
      <p:graphicFrame>
        <p:nvGraphicFramePr>
          <p:cNvPr id="113666" name="Object 4"/>
          <p:cNvGraphicFramePr>
            <a:graphicFrameLocks noChangeAspect="1"/>
          </p:cNvGraphicFramePr>
          <p:nvPr/>
        </p:nvGraphicFramePr>
        <p:xfrm>
          <a:off x="457200" y="1268413"/>
          <a:ext cx="5967413" cy="3600450"/>
        </p:xfrm>
        <a:graphic>
          <a:graphicData uri="http://schemas.openxmlformats.org/presentationml/2006/ole">
            <mc:AlternateContent xmlns:mc="http://schemas.openxmlformats.org/markup-compatibility/2006">
              <mc:Choice xmlns:v="urn:schemas-microsoft-com:vml" Requires="v">
                <p:oleObj spid="_x0000_s3082" name="" r:id="rId1" imgW="2437130" imgH="1471930" progId="Visio.Drawing.6">
                  <p:embed/>
                </p:oleObj>
              </mc:Choice>
              <mc:Fallback>
                <p:oleObj name="" r:id="rId1" imgW="2437130" imgH="1471930" progId="Visio.Drawing.6">
                  <p:embed/>
                  <p:pic>
                    <p:nvPicPr>
                      <p:cNvPr id="0" name="图片 3081"/>
                      <p:cNvPicPr/>
                      <p:nvPr/>
                    </p:nvPicPr>
                    <p:blipFill>
                      <a:blip r:embed="rId2"/>
                      <a:stretch>
                        <a:fillRect/>
                      </a:stretch>
                    </p:blipFill>
                    <p:spPr>
                      <a:xfrm>
                        <a:off x="457200" y="1268413"/>
                        <a:ext cx="5967413" cy="3600450"/>
                      </a:xfrm>
                      <a:prstGeom prst="rect">
                        <a:avLst/>
                      </a:prstGeom>
                      <a:noFill/>
                      <a:ln w="38100">
                        <a:noFill/>
                        <a:miter/>
                      </a:ln>
                    </p:spPr>
                  </p:pic>
                </p:oleObj>
              </mc:Fallback>
            </mc:AlternateContent>
          </a:graphicData>
        </a:graphic>
      </p:graphicFrame>
      <p:sp>
        <p:nvSpPr>
          <p:cNvPr id="113667" name="Rectangle 5"/>
          <p:cNvSpPr>
            <a:spLocks noGrp="1"/>
          </p:cNvSpPr>
          <p:nvPr>
            <p:ph idx="1"/>
          </p:nvPr>
        </p:nvSpPr>
        <p:spPr>
          <a:xfrm>
            <a:off x="323850" y="5084763"/>
            <a:ext cx="6100763" cy="533400"/>
          </a:xfrm>
          <a:noFill/>
          <a:ln>
            <a:noFill/>
          </a:ln>
        </p:spPr>
        <p:txBody>
          <a:bodyPr anchor="t" anchorCtr="0"/>
          <a:p>
            <a:pPr algn="ctr" eaLnBrk="1" hangingPunct="1">
              <a:buFontTx/>
              <a:buNone/>
            </a:pPr>
            <a:r>
              <a:rPr lang="zh-CN" altLang="en-US" sz="2400" dirty="0">
                <a:latin typeface="Times New Roman" panose="02020603050405020304" pitchFamily="18" charset="0"/>
              </a:rPr>
              <a:t>图4-16(</a:t>
            </a:r>
            <a:r>
              <a:rPr lang="en-US" altLang="zh-CN" sz="2400" dirty="0">
                <a:latin typeface="Times New Roman" panose="02020603050405020304" pitchFamily="18" charset="0"/>
              </a:rPr>
              <a:t>b)  </a:t>
            </a:r>
            <a:r>
              <a:rPr lang="zh-CN" altLang="en-US" sz="2400" dirty="0">
                <a:latin typeface="Times New Roman" panose="02020603050405020304" pitchFamily="18" charset="0"/>
              </a:rPr>
              <a:t>恢复余数过程流程</a:t>
            </a:r>
            <a:endParaRPr lang="zh-CN" altLang="en-US" sz="2400" dirty="0">
              <a:latin typeface="Times New Roman" panose="02020603050405020304" pitchFamily="18" charset="0"/>
            </a:endParaRPr>
          </a:p>
        </p:txBody>
      </p:sp>
      <p:sp>
        <p:nvSpPr>
          <p:cNvPr id="113668" name="矩形 5"/>
          <p:cNvSpPr/>
          <p:nvPr/>
        </p:nvSpPr>
        <p:spPr>
          <a:xfrm>
            <a:off x="6424613" y="1441450"/>
            <a:ext cx="2436812" cy="4246563"/>
          </a:xfrm>
          <a:prstGeom prst="rect">
            <a:avLst/>
          </a:prstGeom>
          <a:noFill/>
          <a:ln w="9525">
            <a:noFill/>
          </a:ln>
        </p:spPr>
        <p:txBody>
          <a:bodyPr wrap="square" anchor="t" anchorCtr="0">
            <a:spAutoFit/>
          </a:bodyPr>
          <a:p>
            <a:pPr marL="285750" indent="-285750" algn="just">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由于部分余数的正、负是根据不同的操作数组合随机出现的，恢复除数法会使得除法运算的</a:t>
            </a:r>
            <a:r>
              <a:rPr lang="zh-CN" altLang="en-US" b="1" dirty="0">
                <a:solidFill>
                  <a:srgbClr val="FF0000"/>
                </a:solidFill>
                <a:latin typeface="Times New Roman" panose="02020603050405020304" pitchFamily="18" charset="0"/>
                <a:ea typeface="宋体" panose="02010600030101010101" pitchFamily="2" charset="-122"/>
              </a:rPr>
              <a:t>实际操作次数不固定，从而导致控制电路比较复杂</a:t>
            </a:r>
            <a:r>
              <a:rPr lang="zh-CN" altLang="en-US" dirty="0">
                <a:solidFill>
                  <a:srgbClr val="0000FF"/>
                </a:solidFill>
                <a:latin typeface="Times New Roman" panose="02020603050405020304" pitchFamily="18" charset="0"/>
                <a:ea typeface="宋体" panose="02010600030101010101" pitchFamily="2" charset="-122"/>
              </a:rPr>
              <a:t>。</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algn="just">
              <a:buFont typeface="Wingdings" panose="05000000000000000000" charset="0"/>
              <a:buChar char="u"/>
            </a:pP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algn="just">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在恢复余数时，要多作一次加法，降低了除法的执行速度。因此，原码恢复余数法在计算机中一般</a:t>
            </a:r>
            <a:r>
              <a:rPr lang="zh-CN" altLang="en-US" b="1" dirty="0">
                <a:solidFill>
                  <a:srgbClr val="FF0000"/>
                </a:solidFill>
                <a:latin typeface="Times New Roman" panose="02020603050405020304" pitchFamily="18" charset="0"/>
                <a:ea typeface="宋体" panose="02010600030101010101" pitchFamily="2" charset="-122"/>
              </a:rPr>
              <a:t>很少采用</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468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原码不恢复余数法（原码加减交替法）</a:t>
            </a:r>
            <a:endParaRPr lang="zh-CN" altLang="en-US" dirty="0">
              <a:latin typeface="Times New Roman" panose="02020603050405020304" pitchFamily="18" charset="0"/>
              <a:ea typeface="Times New Roman" panose="02020603050405020304" pitchFamily="18" charset="0"/>
            </a:endParaRPr>
          </a:p>
        </p:txBody>
      </p:sp>
      <p:sp>
        <p:nvSpPr>
          <p:cNvPr id="125955" name="内容占位符 2"/>
          <p:cNvSpPr>
            <a:spLocks noGrp="1"/>
          </p:cNvSpPr>
          <p:nvPr>
            <p:ph idx="1"/>
          </p:nvPr>
        </p:nvSpPr>
        <p:spPr bwMode="auto">
          <a:xfrm>
            <a:off x="457200" y="1417638"/>
            <a:ext cx="8229600" cy="4964113"/>
          </a:xfr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不恢复余数法</a:t>
            </a:r>
            <a:r>
              <a:rPr kumimoji="0" lang="zh-CN" altLang="en-US" sz="2800" b="1"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运算次数固定</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，被广泛采用。</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defRPr/>
            </a:pPr>
            <a:r>
              <a:rPr kumimoji="0" lang="en-US" altLang="zh-CN" sz="2800" b="1" i="0" u="none" strike="noStrike" kern="0" cap="none" spc="0" normalizeH="0" baseline="0" noProof="0" dirty="0" err="1">
                <a:ln>
                  <a:noFill/>
                </a:ln>
                <a:solidFill>
                  <a:schemeClr val="hlink"/>
                </a:solidFill>
                <a:effectLst/>
                <a:uLnTx/>
                <a:uFillTx/>
                <a:latin typeface="Times New Roman" panose="02020603050405020304" pitchFamily="18" charset="0"/>
                <a:ea typeface="+mn-ea"/>
                <a:cs typeface="Times New Roman" panose="02020603050405020304" pitchFamily="18" charset="0"/>
                <a:sym typeface="+mn-ea"/>
              </a:rPr>
              <a:t>若第i-1次求商部分余数为r</a:t>
            </a:r>
            <a:r>
              <a:rPr kumimoji="0" lang="en-US" altLang="zh-CN" sz="2800" b="1" i="0" u="none" strike="noStrike" kern="0" cap="none" spc="0" normalizeH="0" baseline="-25000" noProof="0" dirty="0" err="1">
                <a:ln>
                  <a:noFill/>
                </a:ln>
                <a:solidFill>
                  <a:schemeClr val="hlink"/>
                </a:solidFill>
                <a:effectLst/>
                <a:uLnTx/>
                <a:uFillTx/>
                <a:latin typeface="Times New Roman" panose="02020603050405020304" pitchFamily="18" charset="0"/>
                <a:ea typeface="+mn-ea"/>
                <a:cs typeface="Times New Roman" panose="02020603050405020304" pitchFamily="18" charset="0"/>
                <a:sym typeface="+mn-ea"/>
              </a:rPr>
              <a:t>i-1</a:t>
            </a:r>
            <a:r>
              <a:rPr kumimoji="0" lang="en-US" altLang="zh-CN" sz="2800" b="1" i="0" u="none" strike="noStrike" kern="0" cap="none" spc="0" normalizeH="0" baseline="0" noProof="0" dirty="0" err="1">
                <a:ln>
                  <a:noFill/>
                </a:ln>
                <a:solidFill>
                  <a:schemeClr val="hlink"/>
                </a:solidFill>
                <a:effectLst/>
                <a:uLnTx/>
                <a:uFillTx/>
                <a:latin typeface="Times New Roman" panose="02020603050405020304" pitchFamily="18" charset="0"/>
                <a:ea typeface="+mn-ea"/>
                <a:cs typeface="Times New Roman" panose="02020603050405020304" pitchFamily="18" charset="0"/>
                <a:sym typeface="+mn-ea"/>
              </a:rPr>
              <a:t>，则第i次求商：</a:t>
            </a:r>
            <a:endParaRPr kumimoji="0" lang="en-US" altLang="zh-CN" sz="2800" b="1" i="0" u="none" strike="noStrike" kern="0" cap="none" spc="0" normalizeH="0" baseline="0" noProof="0" dirty="0" err="1">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r</a:t>
            </a:r>
            <a:r>
              <a:rPr kumimoji="0" lang="en-US" altLang="zh-CN" sz="28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=2r</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若够减，部分余数</a:t>
            </a:r>
            <a:r>
              <a:rPr kumimoji="0" lang="en-US" altLang="zh-CN" sz="28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r</a:t>
            </a:r>
            <a:r>
              <a:rPr kumimoji="0" lang="en-US" altLang="zh-CN" sz="28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=2r</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，商</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若不够减，部分余数</a:t>
            </a:r>
            <a:r>
              <a:rPr kumimoji="0" lang="en-US" altLang="zh-CN" sz="28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r</a:t>
            </a:r>
            <a:r>
              <a:rPr kumimoji="0" lang="en-US" altLang="zh-CN" sz="28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=2r</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，商</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0" algn="l" defTabSz="914400" rtl="0" eaLnBrk="0" fontAlgn="base" latinLnBrk="0" hangingPunct="0">
              <a:lnSpc>
                <a:spcPct val="100000"/>
              </a:lnSpc>
              <a:spcBef>
                <a:spcPts val="600"/>
              </a:spcBef>
              <a:spcAft>
                <a:spcPct val="0"/>
              </a:spcAft>
              <a:buClr>
                <a:schemeClr val="tx1"/>
              </a:buClr>
              <a:buSzTx/>
              <a:buFontTx/>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恢复余数后，</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r</a:t>
            </a:r>
            <a:r>
              <a:rPr kumimoji="0"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r</a:t>
            </a:r>
            <a:r>
              <a:rPr kumimoji="0" lang="en-US" altLang="zh-CN" sz="24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=2r</a:t>
            </a:r>
            <a:r>
              <a:rPr kumimoji="0" lang="en-US" altLang="zh-CN"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1143000" marR="0" lvl="2" indent="0" algn="l" defTabSz="914400" rtl="0" eaLnBrk="0" fontAlgn="base" latinLnBrk="0" hangingPunct="0">
              <a:lnSpc>
                <a:spcPct val="100000"/>
              </a:lnSpc>
              <a:spcBef>
                <a:spcPts val="600"/>
              </a:spcBef>
              <a:spcAft>
                <a:spcPct val="0"/>
              </a:spcAft>
              <a:buClr>
                <a:schemeClr val="tx1"/>
              </a:buClr>
              <a:buSzTx/>
              <a:buFontTx/>
              <a:buChar char="•"/>
              <a:defRPr/>
            </a:pP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左移一位，进行第</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次操作：</a:t>
            </a:r>
            <a:endPar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ts val="600"/>
              </a:spcBef>
              <a:spcAft>
                <a:spcPct val="0"/>
              </a:spcAft>
              <a:buClr>
                <a:schemeClr val="tx1"/>
              </a:buClr>
              <a:buSzTx/>
              <a:buFontTx/>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r</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i+1</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=2r</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’-Y=2(r </a:t>
            </a:r>
            <a:r>
              <a:rPr kumimoji="0" lang="en-US" altLang="zh-CN" sz="2800" b="0" i="0" u="none" strike="noStrike" kern="0" cap="none" spc="0" normalizeH="0" baseline="-2500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8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)-Y=2r</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+2Y-Y=2r</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i</a:t>
            </a:r>
            <a:r>
              <a:rPr kumimoji="0" lang="en-US" altLang="zh-CN"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+Y</a:t>
            </a:r>
            <a:endParaRPr kumimoji="0" lang="en-US" altLang="zh-CN"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673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原码不恢复余数法（续）</a:t>
            </a:r>
            <a:endParaRPr lang="zh-CN" altLang="en-US" dirty="0">
              <a:latin typeface="Times New Roman" panose="02020603050405020304" pitchFamily="18" charset="0"/>
            </a:endParaRPr>
          </a:p>
        </p:txBody>
      </p:sp>
      <p:sp>
        <p:nvSpPr>
          <p:cNvPr id="116738" name="内容占位符 2"/>
          <p:cNvSpPr>
            <a:spLocks noGrp="1"/>
          </p:cNvSpPr>
          <p:nvPr>
            <p:ph idx="1"/>
          </p:nvPr>
        </p:nvSpPr>
        <p:spPr>
          <a:xfrm>
            <a:off x="457200" y="1600200"/>
            <a:ext cx="8507413" cy="4525963"/>
          </a:xfrm>
          <a:noFill/>
          <a:ln>
            <a:noFill/>
          </a:ln>
        </p:spPr>
        <p:txBody>
          <a:bodyPr anchor="t" anchorCtr="0"/>
          <a:p>
            <a:r>
              <a:rPr lang="zh-CN" altLang="en-US" dirty="0">
                <a:latin typeface="Times New Roman" panose="02020603050405020304" pitchFamily="18" charset="0"/>
              </a:rPr>
              <a:t>原码不恢复余数除法由下面的通式表示：</a:t>
            </a:r>
            <a:endParaRPr lang="zh-CN" altLang="en-US" dirty="0">
              <a:latin typeface="Times New Roman" panose="02020603050405020304" pitchFamily="18" charset="0"/>
            </a:endParaRPr>
          </a:p>
          <a:p>
            <a:pPr lvl="1">
              <a:spcBef>
                <a:spcPts val="1800"/>
              </a:spcBef>
            </a:pPr>
            <a:r>
              <a:rPr lang="en-US" altLang="zh-CN" dirty="0">
                <a:latin typeface="Times New Roman" panose="02020603050405020304" pitchFamily="18" charset="0"/>
              </a:rPr>
              <a:t>r</a:t>
            </a:r>
            <a:r>
              <a:rPr lang="en-US" altLang="zh-CN" baseline="-25000" dirty="0">
                <a:latin typeface="Times New Roman" panose="02020603050405020304" pitchFamily="18" charset="0"/>
              </a:rPr>
              <a:t>i+1</a:t>
            </a:r>
            <a:r>
              <a:rPr lang="en-US" altLang="zh-CN" dirty="0">
                <a:latin typeface="Times New Roman" panose="02020603050405020304" pitchFamily="18" charset="0"/>
              </a:rPr>
              <a:t>=2r</a:t>
            </a:r>
            <a:r>
              <a:rPr lang="en-US" altLang="zh-CN" baseline="-25000" dirty="0">
                <a:latin typeface="Times New Roman" panose="02020603050405020304" pitchFamily="18" charset="0"/>
              </a:rPr>
              <a:t>i</a:t>
            </a:r>
            <a:r>
              <a:rPr lang="en-US" altLang="zh-CN" dirty="0">
                <a:latin typeface="Times New Roman" panose="02020603050405020304" pitchFamily="18" charset="0"/>
              </a:rPr>
              <a:t>+(1-2Q</a:t>
            </a:r>
            <a:r>
              <a:rPr lang="en-US" altLang="zh-CN" baseline="-25000" dirty="0">
                <a:latin typeface="Times New Roman" panose="02020603050405020304" pitchFamily="18" charset="0"/>
              </a:rPr>
              <a:t>i</a:t>
            </a:r>
            <a:r>
              <a:rPr lang="en-US" altLang="zh-CN" dirty="0">
                <a:latin typeface="Times New Roman" panose="02020603050405020304" pitchFamily="18" charset="0"/>
              </a:rPr>
              <a:t>)Y</a:t>
            </a:r>
            <a:endParaRPr lang="en-US" altLang="zh-CN" dirty="0">
              <a:latin typeface="Times New Roman" panose="02020603050405020304" pitchFamily="18" charset="0"/>
            </a:endParaRPr>
          </a:p>
          <a:p>
            <a:pPr lvl="1">
              <a:spcBef>
                <a:spcPts val="1800"/>
              </a:spcBef>
            </a:pPr>
            <a:r>
              <a:rPr lang="en-US" altLang="zh-CN" dirty="0">
                <a:latin typeface="Times New Roman" panose="02020603050405020304" pitchFamily="18" charset="0"/>
              </a:rPr>
              <a:t>Q</a:t>
            </a:r>
            <a:r>
              <a:rPr lang="en-US" altLang="zh-CN" baseline="-25000" dirty="0">
                <a:latin typeface="Times New Roman" panose="02020603050405020304" pitchFamily="18" charset="0"/>
              </a:rPr>
              <a:t>i</a:t>
            </a:r>
            <a:r>
              <a:rPr lang="zh-CN" altLang="en-US" dirty="0">
                <a:latin typeface="Times New Roman" panose="02020603050405020304" pitchFamily="18" charset="0"/>
              </a:rPr>
              <a:t>为第</a:t>
            </a:r>
            <a:r>
              <a:rPr lang="en-US" altLang="zh-CN" dirty="0">
                <a:latin typeface="Times New Roman" panose="02020603050405020304" pitchFamily="18" charset="0"/>
              </a:rPr>
              <a:t>i</a:t>
            </a:r>
            <a:r>
              <a:rPr lang="zh-CN" altLang="en-US" dirty="0">
                <a:latin typeface="Times New Roman" panose="02020603050405020304" pitchFamily="18" charset="0"/>
              </a:rPr>
              <a:t>次所得的商：</a:t>
            </a:r>
            <a:endParaRPr lang="zh-CN" altLang="en-US" dirty="0">
              <a:latin typeface="Times New Roman" panose="02020603050405020304" pitchFamily="18" charset="0"/>
            </a:endParaRPr>
          </a:p>
          <a:p>
            <a:pPr lvl="2">
              <a:spcBef>
                <a:spcPts val="1800"/>
              </a:spcBef>
            </a:pPr>
            <a:r>
              <a:rPr lang="zh-CN" altLang="en-US" dirty="0">
                <a:latin typeface="Times New Roman" panose="02020603050405020304" pitchFamily="18" charset="0"/>
              </a:rPr>
              <a:t>若</a:t>
            </a:r>
            <a:r>
              <a:rPr lang="en-US" altLang="zh-CN" dirty="0">
                <a:latin typeface="Times New Roman" panose="02020603050405020304" pitchFamily="18" charset="0"/>
              </a:rPr>
              <a:t>r</a:t>
            </a:r>
            <a:r>
              <a:rPr lang="en-US" altLang="zh-CN" baseline="-25000" dirty="0">
                <a:latin typeface="Times New Roman" panose="02020603050405020304" pitchFamily="18" charset="0"/>
              </a:rPr>
              <a:t>i</a:t>
            </a:r>
            <a:r>
              <a:rPr lang="zh-CN" altLang="en-US" dirty="0">
                <a:solidFill>
                  <a:srgbClr val="FF0000"/>
                </a:solidFill>
                <a:latin typeface="Times New Roman" panose="02020603050405020304" pitchFamily="18" charset="0"/>
              </a:rPr>
              <a:t>为正</a:t>
            </a:r>
            <a:r>
              <a:rPr lang="zh-CN" altLang="en-US" dirty="0">
                <a:latin typeface="Times New Roman" panose="02020603050405020304" pitchFamily="18" charset="0"/>
              </a:rPr>
              <a:t>，则</a:t>
            </a:r>
            <a:r>
              <a:rPr lang="en-US" altLang="zh-CN" dirty="0">
                <a:latin typeface="Times New Roman" panose="02020603050405020304" pitchFamily="18" charset="0"/>
              </a:rPr>
              <a:t>Q</a:t>
            </a:r>
            <a:r>
              <a:rPr lang="en-US" altLang="zh-CN" baseline="-25000" dirty="0">
                <a:latin typeface="Times New Roman" panose="02020603050405020304" pitchFamily="18" charset="0"/>
              </a:rPr>
              <a:t>i</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rPr>
              <a:t>r</a:t>
            </a:r>
            <a:r>
              <a:rPr lang="en-US" altLang="zh-CN" baseline="-25000" dirty="0">
                <a:latin typeface="Times New Roman" panose="02020603050405020304" pitchFamily="18" charset="0"/>
              </a:rPr>
              <a:t>i</a:t>
            </a:r>
            <a:r>
              <a:rPr lang="zh-CN" altLang="en-US" dirty="0">
                <a:solidFill>
                  <a:srgbClr val="FF0000"/>
                </a:solidFill>
                <a:latin typeface="Times New Roman" panose="02020603050405020304" pitchFamily="18" charset="0"/>
              </a:rPr>
              <a:t>左移一位</a:t>
            </a:r>
            <a:r>
              <a:rPr lang="zh-CN" altLang="en-US" dirty="0">
                <a:latin typeface="Times New Roman" panose="02020603050405020304" pitchFamily="18" charset="0"/>
              </a:rPr>
              <a:t>，下一次</a:t>
            </a:r>
            <a:r>
              <a:rPr lang="zh-CN" altLang="en-US" dirty="0">
                <a:solidFill>
                  <a:srgbClr val="FF0000"/>
                </a:solidFill>
                <a:latin typeface="Times New Roman" panose="02020603050405020304" pitchFamily="18" charset="0"/>
              </a:rPr>
              <a:t>减除数</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a:spcBef>
                <a:spcPts val="1800"/>
              </a:spcBef>
            </a:pPr>
            <a:r>
              <a:rPr lang="zh-CN" altLang="en-US" dirty="0">
                <a:latin typeface="Times New Roman" panose="02020603050405020304" pitchFamily="18" charset="0"/>
              </a:rPr>
              <a:t>若</a:t>
            </a:r>
            <a:r>
              <a:rPr lang="en-US" altLang="zh-CN" dirty="0">
                <a:latin typeface="Times New Roman" panose="02020603050405020304" pitchFamily="18" charset="0"/>
              </a:rPr>
              <a:t>r</a:t>
            </a:r>
            <a:r>
              <a:rPr lang="en-US" altLang="zh-CN" baseline="-25000" dirty="0">
                <a:latin typeface="Times New Roman" panose="02020603050405020304" pitchFamily="18" charset="0"/>
              </a:rPr>
              <a:t>i</a:t>
            </a:r>
            <a:r>
              <a:rPr lang="zh-CN" altLang="en-US" dirty="0">
                <a:solidFill>
                  <a:srgbClr val="FF0000"/>
                </a:solidFill>
                <a:latin typeface="Times New Roman" panose="02020603050405020304" pitchFamily="18" charset="0"/>
              </a:rPr>
              <a:t>为负</a:t>
            </a:r>
            <a:r>
              <a:rPr lang="zh-CN" altLang="en-US" dirty="0">
                <a:latin typeface="Times New Roman" panose="02020603050405020304" pitchFamily="18" charset="0"/>
              </a:rPr>
              <a:t>，则</a:t>
            </a:r>
            <a:r>
              <a:rPr lang="en-US" altLang="zh-CN" dirty="0">
                <a:latin typeface="Times New Roman" panose="02020603050405020304" pitchFamily="18" charset="0"/>
              </a:rPr>
              <a:t>Q</a:t>
            </a:r>
            <a:r>
              <a:rPr lang="en-US" altLang="zh-CN" baseline="-25000" dirty="0">
                <a:latin typeface="Times New Roman" panose="02020603050405020304" pitchFamily="18" charset="0"/>
              </a:rPr>
              <a:t>i</a:t>
            </a:r>
            <a:r>
              <a:rPr lang="en-US" altLang="zh-CN" dirty="0">
                <a:latin typeface="Times New Roman" panose="02020603050405020304" pitchFamily="18" charset="0"/>
              </a:rPr>
              <a:t>=0</a:t>
            </a:r>
            <a:r>
              <a:rPr lang="zh-CN" altLang="en-US" dirty="0">
                <a:latin typeface="Times New Roman" panose="02020603050405020304" pitchFamily="18" charset="0"/>
              </a:rPr>
              <a:t>，</a:t>
            </a:r>
            <a:r>
              <a:rPr lang="en-US" altLang="zh-CN" dirty="0">
                <a:latin typeface="Times New Roman" panose="02020603050405020304" pitchFamily="18" charset="0"/>
              </a:rPr>
              <a:t>r</a:t>
            </a:r>
            <a:r>
              <a:rPr lang="en-US" altLang="zh-CN" baseline="-25000" dirty="0">
                <a:latin typeface="Times New Roman" panose="02020603050405020304" pitchFamily="18" charset="0"/>
              </a:rPr>
              <a:t>i</a:t>
            </a:r>
            <a:r>
              <a:rPr lang="zh-CN" altLang="en-US" dirty="0">
                <a:solidFill>
                  <a:srgbClr val="FF0000"/>
                </a:solidFill>
                <a:latin typeface="Times New Roman" panose="02020603050405020304" pitchFamily="18" charset="0"/>
              </a:rPr>
              <a:t>左移一位</a:t>
            </a:r>
            <a:r>
              <a:rPr lang="zh-CN" altLang="en-US" dirty="0">
                <a:latin typeface="Times New Roman" panose="02020603050405020304" pitchFamily="18" charset="0"/>
              </a:rPr>
              <a:t>，下一次</a:t>
            </a:r>
            <a:r>
              <a:rPr lang="zh-CN" altLang="en-US" dirty="0">
                <a:solidFill>
                  <a:srgbClr val="FF0000"/>
                </a:solidFill>
                <a:latin typeface="Times New Roman" panose="02020603050405020304" pitchFamily="18" charset="0"/>
              </a:rPr>
              <a:t>加除数</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a:spcBef>
                <a:spcPts val="1800"/>
              </a:spcBef>
            </a:pPr>
            <a:r>
              <a:rPr lang="zh-CN" altLang="en-US" dirty="0">
                <a:latin typeface="Times New Roman" panose="02020603050405020304" pitchFamily="18" charset="0"/>
              </a:rPr>
              <a:t>加减运算交替地进行，故称为原码加减交替法。</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776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原码不恢复余数法（续）</a:t>
            </a:r>
            <a:endParaRPr lang="zh-CN" altLang="en-US" dirty="0">
              <a:latin typeface="Times New Roman" panose="02020603050405020304" pitchFamily="18" charset="0"/>
            </a:endParaRPr>
          </a:p>
        </p:txBody>
      </p:sp>
      <p:sp>
        <p:nvSpPr>
          <p:cNvPr id="117762" name="内容占位符 2"/>
          <p:cNvSpPr>
            <a:spLocks noGrp="1"/>
          </p:cNvSpPr>
          <p:nvPr>
            <p:ph idx="1"/>
          </p:nvPr>
        </p:nvSpPr>
        <p:spPr>
          <a:xfrm>
            <a:off x="457200" y="1417638"/>
            <a:ext cx="8229600" cy="4891087"/>
          </a:xfrm>
          <a:noFill/>
          <a:ln>
            <a:noFill/>
          </a:ln>
        </p:spPr>
        <p:txBody>
          <a:bodyPr anchor="t" anchorCtr="0"/>
          <a:p>
            <a:pPr algn="just"/>
            <a:r>
              <a:rPr lang="zh-CN" altLang="en-US" dirty="0">
                <a:latin typeface="Times New Roman" panose="02020603050405020304" pitchFamily="18" charset="0"/>
              </a:rPr>
              <a:t>除法运算需要</a:t>
            </a:r>
            <a:r>
              <a:rPr lang="en-US" altLang="zh-CN" dirty="0">
                <a:latin typeface="Times New Roman" panose="02020603050405020304" pitchFamily="18" charset="0"/>
              </a:rPr>
              <a:t>3</a:t>
            </a:r>
            <a:r>
              <a:rPr lang="zh-CN" altLang="en-US" dirty="0">
                <a:latin typeface="Times New Roman" panose="02020603050405020304" pitchFamily="18" charset="0"/>
              </a:rPr>
              <a:t>个寄存器。</a:t>
            </a:r>
            <a:endParaRPr lang="en-US" altLang="zh-CN" dirty="0">
              <a:latin typeface="Times New Roman" panose="02020603050405020304" pitchFamily="18" charset="0"/>
            </a:endParaRPr>
          </a:p>
          <a:p>
            <a:pPr lvl="1" algn="just">
              <a:spcBef>
                <a:spcPts val="1200"/>
              </a:spcBef>
            </a:pPr>
            <a:r>
              <a:rPr lang="en-US" altLang="zh-CN" sz="2400" dirty="0">
                <a:latin typeface="Times New Roman" panose="02020603050405020304" pitchFamily="18" charset="0"/>
              </a:rPr>
              <a:t>A</a:t>
            </a:r>
            <a:r>
              <a:rPr lang="zh-CN" altLang="en-US" sz="2400" dirty="0">
                <a:latin typeface="Times New Roman" panose="02020603050405020304" pitchFamily="18" charset="0"/>
              </a:rPr>
              <a:t>和</a:t>
            </a:r>
            <a:r>
              <a:rPr lang="en-US" altLang="zh-CN" sz="2400" dirty="0">
                <a:latin typeface="Times New Roman" panose="02020603050405020304" pitchFamily="18" charset="0"/>
              </a:rPr>
              <a:t>B</a:t>
            </a:r>
            <a:r>
              <a:rPr lang="zh-CN" altLang="en-US" sz="2400" dirty="0">
                <a:latin typeface="Times New Roman" panose="02020603050405020304" pitchFamily="18" charset="0"/>
              </a:rPr>
              <a:t>寄存器分别用来存放被除数和除数；</a:t>
            </a:r>
            <a:endParaRPr lang="en-US" altLang="zh-CN" sz="2400" dirty="0">
              <a:latin typeface="Times New Roman" panose="02020603050405020304" pitchFamily="18" charset="0"/>
            </a:endParaRPr>
          </a:p>
          <a:p>
            <a:pPr lvl="1" algn="just">
              <a:spcBef>
                <a:spcPts val="1200"/>
              </a:spcBef>
            </a:pPr>
            <a:r>
              <a:rPr lang="en-US" altLang="zh-CN" sz="2400" dirty="0">
                <a:latin typeface="Times New Roman" panose="02020603050405020304" pitchFamily="18" charset="0"/>
              </a:rPr>
              <a:t>C</a:t>
            </a:r>
            <a:r>
              <a:rPr lang="zh-CN" altLang="en-US" sz="2400" dirty="0">
                <a:latin typeface="Times New Roman" panose="02020603050405020304" pitchFamily="18" charset="0"/>
              </a:rPr>
              <a:t>寄存器用来存放商，它的初值为</a:t>
            </a:r>
            <a:r>
              <a:rPr lang="en-US" altLang="zh-CN" sz="2400" dirty="0">
                <a:latin typeface="Times New Roman" panose="02020603050405020304" pitchFamily="18" charset="0"/>
              </a:rPr>
              <a:t>0</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lvl="1" algn="just">
              <a:spcBef>
                <a:spcPts val="1200"/>
              </a:spcBef>
              <a:buSzTx/>
            </a:pPr>
            <a:r>
              <a:rPr lang="en-US" altLang="zh-CN" sz="2400" dirty="0">
                <a:latin typeface="Times New Roman" panose="02020603050405020304" pitchFamily="18" charset="0"/>
              </a:rPr>
              <a:t>运算过程中A寄存器的内容为部分余数，不断变化</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algn="just">
              <a:spcBef>
                <a:spcPts val="1200"/>
              </a:spcBef>
              <a:buSzTx/>
            </a:pPr>
            <a:r>
              <a:rPr lang="en-US" altLang="zh-CN" sz="2400" dirty="0">
                <a:latin typeface="Times New Roman" panose="02020603050405020304" pitchFamily="18" charset="0"/>
              </a:rPr>
              <a:t>剩下扩大若干倍的余数，将它乘上2</a:t>
            </a:r>
            <a:r>
              <a:rPr lang="en-US" altLang="zh-CN" sz="2400" baseline="30000" dirty="0">
                <a:latin typeface="Times New Roman" panose="02020603050405020304" pitchFamily="18" charset="0"/>
              </a:rPr>
              <a:t>-n</a:t>
            </a:r>
            <a:r>
              <a:rPr lang="en-US" altLang="zh-CN" sz="2400" dirty="0">
                <a:latin typeface="Times New Roman" panose="02020603050405020304" pitchFamily="18" charset="0"/>
              </a:rPr>
              <a:t>是真正的余数。</a:t>
            </a:r>
            <a:endParaRPr lang="en-US" altLang="zh-CN" sz="2400" dirty="0">
              <a:latin typeface="Times New Roman" panose="02020603050405020304" pitchFamily="18" charset="0"/>
            </a:endParaRPr>
          </a:p>
          <a:p>
            <a:pPr algn="just">
              <a:spcBef>
                <a:spcPts val="1800"/>
              </a:spcBef>
            </a:pPr>
            <a:r>
              <a:rPr lang="zh-CN" altLang="en-US" sz="2400" dirty="0">
                <a:latin typeface="Times New Roman" panose="02020603050405020304" pitchFamily="18" charset="0"/>
              </a:rPr>
              <a:t>例</a:t>
            </a:r>
            <a:r>
              <a:rPr lang="en-US" altLang="zh-CN" sz="2400" dirty="0">
                <a:latin typeface="Times New Roman" panose="02020603050405020304" pitchFamily="18" charset="0"/>
              </a:rPr>
              <a:t>12</a:t>
            </a:r>
            <a:r>
              <a:rPr lang="zh-CN" altLang="en-US" sz="2400" dirty="0">
                <a:latin typeface="Times New Roman" panose="02020603050405020304" pitchFamily="18" charset="0"/>
              </a:rPr>
              <a:t>：已知：</a:t>
            </a:r>
            <a:r>
              <a:rPr lang="en-US" altLang="zh-CN" sz="2400" dirty="0">
                <a:latin typeface="Times New Roman" panose="02020603050405020304" pitchFamily="18" charset="0"/>
              </a:rPr>
              <a:t>X=-0.10101</a:t>
            </a:r>
            <a:r>
              <a:rPr lang="zh-CN" altLang="en-US" sz="2400" dirty="0">
                <a:latin typeface="Times New Roman" panose="02020603050405020304" pitchFamily="18" charset="0"/>
              </a:rPr>
              <a:t>，</a:t>
            </a:r>
            <a:r>
              <a:rPr lang="en-US" altLang="zh-CN" sz="2400" dirty="0">
                <a:latin typeface="Times New Roman" panose="02020603050405020304" pitchFamily="18" charset="0"/>
              </a:rPr>
              <a:t>Y=0.11110</a:t>
            </a:r>
            <a:r>
              <a:rPr lang="zh-CN" altLang="en-US" sz="2400" dirty="0">
                <a:latin typeface="Times New Roman" panose="02020603050405020304" pitchFamily="18" charset="0"/>
              </a:rPr>
              <a:t>，求：</a:t>
            </a:r>
            <a:r>
              <a:rPr lang="en-US" altLang="zh-CN" sz="2400" dirty="0">
                <a:latin typeface="Times New Roman" panose="02020603050405020304" pitchFamily="18" charset="0"/>
              </a:rPr>
              <a:t>X÷Y</a:t>
            </a:r>
            <a:r>
              <a:rPr lang="zh-CN" altLang="en-US" sz="2400" dirty="0">
                <a:latin typeface="Times New Roman" panose="02020603050405020304" pitchFamily="18" charset="0"/>
              </a:rPr>
              <a:t>。</a:t>
            </a:r>
            <a:endParaRPr lang="zh-CN" altLang="en-US" sz="2400" dirty="0">
              <a:latin typeface="Times New Roman" panose="02020603050405020304" pitchFamily="18" charset="0"/>
            </a:endParaRPr>
          </a:p>
          <a:p>
            <a:pPr lvl="1" algn="just">
              <a:spcBef>
                <a:spcPts val="1200"/>
              </a:spcBef>
            </a:pPr>
            <a:r>
              <a:rPr lang="en-US" altLang="zh-CN" sz="2400" dirty="0">
                <a:latin typeface="Times New Roman" panose="02020603050405020304" pitchFamily="18" charset="0"/>
              </a:rPr>
              <a:t>|X|=00.10101→A</a:t>
            </a:r>
            <a:r>
              <a:rPr lang="zh-CN" altLang="en-US" sz="2400" dirty="0">
                <a:latin typeface="Times New Roman" panose="02020603050405020304" pitchFamily="18" charset="0"/>
              </a:rPr>
              <a:t>，</a:t>
            </a:r>
            <a:r>
              <a:rPr lang="en-US" altLang="zh-CN" sz="2400" dirty="0">
                <a:latin typeface="Times New Roman" panose="02020603050405020304" pitchFamily="18" charset="0"/>
              </a:rPr>
              <a:t>|Y|=00.11110→B</a:t>
            </a:r>
            <a:r>
              <a:rPr lang="zh-CN" altLang="en-US" sz="2400" dirty="0">
                <a:latin typeface="Times New Roman" panose="02020603050405020304" pitchFamily="18" charset="0"/>
              </a:rPr>
              <a:t>，</a:t>
            </a:r>
            <a:r>
              <a:rPr lang="en-US" altLang="zh-CN" sz="2400" dirty="0">
                <a:latin typeface="Times New Roman" panose="02020603050405020304" pitchFamily="18" charset="0"/>
              </a:rPr>
              <a:t>0→C</a:t>
            </a:r>
            <a:endParaRPr lang="en-US" altLang="zh-CN" sz="2400" dirty="0">
              <a:latin typeface="Times New Roman" panose="02020603050405020304" pitchFamily="18" charset="0"/>
            </a:endParaRPr>
          </a:p>
          <a:p>
            <a:pPr lvl="1" algn="just">
              <a:spcBef>
                <a:spcPts val="1200"/>
              </a:spcBef>
            </a:pPr>
            <a:r>
              <a:rPr lang="en-US" altLang="zh-CN" sz="2400" dirty="0">
                <a:latin typeface="Times New Roman" panose="02020603050405020304" pitchFamily="18" charset="0"/>
              </a:rPr>
              <a:t>[|Y|]</a:t>
            </a:r>
            <a:r>
              <a:rPr lang="zh-CN" altLang="en-US" sz="2400" dirty="0">
                <a:latin typeface="Times New Roman" panose="02020603050405020304" pitchFamily="18" charset="0"/>
              </a:rPr>
              <a:t> </a:t>
            </a:r>
            <a:r>
              <a:rPr lang="zh-CN" altLang="en-US" sz="2400" baseline="-25000" dirty="0">
                <a:latin typeface="Times New Roman" panose="02020603050405020304" pitchFamily="18" charset="0"/>
              </a:rPr>
              <a:t>变补</a:t>
            </a:r>
            <a:r>
              <a:rPr lang="en-US" altLang="zh-CN" sz="2400" dirty="0">
                <a:latin typeface="Times New Roman" panose="02020603050405020304" pitchFamily="18" charset="0"/>
              </a:rPr>
              <a:t>=11.00010</a:t>
            </a:r>
            <a:r>
              <a:rPr lang="zh-CN" altLang="en-US" sz="2000" dirty="0">
                <a:latin typeface="Times New Roman" panose="02020603050405020304" pitchFamily="18" charset="0"/>
              </a:rPr>
              <a:t>（做减法时）</a:t>
            </a:r>
            <a:endParaRPr lang="en-US" altLang="zh-CN" sz="2000" dirty="0">
              <a:latin typeface="Times New Roman" panose="02020603050405020304" pitchFamily="18" charset="0"/>
            </a:endParaRPr>
          </a:p>
          <a:p>
            <a:pPr algn="just"/>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8785" name="标题 1"/>
          <p:cNvSpPr>
            <a:spLocks noGrp="1"/>
          </p:cNvSpPr>
          <p:nvPr>
            <p:ph type="title"/>
          </p:nvPr>
        </p:nvSpPr>
        <p:spPr>
          <a:xfrm>
            <a:off x="457200" y="274638"/>
            <a:ext cx="5122863" cy="1143000"/>
          </a:xfrm>
          <a:noFill/>
          <a:ln>
            <a:noFill/>
          </a:ln>
        </p:spPr>
        <p:txBody>
          <a:bodyPr anchor="t" anchorCtr="0"/>
          <a:p>
            <a:r>
              <a:rPr lang="zh-CN" altLang="en-US" dirty="0"/>
              <a:t>原码不恢复余数除法示例</a:t>
            </a:r>
            <a:endParaRPr lang="zh-CN" altLang="en-US" dirty="0"/>
          </a:p>
        </p:txBody>
      </p:sp>
      <p:sp>
        <p:nvSpPr>
          <p:cNvPr id="118786" name="Text Box 4"/>
          <p:cNvSpPr txBox="1"/>
          <p:nvPr/>
        </p:nvSpPr>
        <p:spPr>
          <a:xfrm>
            <a:off x="1612900" y="1143000"/>
            <a:ext cx="61531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0 0.1 0 1 0 1   0.0 0 0 0 0</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18787" name="Text Box 5"/>
          <p:cNvSpPr txBox="1"/>
          <p:nvPr/>
        </p:nvSpPr>
        <p:spPr>
          <a:xfrm>
            <a:off x="127000" y="1371600"/>
            <a:ext cx="84010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25000" dirty="0">
                <a:solidFill>
                  <a:srgbClr val="0000FF"/>
                </a:solidFill>
                <a:latin typeface="宋体" panose="02010600030101010101" pitchFamily="2" charset="-122"/>
                <a:ea typeface="宋体" panose="02010600030101010101" pitchFamily="2" charset="-122"/>
              </a:rPr>
              <a:t>变补</a:t>
            </a:r>
            <a:r>
              <a:rPr lang="zh-CN" altLang="en-US" sz="2400" b="1" dirty="0">
                <a:solidFill>
                  <a:srgbClr val="0000FF"/>
                </a:solidFill>
                <a:latin typeface="宋体" panose="02010600030101010101" pitchFamily="2" charset="-122"/>
                <a:ea typeface="宋体" panose="02010600030101010101" pitchFamily="2" charset="-122"/>
              </a:rPr>
              <a:t> 1 1.0 0 0 1 0                     </a:t>
            </a: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Y|</a:t>
            </a:r>
            <a:endParaRPr lang="en-US" altLang="zh-CN" sz="2000" b="1" dirty="0">
              <a:solidFill>
                <a:srgbClr val="0000FF"/>
              </a:solidFill>
              <a:latin typeface="宋体" panose="02010600030101010101" pitchFamily="2" charset="-122"/>
              <a:ea typeface="宋体" panose="02010600030101010101" pitchFamily="2" charset="-122"/>
            </a:endParaRPr>
          </a:p>
        </p:txBody>
      </p:sp>
      <p:sp>
        <p:nvSpPr>
          <p:cNvPr id="118788" name="Line 6"/>
          <p:cNvSpPr/>
          <p:nvPr/>
        </p:nvSpPr>
        <p:spPr>
          <a:xfrm>
            <a:off x="374650" y="1771650"/>
            <a:ext cx="3505200" cy="0"/>
          </a:xfrm>
          <a:prstGeom prst="line">
            <a:avLst/>
          </a:prstGeom>
          <a:ln w="19050" cap="sq" cmpd="sng">
            <a:solidFill>
              <a:srgbClr val="7A48C4"/>
            </a:solidFill>
            <a:prstDash val="solid"/>
            <a:round/>
            <a:headEnd type="none" w="sm" len="sm"/>
            <a:tailEnd type="none" w="sm" len="sm"/>
          </a:ln>
        </p:spPr>
      </p:sp>
      <p:sp>
        <p:nvSpPr>
          <p:cNvPr id="118789" name="Text Box 7"/>
          <p:cNvSpPr txBox="1"/>
          <p:nvPr/>
        </p:nvSpPr>
        <p:spPr>
          <a:xfrm>
            <a:off x="1631950" y="1676400"/>
            <a:ext cx="73914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1 1.1 0 1 1 1   0.0 0 0 0 </a:t>
            </a:r>
            <a:r>
              <a:rPr lang="zh-CN" altLang="en-US" sz="2400" b="1" dirty="0">
                <a:solidFill>
                  <a:srgbClr val="FF3300"/>
                </a:solidFill>
                <a:latin typeface="宋体" panose="02010600030101010101" pitchFamily="2" charset="-122"/>
                <a:ea typeface="宋体" panose="02010600030101010101" pitchFamily="2" charset="-122"/>
              </a:rPr>
              <a:t>0</a:t>
            </a:r>
            <a:r>
              <a:rPr lang="zh-CN" altLang="en-US" sz="2400" b="1" dirty="0">
                <a:solidFill>
                  <a:srgbClr val="0000FF"/>
                </a:solidFill>
                <a:latin typeface="宋体" panose="02010600030101010101" pitchFamily="2" charset="-122"/>
                <a:ea typeface="宋体" panose="02010600030101010101" pitchFamily="2" charset="-122"/>
              </a:rPr>
              <a:t>    </a:t>
            </a:r>
            <a:r>
              <a:rPr lang="zh-CN" altLang="en-US" sz="2000" b="1" dirty="0">
                <a:solidFill>
                  <a:srgbClr val="0000FF"/>
                </a:solidFill>
                <a:latin typeface="宋体" panose="02010600030101010101" pitchFamily="2" charset="-122"/>
                <a:ea typeface="宋体" panose="02010600030101010101" pitchFamily="2" charset="-122"/>
              </a:rPr>
              <a:t>余数为负，商0</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790" name="Text Box 8"/>
          <p:cNvSpPr txBox="1"/>
          <p:nvPr/>
        </p:nvSpPr>
        <p:spPr>
          <a:xfrm>
            <a:off x="869950" y="1924050"/>
            <a:ext cx="71056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   1 1.0 1 1 1 0                  </a:t>
            </a:r>
            <a:r>
              <a:rPr lang="zh-CN" altLang="en-US" sz="2000" b="1" dirty="0">
                <a:solidFill>
                  <a:srgbClr val="0000FF"/>
                </a:solidFill>
                <a:latin typeface="宋体" panose="02010600030101010101" pitchFamily="2" charset="-122"/>
                <a:ea typeface="宋体" panose="02010600030101010101" pitchFamily="2" charset="-122"/>
              </a:rPr>
              <a:t>左移一位</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791" name="Text Box 9"/>
          <p:cNvSpPr txBox="1"/>
          <p:nvPr/>
        </p:nvSpPr>
        <p:spPr>
          <a:xfrm>
            <a:off x="260350" y="2171700"/>
            <a:ext cx="84010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     0 0.1 1 1 1 0                     </a:t>
            </a:r>
            <a:r>
              <a:rPr lang="en-US" altLang="zh-CN" sz="2000" b="1" dirty="0">
                <a:solidFill>
                  <a:srgbClr val="0000FF"/>
                </a:solidFill>
                <a:latin typeface="宋体" panose="02010600030101010101" pitchFamily="2" charset="-122"/>
                <a:ea typeface="宋体" panose="02010600030101010101" pitchFamily="2" charset="-122"/>
              </a:rPr>
              <a:t>+|Y|</a:t>
            </a:r>
            <a:endParaRPr lang="en-US" altLang="zh-CN" sz="2000" b="1" dirty="0">
              <a:solidFill>
                <a:srgbClr val="0000FF"/>
              </a:solidFill>
              <a:latin typeface="宋体" panose="02010600030101010101" pitchFamily="2" charset="-122"/>
              <a:ea typeface="宋体" panose="02010600030101010101" pitchFamily="2" charset="-122"/>
            </a:endParaRPr>
          </a:p>
        </p:txBody>
      </p:sp>
      <p:sp>
        <p:nvSpPr>
          <p:cNvPr id="118792" name="Line 10"/>
          <p:cNvSpPr/>
          <p:nvPr/>
        </p:nvSpPr>
        <p:spPr>
          <a:xfrm>
            <a:off x="393700" y="2552700"/>
            <a:ext cx="3505200" cy="0"/>
          </a:xfrm>
          <a:prstGeom prst="line">
            <a:avLst/>
          </a:prstGeom>
          <a:ln w="19050" cap="sq" cmpd="sng">
            <a:solidFill>
              <a:srgbClr val="7A48C4"/>
            </a:solidFill>
            <a:prstDash val="solid"/>
            <a:round/>
            <a:headEnd type="none" w="sm" len="sm"/>
            <a:tailEnd type="none" w="sm" len="sm"/>
          </a:ln>
        </p:spPr>
      </p:sp>
      <p:sp>
        <p:nvSpPr>
          <p:cNvPr id="118793" name="Text Box 11"/>
          <p:cNvSpPr txBox="1"/>
          <p:nvPr/>
        </p:nvSpPr>
        <p:spPr>
          <a:xfrm>
            <a:off x="1651000" y="2438400"/>
            <a:ext cx="73914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0 0.0 1 1 0 0   0.0 0 0 </a:t>
            </a:r>
            <a:r>
              <a:rPr lang="zh-CN" altLang="en-US" sz="2400" b="1" dirty="0">
                <a:solidFill>
                  <a:srgbClr val="FF3300"/>
                </a:solidFill>
                <a:latin typeface="宋体" panose="02010600030101010101" pitchFamily="2" charset="-122"/>
                <a:ea typeface="宋体" panose="02010600030101010101" pitchFamily="2" charset="-122"/>
              </a:rPr>
              <a:t>0 1</a:t>
            </a:r>
            <a:r>
              <a:rPr lang="zh-CN" altLang="en-US" sz="2400" b="1" dirty="0">
                <a:solidFill>
                  <a:srgbClr val="0000FF"/>
                </a:solidFill>
                <a:latin typeface="宋体" panose="02010600030101010101" pitchFamily="2" charset="-122"/>
                <a:ea typeface="宋体" panose="02010600030101010101" pitchFamily="2" charset="-122"/>
              </a:rPr>
              <a:t>    </a:t>
            </a:r>
            <a:r>
              <a:rPr lang="zh-CN" altLang="en-US" sz="2000" b="1" dirty="0">
                <a:solidFill>
                  <a:srgbClr val="0000FF"/>
                </a:solidFill>
                <a:latin typeface="宋体" panose="02010600030101010101" pitchFamily="2" charset="-122"/>
                <a:ea typeface="宋体" panose="02010600030101010101" pitchFamily="2" charset="-122"/>
              </a:rPr>
              <a:t>余数为正，商1</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794" name="Text Box 12"/>
          <p:cNvSpPr txBox="1"/>
          <p:nvPr/>
        </p:nvSpPr>
        <p:spPr>
          <a:xfrm>
            <a:off x="889000" y="2686050"/>
            <a:ext cx="71056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   0 0.1 1 0 0 0                  </a:t>
            </a:r>
            <a:r>
              <a:rPr lang="zh-CN" altLang="en-US" sz="2000" b="1" dirty="0">
                <a:solidFill>
                  <a:srgbClr val="0000FF"/>
                </a:solidFill>
                <a:latin typeface="宋体" panose="02010600030101010101" pitchFamily="2" charset="-122"/>
                <a:ea typeface="宋体" panose="02010600030101010101" pitchFamily="2" charset="-122"/>
              </a:rPr>
              <a:t>左移一位</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795" name="Text Box 13"/>
          <p:cNvSpPr txBox="1"/>
          <p:nvPr/>
        </p:nvSpPr>
        <p:spPr>
          <a:xfrm>
            <a:off x="165100" y="2914650"/>
            <a:ext cx="84010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25000" dirty="0">
                <a:solidFill>
                  <a:srgbClr val="0000FF"/>
                </a:solidFill>
                <a:latin typeface="宋体" panose="02010600030101010101" pitchFamily="2" charset="-122"/>
                <a:ea typeface="宋体" panose="02010600030101010101" pitchFamily="2" charset="-122"/>
              </a:rPr>
              <a:t>变补</a:t>
            </a:r>
            <a:r>
              <a:rPr lang="zh-CN" altLang="en-US" sz="2400" b="1" dirty="0">
                <a:solidFill>
                  <a:srgbClr val="0000FF"/>
                </a:solidFill>
                <a:latin typeface="宋体" panose="02010600030101010101" pitchFamily="2" charset="-122"/>
                <a:ea typeface="宋体" panose="02010600030101010101" pitchFamily="2" charset="-122"/>
              </a:rPr>
              <a:t> 1 1.0 0 0 1 0                     </a:t>
            </a: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Y|</a:t>
            </a:r>
            <a:endParaRPr lang="en-US" altLang="zh-CN" sz="2000" b="1" dirty="0">
              <a:solidFill>
                <a:srgbClr val="0000FF"/>
              </a:solidFill>
              <a:latin typeface="宋体" panose="02010600030101010101" pitchFamily="2" charset="-122"/>
              <a:ea typeface="宋体" panose="02010600030101010101" pitchFamily="2" charset="-122"/>
            </a:endParaRPr>
          </a:p>
        </p:txBody>
      </p:sp>
      <p:sp>
        <p:nvSpPr>
          <p:cNvPr id="118796" name="Line 14"/>
          <p:cNvSpPr/>
          <p:nvPr/>
        </p:nvSpPr>
        <p:spPr>
          <a:xfrm>
            <a:off x="412750" y="3314700"/>
            <a:ext cx="3505200" cy="0"/>
          </a:xfrm>
          <a:prstGeom prst="line">
            <a:avLst/>
          </a:prstGeom>
          <a:ln w="19050" cap="sq" cmpd="sng">
            <a:solidFill>
              <a:srgbClr val="7A48C4"/>
            </a:solidFill>
            <a:prstDash val="solid"/>
            <a:round/>
            <a:headEnd type="none" w="sm" len="sm"/>
            <a:tailEnd type="none" w="sm" len="sm"/>
          </a:ln>
        </p:spPr>
      </p:sp>
      <p:sp>
        <p:nvSpPr>
          <p:cNvPr id="118797" name="Text Box 15"/>
          <p:cNvSpPr txBox="1"/>
          <p:nvPr/>
        </p:nvSpPr>
        <p:spPr>
          <a:xfrm>
            <a:off x="1670050" y="3200400"/>
            <a:ext cx="73914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1 1.1 1 0 1 0   0.0 0 </a:t>
            </a:r>
            <a:r>
              <a:rPr lang="zh-CN" altLang="en-US" sz="2400" b="1" dirty="0">
                <a:solidFill>
                  <a:srgbClr val="FF3300"/>
                </a:solidFill>
                <a:latin typeface="宋体" panose="02010600030101010101" pitchFamily="2" charset="-122"/>
                <a:ea typeface="宋体" panose="02010600030101010101" pitchFamily="2" charset="-122"/>
              </a:rPr>
              <a:t>0 1 0</a:t>
            </a:r>
            <a:r>
              <a:rPr lang="zh-CN" altLang="en-US" sz="2400" b="1" dirty="0">
                <a:solidFill>
                  <a:srgbClr val="0000FF"/>
                </a:solidFill>
                <a:latin typeface="宋体" panose="02010600030101010101" pitchFamily="2" charset="-122"/>
                <a:ea typeface="宋体" panose="02010600030101010101" pitchFamily="2" charset="-122"/>
              </a:rPr>
              <a:t>    </a:t>
            </a:r>
            <a:r>
              <a:rPr lang="zh-CN" altLang="en-US" sz="2000" b="1" dirty="0">
                <a:solidFill>
                  <a:srgbClr val="0000FF"/>
                </a:solidFill>
                <a:latin typeface="宋体" panose="02010600030101010101" pitchFamily="2" charset="-122"/>
                <a:ea typeface="宋体" panose="02010600030101010101" pitchFamily="2" charset="-122"/>
              </a:rPr>
              <a:t>余数为负，商0</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798" name="Text Box 16"/>
          <p:cNvSpPr txBox="1"/>
          <p:nvPr/>
        </p:nvSpPr>
        <p:spPr>
          <a:xfrm>
            <a:off x="908050" y="3448050"/>
            <a:ext cx="71056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   1 1.1 0 1 0 0                  </a:t>
            </a:r>
            <a:r>
              <a:rPr lang="zh-CN" altLang="en-US" sz="2000" b="1" dirty="0">
                <a:solidFill>
                  <a:srgbClr val="0000FF"/>
                </a:solidFill>
                <a:latin typeface="宋体" panose="02010600030101010101" pitchFamily="2" charset="-122"/>
                <a:ea typeface="宋体" panose="02010600030101010101" pitchFamily="2" charset="-122"/>
              </a:rPr>
              <a:t>左移一位</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799" name="Text Box 17"/>
          <p:cNvSpPr txBox="1"/>
          <p:nvPr/>
        </p:nvSpPr>
        <p:spPr>
          <a:xfrm>
            <a:off x="298450" y="3676650"/>
            <a:ext cx="84010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     0 0.1 1 1 1 0                     </a:t>
            </a:r>
            <a:r>
              <a:rPr lang="en-US" altLang="zh-CN" sz="2000" b="1" dirty="0">
                <a:solidFill>
                  <a:srgbClr val="0000FF"/>
                </a:solidFill>
                <a:latin typeface="宋体" panose="02010600030101010101" pitchFamily="2" charset="-122"/>
                <a:ea typeface="宋体" panose="02010600030101010101" pitchFamily="2" charset="-122"/>
              </a:rPr>
              <a:t>+|Y|</a:t>
            </a:r>
            <a:endParaRPr lang="en-US" altLang="zh-CN" sz="2000" b="1" dirty="0">
              <a:solidFill>
                <a:srgbClr val="0000FF"/>
              </a:solidFill>
              <a:latin typeface="宋体" panose="02010600030101010101" pitchFamily="2" charset="-122"/>
              <a:ea typeface="宋体" panose="02010600030101010101" pitchFamily="2" charset="-122"/>
            </a:endParaRPr>
          </a:p>
        </p:txBody>
      </p:sp>
      <p:sp>
        <p:nvSpPr>
          <p:cNvPr id="118800" name="Line 18"/>
          <p:cNvSpPr/>
          <p:nvPr/>
        </p:nvSpPr>
        <p:spPr>
          <a:xfrm>
            <a:off x="412750" y="4057650"/>
            <a:ext cx="3505200" cy="0"/>
          </a:xfrm>
          <a:prstGeom prst="line">
            <a:avLst/>
          </a:prstGeom>
          <a:ln w="19050" cap="sq" cmpd="sng">
            <a:solidFill>
              <a:srgbClr val="7A48C4"/>
            </a:solidFill>
            <a:prstDash val="solid"/>
            <a:round/>
            <a:headEnd type="none" w="sm" len="sm"/>
            <a:tailEnd type="none" w="sm" len="sm"/>
          </a:ln>
        </p:spPr>
      </p:sp>
      <p:sp>
        <p:nvSpPr>
          <p:cNvPr id="118801" name="Text Box 19"/>
          <p:cNvSpPr txBox="1"/>
          <p:nvPr/>
        </p:nvSpPr>
        <p:spPr>
          <a:xfrm>
            <a:off x="1670050" y="3943350"/>
            <a:ext cx="73914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0 0.1 0 0 1 0   0.0 </a:t>
            </a:r>
            <a:r>
              <a:rPr lang="zh-CN" altLang="en-US" sz="2400" b="1" dirty="0">
                <a:solidFill>
                  <a:srgbClr val="FF3300"/>
                </a:solidFill>
                <a:latin typeface="宋体" panose="02010600030101010101" pitchFamily="2" charset="-122"/>
                <a:ea typeface="宋体" panose="02010600030101010101" pitchFamily="2" charset="-122"/>
              </a:rPr>
              <a:t>0 1 0 1</a:t>
            </a:r>
            <a:r>
              <a:rPr lang="zh-CN" altLang="en-US" sz="2400" b="1" dirty="0">
                <a:solidFill>
                  <a:srgbClr val="0000FF"/>
                </a:solidFill>
                <a:latin typeface="宋体" panose="02010600030101010101" pitchFamily="2" charset="-122"/>
                <a:ea typeface="宋体" panose="02010600030101010101" pitchFamily="2" charset="-122"/>
              </a:rPr>
              <a:t>    </a:t>
            </a:r>
            <a:r>
              <a:rPr lang="zh-CN" altLang="en-US" sz="2000" b="1" dirty="0">
                <a:solidFill>
                  <a:srgbClr val="0000FF"/>
                </a:solidFill>
                <a:latin typeface="宋体" panose="02010600030101010101" pitchFamily="2" charset="-122"/>
                <a:ea typeface="宋体" panose="02010600030101010101" pitchFamily="2" charset="-122"/>
              </a:rPr>
              <a:t>余数为正，商1</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802" name="Text Box 20"/>
          <p:cNvSpPr txBox="1"/>
          <p:nvPr/>
        </p:nvSpPr>
        <p:spPr>
          <a:xfrm>
            <a:off x="927100" y="4171950"/>
            <a:ext cx="71056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   0 1.0 0 1 0 0                  </a:t>
            </a:r>
            <a:r>
              <a:rPr lang="zh-CN" altLang="en-US" sz="2000" b="1" dirty="0">
                <a:solidFill>
                  <a:srgbClr val="0000FF"/>
                </a:solidFill>
                <a:latin typeface="宋体" panose="02010600030101010101" pitchFamily="2" charset="-122"/>
                <a:ea typeface="宋体" panose="02010600030101010101" pitchFamily="2" charset="-122"/>
              </a:rPr>
              <a:t>左移一位</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803" name="Text Box 21"/>
          <p:cNvSpPr txBox="1"/>
          <p:nvPr/>
        </p:nvSpPr>
        <p:spPr>
          <a:xfrm>
            <a:off x="203200" y="4400550"/>
            <a:ext cx="84010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25000" dirty="0">
                <a:solidFill>
                  <a:srgbClr val="0000FF"/>
                </a:solidFill>
                <a:latin typeface="宋体" panose="02010600030101010101" pitchFamily="2" charset="-122"/>
                <a:ea typeface="宋体" panose="02010600030101010101" pitchFamily="2" charset="-122"/>
              </a:rPr>
              <a:t>变补</a:t>
            </a:r>
            <a:r>
              <a:rPr lang="zh-CN" altLang="en-US" sz="2400" b="1" dirty="0">
                <a:solidFill>
                  <a:srgbClr val="0000FF"/>
                </a:solidFill>
                <a:latin typeface="宋体" panose="02010600030101010101" pitchFamily="2" charset="-122"/>
                <a:ea typeface="宋体" panose="02010600030101010101" pitchFamily="2" charset="-122"/>
              </a:rPr>
              <a:t> 1 1.0 0 0 1 0                     </a:t>
            </a: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Y|</a:t>
            </a:r>
            <a:endParaRPr lang="en-US" altLang="zh-CN" sz="2000" b="1" dirty="0">
              <a:solidFill>
                <a:srgbClr val="0000FF"/>
              </a:solidFill>
              <a:latin typeface="宋体" panose="02010600030101010101" pitchFamily="2" charset="-122"/>
              <a:ea typeface="宋体" panose="02010600030101010101" pitchFamily="2" charset="-122"/>
            </a:endParaRPr>
          </a:p>
        </p:txBody>
      </p:sp>
      <p:sp>
        <p:nvSpPr>
          <p:cNvPr id="118804" name="Line 22"/>
          <p:cNvSpPr/>
          <p:nvPr/>
        </p:nvSpPr>
        <p:spPr>
          <a:xfrm>
            <a:off x="431800" y="4800600"/>
            <a:ext cx="3505200" cy="0"/>
          </a:xfrm>
          <a:prstGeom prst="line">
            <a:avLst/>
          </a:prstGeom>
          <a:ln w="19050" cap="sq" cmpd="sng">
            <a:solidFill>
              <a:srgbClr val="7A48C4"/>
            </a:solidFill>
            <a:prstDash val="solid"/>
            <a:round/>
            <a:headEnd type="none" w="sm" len="sm"/>
            <a:tailEnd type="none" w="sm" len="sm"/>
          </a:ln>
        </p:spPr>
      </p:sp>
      <p:sp>
        <p:nvSpPr>
          <p:cNvPr id="118805" name="Text Box 23"/>
          <p:cNvSpPr txBox="1"/>
          <p:nvPr/>
        </p:nvSpPr>
        <p:spPr>
          <a:xfrm>
            <a:off x="1689100" y="4686300"/>
            <a:ext cx="73914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0 0.0 0 1 1 0   0.</a:t>
            </a:r>
            <a:r>
              <a:rPr lang="zh-CN" altLang="en-US" sz="2400" b="1" dirty="0">
                <a:solidFill>
                  <a:srgbClr val="FF3300"/>
                </a:solidFill>
                <a:latin typeface="宋体" panose="02010600030101010101" pitchFamily="2" charset="-122"/>
                <a:ea typeface="宋体" panose="02010600030101010101" pitchFamily="2" charset="-122"/>
              </a:rPr>
              <a:t>0 1 0 1 1</a:t>
            </a:r>
            <a:r>
              <a:rPr lang="zh-CN" altLang="en-US" sz="2400" b="1" dirty="0">
                <a:solidFill>
                  <a:srgbClr val="0000FF"/>
                </a:solidFill>
                <a:latin typeface="宋体" panose="02010600030101010101" pitchFamily="2" charset="-122"/>
                <a:ea typeface="宋体" panose="02010600030101010101" pitchFamily="2" charset="-122"/>
              </a:rPr>
              <a:t>    </a:t>
            </a:r>
            <a:r>
              <a:rPr lang="zh-CN" altLang="en-US" sz="2000" b="1" dirty="0">
                <a:solidFill>
                  <a:srgbClr val="0000FF"/>
                </a:solidFill>
                <a:latin typeface="宋体" panose="02010600030101010101" pitchFamily="2" charset="-122"/>
                <a:ea typeface="宋体" panose="02010600030101010101" pitchFamily="2" charset="-122"/>
              </a:rPr>
              <a:t>余数为正，商1</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806" name="Text Box 24"/>
          <p:cNvSpPr txBox="1"/>
          <p:nvPr/>
        </p:nvSpPr>
        <p:spPr>
          <a:xfrm>
            <a:off x="927100" y="4914900"/>
            <a:ext cx="71056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   0 0.0 1 1 0 0                  </a:t>
            </a:r>
            <a:r>
              <a:rPr lang="zh-CN" altLang="en-US" sz="2000" b="1" dirty="0">
                <a:solidFill>
                  <a:srgbClr val="0000FF"/>
                </a:solidFill>
                <a:latin typeface="宋体" panose="02010600030101010101" pitchFamily="2" charset="-122"/>
                <a:ea typeface="宋体" panose="02010600030101010101" pitchFamily="2" charset="-122"/>
              </a:rPr>
              <a:t>左移一位</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807" name="Text Box 25"/>
          <p:cNvSpPr txBox="1"/>
          <p:nvPr/>
        </p:nvSpPr>
        <p:spPr>
          <a:xfrm>
            <a:off x="203200" y="5162550"/>
            <a:ext cx="84010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25000" dirty="0">
                <a:solidFill>
                  <a:srgbClr val="0000FF"/>
                </a:solidFill>
                <a:latin typeface="宋体" panose="02010600030101010101" pitchFamily="2" charset="-122"/>
                <a:ea typeface="宋体" panose="02010600030101010101" pitchFamily="2" charset="-122"/>
              </a:rPr>
              <a:t>变补</a:t>
            </a:r>
            <a:r>
              <a:rPr lang="zh-CN" altLang="en-US" sz="2400" b="1" dirty="0">
                <a:solidFill>
                  <a:srgbClr val="0000FF"/>
                </a:solidFill>
                <a:latin typeface="宋体" panose="02010600030101010101" pitchFamily="2" charset="-122"/>
                <a:ea typeface="宋体" panose="02010600030101010101" pitchFamily="2" charset="-122"/>
              </a:rPr>
              <a:t> 1 1.0 0 0 1 0                     </a:t>
            </a:r>
            <a:r>
              <a:rPr lang="zh-CN" altLang="en-US" sz="2000" b="1" dirty="0">
                <a:solidFill>
                  <a:srgbClr val="0000FF"/>
                </a:solidFill>
                <a:latin typeface="宋体" panose="02010600030101010101" pitchFamily="2" charset="-122"/>
                <a:ea typeface="宋体" panose="02010600030101010101" pitchFamily="2" charset="-122"/>
              </a:rPr>
              <a:t>-|</a:t>
            </a:r>
            <a:r>
              <a:rPr lang="en-US" altLang="zh-CN" sz="2000" b="1" dirty="0">
                <a:solidFill>
                  <a:srgbClr val="0000FF"/>
                </a:solidFill>
                <a:latin typeface="宋体" panose="02010600030101010101" pitchFamily="2" charset="-122"/>
                <a:ea typeface="宋体" panose="02010600030101010101" pitchFamily="2" charset="-122"/>
              </a:rPr>
              <a:t>Y|</a:t>
            </a:r>
            <a:endParaRPr lang="en-US" altLang="zh-CN" sz="2000" b="1" dirty="0">
              <a:solidFill>
                <a:srgbClr val="0000FF"/>
              </a:solidFill>
              <a:latin typeface="宋体" panose="02010600030101010101" pitchFamily="2" charset="-122"/>
              <a:ea typeface="宋体" panose="02010600030101010101" pitchFamily="2" charset="-122"/>
            </a:endParaRPr>
          </a:p>
        </p:txBody>
      </p:sp>
      <p:sp>
        <p:nvSpPr>
          <p:cNvPr id="118808" name="Line 26"/>
          <p:cNvSpPr/>
          <p:nvPr/>
        </p:nvSpPr>
        <p:spPr>
          <a:xfrm>
            <a:off x="431800" y="5562600"/>
            <a:ext cx="3505200" cy="0"/>
          </a:xfrm>
          <a:prstGeom prst="line">
            <a:avLst/>
          </a:prstGeom>
          <a:ln w="19050" cap="sq" cmpd="sng">
            <a:solidFill>
              <a:srgbClr val="7A48C4"/>
            </a:solidFill>
            <a:prstDash val="solid"/>
            <a:round/>
            <a:headEnd type="none" w="sm" len="sm"/>
            <a:tailEnd type="none" w="sm" len="sm"/>
          </a:ln>
        </p:spPr>
      </p:sp>
      <p:sp>
        <p:nvSpPr>
          <p:cNvPr id="118809" name="Text Box 27"/>
          <p:cNvSpPr txBox="1"/>
          <p:nvPr/>
        </p:nvSpPr>
        <p:spPr>
          <a:xfrm>
            <a:off x="1689100" y="5448300"/>
            <a:ext cx="73914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1 1.0 1 1 1 0   </a:t>
            </a:r>
            <a:r>
              <a:rPr lang="zh-CN" altLang="en-US" sz="2400" b="1" dirty="0">
                <a:solidFill>
                  <a:srgbClr val="FF3300"/>
                </a:solidFill>
                <a:latin typeface="宋体" panose="02010600030101010101" pitchFamily="2" charset="-122"/>
                <a:ea typeface="宋体" panose="02010600030101010101" pitchFamily="2" charset="-122"/>
              </a:rPr>
              <a:t>0.1 0 1 1 0</a:t>
            </a:r>
            <a:r>
              <a:rPr lang="zh-CN" altLang="en-US" sz="2400" b="1" dirty="0">
                <a:solidFill>
                  <a:srgbClr val="0000FF"/>
                </a:solidFill>
                <a:latin typeface="宋体" panose="02010600030101010101" pitchFamily="2" charset="-122"/>
                <a:ea typeface="宋体" panose="02010600030101010101" pitchFamily="2" charset="-122"/>
              </a:rPr>
              <a:t>    </a:t>
            </a:r>
            <a:r>
              <a:rPr lang="zh-CN" altLang="en-US" sz="2000" b="1" dirty="0">
                <a:solidFill>
                  <a:srgbClr val="0000FF"/>
                </a:solidFill>
                <a:latin typeface="宋体" panose="02010600030101010101" pitchFamily="2" charset="-122"/>
                <a:ea typeface="宋体" panose="02010600030101010101" pitchFamily="2" charset="-122"/>
              </a:rPr>
              <a:t>余数为负，商0</a:t>
            </a:r>
            <a:endParaRPr lang="zh-CN" altLang="en-US" sz="2000" b="1" dirty="0">
              <a:solidFill>
                <a:srgbClr val="0000FF"/>
              </a:solidFill>
              <a:latin typeface="宋体" panose="02010600030101010101" pitchFamily="2" charset="-122"/>
              <a:ea typeface="宋体" panose="02010600030101010101" pitchFamily="2" charset="-122"/>
            </a:endParaRPr>
          </a:p>
        </p:txBody>
      </p:sp>
      <p:sp>
        <p:nvSpPr>
          <p:cNvPr id="118810" name="Text Box 28"/>
          <p:cNvSpPr txBox="1"/>
          <p:nvPr/>
        </p:nvSpPr>
        <p:spPr>
          <a:xfrm>
            <a:off x="317500" y="5676900"/>
            <a:ext cx="89344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     0 0.1 1 1 1 0                  </a:t>
            </a:r>
            <a:r>
              <a:rPr lang="zh-CN" altLang="en-US" sz="2000" b="1" dirty="0">
                <a:solidFill>
                  <a:srgbClr val="0000FF"/>
                </a:solidFill>
                <a:latin typeface="宋体" panose="02010600030101010101" pitchFamily="2" charset="-122"/>
                <a:ea typeface="宋体" panose="02010600030101010101" pitchFamily="2" charset="-122"/>
              </a:rPr>
              <a:t>恢复余数，+|</a:t>
            </a:r>
            <a:r>
              <a:rPr lang="en-US" altLang="zh-CN" sz="2000" b="1" dirty="0">
                <a:solidFill>
                  <a:srgbClr val="0000FF"/>
                </a:solidFill>
                <a:latin typeface="宋体" panose="02010600030101010101" pitchFamily="2" charset="-122"/>
                <a:ea typeface="宋体" panose="02010600030101010101" pitchFamily="2" charset="-122"/>
              </a:rPr>
              <a:t>Y|</a:t>
            </a:r>
            <a:endParaRPr lang="en-US" altLang="zh-CN" sz="2000" b="1" dirty="0">
              <a:solidFill>
                <a:srgbClr val="0000FF"/>
              </a:solidFill>
              <a:latin typeface="宋体" panose="02010600030101010101" pitchFamily="2" charset="-122"/>
              <a:ea typeface="宋体" panose="02010600030101010101" pitchFamily="2" charset="-122"/>
            </a:endParaRPr>
          </a:p>
        </p:txBody>
      </p:sp>
      <p:sp>
        <p:nvSpPr>
          <p:cNvPr id="118811" name="Line 29"/>
          <p:cNvSpPr/>
          <p:nvPr/>
        </p:nvSpPr>
        <p:spPr>
          <a:xfrm>
            <a:off x="469900" y="6057900"/>
            <a:ext cx="3505200" cy="0"/>
          </a:xfrm>
          <a:prstGeom prst="line">
            <a:avLst/>
          </a:prstGeom>
          <a:ln w="19050" cap="sq" cmpd="sng">
            <a:solidFill>
              <a:srgbClr val="7A48C4"/>
            </a:solidFill>
            <a:prstDash val="solid"/>
            <a:round/>
            <a:headEnd type="none" w="sm" len="sm"/>
            <a:tailEnd type="none" w="sm" len="sm"/>
          </a:ln>
        </p:spPr>
      </p:sp>
      <p:sp>
        <p:nvSpPr>
          <p:cNvPr id="118812" name="Text Box 30"/>
          <p:cNvSpPr txBox="1"/>
          <p:nvPr/>
        </p:nvSpPr>
        <p:spPr>
          <a:xfrm>
            <a:off x="1708150" y="5943600"/>
            <a:ext cx="739140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0 0.0 1 1 0 0</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18813" name="矩形 1"/>
          <p:cNvSpPr/>
          <p:nvPr/>
        </p:nvSpPr>
        <p:spPr>
          <a:xfrm>
            <a:off x="4814888" y="676275"/>
            <a:ext cx="2913062" cy="400050"/>
          </a:xfrm>
          <a:prstGeom prst="rect">
            <a:avLst/>
          </a:prstGeom>
          <a:noFill/>
          <a:ln w="9525">
            <a:noFill/>
          </a:ln>
        </p:spPr>
        <p:txBody>
          <a:bodyPr wrap="none" anchor="t" anchorCtr="0">
            <a:spAutoFit/>
          </a:bodyPr>
          <a:p>
            <a:pPr lvl="1" indent="0" algn="just" eaLnBrk="0" hangingPunct="0">
              <a:buNone/>
            </a:pPr>
            <a:r>
              <a:rPr lang="en-US" altLang="zh-CN" sz="2000" dirty="0">
                <a:solidFill>
                  <a:srgbClr val="0000FF"/>
                </a:solidFill>
                <a:latin typeface="宋体" panose="02010600030101010101" pitchFamily="2" charset="-122"/>
                <a:ea typeface="宋体" panose="02010600030101010101" pitchFamily="2" charset="-122"/>
              </a:rPr>
              <a:t>[|Y|]</a:t>
            </a:r>
            <a:r>
              <a:rPr lang="zh-CN" altLang="en-US" sz="2000" dirty="0">
                <a:solidFill>
                  <a:srgbClr val="0000FF"/>
                </a:solidFill>
                <a:latin typeface="宋体" panose="02010600030101010101" pitchFamily="2" charset="-122"/>
                <a:ea typeface="宋体" panose="02010600030101010101" pitchFamily="2" charset="-122"/>
              </a:rPr>
              <a:t> </a:t>
            </a:r>
            <a:r>
              <a:rPr lang="zh-CN" altLang="en-US" sz="2000" baseline="-25000" dirty="0">
                <a:solidFill>
                  <a:srgbClr val="0000FF"/>
                </a:solidFill>
                <a:latin typeface="宋体" panose="02010600030101010101" pitchFamily="2" charset="-122"/>
                <a:ea typeface="宋体" panose="02010600030101010101" pitchFamily="2" charset="-122"/>
              </a:rPr>
              <a:t>变补</a:t>
            </a:r>
            <a:r>
              <a:rPr lang="en-US" altLang="zh-CN" sz="2000" dirty="0">
                <a:solidFill>
                  <a:srgbClr val="0000FF"/>
                </a:solidFill>
                <a:latin typeface="宋体" panose="02010600030101010101" pitchFamily="2" charset="-122"/>
                <a:ea typeface="宋体" panose="02010600030101010101" pitchFamily="2" charset="-122"/>
              </a:rPr>
              <a:t>=11.00010</a:t>
            </a:r>
            <a:endParaRPr lang="en-US" altLang="zh-CN" sz="2000" dirty="0">
              <a:solidFill>
                <a:srgbClr val="0000FF"/>
              </a:solidFill>
              <a:latin typeface="宋体" panose="02010600030101010101" pitchFamily="2" charset="-122"/>
              <a:ea typeface="宋体" panose="02010600030101010101" pitchFamily="2" charset="-122"/>
            </a:endParaRPr>
          </a:p>
        </p:txBody>
      </p:sp>
      <p:sp>
        <p:nvSpPr>
          <p:cNvPr id="118814" name="矩形 2"/>
          <p:cNvSpPr/>
          <p:nvPr/>
        </p:nvSpPr>
        <p:spPr>
          <a:xfrm>
            <a:off x="5327650" y="357188"/>
            <a:ext cx="1887538" cy="368300"/>
          </a:xfrm>
          <a:prstGeom prst="rect">
            <a:avLst/>
          </a:prstGeom>
          <a:noFill/>
          <a:ln w="9525">
            <a:noFill/>
          </a:ln>
        </p:spPr>
        <p:txBody>
          <a:bodyPr wrap="none" anchor="t" anchorCtr="0">
            <a:spAutoFit/>
          </a:bodyPr>
          <a:p>
            <a:pPr eaLnBrk="0" hangingPunct="0"/>
            <a:r>
              <a:rPr lang="en-US" altLang="zh-CN" dirty="0">
                <a:solidFill>
                  <a:srgbClr val="0000FF"/>
                </a:solidFill>
                <a:latin typeface="Arial" panose="020B0604020202020204" pitchFamily="34" charset="0"/>
              </a:rPr>
              <a:t>|Y|=00.11110→B</a:t>
            </a:r>
            <a:endParaRPr lang="zh-CN" altLang="en-US" dirty="0">
              <a:solidFill>
                <a:srgbClr val="0000FF"/>
              </a:solidFill>
              <a:latin typeface="Arial" panose="020B0604020202020204" pitchFamily="34" charset="0"/>
            </a:endParaRPr>
          </a:p>
        </p:txBody>
      </p:sp>
      <p:sp>
        <p:nvSpPr>
          <p:cNvPr id="118815" name="文本框 1"/>
          <p:cNvSpPr txBox="1"/>
          <p:nvPr/>
        </p:nvSpPr>
        <p:spPr>
          <a:xfrm>
            <a:off x="2147888" y="771525"/>
            <a:ext cx="1008062" cy="461963"/>
          </a:xfrm>
          <a:prstGeom prst="rect">
            <a:avLst/>
          </a:prstGeom>
          <a:noFill/>
          <a:ln w="9525">
            <a:noFill/>
          </a:ln>
        </p:spPr>
        <p:txBody>
          <a:bodyPr anchor="t" anchorCtr="0">
            <a:spAutoFit/>
          </a:bodyPr>
          <a:p>
            <a:pPr algn="ctr" eaLnBrk="0" hangingPunct="0"/>
            <a:r>
              <a:rPr lang="en-US" altLang="zh-CN" sz="2400" b="1" dirty="0">
                <a:solidFill>
                  <a:srgbClr val="FF0000"/>
                </a:solidFill>
                <a:latin typeface="Arial" panose="020B0604020202020204" pitchFamily="34" charset="0"/>
              </a:rPr>
              <a:t>A</a:t>
            </a:r>
            <a:endParaRPr lang="zh-CN" altLang="en-US" sz="2400" b="1" dirty="0">
              <a:solidFill>
                <a:srgbClr val="FF0000"/>
              </a:solidFill>
              <a:latin typeface="Arial" panose="020B0604020202020204" pitchFamily="34" charset="0"/>
            </a:endParaRPr>
          </a:p>
        </p:txBody>
      </p:sp>
      <p:sp>
        <p:nvSpPr>
          <p:cNvPr id="118816" name="文本框 32"/>
          <p:cNvSpPr txBox="1"/>
          <p:nvPr/>
        </p:nvSpPr>
        <p:spPr>
          <a:xfrm>
            <a:off x="4370388" y="771525"/>
            <a:ext cx="1008062" cy="461963"/>
          </a:xfrm>
          <a:prstGeom prst="rect">
            <a:avLst/>
          </a:prstGeom>
          <a:noFill/>
          <a:ln w="9525">
            <a:noFill/>
          </a:ln>
        </p:spPr>
        <p:txBody>
          <a:bodyPr anchor="t" anchorCtr="0">
            <a:spAutoFit/>
          </a:bodyPr>
          <a:p>
            <a:pPr algn="ctr" eaLnBrk="0" hangingPunct="0"/>
            <a:r>
              <a:rPr lang="en-US" altLang="zh-CN" sz="2400" b="1" dirty="0">
                <a:solidFill>
                  <a:srgbClr val="FF0000"/>
                </a:solidFill>
                <a:latin typeface="Arial" panose="020B0604020202020204" pitchFamily="34" charset="0"/>
              </a:rPr>
              <a:t>C</a:t>
            </a:r>
            <a:endParaRPr lang="zh-CN" altLang="en-US" sz="2400" b="1" dirty="0">
              <a:solidFill>
                <a:srgbClr val="FF0000"/>
              </a:solidFill>
              <a:latin typeface="Arial" panose="020B0604020202020204" pitchFamily="34" charset="0"/>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19809" name="标题 1"/>
          <p:cNvSpPr>
            <a:spLocks noGrp="1"/>
          </p:cNvSpPr>
          <p:nvPr>
            <p:ph type="title"/>
          </p:nvPr>
        </p:nvSpPr>
        <p:spPr>
          <a:noFill/>
          <a:ln>
            <a:noFill/>
          </a:ln>
        </p:spPr>
        <p:txBody>
          <a:bodyPr anchor="t" anchorCtr="0"/>
          <a:p>
            <a:r>
              <a:rPr lang="zh-CN" altLang="en-US" dirty="0"/>
              <a:t>原码不恢复余数除法示例（续）</a:t>
            </a:r>
            <a:endParaRPr lang="zh-CN" altLang="en-US" dirty="0"/>
          </a:p>
        </p:txBody>
      </p:sp>
      <p:sp>
        <p:nvSpPr>
          <p:cNvPr id="3" name="内容占位符 2"/>
          <p:cNvSpPr>
            <a:spLocks noGrp="1"/>
          </p:cNvSpPr>
          <p:nvPr>
            <p:ph idx="1"/>
          </p:nvPr>
        </p:nvSpPr>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经过原码不恢复余数除法，有：</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None/>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商</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=0.10110</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余数</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=0.01100</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2</a:t>
            </a:r>
            <a:r>
              <a:rPr kumimoji="0" lang="en-US" altLang="zh-CN" sz="2800" b="1" i="0" u="none" strike="noStrike" kern="0" cap="none" spc="0" normalizeH="0" baseline="30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-5</a:t>
            </a:r>
            <a:endParaRPr kumimoji="0" lang="en-US" altLang="zh-CN" sz="2800" b="1" i="0" u="none" strike="noStrike" kern="0" cap="none" spc="0" normalizeH="0" baseline="30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∴X÷Y=-</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0.10110+                            </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pic>
        <p:nvPicPr>
          <p:cNvPr id="119811" name="图片 3"/>
          <p:cNvPicPr>
            <a:picLocks noChangeAspect="1"/>
          </p:cNvPicPr>
          <p:nvPr/>
        </p:nvPicPr>
        <p:blipFill>
          <a:blip r:embed="rId1"/>
          <a:stretch>
            <a:fillRect/>
          </a:stretch>
        </p:blipFill>
        <p:spPr>
          <a:xfrm>
            <a:off x="4425950" y="3068638"/>
            <a:ext cx="2824163" cy="1328737"/>
          </a:xfrm>
          <a:prstGeom prst="rect">
            <a:avLst/>
          </a:prstGeom>
          <a:noFill/>
          <a:ln w="9525">
            <a:noFill/>
          </a:ln>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083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原码加减交替除法流程图</a:t>
            </a:r>
            <a:endParaRPr lang="zh-CN" altLang="en-US" dirty="0">
              <a:latin typeface="Times New Roman" panose="02020603050405020304" pitchFamily="18" charset="0"/>
            </a:endParaRPr>
          </a:p>
        </p:txBody>
      </p:sp>
      <p:graphicFrame>
        <p:nvGraphicFramePr>
          <p:cNvPr id="120834" name="Object 4"/>
          <p:cNvGraphicFramePr>
            <a:graphicFrameLocks noChangeAspect="1"/>
          </p:cNvGraphicFramePr>
          <p:nvPr/>
        </p:nvGraphicFramePr>
        <p:xfrm>
          <a:off x="684213" y="850900"/>
          <a:ext cx="3259137" cy="5646738"/>
        </p:xfrm>
        <a:graphic>
          <a:graphicData uri="http://schemas.openxmlformats.org/presentationml/2006/ole">
            <mc:AlternateContent xmlns:mc="http://schemas.openxmlformats.org/markup-compatibility/2006">
              <mc:Choice xmlns:v="urn:schemas-microsoft-com:vml" Requires="v">
                <p:oleObj spid="_x0000_s3089" name="" r:id="rId1" imgW="2204085" imgH="3812540" progId="Visio.Drawing.11">
                  <p:embed/>
                </p:oleObj>
              </mc:Choice>
              <mc:Fallback>
                <p:oleObj name="" r:id="rId1" imgW="2204085" imgH="3812540" progId="Visio.Drawing.11">
                  <p:embed/>
                  <p:pic>
                    <p:nvPicPr>
                      <p:cNvPr id="0" name="图片 3088"/>
                      <p:cNvPicPr/>
                      <p:nvPr/>
                    </p:nvPicPr>
                    <p:blipFill>
                      <a:blip r:embed="rId2"/>
                      <a:stretch>
                        <a:fillRect/>
                      </a:stretch>
                    </p:blipFill>
                    <p:spPr>
                      <a:xfrm>
                        <a:off x="684213" y="850900"/>
                        <a:ext cx="3259137" cy="5646738"/>
                      </a:xfrm>
                      <a:prstGeom prst="rect">
                        <a:avLst/>
                      </a:prstGeom>
                      <a:noFill/>
                      <a:ln w="38100">
                        <a:noFill/>
                        <a:miter/>
                      </a:ln>
                    </p:spPr>
                  </p:pic>
                </p:oleObj>
              </mc:Fallback>
            </mc:AlternateContent>
          </a:graphicData>
        </a:graphic>
      </p:graphicFrame>
      <p:sp>
        <p:nvSpPr>
          <p:cNvPr id="120835" name="Rectangle 6"/>
          <p:cNvSpPr>
            <a:spLocks noGrp="1"/>
          </p:cNvSpPr>
          <p:nvPr>
            <p:ph idx="1"/>
          </p:nvPr>
        </p:nvSpPr>
        <p:spPr>
          <a:xfrm>
            <a:off x="3419475" y="5805488"/>
            <a:ext cx="5411788" cy="539750"/>
          </a:xfrm>
          <a:noFill/>
          <a:ln>
            <a:noFill/>
          </a:ln>
        </p:spPr>
        <p:txBody>
          <a:bodyPr anchor="t" anchorCtr="0"/>
          <a:p>
            <a:pPr algn="ctr" eaLnBrk="1" hangingPunct="1">
              <a:buFontTx/>
              <a:buNone/>
            </a:pPr>
            <a:r>
              <a:rPr lang="zh-CN" altLang="en-US" sz="2400" dirty="0">
                <a:latin typeface="Times New Roman" panose="02020603050405020304" pitchFamily="18" charset="0"/>
              </a:rPr>
              <a:t>    图4-17 原码加减交替除法流程图</a:t>
            </a:r>
            <a:endParaRPr lang="zh-CN" altLang="en-US" sz="2400" dirty="0">
              <a:latin typeface="Times New Roman" panose="02020603050405020304" pitchFamily="18" charset="0"/>
            </a:endParaRPr>
          </a:p>
        </p:txBody>
      </p:sp>
      <p:sp>
        <p:nvSpPr>
          <p:cNvPr id="120836" name="文本框 1"/>
          <p:cNvSpPr txBox="1"/>
          <p:nvPr/>
        </p:nvSpPr>
        <p:spPr>
          <a:xfrm>
            <a:off x="4572000" y="1268413"/>
            <a:ext cx="3960813" cy="1014412"/>
          </a:xfrm>
          <a:prstGeom prst="rect">
            <a:avLst/>
          </a:prstGeom>
          <a:noFill/>
          <a:ln w="9525">
            <a:noFill/>
          </a:ln>
        </p:spPr>
        <p:txBody>
          <a:bodyPr anchor="t" anchorCtr="0">
            <a:spAutoFit/>
          </a:bodyPr>
          <a:p>
            <a:pPr marL="342900" indent="-342900" eaLnBrk="0" hangingPunct="0">
              <a:buFont typeface="Wingdings" panose="05000000000000000000" charset="0"/>
              <a:buChar char="u"/>
            </a:pPr>
            <a:r>
              <a:rPr lang="zh-CN" altLang="en-US" sz="2000" dirty="0">
                <a:solidFill>
                  <a:srgbClr val="0000FF"/>
                </a:solidFill>
                <a:latin typeface="Times New Roman" panose="02020603050405020304" pitchFamily="18" charset="0"/>
                <a:ea typeface="宋体" panose="02010600030101010101" pitchFamily="2" charset="-122"/>
              </a:rPr>
              <a:t>被除数和除数的绝对值分别放在</a:t>
            </a:r>
            <a:r>
              <a:rPr lang="en-US" altLang="zh-CN" sz="2000" dirty="0">
                <a:solidFill>
                  <a:srgbClr val="0000FF"/>
                </a:solidFill>
                <a:latin typeface="Times New Roman" panose="02020603050405020304" pitchFamily="18" charset="0"/>
                <a:ea typeface="宋体" panose="02010600030101010101" pitchFamily="2" charset="-122"/>
              </a:rPr>
              <a:t>A</a:t>
            </a:r>
            <a:r>
              <a:rPr lang="zh-CN" altLang="en-US" sz="2000" dirty="0">
                <a:solidFill>
                  <a:srgbClr val="0000FF"/>
                </a:solidFill>
                <a:latin typeface="Times New Roman" panose="02020603050405020304" pitchFamily="18" charset="0"/>
                <a:ea typeface="宋体" panose="02010600030101010101" pitchFamily="2" charset="-122"/>
              </a:rPr>
              <a:t>和</a:t>
            </a:r>
            <a:r>
              <a:rPr lang="en-US" altLang="zh-CN" sz="2000" dirty="0">
                <a:solidFill>
                  <a:srgbClr val="0000FF"/>
                </a:solidFill>
                <a:latin typeface="Times New Roman" panose="02020603050405020304" pitchFamily="18" charset="0"/>
                <a:ea typeface="宋体" panose="02010600030101010101" pitchFamily="2" charset="-122"/>
              </a:rPr>
              <a:t>B</a:t>
            </a:r>
            <a:r>
              <a:rPr lang="zh-CN" altLang="en-US" sz="2000" dirty="0">
                <a:solidFill>
                  <a:srgbClr val="0000FF"/>
                </a:solidFill>
                <a:latin typeface="Times New Roman" panose="02020603050405020304" pitchFamily="18" charset="0"/>
                <a:ea typeface="宋体" panose="02010600030101010101" pitchFamily="2" charset="-122"/>
              </a:rPr>
              <a:t>中，</a:t>
            </a:r>
            <a:r>
              <a:rPr lang="en-US" altLang="zh-CN" sz="2000" dirty="0">
                <a:solidFill>
                  <a:srgbClr val="0000FF"/>
                </a:solidFill>
                <a:latin typeface="Times New Roman" panose="02020603050405020304" pitchFamily="18" charset="0"/>
                <a:ea typeface="宋体" panose="02010600030101010101" pitchFamily="2" charset="-122"/>
              </a:rPr>
              <a:t>C</a:t>
            </a:r>
            <a:r>
              <a:rPr lang="zh-CN" altLang="en-US" sz="2000" dirty="0">
                <a:solidFill>
                  <a:srgbClr val="0000FF"/>
                </a:solidFill>
                <a:latin typeface="Times New Roman" panose="02020603050405020304" pitchFamily="18" charset="0"/>
                <a:ea typeface="宋体" panose="02010600030101010101" pitchFamily="2" charset="-122"/>
              </a:rPr>
              <a:t>中存放商，初值为</a:t>
            </a:r>
            <a:r>
              <a:rPr lang="en-US" altLang="zh-CN" sz="2000" dirty="0">
                <a:solidFill>
                  <a:srgbClr val="0000FF"/>
                </a:solidFill>
                <a:latin typeface="Times New Roman" panose="02020603050405020304" pitchFamily="18" charset="0"/>
                <a:ea typeface="宋体" panose="02010600030101010101" pitchFamily="2" charset="-122"/>
              </a:rPr>
              <a:t>0</a:t>
            </a:r>
            <a:r>
              <a:rPr lang="zh-CN" altLang="en-US" sz="2000" dirty="0">
                <a:solidFill>
                  <a:srgbClr val="0000FF"/>
                </a:solidFill>
                <a:latin typeface="Times New Roman" panose="02020603050405020304" pitchFamily="18" charset="0"/>
                <a:ea typeface="宋体" panose="02010600030101010101" pitchFamily="2" charset="-122"/>
              </a:rPr>
              <a:t>；</a:t>
            </a:r>
            <a:r>
              <a:rPr lang="en-US" altLang="zh-CN" sz="2000" dirty="0">
                <a:solidFill>
                  <a:srgbClr val="0000FF"/>
                </a:solidFill>
                <a:latin typeface="Times New Roman" panose="02020603050405020304" pitchFamily="18" charset="0"/>
                <a:ea typeface="宋体" panose="02010600030101010101" pitchFamily="2" charset="-122"/>
              </a:rPr>
              <a:t>CR</a:t>
            </a:r>
            <a:r>
              <a:rPr lang="zh-CN" altLang="en-US" sz="2000" dirty="0">
                <a:solidFill>
                  <a:srgbClr val="0000FF"/>
                </a:solidFill>
                <a:latin typeface="Times New Roman" panose="02020603050405020304" pitchFamily="18" charset="0"/>
                <a:ea typeface="宋体" panose="02010600030101010101" pitchFamily="2" charset="-122"/>
              </a:rPr>
              <a:t>是计数器。</a:t>
            </a:r>
            <a:endParaRPr lang="zh-CN" altLang="en-US" sz="2000" dirty="0">
              <a:solidFill>
                <a:srgbClr val="0000FF"/>
              </a:solidFill>
              <a:latin typeface="Times New Roman" panose="02020603050405020304" pitchFamily="18" charset="0"/>
              <a:ea typeface="宋体" panose="02010600030101010101" pitchFamily="2" charset="-122"/>
            </a:endParaRPr>
          </a:p>
        </p:txBody>
      </p:sp>
      <p:sp>
        <p:nvSpPr>
          <p:cNvPr id="120837" name="文本框 5"/>
          <p:cNvSpPr txBox="1"/>
          <p:nvPr/>
        </p:nvSpPr>
        <p:spPr>
          <a:xfrm>
            <a:off x="4572000" y="2568575"/>
            <a:ext cx="3960813" cy="398463"/>
          </a:xfrm>
          <a:prstGeom prst="rect">
            <a:avLst/>
          </a:prstGeom>
          <a:noFill/>
          <a:ln w="9525">
            <a:noFill/>
          </a:ln>
        </p:spPr>
        <p:txBody>
          <a:bodyPr anchor="t" anchorCtr="0">
            <a:spAutoFit/>
          </a:bodyPr>
          <a:p>
            <a:pPr marL="342900" indent="-342900" eaLnBrk="0" hangingPunct="0">
              <a:buFont typeface="Wingdings" panose="05000000000000000000" charset="0"/>
              <a:buChar char="u"/>
            </a:pPr>
            <a:r>
              <a:rPr lang="zh-CN" altLang="en-US" sz="2000" dirty="0">
                <a:solidFill>
                  <a:srgbClr val="0000FF"/>
                </a:solidFill>
                <a:latin typeface="Times New Roman" panose="02020603050405020304" pitchFamily="18" charset="0"/>
                <a:ea typeface="宋体" panose="02010600030101010101" pitchFamily="2" charset="-122"/>
              </a:rPr>
              <a:t>第一次做减法。</a:t>
            </a:r>
            <a:endParaRPr lang="zh-CN" altLang="en-US" sz="2000" dirty="0">
              <a:solidFill>
                <a:srgbClr val="0000FF"/>
              </a:solidFill>
              <a:latin typeface="Times New Roman" panose="02020603050405020304" pitchFamily="18" charset="0"/>
              <a:ea typeface="宋体" panose="02010600030101010101" pitchFamily="2" charset="-122"/>
            </a:endParaRPr>
          </a:p>
        </p:txBody>
      </p:sp>
      <p:sp>
        <p:nvSpPr>
          <p:cNvPr id="120838" name="文本框 6"/>
          <p:cNvSpPr txBox="1"/>
          <p:nvPr/>
        </p:nvSpPr>
        <p:spPr>
          <a:xfrm>
            <a:off x="4572000" y="3302000"/>
            <a:ext cx="3960813" cy="1014413"/>
          </a:xfrm>
          <a:prstGeom prst="rect">
            <a:avLst/>
          </a:prstGeom>
          <a:noFill/>
          <a:ln w="9525">
            <a:noFill/>
          </a:ln>
        </p:spPr>
        <p:txBody>
          <a:bodyPr anchor="t" anchorCtr="0">
            <a:spAutoFit/>
          </a:bodyPr>
          <a:p>
            <a:pPr marL="342900" indent="-342900" eaLnBrk="0" hangingPunct="0">
              <a:buFont typeface="Wingdings" panose="05000000000000000000" charset="0"/>
              <a:buChar char="u"/>
            </a:pPr>
            <a:r>
              <a:rPr lang="zh-CN" altLang="en-US" sz="2000" dirty="0">
                <a:solidFill>
                  <a:srgbClr val="0000FF"/>
                </a:solidFill>
                <a:latin typeface="Times New Roman" panose="02020603050405020304" pitchFamily="18" charset="0"/>
                <a:ea typeface="宋体" panose="02010600030101010101" pitchFamily="2" charset="-122"/>
              </a:rPr>
              <a:t>根据部分余数的符号（正负）决定下次做加法还是减法（减法转换为补码的加法实现）。</a:t>
            </a:r>
            <a:endParaRPr lang="zh-CN" altLang="en-US" sz="2000" dirty="0">
              <a:solidFill>
                <a:srgbClr val="0000FF"/>
              </a:solidFill>
              <a:latin typeface="Times New Roman" panose="02020603050405020304" pitchFamily="18" charset="0"/>
              <a:ea typeface="宋体" panose="02010600030101010101" pitchFamily="2" charset="-122"/>
            </a:endParaRPr>
          </a:p>
        </p:txBody>
      </p:sp>
      <p:sp>
        <p:nvSpPr>
          <p:cNvPr id="120839" name="文本框 7"/>
          <p:cNvSpPr txBox="1"/>
          <p:nvPr/>
        </p:nvSpPr>
        <p:spPr>
          <a:xfrm>
            <a:off x="4572000" y="4554538"/>
            <a:ext cx="3960813" cy="398462"/>
          </a:xfrm>
          <a:prstGeom prst="rect">
            <a:avLst/>
          </a:prstGeom>
          <a:noFill/>
          <a:ln w="9525">
            <a:noFill/>
          </a:ln>
        </p:spPr>
        <p:txBody>
          <a:bodyPr anchor="t" anchorCtr="0">
            <a:spAutoFit/>
          </a:bodyPr>
          <a:p>
            <a:pPr marL="342900" indent="-342900" eaLnBrk="0" hangingPunct="0">
              <a:buFont typeface="Wingdings" panose="05000000000000000000" charset="0"/>
              <a:buChar char="u"/>
            </a:pPr>
            <a:r>
              <a:rPr lang="zh-CN" altLang="en-US" sz="2000" dirty="0">
                <a:solidFill>
                  <a:srgbClr val="0000FF"/>
                </a:solidFill>
                <a:latin typeface="Times New Roman" panose="02020603050405020304" pitchFamily="18" charset="0"/>
                <a:ea typeface="宋体" panose="02010600030101010101" pitchFamily="2" charset="-122"/>
              </a:rPr>
              <a:t>一共做</a:t>
            </a:r>
            <a:r>
              <a:rPr lang="en-US" altLang="zh-CN" sz="2000" dirty="0">
                <a:solidFill>
                  <a:srgbClr val="0000FF"/>
                </a:solidFill>
                <a:latin typeface="Times New Roman" panose="02020603050405020304" pitchFamily="18" charset="0"/>
                <a:ea typeface="宋体" panose="02010600030101010101" pitchFamily="2" charset="-122"/>
              </a:rPr>
              <a:t>n</a:t>
            </a:r>
            <a:r>
              <a:rPr lang="zh-CN" altLang="en-US" sz="2000" dirty="0">
                <a:solidFill>
                  <a:srgbClr val="0000FF"/>
                </a:solidFill>
                <a:latin typeface="Times New Roman" panose="02020603050405020304" pitchFamily="18" charset="0"/>
                <a:ea typeface="宋体" panose="02010600030101010101" pitchFamily="2" charset="-122"/>
              </a:rPr>
              <a:t>次，产生</a:t>
            </a:r>
            <a:r>
              <a:rPr lang="en-US" altLang="zh-CN" sz="2000" dirty="0">
                <a:solidFill>
                  <a:srgbClr val="0000FF"/>
                </a:solidFill>
                <a:latin typeface="Times New Roman" panose="02020603050405020304" pitchFamily="18" charset="0"/>
                <a:ea typeface="宋体" panose="02010600030101010101" pitchFamily="2" charset="-122"/>
              </a:rPr>
              <a:t>n</a:t>
            </a:r>
            <a:r>
              <a:rPr lang="zh-CN" altLang="en-US" sz="2000" dirty="0">
                <a:solidFill>
                  <a:srgbClr val="0000FF"/>
                </a:solidFill>
                <a:latin typeface="Times New Roman" panose="02020603050405020304" pitchFamily="18" charset="0"/>
                <a:ea typeface="宋体" panose="02010600030101010101" pitchFamily="2" charset="-122"/>
              </a:rPr>
              <a:t>位商。</a:t>
            </a:r>
            <a:endParaRPr lang="zh-CN" altLang="en-US" sz="2000" dirty="0">
              <a:solidFill>
                <a:srgbClr val="0000FF"/>
              </a:solidFill>
              <a:latin typeface="Times New Roman" panose="02020603050405020304" pitchFamily="18" charset="0"/>
              <a:ea typeface="宋体" panose="02010600030101010101" pitchFamily="2" charset="-122"/>
            </a:endParaRPr>
          </a:p>
        </p:txBody>
      </p:sp>
      <p:sp>
        <p:nvSpPr>
          <p:cNvPr id="120840" name="文本框 8"/>
          <p:cNvSpPr txBox="1"/>
          <p:nvPr/>
        </p:nvSpPr>
        <p:spPr>
          <a:xfrm>
            <a:off x="4572000" y="5189538"/>
            <a:ext cx="3978275" cy="398462"/>
          </a:xfrm>
          <a:prstGeom prst="rect">
            <a:avLst/>
          </a:prstGeom>
          <a:noFill/>
          <a:ln w="9525">
            <a:noFill/>
          </a:ln>
        </p:spPr>
        <p:txBody>
          <a:bodyPr anchor="t" anchorCtr="0">
            <a:spAutoFit/>
          </a:bodyPr>
          <a:p>
            <a:pPr marL="342900" indent="-342900" eaLnBrk="0" hangingPunct="0">
              <a:buFont typeface="Wingdings" panose="05000000000000000000" charset="0"/>
              <a:buChar char="u"/>
            </a:pPr>
            <a:r>
              <a:rPr lang="zh-CN" altLang="en-US" sz="2000" dirty="0">
                <a:solidFill>
                  <a:srgbClr val="0000FF"/>
                </a:solidFill>
                <a:latin typeface="Times New Roman" panose="02020603050405020304" pitchFamily="18" charset="0"/>
                <a:ea typeface="宋体" panose="02010600030101010101" pitchFamily="2" charset="-122"/>
              </a:rPr>
              <a:t>最后一次要决定是否恢复余数</a:t>
            </a:r>
            <a:endParaRPr lang="zh-CN" altLang="en-US" sz="2000"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185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原码不恢复余数法（续）</a:t>
            </a:r>
            <a:endParaRPr lang="zh-CN" altLang="en-US" dirty="0">
              <a:latin typeface="Times New Roman" panose="02020603050405020304" pitchFamily="18" charset="0"/>
              <a:ea typeface="Times New Roman" panose="02020603050405020304" pitchFamily="18" charset="0"/>
            </a:endParaRPr>
          </a:p>
        </p:txBody>
      </p:sp>
      <p:sp>
        <p:nvSpPr>
          <p:cNvPr id="121858"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为防止溢出，被除数的绝对值小于除数的绝对值</a:t>
            </a:r>
            <a:endParaRPr lang="zh-CN" altLang="en-US" dirty="0">
              <a:latin typeface="Times New Roman" panose="02020603050405020304" pitchFamily="18" charset="0"/>
            </a:endParaRPr>
          </a:p>
          <a:p>
            <a:pPr lvl="1" latinLnBrk="0">
              <a:spcBef>
                <a:spcPts val="1200"/>
              </a:spcBef>
            </a:pPr>
            <a:r>
              <a:rPr lang="en-US" altLang="zh-CN" dirty="0">
                <a:latin typeface="Times New Roman" panose="02020603050405020304" pitchFamily="18" charset="0"/>
              </a:rPr>
              <a:t>|X|</a:t>
            </a:r>
            <a:r>
              <a:rPr lang="zh-CN" altLang="en-US" dirty="0">
                <a:latin typeface="Times New Roman" panose="02020603050405020304" pitchFamily="18" charset="0"/>
              </a:rPr>
              <a:t>＜</a:t>
            </a:r>
            <a:r>
              <a:rPr lang="en-US" altLang="zh-CN" dirty="0">
                <a:latin typeface="Times New Roman" panose="02020603050405020304" pitchFamily="18" charset="0"/>
              </a:rPr>
              <a:t>|Y|</a:t>
            </a:r>
            <a:r>
              <a:rPr lang="zh-CN" altLang="en-US" dirty="0">
                <a:latin typeface="Times New Roman" panose="02020603050405020304" pitchFamily="18" charset="0"/>
              </a:rPr>
              <a:t>（</a:t>
            </a:r>
            <a:r>
              <a:rPr lang="en-US" altLang="zh-CN" dirty="0">
                <a:latin typeface="Times New Roman" panose="02020603050405020304" pitchFamily="18" charset="0"/>
              </a:rPr>
              <a:t>|X|=|Y|</a:t>
            </a:r>
            <a:r>
              <a:rPr lang="zh-CN" altLang="en-US" dirty="0">
                <a:latin typeface="Times New Roman" panose="02020603050405020304" pitchFamily="18" charset="0"/>
              </a:rPr>
              <a:t>除外）；</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除数不能为</a:t>
            </a:r>
            <a:r>
              <a:rPr lang="en-US" altLang="zh-CN" dirty="0">
                <a:latin typeface="Times New Roman" panose="02020603050405020304" pitchFamily="18" charset="0"/>
              </a:rPr>
              <a:t>0</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a:spcBef>
                <a:spcPts val="1800"/>
              </a:spcBef>
            </a:pPr>
            <a:r>
              <a:rPr lang="zh-CN" altLang="en-US" dirty="0">
                <a:latin typeface="Times New Roman" panose="02020603050405020304" pitchFamily="18" charset="0"/>
              </a:rPr>
              <a:t>第一次减除数肯定是不够减的；</a:t>
            </a:r>
            <a:endParaRPr lang="en-US" altLang="zh-CN" dirty="0">
              <a:latin typeface="Times New Roman" panose="02020603050405020304" pitchFamily="18" charset="0"/>
            </a:endParaRPr>
          </a:p>
          <a:p>
            <a:pPr>
              <a:spcBef>
                <a:spcPts val="1800"/>
              </a:spcBef>
            </a:pPr>
            <a:r>
              <a:rPr lang="zh-CN" altLang="en-US" dirty="0">
                <a:latin typeface="Times New Roman" panose="02020603050405020304" pitchFamily="18" charset="0"/>
              </a:rPr>
              <a:t>最终余数为负数时：</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必须恢复一次余数，使之变为</a:t>
            </a:r>
            <a:r>
              <a:rPr lang="zh-CN" altLang="en-US" dirty="0">
                <a:solidFill>
                  <a:srgbClr val="FF0000"/>
                </a:solidFill>
                <a:latin typeface="Times New Roman" panose="02020603050405020304" pitchFamily="18" charset="0"/>
              </a:rPr>
              <a:t>正余数</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不需要再左移。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881" name="标题 1"/>
          <p:cNvSpPr>
            <a:spLocks noGrp="1"/>
          </p:cNvSpPr>
          <p:nvPr>
            <p:ph type="title"/>
          </p:nvPr>
        </p:nvSpPr>
        <p:spPr>
          <a:noFill/>
          <a:ln>
            <a:noFill/>
          </a:ln>
        </p:spPr>
        <p:txBody>
          <a:bodyPr anchor="t" anchorCtr="0"/>
          <a:p>
            <a:pPr>
              <a:spcBef>
                <a:spcPts val="1200"/>
              </a:spcBef>
            </a:pPr>
            <a:r>
              <a:rPr lang="en-US" altLang="zh-CN" dirty="0">
                <a:latin typeface="Times New Roman" panose="02020603050405020304" pitchFamily="18" charset="0"/>
              </a:rPr>
              <a:t>3.</a:t>
            </a:r>
            <a:r>
              <a:rPr lang="zh-CN" altLang="en-US" dirty="0">
                <a:latin typeface="Times New Roman" panose="02020603050405020304" pitchFamily="18" charset="0"/>
              </a:rPr>
              <a:t>原码加减交替除法的实现</a:t>
            </a:r>
            <a:endParaRPr lang="zh-CN" altLang="en-US" dirty="0">
              <a:latin typeface="Times New Roman" panose="02020603050405020304" pitchFamily="18" charset="0"/>
              <a:ea typeface="Times New Roman" panose="02020603050405020304" pitchFamily="18" charset="0"/>
            </a:endParaRPr>
          </a:p>
        </p:txBody>
      </p:sp>
      <p:sp>
        <p:nvSpPr>
          <p:cNvPr id="122882" name="内容占位符 2"/>
          <p:cNvSpPr>
            <a:spLocks noGrp="1"/>
          </p:cNvSpPr>
          <p:nvPr>
            <p:ph idx="1"/>
          </p:nvPr>
        </p:nvSpPr>
        <p:spPr>
          <a:xfrm>
            <a:off x="457200" y="1268413"/>
            <a:ext cx="8229600" cy="5256212"/>
          </a:xfrm>
          <a:noFill/>
          <a:ln>
            <a:noFill/>
          </a:ln>
        </p:spPr>
        <p:txBody>
          <a:bodyPr anchor="t" anchorCtr="0"/>
          <a:p>
            <a:pPr>
              <a:spcBef>
                <a:spcPts val="1200"/>
              </a:spcBef>
            </a:pPr>
            <a:r>
              <a:rPr lang="zh-CN" altLang="en-US" dirty="0">
                <a:latin typeface="Times New Roman" panose="02020603050405020304" pitchFamily="18" charset="0"/>
              </a:rPr>
              <a:t> 图</a:t>
            </a:r>
            <a:r>
              <a:rPr lang="en-US" altLang="zh-CN" dirty="0">
                <a:latin typeface="Times New Roman" panose="02020603050405020304" pitchFamily="18" charset="0"/>
              </a:rPr>
              <a:t>4-18</a:t>
            </a:r>
            <a:r>
              <a:rPr lang="zh-CN" altLang="en-US" dirty="0">
                <a:latin typeface="Times New Roman" panose="02020603050405020304" pitchFamily="18" charset="0"/>
              </a:rPr>
              <a:t>中</a:t>
            </a:r>
            <a:r>
              <a:rPr lang="en-US" altLang="zh-CN"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寄存器长</a:t>
            </a:r>
            <a:r>
              <a:rPr lang="en-US" altLang="zh-CN" dirty="0">
                <a:latin typeface="Times New Roman" panose="02020603050405020304" pitchFamily="18" charset="0"/>
              </a:rPr>
              <a:t>n+2</a:t>
            </a:r>
            <a:r>
              <a:rPr lang="zh-CN" altLang="en-US" dirty="0">
                <a:latin typeface="Times New Roman" panose="02020603050405020304" pitchFamily="18" charset="0"/>
              </a:rPr>
              <a:t>位，</a:t>
            </a:r>
            <a:r>
              <a:rPr lang="en-US" altLang="zh-CN" dirty="0">
                <a:latin typeface="Times New Roman" panose="02020603050405020304" pitchFamily="18" charset="0"/>
              </a:rPr>
              <a:t>C</a:t>
            </a:r>
            <a:r>
              <a:rPr lang="zh-CN" altLang="en-US" dirty="0">
                <a:latin typeface="Times New Roman" panose="02020603050405020304" pitchFamily="18" charset="0"/>
              </a:rPr>
              <a:t>寄存器长</a:t>
            </a:r>
            <a:r>
              <a:rPr lang="en-US" altLang="zh-CN" dirty="0">
                <a:latin typeface="Times New Roman" panose="02020603050405020304" pitchFamily="18" charset="0"/>
              </a:rPr>
              <a:t>n+1</a:t>
            </a:r>
            <a:r>
              <a:rPr lang="zh-CN" altLang="en-US" dirty="0">
                <a:latin typeface="Times New Roman" panose="02020603050405020304" pitchFamily="18" charset="0"/>
              </a:rPr>
              <a:t>位</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还需要：</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一个</a:t>
            </a:r>
            <a:r>
              <a:rPr lang="en-US" altLang="zh-CN" dirty="0">
                <a:latin typeface="Times New Roman" panose="02020603050405020304" pitchFamily="18" charset="0"/>
              </a:rPr>
              <a:t>n+2</a:t>
            </a:r>
            <a:r>
              <a:rPr lang="zh-CN" altLang="en-US" dirty="0">
                <a:latin typeface="Times New Roman" panose="02020603050405020304" pitchFamily="18" charset="0"/>
              </a:rPr>
              <a:t>位的加法器、</a:t>
            </a:r>
            <a:r>
              <a:rPr lang="en-US" altLang="zh-CN" dirty="0">
                <a:latin typeface="Times New Roman" panose="02020603050405020304" pitchFamily="18" charset="0"/>
              </a:rPr>
              <a:t>n+2</a:t>
            </a:r>
            <a:r>
              <a:rPr lang="zh-CN" altLang="en-US" dirty="0">
                <a:latin typeface="Times New Roman" panose="02020603050405020304" pitchFamily="18" charset="0"/>
              </a:rPr>
              <a:t>个与或门；</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一个计数器和一个异或门；</a:t>
            </a:r>
            <a:endParaRPr lang="en-US" altLang="zh-CN" dirty="0">
              <a:latin typeface="Times New Roman" panose="02020603050405020304" pitchFamily="18" charset="0"/>
            </a:endParaRPr>
          </a:p>
          <a:p>
            <a:pPr lvl="1">
              <a:spcBef>
                <a:spcPts val="1200"/>
              </a:spcBef>
            </a:pPr>
            <a:r>
              <a:rPr lang="en-US" altLang="zh-CN" dirty="0">
                <a:latin typeface="Times New Roman" panose="02020603050405020304" pitchFamily="18" charset="0"/>
              </a:rPr>
              <a:t>A</a:t>
            </a:r>
            <a:r>
              <a:rPr lang="zh-CN" altLang="en-US" dirty="0">
                <a:latin typeface="Times New Roman" panose="02020603050405020304" pitchFamily="18" charset="0"/>
              </a:rPr>
              <a:t>和</a:t>
            </a:r>
            <a:r>
              <a:rPr lang="en-US" altLang="zh-CN" dirty="0">
                <a:latin typeface="Times New Roman" panose="02020603050405020304" pitchFamily="18" charset="0"/>
              </a:rPr>
              <a:t>C</a:t>
            </a:r>
            <a:r>
              <a:rPr lang="zh-CN" altLang="en-US" dirty="0">
                <a:latin typeface="Times New Roman" panose="02020603050405020304" pitchFamily="18" charset="0"/>
              </a:rPr>
              <a:t>寄存器级联，都具有左移一位的功能；</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左移信号作用下，</a:t>
            </a:r>
            <a:r>
              <a:rPr lang="en-US" altLang="zh-CN" dirty="0">
                <a:latin typeface="Times New Roman" panose="02020603050405020304" pitchFamily="18" charset="0"/>
              </a:rPr>
              <a:t>C</a:t>
            </a:r>
            <a:r>
              <a:rPr lang="zh-CN" altLang="en-US" dirty="0">
                <a:latin typeface="Times New Roman" panose="02020603050405020304" pitchFamily="18" charset="0"/>
              </a:rPr>
              <a:t>最高位值移入</a:t>
            </a:r>
            <a:r>
              <a:rPr lang="en-US" altLang="zh-CN" dirty="0">
                <a:latin typeface="Times New Roman" panose="02020603050405020304" pitchFamily="18" charset="0"/>
              </a:rPr>
              <a:t>A</a:t>
            </a:r>
            <a:r>
              <a:rPr lang="zh-CN" altLang="en-US" dirty="0">
                <a:latin typeface="Times New Roman" panose="02020603050405020304" pitchFamily="18" charset="0"/>
              </a:rPr>
              <a:t>最低位；</a:t>
            </a:r>
            <a:endParaRPr lang="zh-CN" altLang="en-US" dirty="0">
              <a:latin typeface="Times New Roman" panose="02020603050405020304" pitchFamily="18" charset="0"/>
            </a:endParaRPr>
          </a:p>
          <a:p>
            <a:pPr lvl="1">
              <a:spcBef>
                <a:spcPts val="1200"/>
              </a:spcBef>
            </a:pPr>
            <a:r>
              <a:rPr lang="en-US" altLang="zh-CN" dirty="0">
                <a:solidFill>
                  <a:srgbClr val="FF0000"/>
                </a:solidFill>
                <a:latin typeface="Times New Roman" panose="02020603050405020304" pitchFamily="18" charset="0"/>
              </a:rPr>
              <a:t>A</a:t>
            </a:r>
            <a:r>
              <a:rPr lang="zh-CN" altLang="en-US" dirty="0">
                <a:solidFill>
                  <a:srgbClr val="FF0000"/>
                </a:solidFill>
                <a:latin typeface="Times New Roman" panose="02020603050405020304" pitchFamily="18" charset="0"/>
              </a:rPr>
              <a:t>的初值是被除数，运算过程中变为部分余数</a:t>
            </a:r>
            <a:endParaRPr lang="en-US" altLang="zh-CN" dirty="0">
              <a:latin typeface="Times New Roman" panose="02020603050405020304" pitchFamily="18" charset="0"/>
            </a:endParaRPr>
          </a:p>
          <a:p>
            <a:pPr lvl="1">
              <a:spcBef>
                <a:spcPts val="1200"/>
              </a:spcBef>
            </a:pPr>
            <a:r>
              <a:rPr lang="en-US" altLang="zh-CN" dirty="0">
                <a:latin typeface="Times New Roman" panose="02020603050405020304" pitchFamily="18" charset="0"/>
              </a:rPr>
              <a:t>C</a:t>
            </a:r>
            <a:r>
              <a:rPr lang="zh-CN" altLang="en-US" dirty="0">
                <a:latin typeface="Times New Roman" panose="02020603050405020304" pitchFamily="18" charset="0"/>
              </a:rPr>
              <a:t>寄存器的最低位保存每次运算得到的商值；</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也作为下一次操作是做加法或减法的控制信号。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4929" name="标题 1"/>
          <p:cNvSpPr>
            <a:spLocks noGrp="1"/>
          </p:cNvSpPr>
          <p:nvPr>
            <p:ph type="title"/>
          </p:nvPr>
        </p:nvSpPr>
        <p:spPr>
          <a:noFill/>
          <a:ln>
            <a:noFill/>
          </a:ln>
        </p:spPr>
        <p:txBody>
          <a:bodyPr anchor="t" anchorCtr="0"/>
          <a:p>
            <a:r>
              <a:rPr lang="en-US" altLang="zh-CN" dirty="0"/>
              <a:t>*4.5.2 </a:t>
            </a:r>
            <a:r>
              <a:rPr lang="zh-CN" altLang="en-US" dirty="0"/>
              <a:t>补码除法运算 </a:t>
            </a:r>
            <a:endParaRPr lang="zh-CN" altLang="en-US" dirty="0"/>
          </a:p>
        </p:txBody>
      </p:sp>
      <p:sp>
        <p:nvSpPr>
          <p:cNvPr id="124930" name="内容占位符 2"/>
          <p:cNvSpPr>
            <a:spLocks noGrp="1"/>
          </p:cNvSpPr>
          <p:nvPr>
            <p:ph idx="1"/>
          </p:nvPr>
        </p:nvSpPr>
        <p:spPr>
          <a:xfrm>
            <a:off x="457200" y="1268413"/>
            <a:ext cx="8229600" cy="5113337"/>
          </a:xfrm>
          <a:noFill/>
          <a:ln>
            <a:noFill/>
          </a:ln>
        </p:spPr>
        <p:txBody>
          <a:bodyPr anchor="t" anchorCtr="0"/>
          <a:p>
            <a:r>
              <a:rPr lang="en-US" altLang="zh-CN" dirty="0"/>
              <a:t>1.</a:t>
            </a:r>
            <a:r>
              <a:rPr lang="zh-CN" altLang="en-US" dirty="0"/>
              <a:t>够减的判断</a:t>
            </a:r>
            <a:endParaRPr lang="zh-CN" altLang="en-US" dirty="0"/>
          </a:p>
          <a:p>
            <a:pPr lvl="1">
              <a:spcBef>
                <a:spcPts val="1800"/>
              </a:spcBef>
            </a:pPr>
            <a:r>
              <a:rPr lang="zh-CN" altLang="en-US" dirty="0"/>
              <a:t>参加运算的两个数符号任意，当被除数（或部分余数）的</a:t>
            </a:r>
            <a:r>
              <a:rPr lang="zh-CN" altLang="en-US" dirty="0">
                <a:solidFill>
                  <a:srgbClr val="FF0000"/>
                </a:solidFill>
              </a:rPr>
              <a:t>绝对值</a:t>
            </a:r>
            <a:r>
              <a:rPr lang="zh-CN" altLang="en-US" dirty="0"/>
              <a:t>大于或等于除数的绝对值时，称为够减；反之称为不够减。</a:t>
            </a:r>
            <a:endParaRPr lang="en-US" altLang="zh-CN" dirty="0"/>
          </a:p>
          <a:p>
            <a:pPr lvl="1">
              <a:spcBef>
                <a:spcPts val="1800"/>
              </a:spcBef>
            </a:pPr>
            <a:r>
              <a:rPr lang="zh-CN" altLang="en-US" dirty="0"/>
              <a:t>两数同号时，作减法；两数异号时，作加法。判断的方法和结果：</a:t>
            </a:r>
            <a:endParaRPr lang="en-US" altLang="zh-CN" dirty="0"/>
          </a:p>
          <a:p>
            <a:pPr lvl="2">
              <a:spcBef>
                <a:spcPts val="1200"/>
              </a:spcBef>
            </a:pPr>
            <a:r>
              <a:rPr lang="zh-CN" altLang="en-US" dirty="0"/>
              <a:t>当被除数（或部分余数）与除数</a:t>
            </a:r>
            <a:r>
              <a:rPr lang="zh-CN" altLang="en-US" dirty="0">
                <a:solidFill>
                  <a:srgbClr val="FF0000"/>
                </a:solidFill>
              </a:rPr>
              <a:t>同号</a:t>
            </a:r>
            <a:r>
              <a:rPr lang="zh-CN" altLang="en-US" dirty="0"/>
              <a:t>时，如果</a:t>
            </a:r>
            <a:r>
              <a:rPr lang="zh-CN" altLang="en-US" dirty="0">
                <a:solidFill>
                  <a:srgbClr val="FF0000"/>
                </a:solidFill>
              </a:rPr>
              <a:t>新部分余数与除数同号</a:t>
            </a:r>
            <a:r>
              <a:rPr lang="zh-CN" altLang="en-US" dirty="0"/>
              <a:t>，表示</a:t>
            </a:r>
            <a:r>
              <a:rPr lang="zh-CN" altLang="en-US" dirty="0">
                <a:solidFill>
                  <a:srgbClr val="FF0000"/>
                </a:solidFill>
              </a:rPr>
              <a:t>够减</a:t>
            </a:r>
            <a:r>
              <a:rPr lang="zh-CN" altLang="en-US" dirty="0"/>
              <a:t>，否则为不够减；</a:t>
            </a:r>
            <a:endParaRPr lang="en-US" altLang="zh-CN" dirty="0"/>
          </a:p>
          <a:p>
            <a:pPr lvl="2">
              <a:spcBef>
                <a:spcPts val="1200"/>
              </a:spcBef>
            </a:pPr>
            <a:r>
              <a:rPr lang="zh-CN" altLang="en-US" dirty="0"/>
              <a:t>当被除数（或部分余数）与除数</a:t>
            </a:r>
            <a:r>
              <a:rPr lang="zh-CN" altLang="en-US" dirty="0">
                <a:solidFill>
                  <a:srgbClr val="FF0000"/>
                </a:solidFill>
              </a:rPr>
              <a:t>异号</a:t>
            </a:r>
            <a:r>
              <a:rPr lang="zh-CN" altLang="en-US" dirty="0"/>
              <a:t>时，如果</a:t>
            </a:r>
            <a:r>
              <a:rPr lang="zh-CN" altLang="en-US" dirty="0">
                <a:solidFill>
                  <a:srgbClr val="FF0000"/>
                </a:solidFill>
              </a:rPr>
              <a:t>新部分余数与除数异号</a:t>
            </a:r>
            <a:r>
              <a:rPr lang="zh-CN" altLang="en-US" dirty="0"/>
              <a:t>，表示</a:t>
            </a:r>
            <a:r>
              <a:rPr lang="zh-CN" altLang="en-US" dirty="0">
                <a:solidFill>
                  <a:srgbClr val="FF0000"/>
                </a:solidFill>
              </a:rPr>
              <a:t>够减</a:t>
            </a:r>
            <a:r>
              <a:rPr lang="zh-CN" altLang="en-US" dirty="0"/>
              <a:t>，否则不够减。 </a:t>
            </a:r>
            <a:endParaRPr lang="zh-CN" altLang="en-US" dirty="0"/>
          </a:p>
          <a:p>
            <a:endParaRPr lang="zh-CN" altLang="en-US"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595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上商规则</a:t>
            </a:r>
            <a:endParaRPr lang="zh-CN" altLang="en-US" dirty="0">
              <a:latin typeface="Times New Roman" panose="02020603050405020304" pitchFamily="18" charset="0"/>
              <a:ea typeface="Times New Roman" panose="02020603050405020304" pitchFamily="18" charset="0"/>
            </a:endParaRPr>
          </a:p>
        </p:txBody>
      </p:sp>
      <p:sp>
        <p:nvSpPr>
          <p:cNvPr id="3" name="内容占位符 2"/>
          <p:cNvSpPr>
            <a:spLocks noGrp="1"/>
          </p:cNvSpPr>
          <p:nvPr>
            <p:ph idx="1"/>
          </p:nvPr>
        </p:nvSpPr>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补码除法运算的商也是用补码表示的，上商的规则是：</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如果</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同号</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，则商为</a:t>
            </a:r>
            <a:r>
              <a:rPr kumimoji="0" lang="zh-CN" altLang="en-US"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正数</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。够减时上商“</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，不够减时上商“</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如果</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和</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[Y]</a:t>
            </a:r>
            <a:r>
              <a:rPr kumimoji="0" lang="zh-CN" altLang="en-US"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异号</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，则商为</a:t>
            </a:r>
            <a:r>
              <a:rPr kumimoji="0" lang="zh-CN" altLang="en-US"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负数</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，够减时上商“</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，不够减时上商“</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ts val="12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补码的上商规则可归结为：</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0" i="0" u="none" strike="noStrike" kern="0" cap="none" spc="0" normalizeH="0" baseline="0" noProof="0" dirty="0">
                <a:ln>
                  <a:noFill/>
                </a:ln>
                <a:solidFill>
                  <a:srgbClr val="FF3300"/>
                </a:solidFill>
                <a:effectLst/>
                <a:uLnTx/>
                <a:uFillTx/>
                <a:latin typeface="Times New Roman" panose="02020603050405020304" pitchFamily="18" charset="0"/>
                <a:ea typeface="楷体_GB2312" pitchFamily="49" charset="-122"/>
                <a:cs typeface="Times New Roman" panose="02020603050405020304" pitchFamily="18" charset="0"/>
              </a:rPr>
              <a:t>    </a:t>
            </a:r>
            <a:r>
              <a:rPr kumimoji="0" lang="zh-CN" altLang="en-US" sz="2800" b="0" i="0" u="none" strike="noStrike" kern="0" cap="none" spc="0" normalizeH="0" baseline="0" noProof="0" dirty="0">
                <a:ln>
                  <a:noFill/>
                </a:ln>
                <a:solidFill>
                  <a:srgbClr val="FF3300"/>
                </a:solidFill>
                <a:effectLst/>
                <a:uLnTx/>
                <a:uFillTx/>
                <a:latin typeface="Times New Roman" panose="02020603050405020304" pitchFamily="18" charset="0"/>
                <a:ea typeface="+mn-ea"/>
                <a:cs typeface="Times New Roman" panose="02020603050405020304" pitchFamily="18" charset="0"/>
              </a:rPr>
              <a:t>部分余数[</a:t>
            </a:r>
            <a:r>
              <a:rPr kumimoji="0" lang="en-US" altLang="zh-CN" sz="2800" b="0" i="0" u="none" strike="noStrike" kern="0" cap="none" spc="0" normalizeH="0" baseline="0" noProof="0" dirty="0" err="1">
                <a:ln>
                  <a:noFill/>
                </a:ln>
                <a:solidFill>
                  <a:srgbClr val="FF3300"/>
                </a:solidFill>
                <a:effectLst/>
                <a:uLnTx/>
                <a:uFillTx/>
                <a:latin typeface="Times New Roman" panose="02020603050405020304" pitchFamily="18" charset="0"/>
                <a:ea typeface="+mn-ea"/>
                <a:cs typeface="Times New Roman" panose="02020603050405020304" pitchFamily="18" charset="0"/>
              </a:rPr>
              <a:t>r</a:t>
            </a:r>
            <a:r>
              <a:rPr kumimoji="0" lang="en-US" altLang="zh-CN" sz="2800" b="0" i="0" u="none" strike="noStrike" kern="0" cap="none" spc="0" normalizeH="0" baseline="-30000" noProof="0" dirty="0" err="1">
                <a:ln>
                  <a:noFill/>
                </a:ln>
                <a:solidFill>
                  <a:srgbClr val="FF3300"/>
                </a:solidFill>
                <a:effectLst/>
                <a:uLnTx/>
                <a:uFillTx/>
                <a:latin typeface="Times New Roman" panose="02020603050405020304" pitchFamily="18" charset="0"/>
                <a:ea typeface="+mn-ea"/>
                <a:cs typeface="Times New Roman" panose="02020603050405020304" pitchFamily="18" charset="0"/>
              </a:rPr>
              <a:t>i</a:t>
            </a:r>
            <a:r>
              <a:rPr kumimoji="0" lang="en-US" altLang="zh-CN" sz="2800" b="0" i="0" u="none" strike="noStrike" kern="0" cap="none" spc="0" normalizeH="0" baseline="0" noProof="0" dirty="0">
                <a:ln>
                  <a:noFill/>
                </a:ln>
                <a:solidFill>
                  <a:srgbClr val="FF3300"/>
                </a:solidFill>
                <a:effectLst/>
                <a:uLnTx/>
                <a:uFillTx/>
                <a:latin typeface="Times New Roman" panose="02020603050405020304" pitchFamily="18" charset="0"/>
                <a:ea typeface="+mn-ea"/>
                <a:cs typeface="Times New Roman" panose="02020603050405020304" pitchFamily="18" charset="0"/>
              </a:rPr>
              <a:t>]</a:t>
            </a:r>
            <a:r>
              <a:rPr kumimoji="0" lang="zh-CN" altLang="en-US" sz="2800" b="0" i="0" u="none" strike="noStrike" kern="0" cap="none" spc="0" normalizeH="0" baseline="-30000" noProof="0" dirty="0">
                <a:ln>
                  <a:noFill/>
                </a:ln>
                <a:solidFill>
                  <a:srgbClr val="FF3300"/>
                </a:solidFill>
                <a:effectLst/>
                <a:uLnTx/>
                <a:uFillTx/>
                <a:latin typeface="Times New Roman" panose="02020603050405020304" pitchFamily="18" charset="0"/>
                <a:ea typeface="+mn-ea"/>
                <a:cs typeface="Times New Roman" panose="02020603050405020304" pitchFamily="18" charset="0"/>
              </a:rPr>
              <a:t>补</a:t>
            </a:r>
            <a:r>
              <a:rPr kumimoji="0" lang="zh-CN" altLang="en-US" sz="2800" b="0" i="0" u="none" strike="noStrike" kern="0" cap="none" spc="0" normalizeH="0" baseline="0" noProof="0" dirty="0">
                <a:ln>
                  <a:noFill/>
                </a:ln>
                <a:solidFill>
                  <a:srgbClr val="FF3300"/>
                </a:solidFill>
                <a:effectLst/>
                <a:uLnTx/>
                <a:uFillTx/>
                <a:latin typeface="Times New Roman" panose="02020603050405020304" pitchFamily="18" charset="0"/>
                <a:ea typeface="+mn-ea"/>
                <a:cs typeface="Times New Roman" panose="02020603050405020304" pitchFamily="18" charset="0"/>
              </a:rPr>
              <a:t>和除数[</a:t>
            </a:r>
            <a:r>
              <a:rPr kumimoji="0" lang="en-US" altLang="zh-CN" sz="2800" b="0" i="0" u="none" strike="noStrike" kern="0" cap="none" spc="0" normalizeH="0" baseline="0" noProof="0" dirty="0">
                <a:ln>
                  <a:noFill/>
                </a:ln>
                <a:solidFill>
                  <a:srgbClr val="FF3300"/>
                </a:solidFill>
                <a:effectLst/>
                <a:uLnTx/>
                <a:uFillTx/>
                <a:latin typeface="Times New Roman" panose="02020603050405020304" pitchFamily="18" charset="0"/>
                <a:ea typeface="+mn-ea"/>
                <a:cs typeface="Times New Roman" panose="02020603050405020304" pitchFamily="18" charset="0"/>
              </a:rPr>
              <a:t>Y]</a:t>
            </a:r>
            <a:r>
              <a:rPr kumimoji="0" lang="zh-CN" altLang="en-US" sz="2800" b="0" i="0" u="none" strike="noStrike" kern="0" cap="none" spc="0" normalizeH="0" baseline="-30000" noProof="0" dirty="0">
                <a:ln>
                  <a:noFill/>
                </a:ln>
                <a:solidFill>
                  <a:srgbClr val="FF3300"/>
                </a:solidFill>
                <a:effectLst/>
                <a:uLnTx/>
                <a:uFillTx/>
                <a:latin typeface="Times New Roman" panose="02020603050405020304" pitchFamily="18" charset="0"/>
                <a:ea typeface="+mn-ea"/>
                <a:cs typeface="Times New Roman" panose="02020603050405020304" pitchFamily="18" charset="0"/>
              </a:rPr>
              <a:t>补</a:t>
            </a:r>
            <a:r>
              <a:rPr kumimoji="0" lang="zh-CN" altLang="en-US" sz="2800" b="0" i="0" u="none" strike="noStrike" kern="0" cap="none" spc="0" normalizeH="0" baseline="0" noProof="0" dirty="0">
                <a:ln>
                  <a:noFill/>
                </a:ln>
                <a:solidFill>
                  <a:srgbClr val="FF3300"/>
                </a:solidFill>
                <a:effectLst/>
                <a:uLnTx/>
                <a:uFillTx/>
                <a:latin typeface="Times New Roman" panose="02020603050405020304" pitchFamily="18" charset="0"/>
                <a:ea typeface="+mn-ea"/>
                <a:cs typeface="Times New Roman" panose="02020603050405020304" pitchFamily="18" charset="0"/>
              </a:rPr>
              <a:t>同号，商上“1”，反之，商上“0”。</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6977" name="标题 1"/>
          <p:cNvSpPr>
            <a:spLocks noGrp="1"/>
          </p:cNvSpPr>
          <p:nvPr>
            <p:ph type="title"/>
          </p:nvPr>
        </p:nvSpPr>
        <p:spPr>
          <a:noFill/>
          <a:ln>
            <a:noFill/>
          </a:ln>
        </p:spPr>
        <p:txBody>
          <a:bodyPr anchor="t" anchorCtr="0"/>
          <a:p>
            <a:r>
              <a:rPr lang="en-US" altLang="zh-CN" dirty="0"/>
              <a:t>*3.</a:t>
            </a:r>
            <a:r>
              <a:rPr lang="zh-CN" altLang="en-US" dirty="0"/>
              <a:t>商符的确定</a:t>
            </a:r>
            <a:endParaRPr lang="zh-CN" altLang="en-US" dirty="0"/>
          </a:p>
        </p:txBody>
      </p:sp>
      <p:sp>
        <p:nvSpPr>
          <p:cNvPr id="126978"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商符是在求商的过程中自动形成的，按补码上商规则，第一次得出的商，就是实际应得的商符。</a:t>
            </a:r>
            <a:endParaRPr lang="en-US" altLang="zh-CN" dirty="0">
              <a:latin typeface="Times New Roman" panose="02020603050405020304" pitchFamily="18" charset="0"/>
            </a:endParaRPr>
          </a:p>
          <a:p>
            <a:pPr>
              <a:spcBef>
                <a:spcPts val="1200"/>
              </a:spcBef>
            </a:pPr>
            <a:r>
              <a:rPr lang="zh-CN" altLang="en-US" dirty="0">
                <a:latin typeface="Times New Roman" panose="02020603050405020304" pitchFamily="18" charset="0"/>
              </a:rPr>
              <a:t>为了防止溢出，必须有</a:t>
            </a:r>
            <a:r>
              <a:rPr lang="en-US" altLang="zh-CN" dirty="0">
                <a:latin typeface="Times New Roman" panose="02020603050405020304" pitchFamily="18" charset="0"/>
              </a:rPr>
              <a:t>|X|</a:t>
            </a:r>
            <a:r>
              <a:rPr lang="zh-CN" altLang="en-US" dirty="0">
                <a:latin typeface="Times New Roman" panose="02020603050405020304" pitchFamily="18" charset="0"/>
              </a:rPr>
              <a:t>＜</a:t>
            </a:r>
            <a:r>
              <a:rPr lang="en-US" altLang="zh-CN" dirty="0">
                <a:latin typeface="Times New Roman" panose="02020603050405020304" pitchFamily="18" charset="0"/>
              </a:rPr>
              <a:t>|Y|</a:t>
            </a:r>
            <a:r>
              <a:rPr lang="zh-CN" altLang="en-US" dirty="0">
                <a:latin typeface="Times New Roman" panose="02020603050405020304" pitchFamily="18" charset="0"/>
              </a:rPr>
              <a:t>，所以第一次肯定不够减。</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当被除数与除数同号时，部分余数与除数必然异号，商上“</a:t>
            </a:r>
            <a:r>
              <a:rPr lang="en-US" altLang="zh-CN" dirty="0">
                <a:latin typeface="Times New Roman" panose="02020603050405020304" pitchFamily="18" charset="0"/>
              </a:rPr>
              <a:t>0”</a:t>
            </a:r>
            <a:r>
              <a:rPr lang="zh-CN" altLang="en-US" dirty="0">
                <a:latin typeface="Times New Roman" panose="02020603050405020304" pitchFamily="18" charset="0"/>
              </a:rPr>
              <a:t>，恰好与商符一致；</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当被除数与除数异号，部分余数与除数必然同号，商上“</a:t>
            </a:r>
            <a:r>
              <a:rPr lang="en-US" altLang="zh-CN" dirty="0">
                <a:latin typeface="Times New Roman" panose="02020603050405020304" pitchFamily="18" charset="0"/>
              </a:rPr>
              <a:t>1”</a:t>
            </a:r>
            <a:r>
              <a:rPr lang="zh-CN" altLang="en-US" dirty="0">
                <a:latin typeface="Times New Roman" panose="02020603050405020304" pitchFamily="18" charset="0"/>
              </a:rPr>
              <a:t>，也恰好就是商的符号。</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800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a:t>
            </a:r>
            <a:r>
              <a:rPr lang="zh-CN" altLang="en-US" dirty="0">
                <a:latin typeface="Times New Roman" panose="02020603050405020304" pitchFamily="18" charset="0"/>
              </a:rPr>
              <a:t>求新部分余数</a:t>
            </a:r>
            <a:endParaRPr lang="zh-CN" altLang="en-US" dirty="0">
              <a:latin typeface="Times New Roman" panose="02020603050405020304" pitchFamily="18" charset="0"/>
              <a:ea typeface="Times New Roman" panose="02020603050405020304" pitchFamily="18" charset="0"/>
            </a:endParaRPr>
          </a:p>
        </p:txBody>
      </p:sp>
      <p:sp>
        <p:nvSpPr>
          <p:cNvPr id="12800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求新部分余数</a:t>
            </a:r>
            <a:r>
              <a:rPr lang="en-US" altLang="zh-CN" dirty="0">
                <a:latin typeface="Times New Roman" panose="02020603050405020304" pitchFamily="18" charset="0"/>
              </a:rPr>
              <a:t>[r</a:t>
            </a:r>
            <a:r>
              <a:rPr lang="en-US" altLang="zh-CN" baseline="-25000" dirty="0">
                <a:latin typeface="Times New Roman" panose="02020603050405020304" pitchFamily="18" charset="0"/>
              </a:rPr>
              <a:t>i+1</a:t>
            </a:r>
            <a:r>
              <a:rPr lang="en-US" altLang="zh-CN" dirty="0">
                <a:latin typeface="Times New Roman" panose="02020603050405020304" pitchFamily="18" charset="0"/>
              </a:rPr>
              <a:t>]</a:t>
            </a:r>
            <a:r>
              <a:rPr lang="zh-CN" altLang="en-US" dirty="0">
                <a:latin typeface="Times New Roman" panose="02020603050405020304" pitchFamily="18" charset="0"/>
              </a:rPr>
              <a:t>补的通式如下：</a:t>
            </a:r>
            <a:endParaRPr lang="zh-CN" altLang="en-US" dirty="0">
              <a:latin typeface="Times New Roman" panose="02020603050405020304" pitchFamily="18" charset="0"/>
            </a:endParaRPr>
          </a:p>
          <a:p>
            <a:pPr lvl="1">
              <a:spcBef>
                <a:spcPts val="1800"/>
              </a:spcBef>
            </a:pPr>
            <a:r>
              <a:rPr lang="en-US" altLang="zh-CN" dirty="0">
                <a:latin typeface="Times New Roman" panose="02020603050405020304" pitchFamily="18" charset="0"/>
              </a:rPr>
              <a:t>[r</a:t>
            </a:r>
            <a:r>
              <a:rPr lang="en-US" altLang="zh-CN" baseline="-25000" dirty="0">
                <a:latin typeface="Times New Roman" panose="02020603050405020304" pitchFamily="18" charset="0"/>
              </a:rPr>
              <a:t>i+1</a:t>
            </a:r>
            <a:r>
              <a:rPr lang="en-US" altLang="zh-CN" dirty="0">
                <a:latin typeface="Times New Roman" panose="02020603050405020304" pitchFamily="18" charset="0"/>
              </a:rPr>
              <a:t>]</a:t>
            </a:r>
            <a:r>
              <a:rPr lang="zh-CN" altLang="en-US" dirty="0">
                <a:latin typeface="Times New Roman" panose="02020603050405020304" pitchFamily="18" charset="0"/>
              </a:rPr>
              <a:t>补</a:t>
            </a:r>
            <a:r>
              <a:rPr lang="en-US" altLang="zh-CN" dirty="0">
                <a:latin typeface="Times New Roman" panose="02020603050405020304" pitchFamily="18" charset="0"/>
              </a:rPr>
              <a:t>=2[r</a:t>
            </a:r>
            <a:r>
              <a:rPr lang="en-US" altLang="zh-CN" baseline="-25000" dirty="0">
                <a:latin typeface="Times New Roman" panose="02020603050405020304" pitchFamily="18" charset="0"/>
              </a:rPr>
              <a:t>i</a:t>
            </a:r>
            <a:r>
              <a:rPr lang="en-US" altLang="zh-CN" dirty="0">
                <a:latin typeface="Times New Roman" panose="02020603050405020304" pitchFamily="18" charset="0"/>
              </a:rPr>
              <a:t>]</a:t>
            </a:r>
            <a:r>
              <a:rPr lang="zh-CN" altLang="en-US" baseline="-25000" dirty="0">
                <a:latin typeface="Times New Roman" panose="02020603050405020304" pitchFamily="18" charset="0"/>
              </a:rPr>
              <a:t>补</a:t>
            </a:r>
            <a:r>
              <a:rPr lang="en-US" altLang="zh-CN" dirty="0">
                <a:latin typeface="Times New Roman" panose="02020603050405020304" pitchFamily="18" charset="0"/>
              </a:rPr>
              <a:t>+(1-2Q</a:t>
            </a:r>
            <a:r>
              <a:rPr lang="en-US" altLang="zh-CN" baseline="-25000" dirty="0">
                <a:latin typeface="Times New Roman" panose="02020603050405020304" pitchFamily="18" charset="0"/>
              </a:rPr>
              <a:t>i</a:t>
            </a:r>
            <a:r>
              <a:rPr lang="en-US" altLang="zh-CN" dirty="0">
                <a:latin typeface="Times New Roman" panose="02020603050405020304" pitchFamily="18" charset="0"/>
              </a:rPr>
              <a:t>)×[Y]</a:t>
            </a:r>
            <a:r>
              <a:rPr lang="zh-CN" altLang="en-US" baseline="-25000" dirty="0">
                <a:latin typeface="Times New Roman" panose="02020603050405020304" pitchFamily="18" charset="0"/>
              </a:rPr>
              <a:t>补</a:t>
            </a:r>
            <a:endParaRPr lang="zh-CN" altLang="en-US" baseline="-25000" dirty="0">
              <a:latin typeface="Times New Roman" panose="02020603050405020304" pitchFamily="18" charset="0"/>
            </a:endParaRPr>
          </a:p>
          <a:p>
            <a:pPr lvl="1">
              <a:spcBef>
                <a:spcPts val="1200"/>
              </a:spcBef>
            </a:pPr>
            <a:r>
              <a:rPr lang="en-US" altLang="zh-CN" dirty="0">
                <a:latin typeface="Times New Roman" panose="02020603050405020304" pitchFamily="18" charset="0"/>
              </a:rPr>
              <a:t>Q</a:t>
            </a:r>
            <a:r>
              <a:rPr lang="en-US" altLang="zh-CN" baseline="-25000" dirty="0">
                <a:latin typeface="Times New Roman" panose="02020603050405020304" pitchFamily="18" charset="0"/>
              </a:rPr>
              <a:t>i</a:t>
            </a:r>
            <a:r>
              <a:rPr lang="zh-CN" altLang="en-US" dirty="0">
                <a:latin typeface="Times New Roman" panose="02020603050405020304" pitchFamily="18" charset="0"/>
              </a:rPr>
              <a:t>表示第</a:t>
            </a:r>
            <a:r>
              <a:rPr lang="en-US" altLang="zh-CN" dirty="0">
                <a:latin typeface="Times New Roman" panose="02020603050405020304" pitchFamily="18" charset="0"/>
              </a:rPr>
              <a:t>i</a:t>
            </a:r>
            <a:r>
              <a:rPr lang="zh-CN" altLang="en-US" dirty="0">
                <a:latin typeface="Times New Roman" panose="02020603050405020304" pitchFamily="18" charset="0"/>
              </a:rPr>
              <a:t>步的商。若商上“</a:t>
            </a:r>
            <a:r>
              <a:rPr lang="en-US" altLang="zh-CN" dirty="0">
                <a:latin typeface="Times New Roman" panose="02020603050405020304" pitchFamily="18" charset="0"/>
              </a:rPr>
              <a:t>1”</a:t>
            </a:r>
            <a:r>
              <a:rPr lang="zh-CN" altLang="en-US" dirty="0">
                <a:latin typeface="Times New Roman" panose="02020603050405020304" pitchFamily="18" charset="0"/>
              </a:rPr>
              <a:t>，下一步操作为部分余数左移一位，减去除数；若商上“</a:t>
            </a:r>
            <a:r>
              <a:rPr lang="en-US" altLang="zh-CN" dirty="0">
                <a:latin typeface="Times New Roman" panose="02020603050405020304" pitchFamily="18" charset="0"/>
              </a:rPr>
              <a:t>0”</a:t>
            </a:r>
            <a:r>
              <a:rPr lang="zh-CN" altLang="en-US" dirty="0">
                <a:latin typeface="Times New Roman" panose="02020603050405020304" pitchFamily="18" charset="0"/>
              </a:rPr>
              <a:t>，下一步操作为部分余数左移一位，加上除数。</a:t>
            </a:r>
            <a:endParaRPr lang="zh-CN" altLang="en-US" dirty="0">
              <a:latin typeface="Times New Roman" panose="02020603050405020304" pitchFamily="18" charset="0"/>
            </a:endParaRPr>
          </a:p>
          <a:p>
            <a:pPr>
              <a:spcBef>
                <a:spcPts val="1800"/>
              </a:spcBef>
            </a:pPr>
            <a:r>
              <a:rPr lang="zh-CN" altLang="en-US" dirty="0">
                <a:latin typeface="Times New Roman" panose="02020603050405020304" pitchFamily="18" charset="0"/>
              </a:rPr>
              <a:t>商的最末一位恒置为“</a:t>
            </a:r>
            <a:r>
              <a:rPr lang="en-US" altLang="zh-CN" dirty="0">
                <a:latin typeface="Times New Roman" panose="02020603050405020304" pitchFamily="18" charset="0"/>
              </a:rPr>
              <a:t>1”</a:t>
            </a:r>
            <a:r>
              <a:rPr lang="zh-CN" altLang="en-US" dirty="0">
                <a:latin typeface="Times New Roman" panose="02020603050405020304" pitchFamily="18" charset="0"/>
              </a:rPr>
              <a:t>，最大误差为</a:t>
            </a:r>
            <a:r>
              <a:rPr lang="en-US" altLang="zh-CN" dirty="0">
                <a:latin typeface="Times New Roman" panose="02020603050405020304" pitchFamily="18" charset="0"/>
              </a:rPr>
              <a:t>2</a:t>
            </a:r>
            <a:r>
              <a:rPr lang="en-US" altLang="zh-CN" baseline="30000" dirty="0">
                <a:latin typeface="Times New Roman" panose="02020603050405020304" pitchFamily="18" charset="0"/>
              </a:rPr>
              <a:t>-n</a:t>
            </a:r>
            <a:r>
              <a:rPr lang="zh-CN" altLang="en-US" dirty="0">
                <a:latin typeface="Times New Roman" panose="02020603050405020304" pitchFamily="18" charset="0"/>
              </a:rPr>
              <a:t>。此法操作简单，易于实现。</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9025" name="标题 1"/>
          <p:cNvSpPr>
            <a:spLocks noGrp="1"/>
          </p:cNvSpPr>
          <p:nvPr>
            <p:ph type="title"/>
          </p:nvPr>
        </p:nvSpPr>
        <p:spPr>
          <a:xfrm>
            <a:off x="457200" y="274638"/>
            <a:ext cx="7067550" cy="1143000"/>
          </a:xfrm>
          <a:noFill/>
          <a:ln>
            <a:noFill/>
          </a:ln>
        </p:spPr>
        <p:txBody>
          <a:bodyPr anchor="t" anchorCtr="0"/>
          <a:p>
            <a:r>
              <a:rPr lang="en-US" altLang="zh-CN" dirty="0">
                <a:latin typeface="Times New Roman" panose="02020603050405020304" pitchFamily="18" charset="0"/>
              </a:rPr>
              <a:t>*</a:t>
            </a:r>
            <a:r>
              <a:rPr lang="zh-CN" altLang="en-US" dirty="0">
                <a:latin typeface="Times New Roman" panose="02020603050405020304" pitchFamily="18" charset="0"/>
              </a:rPr>
              <a:t>补码加减交替除法规则</a:t>
            </a:r>
            <a:endParaRPr lang="zh-CN" altLang="en-US" dirty="0">
              <a:latin typeface="Times New Roman" panose="02020603050405020304" pitchFamily="18" charset="0"/>
              <a:ea typeface="Times New Roman" panose="02020603050405020304" pitchFamily="18" charset="0"/>
            </a:endParaRPr>
          </a:p>
        </p:txBody>
      </p:sp>
      <p:graphicFrame>
        <p:nvGraphicFramePr>
          <p:cNvPr id="4" name="Group 4"/>
          <p:cNvGraphicFramePr>
            <a:graphicFrameLocks noGrp="1"/>
          </p:cNvGraphicFramePr>
          <p:nvPr/>
        </p:nvGraphicFramePr>
        <p:xfrm>
          <a:off x="323850" y="1557338"/>
          <a:ext cx="8507414" cy="4038601"/>
        </p:xfrm>
        <a:graphic>
          <a:graphicData uri="http://schemas.openxmlformats.org/drawingml/2006/table">
            <a:tbl>
              <a:tblPr/>
              <a:tblGrid>
                <a:gridCol w="1497659"/>
                <a:gridCol w="1677851"/>
                <a:gridCol w="1575940"/>
                <a:gridCol w="720767"/>
                <a:gridCol w="3035197"/>
              </a:tblGrid>
              <a:tr h="776288">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第一次操作</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与[</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endPar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上商</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求新余数[</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i+1</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的操作</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28575"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74700">
                <a:tc rowSpan="2">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同号</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rowSpan="2">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endPar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①同号</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（够减）</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i+1</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endPar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76288">
                <a:tc vMerge="1">
                  <a:tcPr/>
                </a:tc>
                <a:tc vMerge="1">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②异号</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（不够减）</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i+1</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endPar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774700">
                <a:tc rowSpan="2">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异号</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28575"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rowSpan="2">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endParaRPr kumimoji="1" lang="zh-CN" altLang="en-US"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①同号</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（不够减）</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endPar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i+1</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0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endPar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12700" cap="flat" cmpd="sng" algn="ctr">
                      <a:solidFill>
                        <a:schemeClr val="tx1"/>
                      </a:solidFill>
                      <a:prstDash val="solid"/>
                      <a:round/>
                      <a:headEnd type="none" w="sm" len="sm"/>
                      <a:tailEnd type="none" w="sm" len="sm"/>
                    </a:lnB>
                    <a:lnTlToBr>
                      <a:noFill/>
                    </a:lnTlToBr>
                    <a:lnBlToTr>
                      <a:noFill/>
                    </a:lnBlToTr>
                    <a:noFill/>
                  </a:tcPr>
                </a:tc>
              </a:tr>
              <a:tr h="936625">
                <a:tc vMerge="1">
                  <a:tcPr/>
                </a:tc>
                <a:tc vMerge="1">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②异号</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（够减）</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1" lang="zh-CN" altLang="en-US"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12700"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c>
                  <a:txBody>
                    <a:bodyPr/>
                    <a:lstStyle>
                      <a:lvl1pPr algn="l">
                        <a:spcBef>
                          <a:spcPct val="20000"/>
                        </a:spcBef>
                        <a:defRPr kumimoji="1" sz="2800">
                          <a:solidFill>
                            <a:schemeClr val="tx1"/>
                          </a:solidFill>
                          <a:latin typeface="Times New Roman" panose="02020603050405020304" pitchFamily="18" charset="0"/>
                          <a:ea typeface="宋体" panose="02010600030101010101" pitchFamily="2" charset="-122"/>
                        </a:defRPr>
                      </a:lvl1pPr>
                      <a:lvl2pPr algn="l">
                        <a:spcBef>
                          <a:spcPct val="20000"/>
                        </a:spcBef>
                        <a:defRPr kumimoji="1" sz="2400">
                          <a:solidFill>
                            <a:schemeClr val="tx1"/>
                          </a:solidFill>
                          <a:latin typeface="Times New Roman" panose="02020603050405020304" pitchFamily="18" charset="0"/>
                          <a:ea typeface="宋体" panose="02010600030101010101" pitchFamily="2" charset="-122"/>
                        </a:defRPr>
                      </a:lvl2pPr>
                      <a:lvl3pPr algn="l">
                        <a:spcBef>
                          <a:spcPct val="20000"/>
                        </a:spcBef>
                        <a:defRPr kumimoji="1" sz="2000">
                          <a:solidFill>
                            <a:schemeClr val="tx1"/>
                          </a:solidFill>
                          <a:latin typeface="Times New Roman" panose="02020603050405020304" pitchFamily="18" charset="0"/>
                          <a:ea typeface="宋体" panose="02010600030101010101" pitchFamily="2" charset="-122"/>
                        </a:defRPr>
                      </a:lvl3pPr>
                      <a:lvl4pPr algn="l">
                        <a:spcBef>
                          <a:spcPct val="20000"/>
                        </a:spcBef>
                        <a:defRPr kumimoji="1">
                          <a:solidFill>
                            <a:schemeClr val="tx1"/>
                          </a:solidFill>
                          <a:latin typeface="Times New Roman" panose="02020603050405020304" pitchFamily="18" charset="0"/>
                          <a:ea typeface="宋体" panose="02010600030101010101" pitchFamily="2" charset="-122"/>
                        </a:defRPr>
                      </a:lvl4pPr>
                      <a:lvl5pPr algn="l">
                        <a:spcBef>
                          <a:spcPct val="20000"/>
                        </a:spcBef>
                        <a:defRPr kumimoji="1">
                          <a:solidFill>
                            <a:schemeClr val="tx1"/>
                          </a:solidFill>
                          <a:latin typeface="Times New Roman" panose="02020603050405020304" pitchFamily="18" charset="0"/>
                          <a:ea typeface="宋体" panose="02010600030101010101" pitchFamily="2" charset="-122"/>
                        </a:defRPr>
                      </a:lvl5pPr>
                      <a:lvl6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6pPr>
                      <a:lvl7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7pPr>
                      <a:lvl8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8pPr>
                      <a:lvl9pPr fontAlgn="base">
                        <a:spcBef>
                          <a:spcPct val="20000"/>
                        </a:spcBef>
                        <a:spcAft>
                          <a:spcPct val="0"/>
                        </a:spcAft>
                        <a:defRPr kumimoji="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pP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i+1</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r>
                        <a:rPr kumimoji="1" lang="en-US" altLang="zh-CN" sz="2000" b="1" i="0" u="none" strike="noStrike" cap="none" normalizeH="0" baseline="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r</a:t>
                      </a:r>
                      <a:r>
                        <a:rPr kumimoji="1" lang="en-US" altLang="zh-CN" sz="2000" b="1" i="0" u="none" strike="noStrike" cap="none" normalizeH="0" baseline="-30000" dirty="0" err="1">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r>
                        <a:rPr kumimoji="1" lang="zh-CN" altLang="en-US"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1" lang="en-US" altLang="zh-CN" sz="20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Y]</a:t>
                      </a:r>
                      <a:r>
                        <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补</a:t>
                      </a:r>
                      <a:endParaRPr kumimoji="1" lang="zh-CN" altLang="en-US" sz="2000" b="1" i="0" u="none" strike="noStrike" cap="none" normalizeH="0" baseline="-3000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1441" marR="91441" horzOverflow="overflow">
                    <a:lnL w="12700" cap="flat" cmpd="sng" algn="ctr">
                      <a:solidFill>
                        <a:schemeClr val="tx1"/>
                      </a:solidFill>
                      <a:prstDash val="solid"/>
                      <a:round/>
                      <a:headEnd type="none" w="sm" len="sm"/>
                      <a:tailEnd type="none" w="sm" len="sm"/>
                    </a:lnL>
                    <a:lnR w="28575" cap="flat" cmpd="sng" algn="ctr">
                      <a:solidFill>
                        <a:schemeClr val="tx1"/>
                      </a:solidFill>
                      <a:prstDash val="solid"/>
                      <a:round/>
                      <a:headEnd type="none" w="sm" len="sm"/>
                      <a:tailEnd type="none" w="sm" len="sm"/>
                    </a:lnR>
                    <a:lnT w="12700" cap="flat" cmpd="sng" algn="ctr">
                      <a:solidFill>
                        <a:schemeClr val="tx1"/>
                      </a:solidFill>
                      <a:prstDash val="solid"/>
                      <a:round/>
                      <a:headEnd type="none" w="sm" len="sm"/>
                      <a:tailEnd type="none" w="sm" len="sm"/>
                    </a:lnT>
                    <a:lnB w="28575" cap="flat" cmpd="sng" algn="ctr">
                      <a:solidFill>
                        <a:schemeClr val="tx1"/>
                      </a:solidFill>
                      <a:prstDash val="solid"/>
                      <a:round/>
                      <a:headEnd type="none" w="sm" len="sm"/>
                      <a:tailEnd type="none" w="sm" len="sm"/>
                    </a:lnB>
                    <a:lnTlToBr>
                      <a:noFill/>
                    </a:lnTlToBr>
                    <a:lnBlToTr>
                      <a:noFill/>
                    </a:lnBlToTr>
                    <a:noFill/>
                  </a:tcPr>
                </a:tc>
              </a:tr>
            </a:tbl>
          </a:graphicData>
        </a:graphic>
      </p:graphicFrame>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6" name="标题 1"/>
          <p:cNvSpPr>
            <a:spLocks noGrp="1"/>
          </p:cNvSpPr>
          <p:nvPr>
            <p:ph type="title"/>
          </p:nvPr>
        </p:nvSpPr>
        <p:spPr bwMode="auto">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32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a:t>
            </a:r>
            <a:r>
              <a:rPr kumimoji="0" lang="zh-CN" altLang="en-US" sz="32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rPr>
              <a:t>补码加减交替除法示例</a:t>
            </a:r>
            <a:endParaRPr kumimoji="0" lang="zh-CN" altLang="en-US" sz="3200" b="1" i="0" u="none" strike="noStrike" kern="0" cap="none" spc="0" normalizeH="0" baseline="0" noProof="0" dirty="0">
              <a:ln>
                <a:noFill/>
              </a:ln>
              <a:solidFill>
                <a:schemeClr val="tx2"/>
              </a:solidFill>
              <a:effectLst/>
              <a:uLnTx/>
              <a:uFillTx/>
              <a:latin typeface="Times New Roman" panose="02020603050405020304" pitchFamily="18" charset="0"/>
              <a:ea typeface="+mn-ea"/>
              <a:cs typeface="Times New Roman" panose="02020603050405020304" pitchFamily="18" charset="0"/>
            </a:endParaRPr>
          </a:p>
        </p:txBody>
      </p:sp>
      <p:sp>
        <p:nvSpPr>
          <p:cNvPr id="3" name="内容占位符 2"/>
          <p:cNvSpPr>
            <a:spLocks noGrp="1"/>
          </p:cNvSpPr>
          <p:nvPr>
            <p:ph idx="1"/>
          </p:nvPr>
        </p:nvSpPr>
        <p:spPr/>
        <p:txBody>
          <a:bodyPr/>
          <a:lstStyle/>
          <a:p>
            <a:pPr marL="342900" marR="0" lvl="0" indent="-342900" algn="just" defTabSz="914400" rtl="0" eaLnBrk="1" fontAlgn="base" latinLnBrk="0" hangingPunct="1">
              <a:lnSpc>
                <a:spcPct val="10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例13：已知</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X=0.1000，Y=-0.1010；</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hlink"/>
              </a:buClr>
              <a:buSzTx/>
              <a:buFontTx/>
              <a:buNone/>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求</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X÷Y。</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hlink"/>
              </a:buClr>
              <a:buSzTx/>
              <a:buFontTx/>
              <a:buNone/>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[X]</a:t>
            </a:r>
            <a:r>
              <a:rPr kumimoji="0" lang="zh-CN" altLang="en-US" sz="2800" b="1" i="0" u="none" strike="noStrike" kern="0" cap="none" spc="0" normalizeH="0" baseline="-30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补</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=00.1000→</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hlink"/>
              </a:buClr>
              <a:buSzTx/>
              <a:buFontTx/>
              <a:buNone/>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[Y]</a:t>
            </a:r>
            <a:r>
              <a:rPr kumimoji="0" lang="zh-CN" altLang="en-US" sz="2800" b="1" i="0" u="none" strike="noStrike" kern="0" cap="none" spc="0" normalizeH="0" baseline="-30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补</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=11.0110→</a:t>
            </a: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B，0→C</a:t>
            </a:r>
            <a:endPar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342900" marR="0" lvl="0" indent="-342900" algn="just" defTabSz="914400" rtl="0" eaLnBrk="1" fontAlgn="base" latinLnBrk="0" hangingPunct="1">
              <a:lnSpc>
                <a:spcPct val="100000"/>
              </a:lnSpc>
              <a:spcBef>
                <a:spcPct val="20000"/>
              </a:spcBef>
              <a:spcAft>
                <a:spcPct val="0"/>
              </a:spcAft>
              <a:buClr>
                <a:schemeClr val="hlink"/>
              </a:buClr>
              <a:buSzTx/>
              <a:buFontTx/>
              <a:buNone/>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           [-Y]</a:t>
            </a:r>
            <a:r>
              <a:rPr kumimoji="0" lang="zh-CN" altLang="en-US" sz="2800" b="1" i="0" u="none" strike="noStrike" kern="0" cap="none" spc="0" normalizeH="0" baseline="-3000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补</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=00.1010</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1073" name="标题 1"/>
          <p:cNvSpPr>
            <a:spLocks noGrp="1"/>
          </p:cNvSpPr>
          <p:nvPr>
            <p:ph type="title"/>
          </p:nvPr>
        </p:nvSpPr>
        <p:spPr>
          <a:xfrm>
            <a:off x="457200" y="274638"/>
            <a:ext cx="5915025" cy="1143000"/>
          </a:xfrm>
          <a:noFill/>
          <a:ln>
            <a:noFill/>
          </a:ln>
        </p:spPr>
        <p:txBody>
          <a:bodyPr anchor="t" anchorCtr="0"/>
          <a:p>
            <a:r>
              <a:rPr lang="en-US" altLang="zh-CN" dirty="0"/>
              <a:t>*</a:t>
            </a:r>
            <a:r>
              <a:rPr lang="zh-CN" altLang="en-US" dirty="0"/>
              <a:t>补码加减交替除法示例（续）</a:t>
            </a:r>
            <a:endParaRPr lang="zh-CN" altLang="en-US" dirty="0"/>
          </a:p>
        </p:txBody>
      </p:sp>
      <p:sp>
        <p:nvSpPr>
          <p:cNvPr id="131074" name="Text Box 4"/>
          <p:cNvSpPr txBox="1"/>
          <p:nvPr/>
        </p:nvSpPr>
        <p:spPr>
          <a:xfrm>
            <a:off x="1123950" y="1484313"/>
            <a:ext cx="4857750" cy="457200"/>
          </a:xfrm>
          <a:prstGeom prst="rect">
            <a:avLst/>
          </a:prstGeom>
          <a:noFill/>
          <a:ln w="57150">
            <a:noFill/>
          </a:ln>
        </p:spPr>
        <p:txBody>
          <a:bodyPr anchor="t" anchorCtr="0">
            <a:spAutoFit/>
          </a:bodyPr>
          <a:p>
            <a:pPr eaLnBrk="0" hangingPunct="0">
              <a:spcBef>
                <a:spcPct val="50000"/>
              </a:spcBef>
            </a:pPr>
            <a:r>
              <a:rPr lang="zh-CN" altLang="en-US" sz="2400" b="1" dirty="0">
                <a:solidFill>
                  <a:srgbClr val="0000FF"/>
                </a:solidFill>
                <a:latin typeface="宋体" panose="02010600030101010101" pitchFamily="2" charset="-122"/>
                <a:ea typeface="宋体" panose="02010600030101010101" pitchFamily="2" charset="-122"/>
              </a:rPr>
              <a:t>0 0.1 0 0 0      0.0 0 0 0</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75" name="Text Box 5"/>
          <p:cNvSpPr txBox="1"/>
          <p:nvPr/>
        </p:nvSpPr>
        <p:spPr>
          <a:xfrm>
            <a:off x="0" y="1751013"/>
            <a:ext cx="9144000" cy="420687"/>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1 1.0 1 1 0                 [</a:t>
            </a:r>
            <a:r>
              <a:rPr lang="en-US" altLang="zh-CN" sz="2400" b="1" dirty="0">
                <a:solidFill>
                  <a:srgbClr val="0000FF"/>
                </a:solidFill>
                <a:latin typeface="宋体" panose="02010600030101010101" pitchFamily="2" charset="-122"/>
                <a:ea typeface="宋体" panose="02010600030101010101" pitchFamily="2" charset="-122"/>
              </a:rPr>
              <a:t>X]</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异号，+[</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76" name="Text Box 6"/>
          <p:cNvSpPr txBox="1"/>
          <p:nvPr/>
        </p:nvSpPr>
        <p:spPr>
          <a:xfrm>
            <a:off x="209550" y="2360613"/>
            <a:ext cx="8286750" cy="420687"/>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    1 1.1 1 0 0                        左移一位</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77" name="Text Box 7"/>
          <p:cNvSpPr txBox="1"/>
          <p:nvPr/>
        </p:nvSpPr>
        <p:spPr>
          <a:xfrm>
            <a:off x="0" y="2627313"/>
            <a:ext cx="8629650" cy="420687"/>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0 0.1 0 1 0                         +[-</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78" name="Text Box 8"/>
          <p:cNvSpPr txBox="1"/>
          <p:nvPr/>
        </p:nvSpPr>
        <p:spPr>
          <a:xfrm>
            <a:off x="1123950" y="2951163"/>
            <a:ext cx="7981950" cy="420687"/>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0 0.0 1 1 0      0.0 0 </a:t>
            </a:r>
            <a:r>
              <a:rPr lang="zh-CN" altLang="en-US" sz="2400" b="1" dirty="0">
                <a:solidFill>
                  <a:srgbClr val="FF3300"/>
                </a:solidFill>
                <a:latin typeface="宋体" panose="02010600030101010101" pitchFamily="2" charset="-122"/>
                <a:ea typeface="宋体" panose="02010600030101010101" pitchFamily="2" charset="-122"/>
              </a:rPr>
              <a:t>1 0</a:t>
            </a:r>
            <a:r>
              <a:rPr lang="zh-CN" altLang="en-US" sz="2400" b="1" dirty="0">
                <a:solidFill>
                  <a:srgbClr val="0000FF"/>
                </a:solidFill>
                <a:latin typeface="宋体" panose="02010600030101010101" pitchFamily="2" charset="-122"/>
                <a:ea typeface="宋体" panose="02010600030101010101" pitchFamily="2" charset="-122"/>
              </a:rPr>
              <a:t>   [</a:t>
            </a:r>
            <a:r>
              <a:rPr lang="en-US" altLang="zh-CN" sz="2400" b="1" dirty="0">
                <a:solidFill>
                  <a:srgbClr val="0000FF"/>
                </a:solidFill>
                <a:latin typeface="宋体" panose="02010600030101010101" pitchFamily="2" charset="-122"/>
                <a:ea typeface="宋体" panose="02010600030101010101" pitchFamily="2" charset="-122"/>
              </a:rPr>
              <a:t>r</a:t>
            </a:r>
            <a:r>
              <a:rPr lang="en-US" altLang="zh-CN" sz="2400" b="1" baseline="-30000" dirty="0">
                <a:solidFill>
                  <a:srgbClr val="0000FF"/>
                </a:solidFill>
                <a:latin typeface="宋体" panose="02010600030101010101" pitchFamily="2" charset="-122"/>
                <a:ea typeface="宋体" panose="02010600030101010101" pitchFamily="2" charset="-122"/>
              </a:rPr>
              <a:t>i</a:t>
            </a:r>
            <a:r>
              <a:rPr lang="en-US" altLang="zh-CN" sz="2400" b="1" dirty="0">
                <a:solidFill>
                  <a:srgbClr val="0000FF"/>
                </a:solidFill>
                <a:latin typeface="宋体" panose="02010600030101010101" pitchFamily="2" charset="-122"/>
                <a:ea typeface="宋体" panose="02010600030101010101" pitchFamily="2" charset="-122"/>
              </a:rPr>
              <a:t>]</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异号，商0</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79" name="Text Box 9"/>
          <p:cNvSpPr txBox="1"/>
          <p:nvPr/>
        </p:nvSpPr>
        <p:spPr>
          <a:xfrm>
            <a:off x="209550" y="3236913"/>
            <a:ext cx="8039100" cy="420687"/>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    0 0.1 1 0 0                        左移一位</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80" name="Text Box 10"/>
          <p:cNvSpPr txBox="1"/>
          <p:nvPr/>
        </p:nvSpPr>
        <p:spPr>
          <a:xfrm>
            <a:off x="0" y="3503613"/>
            <a:ext cx="8401050" cy="420687"/>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1 1.0 1 1 0                         +[</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81" name="Text Box 11"/>
          <p:cNvSpPr txBox="1"/>
          <p:nvPr/>
        </p:nvSpPr>
        <p:spPr>
          <a:xfrm>
            <a:off x="1123950" y="3827463"/>
            <a:ext cx="7981950" cy="420687"/>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0 0.0 0 1 0      0.0 </a:t>
            </a:r>
            <a:r>
              <a:rPr lang="zh-CN" altLang="en-US" sz="2400" b="1" dirty="0">
                <a:solidFill>
                  <a:srgbClr val="FF3300"/>
                </a:solidFill>
                <a:latin typeface="宋体" panose="02010600030101010101" pitchFamily="2" charset="-122"/>
                <a:ea typeface="宋体" panose="02010600030101010101" pitchFamily="2" charset="-122"/>
              </a:rPr>
              <a:t>1 0 0</a:t>
            </a:r>
            <a:r>
              <a:rPr lang="zh-CN" altLang="en-US" sz="2400" b="1" dirty="0">
                <a:solidFill>
                  <a:srgbClr val="0000FF"/>
                </a:solidFill>
                <a:latin typeface="宋体" panose="02010600030101010101" pitchFamily="2" charset="-122"/>
                <a:ea typeface="宋体" panose="02010600030101010101" pitchFamily="2" charset="-122"/>
              </a:rPr>
              <a:t>   [</a:t>
            </a:r>
            <a:r>
              <a:rPr lang="en-US" altLang="zh-CN" sz="2400" b="1" dirty="0">
                <a:solidFill>
                  <a:srgbClr val="0000FF"/>
                </a:solidFill>
                <a:latin typeface="宋体" panose="02010600030101010101" pitchFamily="2" charset="-122"/>
                <a:ea typeface="宋体" panose="02010600030101010101" pitchFamily="2" charset="-122"/>
              </a:rPr>
              <a:t>r</a:t>
            </a:r>
            <a:r>
              <a:rPr lang="en-US" altLang="zh-CN" sz="2400" b="1" baseline="-30000" dirty="0">
                <a:solidFill>
                  <a:srgbClr val="0000FF"/>
                </a:solidFill>
                <a:latin typeface="宋体" panose="02010600030101010101" pitchFamily="2" charset="-122"/>
                <a:ea typeface="宋体" panose="02010600030101010101" pitchFamily="2" charset="-122"/>
              </a:rPr>
              <a:t>i</a:t>
            </a:r>
            <a:r>
              <a:rPr lang="en-US" altLang="zh-CN" sz="2400" b="1" dirty="0">
                <a:solidFill>
                  <a:srgbClr val="0000FF"/>
                </a:solidFill>
                <a:latin typeface="宋体" panose="02010600030101010101" pitchFamily="2" charset="-122"/>
                <a:ea typeface="宋体" panose="02010600030101010101" pitchFamily="2" charset="-122"/>
              </a:rPr>
              <a:t>]</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异号，商0</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82" name="Line 12"/>
          <p:cNvSpPr/>
          <p:nvPr/>
        </p:nvSpPr>
        <p:spPr>
          <a:xfrm flipV="1">
            <a:off x="19050" y="2151063"/>
            <a:ext cx="3352800" cy="0"/>
          </a:xfrm>
          <a:prstGeom prst="line">
            <a:avLst/>
          </a:prstGeom>
          <a:ln w="19050" cap="sq" cmpd="sng">
            <a:solidFill>
              <a:srgbClr val="7A48C4"/>
            </a:solidFill>
            <a:prstDash val="solid"/>
            <a:round/>
            <a:headEnd type="none" w="sm" len="sm"/>
            <a:tailEnd type="none" w="sm" len="sm"/>
          </a:ln>
        </p:spPr>
      </p:sp>
      <p:sp>
        <p:nvSpPr>
          <p:cNvPr id="131083" name="Line 13"/>
          <p:cNvSpPr/>
          <p:nvPr/>
        </p:nvSpPr>
        <p:spPr>
          <a:xfrm flipV="1">
            <a:off x="19050" y="3027363"/>
            <a:ext cx="3352800" cy="0"/>
          </a:xfrm>
          <a:prstGeom prst="line">
            <a:avLst/>
          </a:prstGeom>
          <a:ln w="19050" cap="sq" cmpd="sng">
            <a:solidFill>
              <a:srgbClr val="7A48C4"/>
            </a:solidFill>
            <a:prstDash val="solid"/>
            <a:round/>
            <a:headEnd type="none" w="sm" len="sm"/>
            <a:tailEnd type="none" w="sm" len="sm"/>
          </a:ln>
        </p:spPr>
      </p:sp>
      <p:sp>
        <p:nvSpPr>
          <p:cNvPr id="131084" name="Line 14"/>
          <p:cNvSpPr/>
          <p:nvPr/>
        </p:nvSpPr>
        <p:spPr>
          <a:xfrm flipV="1">
            <a:off x="19050" y="3903663"/>
            <a:ext cx="3352800" cy="0"/>
          </a:xfrm>
          <a:prstGeom prst="line">
            <a:avLst/>
          </a:prstGeom>
          <a:ln w="19050" cap="sq" cmpd="sng">
            <a:solidFill>
              <a:srgbClr val="7A48C4"/>
            </a:solidFill>
            <a:prstDash val="solid"/>
            <a:round/>
            <a:headEnd type="none" w="sm" len="sm"/>
            <a:tailEnd type="none" w="sm" len="sm"/>
          </a:ln>
        </p:spPr>
      </p:sp>
      <p:sp>
        <p:nvSpPr>
          <p:cNvPr id="131085" name="Text Box 15"/>
          <p:cNvSpPr txBox="1"/>
          <p:nvPr/>
        </p:nvSpPr>
        <p:spPr>
          <a:xfrm>
            <a:off x="0" y="4379913"/>
            <a:ext cx="8648700" cy="420687"/>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1 1.0 1 1 0                         +[</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86" name="Line 16"/>
          <p:cNvSpPr/>
          <p:nvPr/>
        </p:nvSpPr>
        <p:spPr>
          <a:xfrm flipV="1">
            <a:off x="0" y="4779963"/>
            <a:ext cx="3352800" cy="0"/>
          </a:xfrm>
          <a:prstGeom prst="line">
            <a:avLst/>
          </a:prstGeom>
          <a:ln w="19050" cap="sq" cmpd="sng">
            <a:solidFill>
              <a:srgbClr val="7A48C4"/>
            </a:solidFill>
            <a:prstDash val="solid"/>
            <a:round/>
            <a:headEnd type="none" w="sm" len="sm"/>
            <a:tailEnd type="none" w="sm" len="sm"/>
          </a:ln>
        </p:spPr>
      </p:sp>
      <p:sp>
        <p:nvSpPr>
          <p:cNvPr id="131087" name="Text Box 17"/>
          <p:cNvSpPr txBox="1"/>
          <p:nvPr/>
        </p:nvSpPr>
        <p:spPr>
          <a:xfrm>
            <a:off x="1123950" y="4722813"/>
            <a:ext cx="7981950" cy="420687"/>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1 1.1 0 1 0      0.</a:t>
            </a:r>
            <a:r>
              <a:rPr lang="zh-CN" altLang="en-US" sz="2400" b="1" dirty="0">
                <a:solidFill>
                  <a:srgbClr val="FF3300"/>
                </a:solidFill>
                <a:latin typeface="宋体" panose="02010600030101010101" pitchFamily="2" charset="-122"/>
                <a:ea typeface="宋体" panose="02010600030101010101" pitchFamily="2" charset="-122"/>
              </a:rPr>
              <a:t>1 0 0 1</a:t>
            </a:r>
            <a:r>
              <a:rPr lang="zh-CN" altLang="en-US" sz="2400" b="1" dirty="0">
                <a:solidFill>
                  <a:srgbClr val="0000FF"/>
                </a:solidFill>
                <a:latin typeface="宋体" panose="02010600030101010101" pitchFamily="2" charset="-122"/>
                <a:ea typeface="宋体" panose="02010600030101010101" pitchFamily="2" charset="-122"/>
              </a:rPr>
              <a:t>   [</a:t>
            </a:r>
            <a:r>
              <a:rPr lang="en-US" altLang="zh-CN" sz="2400" b="1" dirty="0">
                <a:solidFill>
                  <a:srgbClr val="0000FF"/>
                </a:solidFill>
                <a:latin typeface="宋体" panose="02010600030101010101" pitchFamily="2" charset="-122"/>
                <a:ea typeface="宋体" panose="02010600030101010101" pitchFamily="2" charset="-122"/>
              </a:rPr>
              <a:t>r</a:t>
            </a:r>
            <a:r>
              <a:rPr lang="en-US" altLang="zh-CN" sz="2400" b="1" baseline="-30000" dirty="0">
                <a:solidFill>
                  <a:srgbClr val="0000FF"/>
                </a:solidFill>
                <a:latin typeface="宋体" panose="02010600030101010101" pitchFamily="2" charset="-122"/>
                <a:ea typeface="宋体" panose="02010600030101010101" pitchFamily="2" charset="-122"/>
              </a:rPr>
              <a:t>i</a:t>
            </a:r>
            <a:r>
              <a:rPr lang="en-US" altLang="zh-CN" sz="2400" b="1" dirty="0">
                <a:solidFill>
                  <a:srgbClr val="0000FF"/>
                </a:solidFill>
                <a:latin typeface="宋体" panose="02010600030101010101" pitchFamily="2" charset="-122"/>
                <a:ea typeface="宋体" panose="02010600030101010101" pitchFamily="2" charset="-122"/>
              </a:rPr>
              <a:t>]</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同号，商1</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88" name="Text Box 18"/>
          <p:cNvSpPr txBox="1"/>
          <p:nvPr/>
        </p:nvSpPr>
        <p:spPr>
          <a:xfrm>
            <a:off x="209550" y="5008563"/>
            <a:ext cx="8515350" cy="420687"/>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    1 1.0 1 0 0                        左移一位</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89" name="Text Box 19"/>
          <p:cNvSpPr txBox="1"/>
          <p:nvPr/>
        </p:nvSpPr>
        <p:spPr>
          <a:xfrm>
            <a:off x="0" y="5294313"/>
            <a:ext cx="8420100" cy="420687"/>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 0 0.1 0 1 0                         +[-</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90" name="Line 20"/>
          <p:cNvSpPr/>
          <p:nvPr/>
        </p:nvSpPr>
        <p:spPr>
          <a:xfrm flipV="1">
            <a:off x="-19050" y="5713413"/>
            <a:ext cx="3352800" cy="0"/>
          </a:xfrm>
          <a:prstGeom prst="line">
            <a:avLst/>
          </a:prstGeom>
          <a:ln w="19050" cap="sq" cmpd="sng">
            <a:solidFill>
              <a:srgbClr val="7A48C4"/>
            </a:solidFill>
            <a:prstDash val="solid"/>
            <a:round/>
            <a:headEnd type="none" w="sm" len="sm"/>
            <a:tailEnd type="none" w="sm" len="sm"/>
          </a:ln>
        </p:spPr>
      </p:sp>
      <p:sp>
        <p:nvSpPr>
          <p:cNvPr id="131091" name="Text Box 21"/>
          <p:cNvSpPr txBox="1"/>
          <p:nvPr/>
        </p:nvSpPr>
        <p:spPr>
          <a:xfrm>
            <a:off x="1143000" y="5654675"/>
            <a:ext cx="6991350" cy="420688"/>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1 1.1 1 1 0      </a:t>
            </a:r>
            <a:r>
              <a:rPr lang="zh-CN" altLang="en-US" sz="2400" b="1" dirty="0">
                <a:solidFill>
                  <a:srgbClr val="FF3300"/>
                </a:solidFill>
                <a:latin typeface="宋体" panose="02010600030101010101" pitchFamily="2" charset="-122"/>
                <a:ea typeface="宋体" panose="02010600030101010101" pitchFamily="2" charset="-122"/>
              </a:rPr>
              <a:t>1.0 0 1 </a:t>
            </a:r>
            <a:r>
              <a:rPr lang="zh-CN" altLang="en-US" sz="2400" b="1" dirty="0">
                <a:solidFill>
                  <a:srgbClr val="009900"/>
                </a:solidFill>
                <a:latin typeface="宋体" panose="02010600030101010101" pitchFamily="2" charset="-122"/>
                <a:ea typeface="宋体" panose="02010600030101010101" pitchFamily="2" charset="-122"/>
              </a:rPr>
              <a:t>1</a:t>
            </a:r>
            <a:r>
              <a:rPr lang="zh-CN" altLang="en-US" sz="2400" b="1" dirty="0">
                <a:solidFill>
                  <a:srgbClr val="0000FF"/>
                </a:solidFill>
                <a:latin typeface="宋体" panose="02010600030101010101" pitchFamily="2" charset="-122"/>
                <a:ea typeface="宋体" panose="02010600030101010101" pitchFamily="2" charset="-122"/>
              </a:rPr>
              <a:t>        末位恒置1</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92" name="Text Box 22"/>
          <p:cNvSpPr txBox="1"/>
          <p:nvPr/>
        </p:nvSpPr>
        <p:spPr>
          <a:xfrm>
            <a:off x="1143000" y="2093913"/>
            <a:ext cx="8001000" cy="420687"/>
          </a:xfrm>
          <a:prstGeom prst="rect">
            <a:avLst/>
          </a:prstGeom>
          <a:noFill/>
          <a:ln w="57150">
            <a:noFill/>
          </a:ln>
        </p:spPr>
        <p:txBody>
          <a:bodyPr anchor="t" anchorCtr="0">
            <a:spAutoFit/>
          </a:bodyPr>
          <a:p>
            <a:pPr algn="just">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1 1.1 1 1 0      0.0 0 0 </a:t>
            </a:r>
            <a:r>
              <a:rPr lang="zh-CN" altLang="en-US" sz="2400" b="1" dirty="0">
                <a:solidFill>
                  <a:srgbClr val="FF3300"/>
                </a:solidFill>
                <a:latin typeface="宋体" panose="02010600030101010101" pitchFamily="2" charset="-122"/>
                <a:ea typeface="宋体" panose="02010600030101010101" pitchFamily="2" charset="-122"/>
              </a:rPr>
              <a:t>1</a:t>
            </a:r>
            <a:r>
              <a:rPr lang="zh-CN" altLang="en-US" sz="2400" b="1" dirty="0">
                <a:solidFill>
                  <a:srgbClr val="0000FF"/>
                </a:solidFill>
                <a:latin typeface="宋体" panose="02010600030101010101" pitchFamily="2" charset="-122"/>
                <a:ea typeface="宋体" panose="02010600030101010101" pitchFamily="2" charset="-122"/>
              </a:rPr>
              <a:t>   [</a:t>
            </a:r>
            <a:r>
              <a:rPr lang="en-US" altLang="zh-CN" sz="2400" b="1" dirty="0">
                <a:solidFill>
                  <a:srgbClr val="0000FF"/>
                </a:solidFill>
                <a:latin typeface="宋体" panose="02010600030101010101" pitchFamily="2" charset="-122"/>
                <a:ea typeface="宋体" panose="02010600030101010101" pitchFamily="2" charset="-122"/>
              </a:rPr>
              <a:t>r</a:t>
            </a:r>
            <a:r>
              <a:rPr lang="en-US" altLang="zh-CN" sz="2400" b="1" baseline="-30000" dirty="0">
                <a:solidFill>
                  <a:srgbClr val="0000FF"/>
                </a:solidFill>
                <a:latin typeface="宋体" panose="02010600030101010101" pitchFamily="2" charset="-122"/>
                <a:ea typeface="宋体" panose="02010600030101010101" pitchFamily="2" charset="-122"/>
              </a:rPr>
              <a:t>i</a:t>
            </a:r>
            <a:r>
              <a:rPr lang="en-US" altLang="zh-CN" sz="2400" b="1" dirty="0">
                <a:solidFill>
                  <a:srgbClr val="0000FF"/>
                </a:solidFill>
                <a:latin typeface="宋体" panose="02010600030101010101" pitchFamily="2" charset="-122"/>
                <a:ea typeface="宋体" panose="02010600030101010101" pitchFamily="2" charset="-122"/>
              </a:rPr>
              <a:t>]</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a:t>
            </a:r>
            <a:r>
              <a:rPr lang="en-US" altLang="zh-CN" sz="2400" b="1" dirty="0">
                <a:solidFill>
                  <a:srgbClr val="0000FF"/>
                </a:solidFill>
                <a:latin typeface="宋体" panose="02010600030101010101" pitchFamily="2" charset="-122"/>
                <a:ea typeface="宋体" panose="02010600030101010101" pitchFamily="2" charset="-122"/>
              </a:rPr>
              <a:t>Y]</a:t>
            </a:r>
            <a:r>
              <a:rPr lang="zh-CN" altLang="en-US" sz="2400" b="1" baseline="-30000" dirty="0">
                <a:solidFill>
                  <a:srgbClr val="0000FF"/>
                </a:solidFill>
                <a:latin typeface="宋体" panose="02010600030101010101" pitchFamily="2" charset="-122"/>
                <a:ea typeface="宋体" panose="02010600030101010101" pitchFamily="2" charset="-122"/>
              </a:rPr>
              <a:t>补</a:t>
            </a:r>
            <a:r>
              <a:rPr lang="zh-CN" altLang="en-US" sz="2400" b="1" dirty="0">
                <a:solidFill>
                  <a:srgbClr val="0000FF"/>
                </a:solidFill>
                <a:latin typeface="宋体" panose="02010600030101010101" pitchFamily="2" charset="-122"/>
                <a:ea typeface="宋体" panose="02010600030101010101" pitchFamily="2" charset="-122"/>
              </a:rPr>
              <a:t>同号，商1</a:t>
            </a:r>
            <a:endParaRPr lang="zh-CN" altLang="en-US" sz="2400" b="1" dirty="0">
              <a:solidFill>
                <a:srgbClr val="0000FF"/>
              </a:solidFill>
              <a:latin typeface="宋体" panose="02010600030101010101" pitchFamily="2" charset="-122"/>
              <a:ea typeface="宋体" panose="02010600030101010101" pitchFamily="2" charset="-122"/>
            </a:endParaRPr>
          </a:p>
        </p:txBody>
      </p:sp>
      <p:sp>
        <p:nvSpPr>
          <p:cNvPr id="131093" name="Text Box 23"/>
          <p:cNvSpPr txBox="1"/>
          <p:nvPr/>
        </p:nvSpPr>
        <p:spPr>
          <a:xfrm>
            <a:off x="190500" y="4127500"/>
            <a:ext cx="8896350" cy="420688"/>
          </a:xfrm>
          <a:prstGeom prst="rect">
            <a:avLst/>
          </a:prstGeom>
          <a:noFill/>
          <a:ln w="57150">
            <a:noFill/>
          </a:ln>
        </p:spPr>
        <p:txBody>
          <a:bodyPr anchor="t" anchorCtr="0">
            <a:spAutoFit/>
          </a:bodyPr>
          <a:p>
            <a:pPr>
              <a:lnSpc>
                <a:spcPct val="90000"/>
              </a:lnSpc>
              <a:spcBef>
                <a:spcPct val="20000"/>
              </a:spcBef>
              <a:buClr>
                <a:schemeClr val="accent2"/>
              </a:buClr>
              <a:buSzPct val="80000"/>
              <a:buFont typeface="Wingdings" panose="05000000000000000000" pitchFamily="2" charset="2"/>
            </a:pPr>
            <a:r>
              <a:rPr lang="zh-CN" altLang="en-US" sz="2400" b="1" dirty="0">
                <a:solidFill>
                  <a:srgbClr val="0000FF"/>
                </a:solidFill>
                <a:latin typeface="宋体" panose="02010600030101010101" pitchFamily="2" charset="-122"/>
                <a:ea typeface="宋体" panose="02010600030101010101" pitchFamily="2" charset="-122"/>
              </a:rPr>
              <a:t>←    0 0.0 1 0 0                        左移一位</a:t>
            </a:r>
            <a:endParaRPr lang="zh-CN" altLang="en-US" sz="2400" dirty="0">
              <a:solidFill>
                <a:srgbClr val="0000FF"/>
              </a:solidFill>
              <a:latin typeface="Times New Roman" panose="02020603050405020304" pitchFamily="18" charset="0"/>
              <a:ea typeface="宋体" panose="02010600030101010101" pitchFamily="2" charset="-122"/>
            </a:endParaRPr>
          </a:p>
        </p:txBody>
      </p:sp>
      <p:sp>
        <p:nvSpPr>
          <p:cNvPr id="2" name="矩形 1"/>
          <p:cNvSpPr/>
          <p:nvPr/>
        </p:nvSpPr>
        <p:spPr>
          <a:xfrm>
            <a:off x="6021388" y="539750"/>
            <a:ext cx="1579563" cy="368300"/>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[Y]</a:t>
            </a:r>
            <a:r>
              <a:rPr kumimoji="0" lang="zh-CN" altLang="en-US" sz="1800" b="0" i="0" u="none" strike="noStrike" kern="1200" cap="none" spc="0" normalizeH="0" baseline="-30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=11.0110</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
        <p:nvSpPr>
          <p:cNvPr id="3" name="矩形 2"/>
          <p:cNvSpPr/>
          <p:nvPr/>
        </p:nvSpPr>
        <p:spPr>
          <a:xfrm>
            <a:off x="6084888" y="1096963"/>
            <a:ext cx="1673225" cy="369888"/>
          </a:xfrm>
          <a:prstGeom prst="rect">
            <a:avLst/>
          </a:prstGeom>
        </p:spPr>
        <p:txBody>
          <a:bodyPr wrap="none">
            <a:spAutoFit/>
          </a:bodyPr>
          <a:lstStyle/>
          <a:p>
            <a:pPr marL="0" marR="0" lvl="0" indent="0" algn="l" defTabSz="914400" rtl="0" eaLnBrk="0" fontAlgn="base" latinLnBrk="0" hangingPunct="0">
              <a:lnSpc>
                <a:spcPct val="100000"/>
              </a:lnSpc>
              <a:spcBef>
                <a:spcPct val="0"/>
              </a:spcBef>
              <a:spcAft>
                <a:spcPct val="0"/>
              </a:spcAft>
              <a:buClrTx/>
              <a:buSzTx/>
              <a:buFontTx/>
              <a:buNone/>
              <a:defRPr/>
            </a:pPr>
            <a:r>
              <a:rPr kumimoji="0" lang="en-US" altLang="zh-CN"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[-Y]</a:t>
            </a:r>
            <a:r>
              <a:rPr kumimoji="0" lang="zh-CN" altLang="en-US" sz="1800" b="0" i="0" u="none" strike="noStrike" kern="120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补</a:t>
            </a:r>
            <a:r>
              <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=00.1010</a:t>
            </a:r>
            <a:endParaRPr kumimoji="0" lang="zh-CN" altLang="en-US" sz="1800" b="0" i="0" u="none" strike="noStrike" kern="120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209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a:t>
            </a:r>
            <a:r>
              <a:rPr lang="zh-CN" altLang="en-US" dirty="0">
                <a:latin typeface="Times New Roman" panose="02020603050405020304" pitchFamily="18" charset="0"/>
              </a:rPr>
              <a:t>补码加减交替除法示例（续）</a:t>
            </a:r>
            <a:endParaRPr lang="zh-CN" altLang="en-US" dirty="0">
              <a:latin typeface="Times New Roman" panose="02020603050405020304" pitchFamily="18" charset="0"/>
              <a:ea typeface="Times New Roman" panose="02020603050405020304" pitchFamily="18" charset="0"/>
            </a:endParaRPr>
          </a:p>
        </p:txBody>
      </p:sp>
      <p:sp>
        <p:nvSpPr>
          <p:cNvPr id="132098" name="内容占位符 2"/>
          <p:cNvSpPr>
            <a:spLocks noGrp="1"/>
          </p:cNvSpPr>
          <p:nvPr>
            <p:ph idx="1"/>
          </p:nvPr>
        </p:nvSpPr>
        <p:spPr>
          <a:xfrm>
            <a:off x="755650" y="1552575"/>
            <a:ext cx="8229600" cy="1252538"/>
          </a:xfrm>
          <a:noFill/>
          <a:ln>
            <a:noFill/>
          </a:ln>
        </p:spPr>
        <p:txBody>
          <a:bodyPr anchor="t" anchorCtr="0"/>
          <a:p>
            <a:r>
              <a:rPr lang="en-US" altLang="zh-CN" dirty="0">
                <a:latin typeface="Times New Roman" panose="02020603050405020304" pitchFamily="18" charset="0"/>
              </a:rPr>
              <a:t>[</a:t>
            </a:r>
            <a:r>
              <a:rPr lang="zh-CN" altLang="en-US" dirty="0">
                <a:latin typeface="Times New Roman" panose="02020603050405020304" pitchFamily="18" charset="0"/>
              </a:rPr>
              <a:t>商</a:t>
            </a:r>
            <a:r>
              <a:rPr lang="en-US" altLang="zh-CN" dirty="0">
                <a:latin typeface="Times New Roman" panose="02020603050405020304" pitchFamily="18" charset="0"/>
              </a:rPr>
              <a:t>]</a:t>
            </a:r>
            <a:r>
              <a:rPr lang="zh-CN" altLang="en-US" baseline="-25000" dirty="0">
                <a:latin typeface="Times New Roman" panose="02020603050405020304" pitchFamily="18" charset="0"/>
              </a:rPr>
              <a:t>补</a:t>
            </a:r>
            <a:r>
              <a:rPr lang="en-US" altLang="zh-CN" dirty="0">
                <a:latin typeface="Times New Roman" panose="02020603050405020304" pitchFamily="18" charset="0"/>
              </a:rPr>
              <a:t>=1.0011</a:t>
            </a:r>
            <a:endParaRPr lang="en-US" altLang="zh-CN" dirty="0">
              <a:latin typeface="Times New Roman" panose="02020603050405020304" pitchFamily="18" charset="0"/>
            </a:endParaRPr>
          </a:p>
          <a:p>
            <a:r>
              <a:rPr lang="en-US" altLang="zh-CN" dirty="0">
                <a:latin typeface="Times New Roman" panose="02020603050405020304" pitchFamily="18" charset="0"/>
              </a:rPr>
              <a:t>[</a:t>
            </a:r>
            <a:r>
              <a:rPr lang="zh-CN" altLang="en-US" dirty="0">
                <a:latin typeface="Times New Roman" panose="02020603050405020304" pitchFamily="18" charset="0"/>
              </a:rPr>
              <a:t>余数</a:t>
            </a:r>
            <a:r>
              <a:rPr lang="en-US" altLang="zh-CN" dirty="0">
                <a:latin typeface="Times New Roman" panose="02020603050405020304" pitchFamily="18" charset="0"/>
              </a:rPr>
              <a:t>]</a:t>
            </a:r>
            <a:r>
              <a:rPr lang="zh-CN" altLang="en-US" baseline="-25000" dirty="0">
                <a:latin typeface="Times New Roman" panose="02020603050405020304" pitchFamily="18" charset="0"/>
              </a:rPr>
              <a:t>补</a:t>
            </a:r>
            <a:r>
              <a:rPr lang="en-US" altLang="zh-CN" dirty="0">
                <a:latin typeface="Times New Roman" panose="02020603050405020304" pitchFamily="18" charset="0"/>
              </a:rPr>
              <a:t>=1.1110</a:t>
            </a:r>
            <a:r>
              <a:rPr lang="zh-CN" altLang="en-US" dirty="0">
                <a:latin typeface="Times New Roman" panose="02020603050405020304" pitchFamily="18" charset="0"/>
              </a:rPr>
              <a:t>*</a:t>
            </a:r>
            <a:r>
              <a:rPr lang="en-US" altLang="zh-CN" dirty="0">
                <a:latin typeface="Times New Roman" panose="02020603050405020304" pitchFamily="18" charset="0"/>
              </a:rPr>
              <a:t>2</a:t>
            </a:r>
            <a:r>
              <a:rPr lang="en-US" altLang="zh-CN" baseline="30000" dirty="0">
                <a:latin typeface="Times New Roman" panose="02020603050405020304" pitchFamily="18" charset="0"/>
              </a:rPr>
              <a:t>-4</a:t>
            </a:r>
            <a:endParaRPr lang="en-US" altLang="zh-CN" baseline="300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
        <p:nvSpPr>
          <p:cNvPr id="132099" name="Text Box 4"/>
          <p:cNvSpPr txBox="1"/>
          <p:nvPr/>
        </p:nvSpPr>
        <p:spPr>
          <a:xfrm>
            <a:off x="946150" y="3900488"/>
            <a:ext cx="5562600" cy="1176337"/>
          </a:xfrm>
          <a:prstGeom prst="rect">
            <a:avLst/>
          </a:prstGeom>
          <a:noFill/>
          <a:ln w="57150">
            <a:noFill/>
          </a:ln>
        </p:spPr>
        <p:txBody>
          <a:bodyPr anchor="t" anchorCtr="0">
            <a:spAutoFit/>
          </a:bodyPr>
          <a:p>
            <a:pPr algn="just">
              <a:spcBef>
                <a:spcPct val="20000"/>
              </a:spcBef>
              <a:buClr>
                <a:schemeClr val="accent2"/>
              </a:buClr>
              <a:buSzPct val="80000"/>
              <a:buFont typeface="Wingdings" panose="05000000000000000000" pitchFamily="2" charset="2"/>
            </a:pPr>
            <a:r>
              <a:rPr lang="zh-CN" altLang="en-US" sz="3200" b="1" dirty="0">
                <a:solidFill>
                  <a:schemeClr val="tx1"/>
                </a:solidFill>
                <a:latin typeface="Times New Roman" panose="02020603050405020304" pitchFamily="18" charset="0"/>
                <a:ea typeface="楷体_GB2312" pitchFamily="49" charset="-122"/>
              </a:rPr>
              <a:t>∴商=-0.1101</a:t>
            </a:r>
            <a:endParaRPr lang="zh-CN" altLang="en-US" sz="3200" b="1" dirty="0">
              <a:solidFill>
                <a:schemeClr val="tx1"/>
              </a:solidFill>
              <a:latin typeface="Times New Roman" panose="02020603050405020304" pitchFamily="18" charset="0"/>
              <a:ea typeface="楷体_GB2312" pitchFamily="49" charset="-122"/>
            </a:endParaRPr>
          </a:p>
          <a:p>
            <a:pPr algn="just">
              <a:spcBef>
                <a:spcPct val="20000"/>
              </a:spcBef>
              <a:buClr>
                <a:schemeClr val="accent2"/>
              </a:buClr>
              <a:buSzPct val="80000"/>
              <a:buFont typeface="Wingdings" panose="05000000000000000000" pitchFamily="2" charset="2"/>
            </a:pPr>
            <a:r>
              <a:rPr lang="zh-CN" altLang="en-US" sz="3200" b="1" dirty="0">
                <a:solidFill>
                  <a:schemeClr val="tx1"/>
                </a:solidFill>
                <a:latin typeface="Times New Roman" panose="02020603050405020304" pitchFamily="18" charset="0"/>
                <a:ea typeface="楷体_GB2312" pitchFamily="49" charset="-122"/>
              </a:rPr>
              <a:t>    余数=-0.0010</a:t>
            </a:r>
            <a:r>
              <a:rPr lang="zh-CN" altLang="en-US" sz="3200" b="1" dirty="0">
                <a:solidFill>
                  <a:schemeClr val="tx1"/>
                </a:solidFill>
                <a:latin typeface="Times New Roman" panose="02020603050405020304" pitchFamily="18" charset="0"/>
                <a:ea typeface="楷体_GB2312" pitchFamily="49" charset="-122"/>
                <a:sym typeface="Symbol" panose="05050102010706020507" pitchFamily="18" charset="2"/>
              </a:rPr>
              <a:t>2</a:t>
            </a:r>
            <a:r>
              <a:rPr lang="zh-CN" altLang="en-US" sz="3200" b="1" baseline="30000" dirty="0">
                <a:solidFill>
                  <a:schemeClr val="tx1"/>
                </a:solidFill>
                <a:latin typeface="Times New Roman" panose="02020603050405020304" pitchFamily="18" charset="0"/>
                <a:ea typeface="楷体_GB2312" pitchFamily="49" charset="-122"/>
                <a:sym typeface="Symbol" panose="05050102010706020507" pitchFamily="18" charset="2"/>
              </a:rPr>
              <a:t>-4</a:t>
            </a:r>
            <a:endParaRPr lang="zh-CN" altLang="en-US" sz="2400" dirty="0">
              <a:solidFill>
                <a:schemeClr val="tx1"/>
              </a:solidFill>
              <a:latin typeface="Times New Roman" panose="02020603050405020304" pitchFamily="18" charset="0"/>
              <a:ea typeface="楷体_GB2312" pitchFamily="49" charset="-122"/>
            </a:endParaRPr>
          </a:p>
        </p:txBody>
      </p:sp>
      <p:grpSp>
        <p:nvGrpSpPr>
          <p:cNvPr id="132100" name="Group 5"/>
          <p:cNvGrpSpPr/>
          <p:nvPr/>
        </p:nvGrpSpPr>
        <p:grpSpPr>
          <a:xfrm>
            <a:off x="1403350" y="2852738"/>
            <a:ext cx="5905500" cy="1055687"/>
            <a:chOff x="468" y="1128"/>
            <a:chExt cx="3720" cy="665"/>
          </a:xfrm>
        </p:grpSpPr>
        <p:sp>
          <p:nvSpPr>
            <p:cNvPr id="132101" name="Text Box 6"/>
            <p:cNvSpPr txBox="1"/>
            <p:nvPr/>
          </p:nvSpPr>
          <p:spPr>
            <a:xfrm>
              <a:off x="2508" y="1128"/>
              <a:ext cx="1680" cy="365"/>
            </a:xfrm>
            <a:prstGeom prst="rect">
              <a:avLst/>
            </a:prstGeom>
            <a:noFill/>
            <a:ln w="57150">
              <a:noFill/>
            </a:ln>
          </p:spPr>
          <p:txBody>
            <a:bodyPr anchor="t" anchorCtr="0">
              <a:spAutoFit/>
            </a:bodyPr>
            <a:p>
              <a:pPr eaLnBrk="0" hangingPunct="0">
                <a:spcBef>
                  <a:spcPct val="50000"/>
                </a:spcBef>
              </a:pPr>
              <a:r>
                <a:rPr lang="zh-CN" altLang="en-US" sz="3200" b="1" dirty="0">
                  <a:solidFill>
                    <a:schemeClr val="tx1"/>
                  </a:solidFill>
                  <a:latin typeface="Times New Roman" panose="02020603050405020304" pitchFamily="18" charset="0"/>
                  <a:ea typeface="楷体_GB2312" pitchFamily="49" charset="-122"/>
                </a:rPr>
                <a:t>1.1110</a:t>
              </a:r>
              <a:r>
                <a:rPr lang="zh-CN" altLang="en-US" sz="3200" b="1" dirty="0">
                  <a:solidFill>
                    <a:schemeClr val="tx1"/>
                  </a:solidFill>
                  <a:latin typeface="Times New Roman" panose="02020603050405020304" pitchFamily="18" charset="0"/>
                  <a:ea typeface="楷体_GB2312" pitchFamily="49" charset="-122"/>
                  <a:sym typeface="Symbol" panose="05050102010706020507" pitchFamily="18" charset="2"/>
                </a:rPr>
                <a:t>2</a:t>
              </a:r>
              <a:r>
                <a:rPr lang="zh-CN" altLang="en-US" sz="3200" b="1" baseline="30000" dirty="0">
                  <a:solidFill>
                    <a:schemeClr val="tx1"/>
                  </a:solidFill>
                  <a:latin typeface="Times New Roman" panose="02020603050405020304" pitchFamily="18" charset="0"/>
                  <a:ea typeface="楷体_GB2312" pitchFamily="49" charset="-122"/>
                  <a:sym typeface="Symbol" panose="05050102010706020507" pitchFamily="18" charset="2"/>
                </a:rPr>
                <a:t>-4</a:t>
              </a:r>
              <a:endParaRPr lang="zh-CN" altLang="en-US" sz="3200" b="1" baseline="30000" dirty="0">
                <a:solidFill>
                  <a:schemeClr val="tx1"/>
                </a:solidFill>
                <a:latin typeface="Times New Roman" panose="02020603050405020304" pitchFamily="18" charset="0"/>
                <a:ea typeface="楷体_GB2312" pitchFamily="49" charset="-122"/>
                <a:sym typeface="Symbol" panose="05050102010706020507" pitchFamily="18" charset="2"/>
              </a:endParaRPr>
            </a:p>
          </p:txBody>
        </p:sp>
        <p:sp>
          <p:nvSpPr>
            <p:cNvPr id="132102" name="Line 7"/>
            <p:cNvSpPr/>
            <p:nvPr/>
          </p:nvSpPr>
          <p:spPr>
            <a:xfrm>
              <a:off x="2508" y="1452"/>
              <a:ext cx="1416" cy="0"/>
            </a:xfrm>
            <a:prstGeom prst="line">
              <a:avLst/>
            </a:prstGeom>
            <a:ln w="19050" cap="sq" cmpd="sng">
              <a:solidFill>
                <a:schemeClr val="tx1"/>
              </a:solidFill>
              <a:prstDash val="solid"/>
              <a:round/>
              <a:headEnd type="none" w="sm" len="sm"/>
              <a:tailEnd type="none" w="sm" len="sm"/>
            </a:ln>
          </p:spPr>
        </p:sp>
        <p:sp>
          <p:nvSpPr>
            <p:cNvPr id="132103" name="Text Box 8"/>
            <p:cNvSpPr txBox="1"/>
            <p:nvPr/>
          </p:nvSpPr>
          <p:spPr>
            <a:xfrm>
              <a:off x="2652" y="1428"/>
              <a:ext cx="1320" cy="365"/>
            </a:xfrm>
            <a:prstGeom prst="rect">
              <a:avLst/>
            </a:prstGeom>
            <a:noFill/>
            <a:ln w="57150">
              <a:noFill/>
            </a:ln>
          </p:spPr>
          <p:txBody>
            <a:bodyPr anchor="t" anchorCtr="0">
              <a:spAutoFit/>
            </a:bodyPr>
            <a:p>
              <a:pPr eaLnBrk="0" hangingPunct="0">
                <a:spcBef>
                  <a:spcPct val="50000"/>
                </a:spcBef>
              </a:pPr>
              <a:r>
                <a:rPr lang="zh-CN" altLang="en-US" sz="3200" b="1" dirty="0">
                  <a:solidFill>
                    <a:schemeClr val="tx1"/>
                  </a:solidFill>
                  <a:latin typeface="Times New Roman" panose="02020603050405020304" pitchFamily="18" charset="0"/>
                  <a:ea typeface="楷体_GB2312" pitchFamily="49" charset="-122"/>
                </a:rPr>
                <a:t>1.0110</a:t>
              </a:r>
              <a:endParaRPr lang="zh-CN" altLang="en-US" sz="3200" b="1" dirty="0">
                <a:solidFill>
                  <a:schemeClr val="tx1"/>
                </a:solidFill>
                <a:latin typeface="Times New Roman" panose="02020603050405020304" pitchFamily="18" charset="0"/>
                <a:ea typeface="楷体_GB2312" pitchFamily="49" charset="-122"/>
              </a:endParaRPr>
            </a:p>
          </p:txBody>
        </p:sp>
        <p:sp>
          <p:nvSpPr>
            <p:cNvPr id="132104" name="Text Box 9"/>
            <p:cNvSpPr txBox="1"/>
            <p:nvPr/>
          </p:nvSpPr>
          <p:spPr>
            <a:xfrm>
              <a:off x="468" y="1260"/>
              <a:ext cx="2232" cy="365"/>
            </a:xfrm>
            <a:prstGeom prst="rect">
              <a:avLst/>
            </a:prstGeom>
            <a:noFill/>
            <a:ln w="57150">
              <a:noFill/>
            </a:ln>
          </p:spPr>
          <p:txBody>
            <a:bodyPr anchor="t" anchorCtr="0">
              <a:spAutoFit/>
            </a:bodyPr>
            <a:p>
              <a:pPr algn="just">
                <a:spcBef>
                  <a:spcPct val="20000"/>
                </a:spcBef>
                <a:buClr>
                  <a:schemeClr val="accent2"/>
                </a:buClr>
                <a:buSzPct val="80000"/>
                <a:buFont typeface="Wingdings" panose="05000000000000000000" pitchFamily="2" charset="2"/>
              </a:pPr>
              <a:r>
                <a:rPr lang="zh-CN" altLang="en-US" sz="3200" b="1" dirty="0">
                  <a:solidFill>
                    <a:schemeClr val="tx1"/>
                  </a:solidFill>
                  <a:latin typeface="Times New Roman" panose="02020603050405020304" pitchFamily="18" charset="0"/>
                  <a:ea typeface="楷体_GB2312" pitchFamily="49" charset="-122"/>
                </a:rPr>
                <a:t>[</a:t>
              </a:r>
              <a:r>
                <a:rPr lang="en-US" altLang="zh-CN" sz="3200" b="1" dirty="0">
                  <a:solidFill>
                    <a:schemeClr val="tx1"/>
                  </a:solidFill>
                  <a:latin typeface="Times New Roman" panose="02020603050405020304" pitchFamily="18" charset="0"/>
                  <a:ea typeface="楷体_GB2312" pitchFamily="49" charset="-122"/>
                  <a:sym typeface="Symbol" panose="05050102010706020507" pitchFamily="18" charset="2"/>
                </a:rPr>
                <a:t>X÷Y]</a:t>
              </a:r>
              <a:r>
                <a:rPr lang="zh-CN" altLang="en-US" sz="3200" b="1" baseline="-30000" dirty="0">
                  <a:solidFill>
                    <a:schemeClr val="tx1"/>
                  </a:solidFill>
                  <a:latin typeface="Times New Roman" panose="02020603050405020304" pitchFamily="18" charset="0"/>
                  <a:ea typeface="楷体_GB2312" pitchFamily="49" charset="-122"/>
                </a:rPr>
                <a:t>补</a:t>
              </a:r>
              <a:r>
                <a:rPr lang="zh-CN" altLang="en-US" sz="3200" b="1" dirty="0">
                  <a:solidFill>
                    <a:schemeClr val="tx1"/>
                  </a:solidFill>
                  <a:latin typeface="Times New Roman" panose="02020603050405020304" pitchFamily="18" charset="0"/>
                  <a:ea typeface="楷体_GB2312" pitchFamily="49" charset="-122"/>
                  <a:sym typeface="Symbol" panose="05050102010706020507" pitchFamily="18" charset="2"/>
                </a:rPr>
                <a:t>=1.0</a:t>
              </a:r>
              <a:r>
                <a:rPr lang="zh-CN" altLang="en-US" sz="3200" b="1" dirty="0">
                  <a:solidFill>
                    <a:schemeClr val="tx1"/>
                  </a:solidFill>
                  <a:latin typeface="Times New Roman" panose="02020603050405020304" pitchFamily="18" charset="0"/>
                  <a:ea typeface="楷体_GB2312" pitchFamily="49" charset="-122"/>
                </a:rPr>
                <a:t>011+</a:t>
              </a:r>
              <a:endParaRPr lang="zh-CN" altLang="en-US" sz="2400" dirty="0">
                <a:solidFill>
                  <a:schemeClr val="tx1"/>
                </a:solidFill>
                <a:latin typeface="Times New Roman" panose="02020603050405020304" pitchFamily="18" charset="0"/>
                <a:ea typeface="楷体_GB2312" pitchFamily="49" charset="-122"/>
              </a:endParaRPr>
            </a:p>
          </p:txBody>
        </p:sp>
      </p:grpSp>
      <p:grpSp>
        <p:nvGrpSpPr>
          <p:cNvPr id="132105" name="Group 10"/>
          <p:cNvGrpSpPr/>
          <p:nvPr/>
        </p:nvGrpSpPr>
        <p:grpSpPr>
          <a:xfrm>
            <a:off x="1365250" y="4795838"/>
            <a:ext cx="5981700" cy="1055687"/>
            <a:chOff x="708" y="2352"/>
            <a:chExt cx="3768" cy="665"/>
          </a:xfrm>
        </p:grpSpPr>
        <p:sp>
          <p:nvSpPr>
            <p:cNvPr id="132106" name="Text Box 11"/>
            <p:cNvSpPr txBox="1"/>
            <p:nvPr/>
          </p:nvSpPr>
          <p:spPr>
            <a:xfrm>
              <a:off x="2796" y="2352"/>
              <a:ext cx="1680" cy="365"/>
            </a:xfrm>
            <a:prstGeom prst="rect">
              <a:avLst/>
            </a:prstGeom>
            <a:noFill/>
            <a:ln w="57150">
              <a:noFill/>
            </a:ln>
          </p:spPr>
          <p:txBody>
            <a:bodyPr anchor="t" anchorCtr="0">
              <a:spAutoFit/>
            </a:bodyPr>
            <a:p>
              <a:pPr eaLnBrk="0" hangingPunct="0">
                <a:spcBef>
                  <a:spcPct val="50000"/>
                </a:spcBef>
              </a:pPr>
              <a:r>
                <a:rPr lang="zh-CN" altLang="en-US" sz="3200" b="1" dirty="0">
                  <a:solidFill>
                    <a:srgbClr val="FF0000"/>
                  </a:solidFill>
                  <a:latin typeface="Times New Roman" panose="02020603050405020304" pitchFamily="18" charset="0"/>
                  <a:ea typeface="楷体_GB2312" pitchFamily="49" charset="-122"/>
                </a:rPr>
                <a:t>-0.0010</a:t>
              </a:r>
              <a:r>
                <a:rPr lang="zh-CN" altLang="en-US" sz="3200" b="1" dirty="0">
                  <a:solidFill>
                    <a:srgbClr val="FF0000"/>
                  </a:solidFill>
                  <a:latin typeface="Times New Roman" panose="02020603050405020304" pitchFamily="18" charset="0"/>
                  <a:ea typeface="楷体_GB2312" pitchFamily="49" charset="-122"/>
                  <a:sym typeface="Symbol" panose="05050102010706020507" pitchFamily="18" charset="2"/>
                </a:rPr>
                <a:t>2</a:t>
              </a:r>
              <a:r>
                <a:rPr lang="zh-CN" altLang="en-US" sz="3200" b="1" baseline="30000" dirty="0">
                  <a:solidFill>
                    <a:srgbClr val="FF0000"/>
                  </a:solidFill>
                  <a:latin typeface="Times New Roman" panose="02020603050405020304" pitchFamily="18" charset="0"/>
                  <a:ea typeface="楷体_GB2312" pitchFamily="49" charset="-122"/>
                  <a:sym typeface="Symbol" panose="05050102010706020507" pitchFamily="18" charset="2"/>
                </a:rPr>
                <a:t>-4</a:t>
              </a:r>
              <a:endParaRPr lang="zh-CN" altLang="en-US" sz="3200" b="1" baseline="30000" dirty="0">
                <a:solidFill>
                  <a:srgbClr val="FF0000"/>
                </a:solidFill>
                <a:latin typeface="Times New Roman" panose="02020603050405020304" pitchFamily="18" charset="0"/>
                <a:ea typeface="楷体_GB2312" pitchFamily="49" charset="-122"/>
                <a:sym typeface="Symbol" panose="05050102010706020507" pitchFamily="18" charset="2"/>
              </a:endParaRPr>
            </a:p>
          </p:txBody>
        </p:sp>
        <p:sp>
          <p:nvSpPr>
            <p:cNvPr id="132107" name="Line 12"/>
            <p:cNvSpPr/>
            <p:nvPr/>
          </p:nvSpPr>
          <p:spPr>
            <a:xfrm>
              <a:off x="2796" y="2676"/>
              <a:ext cx="1416" cy="0"/>
            </a:xfrm>
            <a:prstGeom prst="line">
              <a:avLst/>
            </a:prstGeom>
            <a:ln w="19050" cap="sq" cmpd="sng">
              <a:solidFill>
                <a:schemeClr val="tx1"/>
              </a:solidFill>
              <a:prstDash val="solid"/>
              <a:round/>
              <a:headEnd type="none" w="sm" len="sm"/>
              <a:tailEnd type="none" w="sm" len="sm"/>
            </a:ln>
          </p:spPr>
        </p:sp>
        <p:sp>
          <p:nvSpPr>
            <p:cNvPr id="132108" name="Text Box 13"/>
            <p:cNvSpPr txBox="1"/>
            <p:nvPr/>
          </p:nvSpPr>
          <p:spPr>
            <a:xfrm>
              <a:off x="2940" y="2652"/>
              <a:ext cx="1320" cy="365"/>
            </a:xfrm>
            <a:prstGeom prst="rect">
              <a:avLst/>
            </a:prstGeom>
            <a:noFill/>
            <a:ln w="57150">
              <a:noFill/>
            </a:ln>
          </p:spPr>
          <p:txBody>
            <a:bodyPr anchor="t" anchorCtr="0">
              <a:spAutoFit/>
            </a:bodyPr>
            <a:p>
              <a:pPr eaLnBrk="0" hangingPunct="0">
                <a:spcBef>
                  <a:spcPct val="50000"/>
                </a:spcBef>
              </a:pPr>
              <a:r>
                <a:rPr lang="zh-CN" altLang="en-US" sz="3200" b="1" dirty="0">
                  <a:solidFill>
                    <a:srgbClr val="FF0000"/>
                  </a:solidFill>
                  <a:latin typeface="Times New Roman" panose="02020603050405020304" pitchFamily="18" charset="0"/>
                  <a:ea typeface="楷体_GB2312" pitchFamily="49" charset="-122"/>
                </a:rPr>
                <a:t>-0.1010</a:t>
              </a:r>
              <a:endParaRPr lang="zh-CN" altLang="en-US" sz="3200" b="1" dirty="0">
                <a:solidFill>
                  <a:srgbClr val="FF0000"/>
                </a:solidFill>
                <a:latin typeface="Times New Roman" panose="02020603050405020304" pitchFamily="18" charset="0"/>
                <a:ea typeface="楷体_GB2312" pitchFamily="49" charset="-122"/>
              </a:endParaRPr>
            </a:p>
          </p:txBody>
        </p:sp>
        <p:sp>
          <p:nvSpPr>
            <p:cNvPr id="132109" name="Text Box 14"/>
            <p:cNvSpPr txBox="1"/>
            <p:nvPr/>
          </p:nvSpPr>
          <p:spPr>
            <a:xfrm>
              <a:off x="708" y="2484"/>
              <a:ext cx="2244" cy="365"/>
            </a:xfrm>
            <a:prstGeom prst="rect">
              <a:avLst/>
            </a:prstGeom>
            <a:noFill/>
            <a:ln w="57150">
              <a:noFill/>
            </a:ln>
          </p:spPr>
          <p:txBody>
            <a:bodyPr anchor="t" anchorCtr="0">
              <a:spAutoFit/>
            </a:bodyPr>
            <a:p>
              <a:pPr eaLnBrk="0" hangingPunct="0">
                <a:spcBef>
                  <a:spcPct val="50000"/>
                </a:spcBef>
              </a:pPr>
              <a:r>
                <a:rPr lang="en-US" altLang="zh-CN" sz="3200" b="1" dirty="0">
                  <a:solidFill>
                    <a:schemeClr val="tx1"/>
                  </a:solidFill>
                  <a:latin typeface="Times New Roman" panose="02020603050405020304" pitchFamily="18" charset="0"/>
                  <a:ea typeface="楷体_GB2312" pitchFamily="49" charset="-122"/>
                  <a:sym typeface="Symbol" panose="05050102010706020507" pitchFamily="18" charset="2"/>
                </a:rPr>
                <a:t>X÷Y= </a:t>
              </a:r>
              <a:r>
                <a:rPr lang="en-US" altLang="zh-CN" sz="3200" b="1" dirty="0">
                  <a:solidFill>
                    <a:srgbClr val="FF0000"/>
                  </a:solidFill>
                  <a:latin typeface="Times New Roman" panose="02020603050405020304" pitchFamily="18" charset="0"/>
                  <a:ea typeface="楷体_GB2312" pitchFamily="49" charset="-122"/>
                  <a:sym typeface="Symbol" panose="05050102010706020507" pitchFamily="18" charset="2"/>
                </a:rPr>
                <a:t>-0.</a:t>
              </a:r>
              <a:r>
                <a:rPr lang="en-US" altLang="zh-CN" sz="3200" b="1" dirty="0">
                  <a:solidFill>
                    <a:srgbClr val="FF0000"/>
                  </a:solidFill>
                  <a:latin typeface="Times New Roman" panose="02020603050405020304" pitchFamily="18" charset="0"/>
                  <a:ea typeface="楷体_GB2312" pitchFamily="49" charset="-122"/>
                </a:rPr>
                <a:t>1101+</a:t>
              </a:r>
              <a:endParaRPr lang="en-US" altLang="zh-CN" sz="3200" b="1" dirty="0">
                <a:solidFill>
                  <a:srgbClr val="FF0000"/>
                </a:solidFill>
                <a:latin typeface="Times New Roman" panose="02020603050405020304" pitchFamily="18" charset="0"/>
                <a:ea typeface="楷体_GB2312" pitchFamily="49" charset="-122"/>
              </a:endParaRP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21" name="标题 1"/>
          <p:cNvSpPr>
            <a:spLocks noGrp="1"/>
          </p:cNvSpPr>
          <p:nvPr>
            <p:ph type="title"/>
          </p:nvPr>
        </p:nvSpPr>
        <p:spPr>
          <a:noFill/>
          <a:ln>
            <a:noFill/>
          </a:ln>
        </p:spPr>
        <p:txBody>
          <a:bodyPr anchor="t" anchorCtr="0"/>
          <a:p>
            <a:r>
              <a:rPr lang="en-US" altLang="zh-CN" dirty="0"/>
              <a:t>*</a:t>
            </a:r>
            <a:r>
              <a:rPr lang="zh-CN" altLang="en-US" dirty="0"/>
              <a:t>补码加减交替除法流程图 </a:t>
            </a:r>
            <a:endParaRPr lang="zh-CN" altLang="en-US" dirty="0"/>
          </a:p>
        </p:txBody>
      </p:sp>
      <p:graphicFrame>
        <p:nvGraphicFramePr>
          <p:cNvPr id="133122" name="Object 4"/>
          <p:cNvGraphicFramePr>
            <a:graphicFrameLocks noChangeAspect="1"/>
          </p:cNvGraphicFramePr>
          <p:nvPr/>
        </p:nvGraphicFramePr>
        <p:xfrm>
          <a:off x="476250" y="981075"/>
          <a:ext cx="3870325" cy="5646738"/>
        </p:xfrm>
        <a:graphic>
          <a:graphicData uri="http://schemas.openxmlformats.org/presentationml/2006/ole">
            <mc:AlternateContent xmlns:mc="http://schemas.openxmlformats.org/markup-compatibility/2006">
              <mc:Choice xmlns:v="urn:schemas-microsoft-com:vml" Requires="v">
                <p:oleObj spid="_x0000_s3090" name="" r:id="rId1" imgW="3042920" imgH="4439920" progId="Visio.Drawing.6">
                  <p:embed/>
                </p:oleObj>
              </mc:Choice>
              <mc:Fallback>
                <p:oleObj name="" r:id="rId1" imgW="3042920" imgH="4439920" progId="Visio.Drawing.6">
                  <p:embed/>
                  <p:pic>
                    <p:nvPicPr>
                      <p:cNvPr id="0" name="图片 3089"/>
                      <p:cNvPicPr/>
                      <p:nvPr/>
                    </p:nvPicPr>
                    <p:blipFill>
                      <a:blip r:embed="rId2"/>
                      <a:stretch>
                        <a:fillRect/>
                      </a:stretch>
                    </p:blipFill>
                    <p:spPr>
                      <a:xfrm>
                        <a:off x="476250" y="981075"/>
                        <a:ext cx="3870325" cy="5646738"/>
                      </a:xfrm>
                      <a:prstGeom prst="rect">
                        <a:avLst/>
                      </a:prstGeom>
                      <a:noFill/>
                      <a:ln w="38100">
                        <a:noFill/>
                        <a:miter/>
                      </a:ln>
                    </p:spPr>
                  </p:pic>
                </p:oleObj>
              </mc:Fallback>
            </mc:AlternateContent>
          </a:graphicData>
        </a:graphic>
      </p:graphicFrame>
      <p:sp>
        <p:nvSpPr>
          <p:cNvPr id="133123" name="Rectangle 6"/>
          <p:cNvSpPr>
            <a:spLocks noGrp="1"/>
          </p:cNvSpPr>
          <p:nvPr>
            <p:ph idx="1"/>
          </p:nvPr>
        </p:nvSpPr>
        <p:spPr>
          <a:xfrm>
            <a:off x="3883025" y="5589588"/>
            <a:ext cx="4821238" cy="647700"/>
          </a:xfrm>
          <a:noFill/>
          <a:ln>
            <a:noFill/>
          </a:ln>
        </p:spPr>
        <p:txBody>
          <a:bodyPr anchor="t" anchorCtr="0"/>
          <a:p>
            <a:pPr marL="0" indent="0" eaLnBrk="1" hangingPunct="1">
              <a:buFontTx/>
              <a:buNone/>
            </a:pPr>
            <a:r>
              <a:rPr lang="zh-CN" altLang="en-US" sz="2400" dirty="0"/>
              <a:t>图4-19 补码加减交替除法流程图</a:t>
            </a:r>
            <a:endParaRPr lang="zh-CN" altLang="en-US" sz="2000" u="sng" dirty="0">
              <a:solidFill>
                <a:srgbClr val="0000FF"/>
              </a:solidFill>
              <a:latin typeface="楷体_GB2312" pitchFamily="49" charset="-122"/>
              <a:ea typeface="楷体_GB2312" pitchFamily="49" charset="-122"/>
            </a:endParaRPr>
          </a:p>
        </p:txBody>
      </p:sp>
      <p:sp>
        <p:nvSpPr>
          <p:cNvPr id="133124" name="文本框 1"/>
          <p:cNvSpPr txBox="1"/>
          <p:nvPr/>
        </p:nvSpPr>
        <p:spPr>
          <a:xfrm>
            <a:off x="5003800" y="1417638"/>
            <a:ext cx="3455988" cy="646112"/>
          </a:xfrm>
          <a:prstGeom prst="rect">
            <a:avLst/>
          </a:prstGeom>
          <a:noFill/>
          <a:ln w="9525">
            <a:noFill/>
          </a:ln>
        </p:spPr>
        <p:txBody>
          <a:bodyPr anchor="t" anchorCtr="0">
            <a:spAutoFit/>
          </a:bodyPr>
          <a:p>
            <a:pPr marL="285750" indent="-285750" eaLnBrk="0" hangingPunct="0">
              <a:buFont typeface="Wingdings" panose="05000000000000000000" pitchFamily="2" charset="2"/>
              <a:buChar char="l"/>
            </a:pPr>
            <a:r>
              <a:rPr lang="en-US" altLang="zh-CN" dirty="0">
                <a:solidFill>
                  <a:srgbClr val="0000FF"/>
                </a:solidFill>
                <a:latin typeface="Times New Roman" panose="02020603050405020304" pitchFamily="18" charset="0"/>
                <a:ea typeface="宋体" panose="02010600030101010101" pitchFamily="2" charset="-122"/>
              </a:rPr>
              <a:t>A/B/C</a:t>
            </a:r>
            <a:r>
              <a:rPr lang="zh-CN" altLang="en-US" dirty="0">
                <a:solidFill>
                  <a:srgbClr val="0000FF"/>
                </a:solidFill>
                <a:latin typeface="Times New Roman" panose="02020603050405020304" pitchFamily="18" charset="0"/>
                <a:ea typeface="宋体" panose="02010600030101010101" pitchFamily="2" charset="-122"/>
              </a:rPr>
              <a:t>分别存放被除数、除数、商。</a:t>
            </a:r>
            <a:r>
              <a:rPr lang="en-US" altLang="zh-CN" dirty="0">
                <a:solidFill>
                  <a:srgbClr val="0000FF"/>
                </a:solidFill>
                <a:latin typeface="Times New Roman" panose="02020603050405020304" pitchFamily="18" charset="0"/>
                <a:ea typeface="宋体" panose="02010600030101010101" pitchFamily="2" charset="-122"/>
              </a:rPr>
              <a:t>CR</a:t>
            </a:r>
            <a:r>
              <a:rPr lang="zh-CN" altLang="en-US" dirty="0">
                <a:solidFill>
                  <a:srgbClr val="0000FF"/>
                </a:solidFill>
                <a:latin typeface="Times New Roman" panose="02020603050405020304" pitchFamily="18" charset="0"/>
                <a:ea typeface="宋体" panose="02010600030101010101" pitchFamily="2" charset="-122"/>
              </a:rPr>
              <a:t>是计数器。</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33125" name="文本框 5"/>
          <p:cNvSpPr txBox="1"/>
          <p:nvPr/>
        </p:nvSpPr>
        <p:spPr>
          <a:xfrm>
            <a:off x="5003800" y="2236788"/>
            <a:ext cx="3455988" cy="647700"/>
          </a:xfrm>
          <a:prstGeom prst="rect">
            <a:avLst/>
          </a:prstGeom>
          <a:noFill/>
          <a:ln w="9525">
            <a:noFill/>
          </a:ln>
        </p:spPr>
        <p:txBody>
          <a:bodyPr anchor="t" anchorCtr="0">
            <a:spAutoFit/>
          </a:bodyPr>
          <a:p>
            <a:pPr marL="285750" indent="-285750" eaLnBrk="0" hangingPunct="0">
              <a:buFont typeface="Wingdings" panose="05000000000000000000" pitchFamily="2" charset="2"/>
              <a:buChar char="l"/>
            </a:pPr>
            <a:r>
              <a:rPr lang="zh-CN" altLang="en-US" dirty="0">
                <a:solidFill>
                  <a:srgbClr val="0000FF"/>
                </a:solidFill>
                <a:latin typeface="Times New Roman" panose="02020603050405020304" pitchFamily="18" charset="0"/>
                <a:ea typeface="宋体" panose="02010600030101010101" pitchFamily="2" charset="-122"/>
              </a:rPr>
              <a:t>判断被除数和除数的符号是否相同，同号相减、异号相加。</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33126" name="文本框 6"/>
          <p:cNvSpPr txBox="1"/>
          <p:nvPr/>
        </p:nvSpPr>
        <p:spPr>
          <a:xfrm>
            <a:off x="5003800" y="3094038"/>
            <a:ext cx="3455988" cy="922337"/>
          </a:xfrm>
          <a:prstGeom prst="rect">
            <a:avLst/>
          </a:prstGeom>
          <a:noFill/>
          <a:ln w="9525">
            <a:noFill/>
          </a:ln>
        </p:spPr>
        <p:txBody>
          <a:bodyPr anchor="t" anchorCtr="0">
            <a:spAutoFit/>
          </a:bodyPr>
          <a:p>
            <a:pPr marL="285750" indent="-285750" eaLnBrk="0" hangingPunct="0">
              <a:buFont typeface="Wingdings" panose="05000000000000000000" pitchFamily="2" charset="2"/>
              <a:buChar char="l"/>
            </a:pPr>
            <a:r>
              <a:rPr lang="zh-CN" altLang="en-US" dirty="0">
                <a:solidFill>
                  <a:srgbClr val="0000FF"/>
                </a:solidFill>
                <a:latin typeface="Times New Roman" panose="02020603050405020304" pitchFamily="18" charset="0"/>
                <a:ea typeface="宋体" panose="02010600030101010101" pitchFamily="2" charset="-122"/>
              </a:rPr>
              <a:t>判断部分余数和除数的符号是否相同，同号商</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，做减法；异号商</a:t>
            </a:r>
            <a:r>
              <a:rPr lang="en-US" altLang="zh-CN" dirty="0">
                <a:solidFill>
                  <a:srgbClr val="0000FF"/>
                </a:solidFill>
                <a:latin typeface="Times New Roman" panose="02020603050405020304" pitchFamily="18" charset="0"/>
                <a:ea typeface="宋体" panose="02010600030101010101" pitchFamily="2" charset="-122"/>
              </a:rPr>
              <a:t>0</a:t>
            </a:r>
            <a:r>
              <a:rPr lang="zh-CN" altLang="en-US" dirty="0">
                <a:solidFill>
                  <a:srgbClr val="0000FF"/>
                </a:solidFill>
                <a:latin typeface="Times New Roman" panose="02020603050405020304" pitchFamily="18" charset="0"/>
                <a:ea typeface="宋体" panose="02010600030101010101" pitchFamily="2" charset="-122"/>
              </a:rPr>
              <a:t>，做加法。</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33127" name="文本框 7"/>
          <p:cNvSpPr txBox="1"/>
          <p:nvPr/>
        </p:nvSpPr>
        <p:spPr>
          <a:xfrm>
            <a:off x="5003800" y="4225925"/>
            <a:ext cx="3455988" cy="369888"/>
          </a:xfrm>
          <a:prstGeom prst="rect">
            <a:avLst/>
          </a:prstGeom>
          <a:noFill/>
          <a:ln w="9525">
            <a:noFill/>
          </a:ln>
        </p:spPr>
        <p:txBody>
          <a:bodyPr anchor="t" anchorCtr="0">
            <a:spAutoFit/>
          </a:bodyPr>
          <a:p>
            <a:pPr marL="285750" indent="-285750" eaLnBrk="0" hangingPunct="0">
              <a:buFont typeface="Wingdings" panose="05000000000000000000" pitchFamily="2" charset="2"/>
              <a:buChar char="l"/>
            </a:pPr>
            <a:r>
              <a:rPr lang="zh-CN" altLang="en-US" dirty="0">
                <a:solidFill>
                  <a:srgbClr val="0000FF"/>
                </a:solidFill>
                <a:latin typeface="Times New Roman" panose="02020603050405020304" pitchFamily="18" charset="0"/>
                <a:ea typeface="宋体" panose="02010600030101010101" pitchFamily="2" charset="-122"/>
              </a:rPr>
              <a:t>做</a:t>
            </a:r>
            <a:r>
              <a:rPr lang="en-US" altLang="zh-CN" dirty="0">
                <a:solidFill>
                  <a:srgbClr val="0000FF"/>
                </a:solidFill>
                <a:latin typeface="Times New Roman" panose="02020603050405020304" pitchFamily="18" charset="0"/>
                <a:ea typeface="宋体" panose="02010600030101010101" pitchFamily="2" charset="-122"/>
              </a:rPr>
              <a:t>n</a:t>
            </a:r>
            <a:r>
              <a:rPr lang="zh-CN" altLang="en-US" dirty="0">
                <a:solidFill>
                  <a:srgbClr val="0000FF"/>
                </a:solidFill>
                <a:latin typeface="Times New Roman" panose="02020603050405020304" pitchFamily="18" charset="0"/>
                <a:ea typeface="宋体" panose="02010600030101010101" pitchFamily="2" charset="-122"/>
              </a:rPr>
              <a:t>次。</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33128" name="文本框 8"/>
          <p:cNvSpPr txBox="1"/>
          <p:nvPr/>
        </p:nvSpPr>
        <p:spPr>
          <a:xfrm>
            <a:off x="5003800" y="4943475"/>
            <a:ext cx="3455988" cy="368300"/>
          </a:xfrm>
          <a:prstGeom prst="rect">
            <a:avLst/>
          </a:prstGeom>
          <a:noFill/>
          <a:ln w="9525">
            <a:noFill/>
          </a:ln>
        </p:spPr>
        <p:txBody>
          <a:bodyPr anchor="t" anchorCtr="0">
            <a:spAutoFit/>
          </a:bodyPr>
          <a:p>
            <a:pPr marL="285750" indent="-285750" eaLnBrk="0" hangingPunct="0">
              <a:buFont typeface="Wingdings" panose="05000000000000000000" pitchFamily="2" charset="2"/>
              <a:buChar char="l"/>
            </a:pPr>
            <a:r>
              <a:rPr lang="zh-CN" altLang="en-US" dirty="0">
                <a:solidFill>
                  <a:srgbClr val="0000FF"/>
                </a:solidFill>
                <a:latin typeface="Times New Roman" panose="02020603050405020304" pitchFamily="18" charset="0"/>
                <a:ea typeface="宋体" panose="02010600030101010101" pitchFamily="2" charset="-122"/>
              </a:rPr>
              <a:t>商的末位恒置</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414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4.6 </a:t>
            </a:r>
            <a:r>
              <a:rPr lang="zh-CN" altLang="en-US" dirty="0">
                <a:latin typeface="Times New Roman" panose="02020603050405020304" pitchFamily="18" charset="0"/>
              </a:rPr>
              <a:t>规格化浮点运算</a:t>
            </a:r>
            <a:endParaRPr lang="zh-CN" altLang="en-US" dirty="0">
              <a:latin typeface="Times New Roman" panose="02020603050405020304" pitchFamily="18" charset="0"/>
              <a:ea typeface="Times New Roman" panose="02020603050405020304" pitchFamily="18" charset="0"/>
            </a:endParaRPr>
          </a:p>
        </p:txBody>
      </p:sp>
      <p:sp>
        <p:nvSpPr>
          <p:cNvPr id="134146"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进一步讨论规格化浮点数的四则运算问题。</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516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4.6.1 </a:t>
            </a:r>
            <a:r>
              <a:rPr lang="zh-CN" altLang="en-US" dirty="0">
                <a:latin typeface="Times New Roman" panose="02020603050405020304" pitchFamily="18" charset="0"/>
              </a:rPr>
              <a:t>浮点加减运算 </a:t>
            </a:r>
            <a:endParaRPr lang="zh-CN" altLang="en-US" dirty="0">
              <a:latin typeface="Times New Roman" panose="02020603050405020304" pitchFamily="18" charset="0"/>
              <a:ea typeface="Times New Roman" panose="02020603050405020304" pitchFamily="18" charset="0"/>
            </a:endParaRPr>
          </a:p>
        </p:txBody>
      </p:sp>
      <p:sp>
        <p:nvSpPr>
          <p:cNvPr id="3" name="内容占位符 2"/>
          <p:cNvSpPr>
            <a:spLocks noGrp="1"/>
          </p:cNvSpPr>
          <p:nvPr>
            <p:ph idx="1"/>
          </p:nvPr>
        </p:nvSpPr>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设两个非</a:t>
            </a:r>
            <a:r>
              <a:rPr kumimoji="0" lang="en-US" altLang="zh-CN"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0</a:t>
            </a:r>
            <a:r>
              <a:rPr kumimoji="0" lang="zh-CN" altLang="en-US"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的规格化浮点数分别为：</a:t>
            </a:r>
            <a:endParaRPr kumimoji="0" lang="zh-CN" altLang="en-US"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ts val="1800"/>
              </a:spcBef>
              <a:spcAft>
                <a:spcPct val="0"/>
              </a:spcAft>
              <a:buClr>
                <a:schemeClr val="accent1"/>
              </a:buClr>
              <a:buSzTx/>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A=M</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B=M</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规格化浮点数</a:t>
            </a:r>
            <a:r>
              <a:rPr kumimoji="0" lang="en-US" altLang="zh-CN"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A</a:t>
            </a:r>
            <a:r>
              <a:rPr kumimoji="0" lang="zh-CN" altLang="en-US"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a:t>
            </a:r>
            <a:r>
              <a:rPr kumimoji="0" lang="en-US" altLang="zh-CN"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B</a:t>
            </a:r>
            <a:r>
              <a:rPr kumimoji="0" lang="zh-CN" altLang="en-US"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rPr>
              <a:t>加减运算通式为：</a:t>
            </a:r>
            <a:endParaRPr kumimoji="0" lang="zh-CN" altLang="en-US" sz="2800" b="1" i="0" u="none" strike="noStrike" kern="0" cap="none" spc="0" normalizeH="0" baseline="0" noProof="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A±B=(M</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,E</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,E</a:t>
            </a:r>
            <a:r>
              <a:rPr kumimoji="0" lang="en-US" altLang="zh-CN" sz="2800" b="0" i="0" u="none" strike="noStrike" kern="0" cap="none" spc="0" normalizeH="0" baseline="-25000" noProof="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rPr>
              <a:t>     ={ </a:t>
            </a:r>
            <a:endParaRPr kumimoji="0" lang="en-US" altLang="zh-CN" sz="2800" b="0" i="0" u="none" strike="noStrike" kern="0" cap="none" spc="0" normalizeH="0" baseline="0" noProof="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defRPr/>
            </a:pP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35171" name="Object 6"/>
          <p:cNvGraphicFramePr>
            <a:graphicFrameLocks noChangeAspect="1"/>
          </p:cNvGraphicFramePr>
          <p:nvPr/>
        </p:nvGraphicFramePr>
        <p:xfrm>
          <a:off x="1889125" y="4751705"/>
          <a:ext cx="3762375" cy="1088390"/>
        </p:xfrm>
        <a:graphic>
          <a:graphicData uri="http://schemas.openxmlformats.org/presentationml/2006/ole">
            <mc:AlternateContent xmlns:mc="http://schemas.openxmlformats.org/markup-compatibility/2006">
              <mc:Choice xmlns:v="urn:schemas-microsoft-com:vml" Requires="v">
                <p:oleObj spid="_x0000_s3083" name="" r:id="rId1" imgW="1587500" imgH="457200" progId="Equation.3">
                  <p:embed/>
                </p:oleObj>
              </mc:Choice>
              <mc:Fallback>
                <p:oleObj name="" r:id="rId1" imgW="1587500" imgH="457200" progId="Equation.3">
                  <p:embed/>
                  <p:pic>
                    <p:nvPicPr>
                      <p:cNvPr id="0" name="图片 3082"/>
                      <p:cNvPicPr/>
                      <p:nvPr/>
                    </p:nvPicPr>
                    <p:blipFill>
                      <a:blip r:embed="rId2"/>
                      <a:stretch>
                        <a:fillRect/>
                      </a:stretch>
                    </p:blipFill>
                    <p:spPr>
                      <a:xfrm>
                        <a:off x="1889125" y="4751705"/>
                        <a:ext cx="3762375" cy="1088390"/>
                      </a:xfrm>
                      <a:prstGeom prst="rect">
                        <a:avLst/>
                      </a:prstGeom>
                      <a:noFill/>
                      <a:ln w="38100">
                        <a:noFill/>
                        <a:miter/>
                      </a:ln>
                    </p:spPr>
                  </p:pic>
                </p:oleObj>
              </mc:Fallback>
            </mc:AlternateContent>
          </a:graphicData>
        </a:graphic>
      </p:graphicFrame>
      <p:graphicFrame>
        <p:nvGraphicFramePr>
          <p:cNvPr id="135172" name="Object 4"/>
          <p:cNvGraphicFramePr>
            <a:graphicFrameLocks noChangeAspect="1"/>
          </p:cNvGraphicFramePr>
          <p:nvPr/>
        </p:nvGraphicFramePr>
        <p:xfrm>
          <a:off x="2700338" y="2117725"/>
          <a:ext cx="838200" cy="598488"/>
        </p:xfrm>
        <a:graphic>
          <a:graphicData uri="http://schemas.openxmlformats.org/presentationml/2006/ole">
            <mc:AlternateContent xmlns:mc="http://schemas.openxmlformats.org/markup-compatibility/2006">
              <mc:Choice xmlns:v="urn:schemas-microsoft-com:vml" Requires="v">
                <p:oleObj spid="_x0000_s3084" name="" r:id="rId3" imgW="241300" imgH="177800" progId="Equation.3">
                  <p:embed/>
                </p:oleObj>
              </mc:Choice>
              <mc:Fallback>
                <p:oleObj name="" r:id="rId3" imgW="241300" imgH="177800" progId="Equation.3">
                  <p:embed/>
                  <p:pic>
                    <p:nvPicPr>
                      <p:cNvPr id="0" name="图片 3083"/>
                      <p:cNvPicPr/>
                      <p:nvPr/>
                    </p:nvPicPr>
                    <p:blipFill>
                      <a:blip r:embed="rId4"/>
                      <a:stretch>
                        <a:fillRect/>
                      </a:stretch>
                    </p:blipFill>
                    <p:spPr>
                      <a:xfrm>
                        <a:off x="2700338" y="2117725"/>
                        <a:ext cx="838200" cy="598488"/>
                      </a:xfrm>
                      <a:prstGeom prst="rect">
                        <a:avLst/>
                      </a:prstGeom>
                      <a:noFill/>
                      <a:ln w="38100">
                        <a:noFill/>
                        <a:miter/>
                      </a:ln>
                    </p:spPr>
                  </p:pic>
                </p:oleObj>
              </mc:Fallback>
            </mc:AlternateContent>
          </a:graphicData>
        </a:graphic>
      </p:graphicFrame>
      <p:graphicFrame>
        <p:nvGraphicFramePr>
          <p:cNvPr id="135173" name="Object 5"/>
          <p:cNvGraphicFramePr>
            <a:graphicFrameLocks noChangeAspect="1"/>
          </p:cNvGraphicFramePr>
          <p:nvPr/>
        </p:nvGraphicFramePr>
        <p:xfrm>
          <a:off x="2700338" y="2716213"/>
          <a:ext cx="808037" cy="577850"/>
        </p:xfrm>
        <a:graphic>
          <a:graphicData uri="http://schemas.openxmlformats.org/presentationml/2006/ole">
            <mc:AlternateContent xmlns:mc="http://schemas.openxmlformats.org/markup-compatibility/2006">
              <mc:Choice xmlns:v="urn:schemas-microsoft-com:vml" Requires="v">
                <p:oleObj spid="_x0000_s3085" name="" r:id="rId5" imgW="241300" imgH="177800" progId="Equation.3">
                  <p:embed/>
                </p:oleObj>
              </mc:Choice>
              <mc:Fallback>
                <p:oleObj name="" r:id="rId5" imgW="241300" imgH="177800" progId="Equation.3">
                  <p:embed/>
                  <p:pic>
                    <p:nvPicPr>
                      <p:cNvPr id="0" name="图片 3084"/>
                      <p:cNvPicPr/>
                      <p:nvPr/>
                    </p:nvPicPr>
                    <p:blipFill>
                      <a:blip r:embed="rId6"/>
                      <a:stretch>
                        <a:fillRect/>
                      </a:stretch>
                    </p:blipFill>
                    <p:spPr>
                      <a:xfrm>
                        <a:off x="2700338" y="2716213"/>
                        <a:ext cx="808037" cy="577850"/>
                      </a:xfrm>
                      <a:prstGeom prst="rect">
                        <a:avLst/>
                      </a:prstGeom>
                      <a:noFill/>
                      <a:ln w="38100">
                        <a:noFill/>
                        <a:miter/>
                      </a:ln>
                    </p:spPr>
                  </p:pic>
                </p:oleObj>
              </mc:Fallback>
            </mc:AlternateContent>
          </a:graphicData>
        </a:graphic>
      </p:graphicFrame>
      <p:pic>
        <p:nvPicPr>
          <p:cNvPr id="135174" name="图片 9"/>
          <p:cNvPicPr>
            <a:picLocks noChangeAspect="1"/>
          </p:cNvPicPr>
          <p:nvPr/>
        </p:nvPicPr>
        <p:blipFill>
          <a:blip r:embed="rId7"/>
          <a:stretch>
            <a:fillRect/>
          </a:stretch>
        </p:blipFill>
        <p:spPr>
          <a:xfrm>
            <a:off x="6016625" y="4805363"/>
            <a:ext cx="1066800" cy="560387"/>
          </a:xfrm>
          <a:prstGeom prst="rect">
            <a:avLst/>
          </a:prstGeom>
          <a:noFill/>
          <a:ln w="9525">
            <a:noFill/>
          </a:ln>
        </p:spPr>
      </p:pic>
      <p:sp>
        <p:nvSpPr>
          <p:cNvPr id="135175" name="矩形 16"/>
          <p:cNvSpPr/>
          <p:nvPr/>
        </p:nvSpPr>
        <p:spPr>
          <a:xfrm>
            <a:off x="6091238" y="5345113"/>
            <a:ext cx="992187" cy="400050"/>
          </a:xfrm>
          <a:prstGeom prst="rect">
            <a:avLst/>
          </a:prstGeom>
          <a:noFill/>
          <a:ln w="9525">
            <a:noFill/>
          </a:ln>
        </p:spPr>
        <p:txBody>
          <a:bodyPr wrap="none" anchor="t" anchorCtr="0">
            <a:spAutoFit/>
          </a:bodyPr>
          <a:p>
            <a:pPr eaLnBrk="0" hangingPunct="0"/>
            <a:r>
              <a:rPr lang="en-US" altLang="zh-CN" sz="2000" dirty="0">
                <a:solidFill>
                  <a:srgbClr val="000000"/>
                </a:solidFill>
                <a:latin typeface="Times New Roman" panose="02020603050405020304" pitchFamily="18" charset="0"/>
              </a:rPr>
              <a:t>E</a:t>
            </a:r>
            <a:r>
              <a:rPr lang="en-US" altLang="zh-CN" sz="2000" baseline="-25000" dirty="0">
                <a:solidFill>
                  <a:srgbClr val="000000"/>
                </a:solidFill>
                <a:latin typeface="Times New Roman" panose="02020603050405020304" pitchFamily="18" charset="0"/>
              </a:rPr>
              <a:t>A</a:t>
            </a:r>
            <a:r>
              <a:rPr lang="zh-CN" altLang="en-US" sz="2000" dirty="0">
                <a:solidFill>
                  <a:srgbClr val="000000"/>
                </a:solidFill>
                <a:latin typeface="Times New Roman" panose="02020603050405020304" pitchFamily="18" charset="0"/>
              </a:rPr>
              <a:t>＜</a:t>
            </a:r>
            <a:r>
              <a:rPr lang="en-US" altLang="zh-CN" sz="2000" dirty="0">
                <a:solidFill>
                  <a:srgbClr val="000000"/>
                </a:solidFill>
                <a:latin typeface="Times New Roman" panose="02020603050405020304" pitchFamily="18" charset="0"/>
              </a:rPr>
              <a:t>E</a:t>
            </a:r>
            <a:r>
              <a:rPr lang="en-US" altLang="zh-CN" sz="2000" baseline="-25000" dirty="0">
                <a:solidFill>
                  <a:srgbClr val="000000"/>
                </a:solidFill>
                <a:latin typeface="Times New Roman" panose="02020603050405020304" pitchFamily="18" charset="0"/>
              </a:rPr>
              <a:t>B</a:t>
            </a:r>
            <a:endParaRPr lang="zh-CN" altLang="en-US" sz="2000" dirty="0">
              <a:solidFill>
                <a:srgbClr val="000000"/>
              </a:solidFill>
              <a:latin typeface="Arial" panose="020B0604020202020204" pitchFamily="34" charset="0"/>
            </a:endParaRPr>
          </a:p>
        </p:txBody>
      </p:sp>
      <p:sp>
        <p:nvSpPr>
          <p:cNvPr id="2" name="矩形 1"/>
          <p:cNvSpPr/>
          <p:nvPr/>
        </p:nvSpPr>
        <p:spPr>
          <a:xfrm>
            <a:off x="3780155" y="4718050"/>
            <a:ext cx="1151890" cy="367030"/>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
        <p:nvSpPr>
          <p:cNvPr id="4" name="矩形 3"/>
          <p:cNvSpPr/>
          <p:nvPr/>
        </p:nvSpPr>
        <p:spPr>
          <a:xfrm>
            <a:off x="2987675" y="5229225"/>
            <a:ext cx="1151890" cy="367030"/>
          </a:xfrm>
          <a:prstGeom prst="rect">
            <a:avLst/>
          </a:prstGeom>
          <a:noFill/>
          <a:ln w="9525" cap="flat" cmpd="sng" algn="ctr">
            <a:solidFill>
              <a:srgbClr val="FF0000"/>
            </a:solid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en-US" alt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619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浮点数加减运算步骤</a:t>
            </a:r>
            <a:endParaRPr lang="zh-CN" altLang="en-US" dirty="0">
              <a:latin typeface="Times New Roman" panose="02020603050405020304" pitchFamily="18" charset="0"/>
              <a:ea typeface="Times New Roman" panose="02020603050405020304" pitchFamily="18" charset="0"/>
            </a:endParaRPr>
          </a:p>
        </p:txBody>
      </p:sp>
      <p:sp>
        <p:nvSpPr>
          <p:cNvPr id="136194" name="内容占位符 2"/>
          <p:cNvSpPr>
            <a:spLocks noGrp="1"/>
          </p:cNvSpPr>
          <p:nvPr>
            <p:ph idx="1"/>
          </p:nvPr>
        </p:nvSpPr>
        <p:spPr>
          <a:xfrm>
            <a:off x="457200" y="1417638"/>
            <a:ext cx="8229600" cy="5180012"/>
          </a:xfrm>
          <a:noFill/>
          <a:ln>
            <a:noFill/>
          </a:ln>
        </p:spPr>
        <p:txBody>
          <a:bodyPr anchor="t" anchorCtr="0"/>
          <a:p>
            <a:r>
              <a:rPr lang="zh-CN" altLang="en-US" dirty="0">
                <a:latin typeface="Times New Roman" panose="02020603050405020304" pitchFamily="18" charset="0"/>
              </a:rPr>
              <a:t>⑴对阶</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首先要把小数点的位置对齐；</a:t>
            </a:r>
            <a:endParaRPr lang="zh-CN" altLang="en-US" dirty="0">
              <a:latin typeface="Times New Roman" panose="02020603050405020304" pitchFamily="18" charset="0"/>
            </a:endParaRPr>
          </a:p>
          <a:p>
            <a:pPr lvl="1">
              <a:spcBef>
                <a:spcPts val="1200"/>
              </a:spcBef>
            </a:pPr>
            <a:r>
              <a:rPr lang="zh-CN" altLang="en-US" dirty="0">
                <a:solidFill>
                  <a:srgbClr val="FF0000"/>
                </a:solidFill>
                <a:latin typeface="Times New Roman" panose="02020603050405020304" pitchFamily="18" charset="0"/>
              </a:rPr>
              <a:t>对齐两数的小数点，就是使两数的阶码相等</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首先应求出两数阶码</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zh-CN" altLang="en-US" dirty="0">
                <a:latin typeface="Times New Roman" panose="02020603050405020304" pitchFamily="18" charset="0"/>
              </a:rPr>
              <a:t>和</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zh-CN" altLang="en-US" dirty="0">
                <a:latin typeface="Times New Roman" panose="02020603050405020304" pitchFamily="18" charset="0"/>
              </a:rPr>
              <a:t>之差</a:t>
            </a:r>
            <a:r>
              <a:rPr lang="en-US" altLang="zh-CN" dirty="0">
                <a:latin typeface="Times New Roman" panose="02020603050405020304" pitchFamily="18" charset="0"/>
              </a:rPr>
              <a:t>ΔE=E</a:t>
            </a:r>
            <a:r>
              <a:rPr lang="en-US" altLang="zh-CN" baseline="-25000" dirty="0">
                <a:latin typeface="Times New Roman" panose="02020603050405020304" pitchFamily="18" charset="0"/>
              </a:rPr>
              <a:t>A</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endParaRPr lang="en-US" altLang="zh-CN" baseline="-25000"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若</a:t>
            </a:r>
            <a:r>
              <a:rPr lang="en-US" altLang="zh-CN" dirty="0">
                <a:latin typeface="Times New Roman" panose="02020603050405020304" pitchFamily="18" charset="0"/>
              </a:rPr>
              <a:t>ΔE=0</a:t>
            </a:r>
            <a:r>
              <a:rPr lang="zh-CN" altLang="en-US" dirty="0">
                <a:latin typeface="Times New Roman" panose="02020603050405020304" pitchFamily="18" charset="0"/>
              </a:rPr>
              <a:t>，表示两数阶码相等，即</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若</a:t>
            </a:r>
            <a:r>
              <a:rPr lang="en-US" altLang="zh-CN" dirty="0">
                <a:latin typeface="Times New Roman" panose="02020603050405020304" pitchFamily="18" charset="0"/>
              </a:rPr>
              <a:t>ΔE</a:t>
            </a:r>
            <a:r>
              <a:rPr lang="zh-CN" altLang="en-US" dirty="0">
                <a:latin typeface="Times New Roman" panose="02020603050405020304" pitchFamily="18" charset="0"/>
              </a:rPr>
              <a:t>＞</a:t>
            </a:r>
            <a:r>
              <a:rPr lang="en-US" altLang="zh-CN" dirty="0">
                <a:latin typeface="Times New Roman" panose="02020603050405020304" pitchFamily="18" charset="0"/>
              </a:rPr>
              <a:t>0</a:t>
            </a:r>
            <a:r>
              <a:rPr lang="zh-CN" altLang="en-US" dirty="0">
                <a:latin typeface="Times New Roman" panose="02020603050405020304" pitchFamily="18" charset="0"/>
              </a:rPr>
              <a:t>，表示</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若</a:t>
            </a:r>
            <a:r>
              <a:rPr lang="en-US" altLang="zh-CN" dirty="0">
                <a:latin typeface="Times New Roman" panose="02020603050405020304" pitchFamily="18" charset="0"/>
              </a:rPr>
              <a:t>ΔE</a:t>
            </a:r>
            <a:r>
              <a:rPr lang="zh-CN" altLang="en-US" dirty="0">
                <a:latin typeface="Times New Roman" panose="02020603050405020304" pitchFamily="18" charset="0"/>
              </a:rPr>
              <a:t>＜</a:t>
            </a:r>
            <a:r>
              <a:rPr lang="en-US" altLang="zh-CN" dirty="0">
                <a:latin typeface="Times New Roman" panose="02020603050405020304" pitchFamily="18" charset="0"/>
              </a:rPr>
              <a:t>0</a:t>
            </a:r>
            <a:r>
              <a:rPr lang="zh-CN" altLang="en-US" dirty="0">
                <a:latin typeface="Times New Roman" panose="02020603050405020304" pitchFamily="18" charset="0"/>
              </a:rPr>
              <a:t>，表示</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zh-CN" altLang="en-US"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721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浮点数加减运算步骤（续）</a:t>
            </a:r>
            <a:endParaRPr lang="zh-CN" altLang="en-US" dirty="0">
              <a:latin typeface="Times New Roman" panose="02020603050405020304" pitchFamily="18" charset="0"/>
              <a:ea typeface="Times New Roman" panose="02020603050405020304" pitchFamily="18" charset="0"/>
            </a:endParaRPr>
          </a:p>
        </p:txBody>
      </p:sp>
      <p:sp>
        <p:nvSpPr>
          <p:cNvPr id="137218" name="内容占位符 2"/>
          <p:cNvSpPr>
            <a:spLocks noGrp="1"/>
          </p:cNvSpPr>
          <p:nvPr>
            <p:ph idx="1"/>
          </p:nvPr>
        </p:nvSpPr>
        <p:spPr>
          <a:xfrm>
            <a:off x="457200" y="1417638"/>
            <a:ext cx="8229600" cy="4708525"/>
          </a:xfrm>
          <a:noFill/>
          <a:ln>
            <a:noFill/>
          </a:ln>
        </p:spPr>
        <p:txBody>
          <a:bodyPr anchor="t" anchorCtr="0"/>
          <a:p>
            <a:pPr latinLnBrk="0">
              <a:spcBef>
                <a:spcPts val="1800"/>
              </a:spcBef>
            </a:pPr>
            <a:r>
              <a:rPr lang="zh-CN" altLang="en-US" dirty="0">
                <a:latin typeface="Times New Roman" panose="02020603050405020304" pitchFamily="18" charset="0"/>
              </a:rPr>
              <a:t>当</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zh-CN" altLang="en-US" dirty="0">
                <a:latin typeface="Times New Roman" panose="02020603050405020304" pitchFamily="18" charset="0"/>
              </a:rPr>
              <a:t>时，要通过尾数的移位来改变</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zh-CN" altLang="en-US" dirty="0">
                <a:latin typeface="Times New Roman" panose="02020603050405020304" pitchFamily="18" charset="0"/>
              </a:rPr>
              <a:t>或</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对阶的规则是：</a:t>
            </a:r>
            <a:r>
              <a:rPr lang="zh-CN" altLang="en-US" dirty="0">
                <a:solidFill>
                  <a:srgbClr val="FF0000"/>
                </a:solidFill>
                <a:latin typeface="Times New Roman" panose="02020603050405020304" pitchFamily="18" charset="0"/>
              </a:rPr>
              <a:t>小阶向大阶看齐</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要使小阶的阶码增大，则相应的</a:t>
            </a:r>
            <a:r>
              <a:rPr lang="zh-CN" altLang="en-US" dirty="0">
                <a:solidFill>
                  <a:srgbClr val="FF0000"/>
                </a:solidFill>
                <a:latin typeface="Times New Roman" panose="02020603050405020304" pitchFamily="18" charset="0"/>
              </a:rPr>
              <a:t>尾数右移</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每右移一位，阶码加</a:t>
            </a:r>
            <a:r>
              <a:rPr lang="en-US" altLang="zh-CN" dirty="0">
                <a:latin typeface="Times New Roman" panose="02020603050405020304" pitchFamily="18" charset="0"/>
              </a:rPr>
              <a:t>1</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spcBef>
                <a:spcPts val="1200"/>
              </a:spcBef>
            </a:pP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E</a:t>
            </a:r>
            <a:r>
              <a:rPr lang="en-US" altLang="zh-CN" b="1" baseline="-25000" dirty="0">
                <a:latin typeface="Times New Roman" panose="02020603050405020304" pitchFamily="18" charset="0"/>
              </a:rPr>
              <a:t>B</a:t>
            </a:r>
            <a:r>
              <a:rPr lang="zh-CN" altLang="en-US" dirty="0">
                <a:latin typeface="Times New Roman" panose="02020603050405020304" pitchFamily="18" charset="0"/>
              </a:rPr>
              <a:t>，</a:t>
            </a:r>
            <a:r>
              <a:rPr lang="en-US" altLang="zh-CN" dirty="0">
                <a:latin typeface="Times New Roman" panose="02020603050405020304" pitchFamily="18" charset="0"/>
              </a:rPr>
              <a:t>M</a:t>
            </a:r>
            <a:r>
              <a:rPr lang="en-US" altLang="zh-CN" b="1" baseline="-25000" dirty="0">
                <a:latin typeface="Times New Roman" panose="02020603050405020304" pitchFamily="18" charset="0"/>
              </a:rPr>
              <a:t>B</a:t>
            </a:r>
            <a:r>
              <a:rPr lang="zh-CN" altLang="en-US" dirty="0">
                <a:latin typeface="Times New Roman" panose="02020603050405020304" pitchFamily="18" charset="0"/>
              </a:rPr>
              <a:t>右移。每右移一位，</a:t>
            </a:r>
            <a:r>
              <a:rPr lang="en-US" altLang="zh-CN" dirty="0">
                <a:latin typeface="Times New Roman" panose="02020603050405020304" pitchFamily="18" charset="0"/>
              </a:rPr>
              <a:t>E</a:t>
            </a:r>
            <a:r>
              <a:rPr lang="en-US" altLang="zh-CN" b="1" baseline="-25000" dirty="0">
                <a:latin typeface="Times New Roman" panose="02020603050405020304" pitchFamily="18" charset="0"/>
              </a:rPr>
              <a:t>B</a:t>
            </a:r>
            <a:r>
              <a:rPr lang="en-US" altLang="zh-CN" dirty="0">
                <a:latin typeface="Times New Roman" panose="02020603050405020304" pitchFamily="18" charset="0"/>
              </a:rPr>
              <a:t>+1→E</a:t>
            </a:r>
            <a:r>
              <a:rPr lang="en-US" altLang="zh-CN" b="1" baseline="-25000" dirty="0">
                <a:latin typeface="Times New Roman" panose="02020603050405020304" pitchFamily="18" charset="0"/>
              </a:rPr>
              <a:t>B</a:t>
            </a:r>
            <a:r>
              <a:rPr lang="zh-CN" altLang="en-US" b="1" baseline="-25000" dirty="0">
                <a:latin typeface="Times New Roman" panose="02020603050405020304" pitchFamily="18" charset="0"/>
              </a:rPr>
              <a:t>；</a:t>
            </a:r>
            <a:endParaRPr lang="zh-CN" altLang="en-US" dirty="0">
              <a:latin typeface="Times New Roman" panose="02020603050405020304" pitchFamily="18" charset="0"/>
            </a:endParaRPr>
          </a:p>
          <a:p>
            <a:pPr lvl="2">
              <a:spcBef>
                <a:spcPts val="1200"/>
              </a:spcBef>
            </a:pPr>
            <a:r>
              <a:rPr lang="en-US" altLang="zh-CN" dirty="0">
                <a:latin typeface="Times New Roman" panose="02020603050405020304" pitchFamily="18" charset="0"/>
              </a:rPr>
              <a:t>E</a:t>
            </a:r>
            <a:r>
              <a:rPr lang="en-US" altLang="zh-CN" b="1" baseline="-25000"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E</a:t>
            </a:r>
            <a:r>
              <a:rPr lang="en-US" altLang="zh-CN" b="1" baseline="-25000" dirty="0">
                <a:latin typeface="Times New Roman" panose="02020603050405020304" pitchFamily="18" charset="0"/>
              </a:rPr>
              <a:t>B</a:t>
            </a:r>
            <a:r>
              <a:rPr lang="zh-CN" altLang="en-US" dirty="0">
                <a:latin typeface="Times New Roman" panose="02020603050405020304" pitchFamily="18" charset="0"/>
              </a:rPr>
              <a:t>，</a:t>
            </a:r>
            <a:r>
              <a:rPr lang="en-US" altLang="zh-CN" dirty="0">
                <a:latin typeface="Times New Roman" panose="02020603050405020304" pitchFamily="18" charset="0"/>
              </a:rPr>
              <a:t>M</a:t>
            </a:r>
            <a:r>
              <a:rPr lang="en-US" altLang="zh-CN" b="1" baseline="-25000" dirty="0">
                <a:latin typeface="Times New Roman" panose="02020603050405020304" pitchFamily="18" charset="0"/>
              </a:rPr>
              <a:t>A</a:t>
            </a:r>
            <a:r>
              <a:rPr lang="zh-CN" altLang="en-US" dirty="0">
                <a:latin typeface="Times New Roman" panose="02020603050405020304" pitchFamily="18" charset="0"/>
              </a:rPr>
              <a:t>右移。每右移一位，</a:t>
            </a:r>
            <a:r>
              <a:rPr lang="en-US" altLang="zh-CN" dirty="0">
                <a:latin typeface="Times New Roman" panose="02020603050405020304" pitchFamily="18" charset="0"/>
              </a:rPr>
              <a:t>E</a:t>
            </a:r>
            <a:r>
              <a:rPr lang="en-US" altLang="zh-CN" b="1" baseline="-25000" dirty="0">
                <a:latin typeface="Times New Roman" panose="02020603050405020304" pitchFamily="18" charset="0"/>
              </a:rPr>
              <a:t>A</a:t>
            </a:r>
            <a:r>
              <a:rPr lang="en-US" altLang="zh-CN" dirty="0">
                <a:latin typeface="Times New Roman" panose="02020603050405020304" pitchFamily="18" charset="0"/>
              </a:rPr>
              <a:t>+1→E</a:t>
            </a:r>
            <a:r>
              <a:rPr lang="en-US" altLang="zh-CN" b="1" baseline="-25000"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atinLnBrk="0">
              <a:spcBef>
                <a:spcPts val="1800"/>
              </a:spcBef>
            </a:pPr>
            <a:r>
              <a:rPr lang="zh-CN" altLang="en-US" dirty="0">
                <a:solidFill>
                  <a:srgbClr val="FF0000"/>
                </a:solidFill>
                <a:latin typeface="Times New Roman" panose="02020603050405020304" pitchFamily="18" charset="0"/>
              </a:rPr>
              <a:t>尾数右移后，应对尾数进行舍入</a:t>
            </a:r>
            <a:r>
              <a:rPr lang="zh-CN" altLang="en-US"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8241" name="标题 1"/>
          <p:cNvSpPr>
            <a:spLocks noGrp="1"/>
          </p:cNvSpPr>
          <p:nvPr>
            <p:ph type="title"/>
          </p:nvPr>
        </p:nvSpPr>
        <p:spPr>
          <a:noFill/>
          <a:ln>
            <a:noFill/>
          </a:ln>
        </p:spPr>
        <p:txBody>
          <a:bodyPr anchor="t" anchorCtr="0"/>
          <a:p>
            <a:r>
              <a:rPr lang="en-US" altLang="zh-CN" dirty="0"/>
              <a:t>1.</a:t>
            </a:r>
            <a:r>
              <a:rPr lang="zh-CN" altLang="en-US" dirty="0"/>
              <a:t>浮点数加减运算步骤（续）</a:t>
            </a:r>
            <a:endParaRPr lang="zh-CN" altLang="en-US" dirty="0"/>
          </a:p>
        </p:txBody>
      </p:sp>
      <p:sp>
        <p:nvSpPr>
          <p:cNvPr id="13824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⑵尾数加</a:t>
            </a:r>
            <a:r>
              <a:rPr lang="en-US" altLang="zh-CN" dirty="0">
                <a:latin typeface="Times New Roman" panose="02020603050405020304" pitchFamily="18" charset="0"/>
              </a:rPr>
              <a:t>/</a:t>
            </a:r>
            <a:r>
              <a:rPr lang="zh-CN" altLang="en-US" dirty="0">
                <a:latin typeface="Times New Roman" panose="02020603050405020304" pitchFamily="18" charset="0"/>
              </a:rPr>
              <a:t>减</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对阶之后，进行尾数加</a:t>
            </a:r>
            <a:r>
              <a:rPr lang="en-US" altLang="zh-CN" dirty="0">
                <a:latin typeface="Times New Roman" panose="02020603050405020304" pitchFamily="18" charset="0"/>
              </a:rPr>
              <a:t>/</a:t>
            </a:r>
            <a:r>
              <a:rPr lang="zh-CN" altLang="en-US" dirty="0">
                <a:latin typeface="Times New Roman" panose="02020603050405020304" pitchFamily="18" charset="0"/>
              </a:rPr>
              <a:t>减：</a:t>
            </a:r>
            <a:r>
              <a:rPr lang="en-US" altLang="zh-CN" dirty="0">
                <a:latin typeface="Times New Roman" panose="02020603050405020304" pitchFamily="18" charset="0"/>
              </a:rPr>
              <a:t>M</a:t>
            </a:r>
            <a:r>
              <a:rPr lang="en-US" altLang="zh-CN" b="1" baseline="-25000" dirty="0">
                <a:latin typeface="Times New Roman" panose="02020603050405020304" pitchFamily="18" charset="0"/>
              </a:rPr>
              <a:t>A</a:t>
            </a:r>
            <a:r>
              <a:rPr lang="en-US" altLang="zh-CN" dirty="0">
                <a:latin typeface="Times New Roman" panose="02020603050405020304" pitchFamily="18" charset="0"/>
              </a:rPr>
              <a:t>±M</a:t>
            </a:r>
            <a:r>
              <a:rPr lang="en-US" altLang="zh-CN" b="1" baseline="-25000" dirty="0">
                <a:latin typeface="Times New Roman" panose="02020603050405020304" pitchFamily="18" charset="0"/>
              </a:rPr>
              <a:t>B</a:t>
            </a:r>
            <a:r>
              <a:rPr lang="en-US" altLang="zh-CN" dirty="0">
                <a:latin typeface="Times New Roman" panose="02020603050405020304" pitchFamily="18" charset="0"/>
              </a:rPr>
              <a:t>→M</a:t>
            </a:r>
            <a:r>
              <a:rPr lang="en-US" altLang="zh-CN" b="1" baseline="-25000" dirty="0">
                <a:latin typeface="Times New Roman" panose="02020603050405020304" pitchFamily="18" charset="0"/>
              </a:rPr>
              <a:t>C</a:t>
            </a:r>
            <a:r>
              <a:rPr lang="zh-CN" altLang="en-US" b="1" baseline="-25000" dirty="0">
                <a:latin typeface="Times New Roman" panose="02020603050405020304" pitchFamily="18" charset="0"/>
              </a:rPr>
              <a:t>；</a:t>
            </a:r>
            <a:endParaRPr lang="en-US" altLang="zh-CN" b="1" baseline="-25000" dirty="0">
              <a:latin typeface="Times New Roman" panose="02020603050405020304" pitchFamily="18" charset="0"/>
            </a:endParaRPr>
          </a:p>
          <a:p>
            <a:pPr lvl="1">
              <a:spcBef>
                <a:spcPts val="1200"/>
              </a:spcBef>
            </a:pPr>
            <a:r>
              <a:rPr lang="zh-CN" altLang="en-US" dirty="0">
                <a:latin typeface="Times New Roman" panose="02020603050405020304" pitchFamily="18" charset="0"/>
              </a:rPr>
              <a:t>算法与定点加</a:t>
            </a:r>
            <a:r>
              <a:rPr lang="en-US" altLang="zh-CN" dirty="0">
                <a:latin typeface="Times New Roman" panose="02020603050405020304" pitchFamily="18" charset="0"/>
              </a:rPr>
              <a:t>/</a:t>
            </a:r>
            <a:r>
              <a:rPr lang="zh-CN" altLang="en-US" dirty="0">
                <a:latin typeface="Times New Roman" panose="02020603050405020304" pitchFamily="18" charset="0"/>
              </a:rPr>
              <a:t>减法相同。</a:t>
            </a:r>
            <a:endParaRPr lang="zh-CN" altLang="en-US" dirty="0">
              <a:latin typeface="Times New Roman" panose="02020603050405020304" pitchFamily="18" charset="0"/>
            </a:endParaRPr>
          </a:p>
          <a:p>
            <a:pPr latinLnBrk="0">
              <a:spcBef>
                <a:spcPts val="2400"/>
              </a:spcBef>
            </a:pPr>
            <a:r>
              <a:rPr lang="zh-CN" altLang="en-US" dirty="0">
                <a:latin typeface="Times New Roman" panose="02020603050405020304" pitchFamily="18" charset="0"/>
              </a:rPr>
              <a:t>⑶尾数结果规格化</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尾数加</a:t>
            </a:r>
            <a:r>
              <a:rPr lang="en-US" altLang="zh-CN" dirty="0">
                <a:latin typeface="Times New Roman" panose="02020603050405020304" pitchFamily="18" charset="0"/>
              </a:rPr>
              <a:t>/</a:t>
            </a:r>
            <a:r>
              <a:rPr lang="zh-CN" altLang="en-US" dirty="0">
                <a:latin typeface="Times New Roman" panose="02020603050405020304" pitchFamily="18" charset="0"/>
              </a:rPr>
              <a:t>减运算之后得到的数可能不是规格化数</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规格化：增加有效数字位数，提高运算精度。</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926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浮点数加减运算步骤（续）</a:t>
            </a:r>
            <a:endParaRPr lang="zh-CN" altLang="en-US" dirty="0">
              <a:latin typeface="Times New Roman" panose="02020603050405020304" pitchFamily="18" charset="0"/>
              <a:ea typeface="Times New Roman" panose="02020603050405020304" pitchFamily="18" charset="0"/>
            </a:endParaRPr>
          </a:p>
        </p:txBody>
      </p:sp>
      <p:sp>
        <p:nvSpPr>
          <p:cNvPr id="3" name="内容占位符 2"/>
          <p:cNvSpPr>
            <a:spLocks noGrp="1"/>
          </p:cNvSpPr>
          <p:nvPr>
            <p:ph idx="1"/>
          </p:nvPr>
        </p:nvSpPr>
        <p:spPr>
          <a:xfrm>
            <a:off x="457200" y="1235075"/>
            <a:ext cx="8229600" cy="5218113"/>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⑶尾数结果规格化</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50000"/>
              </a:lnSpc>
              <a:spcBef>
                <a:spcPct val="200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zh-CN" altLang="en-US" sz="28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双符号位补码</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表示，有</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6</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种情况：</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20000"/>
              </a:lnSpc>
              <a:spcBef>
                <a:spcPts val="18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①   </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00.1 x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2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②   11.0 x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2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③   00.0 x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2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④   11.1 x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2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⑤   01.x x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00050" marR="0" lvl="1" indent="0" algn="l" defTabSz="914400" rtl="0" eaLnBrk="0" fontAlgn="base" latinLnBrk="0" hangingPunct="0">
              <a:lnSpc>
                <a:spcPct val="120000"/>
              </a:lnSpc>
              <a:spcBef>
                <a:spcPct val="20000"/>
              </a:spcBef>
              <a:spcAft>
                <a:spcPct val="0"/>
              </a:spcAft>
              <a:buClr>
                <a:schemeClr val="accent1"/>
              </a:buClr>
              <a:buSzTx/>
              <a:buFont typeface="Wingdings" panose="05000000000000000000" pitchFamily="2" charset="2"/>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⑥   10.x x </a:t>
            </a:r>
            <a:r>
              <a:rPr kumimoji="0" lang="en-US" altLang="zh-CN" sz="2400" b="0" i="0" u="none" strike="noStrike" kern="0" cap="none" spc="0" normalizeH="0" baseline="0" noProof="0" dirty="0" err="1">
                <a:ln>
                  <a:noFill/>
                </a:ln>
                <a:solidFill>
                  <a:schemeClr val="tx1"/>
                </a:solidFill>
                <a:effectLst/>
                <a:uLnTx/>
                <a:uFillTx/>
                <a:latin typeface="Times New Roman" panose="02020603050405020304" pitchFamily="18" charset="0"/>
                <a:ea typeface="+mn-ea"/>
                <a:cs typeface="Times New Roman" panose="02020603050405020304" pitchFamily="18" charset="0"/>
              </a:rPr>
              <a:t>x</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x</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graphicFrame>
        <p:nvGraphicFramePr>
          <p:cNvPr id="139267" name="Object 5"/>
          <p:cNvGraphicFramePr>
            <a:graphicFrameLocks noChangeAspect="1"/>
          </p:cNvGraphicFramePr>
          <p:nvPr/>
        </p:nvGraphicFramePr>
        <p:xfrm>
          <a:off x="1258888" y="1655763"/>
          <a:ext cx="330200" cy="876300"/>
        </p:xfrm>
        <a:graphic>
          <a:graphicData uri="http://schemas.openxmlformats.org/presentationml/2006/ole">
            <mc:AlternateContent xmlns:mc="http://schemas.openxmlformats.org/markup-compatibility/2006">
              <mc:Choice xmlns:v="urn:schemas-microsoft-com:vml" Requires="v">
                <p:oleObj spid="_x0000_s3099" name="" r:id="rId1" imgW="152400" imgH="393700" progId="Equation.3">
                  <p:embed/>
                </p:oleObj>
              </mc:Choice>
              <mc:Fallback>
                <p:oleObj name="" r:id="rId1" imgW="152400" imgH="393700" progId="Equation.3">
                  <p:embed/>
                  <p:pic>
                    <p:nvPicPr>
                      <p:cNvPr id="0" name="图片 3098"/>
                      <p:cNvPicPr/>
                      <p:nvPr/>
                    </p:nvPicPr>
                    <p:blipFill>
                      <a:blip r:embed="rId2"/>
                      <a:stretch>
                        <a:fillRect/>
                      </a:stretch>
                    </p:blipFill>
                    <p:spPr>
                      <a:xfrm>
                        <a:off x="1258888" y="1655763"/>
                        <a:ext cx="330200" cy="876300"/>
                      </a:xfrm>
                      <a:prstGeom prst="rect">
                        <a:avLst/>
                      </a:prstGeom>
                      <a:noFill/>
                      <a:ln w="38100">
                        <a:noFill/>
                        <a:miter/>
                      </a:ln>
                    </p:spPr>
                  </p:pic>
                </p:oleObj>
              </mc:Fallback>
            </mc:AlternateContent>
          </a:graphicData>
        </a:graphic>
      </p:graphicFrame>
      <p:sp>
        <p:nvSpPr>
          <p:cNvPr id="139268" name="矩形 1"/>
          <p:cNvSpPr/>
          <p:nvPr/>
        </p:nvSpPr>
        <p:spPr>
          <a:xfrm>
            <a:off x="3924300" y="2681288"/>
            <a:ext cx="3671888" cy="368300"/>
          </a:xfrm>
          <a:prstGeom prst="rect">
            <a:avLst/>
          </a:prstGeom>
          <a:noFill/>
          <a:ln w="9525">
            <a:noFill/>
          </a:ln>
        </p:spPr>
        <p:txBody>
          <a:bodyPr anchor="t" anchorCtr="0">
            <a:spAutoFit/>
          </a:bodyPr>
          <a:p>
            <a:pPr marL="285750" indent="-285750" eaLnBrk="0" hangingPunct="0">
              <a:buFont typeface="Wingdings" panose="05000000000000000000" pitchFamily="2" charset="2"/>
              <a:buChar char="l"/>
            </a:pPr>
            <a:r>
              <a:rPr lang="zh-CN" altLang="en-US" dirty="0">
                <a:solidFill>
                  <a:srgbClr val="0000FF"/>
                </a:solidFill>
                <a:latin typeface="Times New Roman" panose="02020603050405020304" pitchFamily="18" charset="0"/>
                <a:ea typeface="宋体" panose="02010600030101010101" pitchFamily="2" charset="-122"/>
              </a:rPr>
              <a:t>第①和②种情况，已是规格化数</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39269" name="矩形 5"/>
          <p:cNvSpPr/>
          <p:nvPr/>
        </p:nvSpPr>
        <p:spPr>
          <a:xfrm>
            <a:off x="3924300" y="3167063"/>
            <a:ext cx="4762500" cy="1200150"/>
          </a:xfrm>
          <a:prstGeom prst="rect">
            <a:avLst/>
          </a:prstGeom>
          <a:noFill/>
          <a:ln w="9525">
            <a:noFill/>
          </a:ln>
        </p:spPr>
        <p:txBody>
          <a:bodyPr anchor="t" anchorCtr="0">
            <a:spAutoFit/>
          </a:bodyPr>
          <a:p>
            <a:pPr marL="285750" indent="-285750" eaLnBrk="0" hangingPunct="0">
              <a:buFont typeface="Wingdings" panose="05000000000000000000" pitchFamily="2" charset="2"/>
              <a:buChar char="l"/>
            </a:pPr>
            <a:r>
              <a:rPr lang="zh-CN" altLang="en-US" dirty="0">
                <a:solidFill>
                  <a:srgbClr val="0000FF"/>
                </a:solidFill>
                <a:latin typeface="Times New Roman" panose="02020603050405020304" pitchFamily="18" charset="0"/>
                <a:ea typeface="宋体" panose="02010600030101010101" pitchFamily="2" charset="-122"/>
              </a:rPr>
              <a:t>第③和④种情况需要使尾数左移以实现规格化，这个过程称为左规。尾数每左移一位，阶码相应减</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E</a:t>
            </a:r>
            <a:r>
              <a:rPr lang="en-US" altLang="zh-CN" baseline="-25000" dirty="0">
                <a:solidFill>
                  <a:srgbClr val="0000FF"/>
                </a:solidFill>
                <a:latin typeface="Times New Roman" panose="02020603050405020304" pitchFamily="18" charset="0"/>
                <a:ea typeface="宋体" panose="02010600030101010101" pitchFamily="2" charset="-122"/>
              </a:rPr>
              <a:t>C</a:t>
            </a:r>
            <a:r>
              <a:rPr lang="en-US" altLang="zh-CN" dirty="0">
                <a:solidFill>
                  <a:srgbClr val="0000FF"/>
                </a:solidFill>
                <a:latin typeface="Times New Roman" panose="02020603050405020304" pitchFamily="18" charset="0"/>
                <a:ea typeface="宋体" panose="02010600030101010101" pitchFamily="2" charset="-122"/>
              </a:rPr>
              <a:t>-1→E</a:t>
            </a:r>
            <a:r>
              <a:rPr lang="en-US" altLang="zh-CN" baseline="-25000" dirty="0">
                <a:solidFill>
                  <a:srgbClr val="0000FF"/>
                </a:solidFill>
                <a:latin typeface="Times New Roman" panose="02020603050405020304" pitchFamily="18" charset="0"/>
                <a:ea typeface="宋体" panose="02010600030101010101" pitchFamily="2" charset="-122"/>
              </a:rPr>
              <a:t>C</a:t>
            </a:r>
            <a:r>
              <a:rPr lang="zh-CN" altLang="en-US" dirty="0">
                <a:solidFill>
                  <a:srgbClr val="0000FF"/>
                </a:solidFill>
                <a:latin typeface="Times New Roman" panose="02020603050405020304" pitchFamily="18" charset="0"/>
                <a:ea typeface="宋体" panose="02010600030101010101" pitchFamily="2" charset="-122"/>
              </a:rPr>
              <a:t>），直至成为规格化数为止。</a:t>
            </a:r>
            <a:endParaRPr lang="zh-CN" altLang="en-US" dirty="0">
              <a:solidFill>
                <a:srgbClr val="0000FF"/>
              </a:solidFill>
              <a:latin typeface="Times New Roman" panose="02020603050405020304" pitchFamily="18" charset="0"/>
              <a:ea typeface="宋体" panose="02010600030101010101" pitchFamily="2" charset="-122"/>
            </a:endParaRPr>
          </a:p>
        </p:txBody>
      </p:sp>
      <p:sp>
        <p:nvSpPr>
          <p:cNvPr id="139270" name="矩形 6"/>
          <p:cNvSpPr/>
          <p:nvPr/>
        </p:nvSpPr>
        <p:spPr>
          <a:xfrm>
            <a:off x="3883025" y="4367213"/>
            <a:ext cx="4762500" cy="1754187"/>
          </a:xfrm>
          <a:prstGeom prst="rect">
            <a:avLst/>
          </a:prstGeom>
          <a:noFill/>
          <a:ln w="9525">
            <a:noFill/>
          </a:ln>
        </p:spPr>
        <p:txBody>
          <a:bodyPr anchor="t" anchorCtr="0">
            <a:spAutoFit/>
          </a:bodyPr>
          <a:p>
            <a:pPr marL="285750" indent="-285750" eaLnBrk="0" hangingPunct="0">
              <a:buFont typeface="Wingdings" panose="05000000000000000000" pitchFamily="2" charset="2"/>
              <a:buChar char="l"/>
            </a:pPr>
            <a:r>
              <a:rPr lang="zh-CN" altLang="en-US" dirty="0">
                <a:solidFill>
                  <a:srgbClr val="0000FF"/>
                </a:solidFill>
                <a:latin typeface="Times New Roman" panose="02020603050405020304" pitchFamily="18" charset="0"/>
                <a:ea typeface="宋体" panose="02010600030101010101" pitchFamily="2" charset="-122"/>
              </a:rPr>
              <a:t>第⑤和⑥种情况在在定点加减运算中称为溢出；但浮点加减运算中，只表明此时</a:t>
            </a:r>
            <a:r>
              <a:rPr lang="zh-CN" altLang="en-US" b="1" dirty="0">
                <a:solidFill>
                  <a:srgbClr val="FF0000"/>
                </a:solidFill>
                <a:latin typeface="Times New Roman" panose="02020603050405020304" pitchFamily="18" charset="0"/>
                <a:ea typeface="宋体" panose="02010600030101010101" pitchFamily="2" charset="-122"/>
              </a:rPr>
              <a:t>尾数的绝对值大于</a:t>
            </a:r>
            <a:r>
              <a:rPr lang="en-US" altLang="zh-CN" b="1" dirty="0">
                <a:solidFill>
                  <a:srgbClr val="FF0000"/>
                </a:solidFill>
                <a:latin typeface="Times New Roman" panose="02020603050405020304" pitchFamily="18" charset="0"/>
                <a:ea typeface="宋体" panose="02010600030101010101" pitchFamily="2" charset="-122"/>
              </a:rPr>
              <a:t>1</a:t>
            </a:r>
            <a:r>
              <a:rPr lang="zh-CN" altLang="en-US" b="1" dirty="0">
                <a:solidFill>
                  <a:srgbClr val="FF0000"/>
                </a:solidFill>
                <a:latin typeface="Times New Roman" panose="02020603050405020304" pitchFamily="18" charset="0"/>
                <a:ea typeface="宋体" panose="02010600030101010101" pitchFamily="2" charset="-122"/>
              </a:rPr>
              <a:t>，而并非真正的溢出</a:t>
            </a:r>
            <a:r>
              <a:rPr lang="zh-CN" altLang="en-US" dirty="0">
                <a:solidFill>
                  <a:srgbClr val="0000FF"/>
                </a:solidFill>
                <a:latin typeface="Times New Roman" panose="02020603050405020304" pitchFamily="18" charset="0"/>
                <a:ea typeface="宋体" panose="02010600030101010101" pitchFamily="2" charset="-122"/>
              </a:rPr>
              <a:t>。这种情况应将尾数右移以实现规格化。这个过程称为右规。尾数右移一位，阶码相应加</a:t>
            </a:r>
            <a:r>
              <a:rPr lang="en-US" altLang="zh-CN" dirty="0">
                <a:solidFill>
                  <a:srgbClr val="0000FF"/>
                </a:solidFill>
                <a:latin typeface="Times New Roman" panose="02020603050405020304" pitchFamily="18" charset="0"/>
                <a:ea typeface="宋体" panose="02010600030101010101" pitchFamily="2" charset="-122"/>
              </a:rPr>
              <a:t>1</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E</a:t>
            </a:r>
            <a:r>
              <a:rPr lang="en-US" altLang="zh-CN" baseline="-25000" dirty="0">
                <a:solidFill>
                  <a:srgbClr val="0000FF"/>
                </a:solidFill>
                <a:latin typeface="Times New Roman" panose="02020603050405020304" pitchFamily="18" charset="0"/>
                <a:ea typeface="宋体" panose="02010600030101010101" pitchFamily="2" charset="-122"/>
              </a:rPr>
              <a:t>C</a:t>
            </a:r>
            <a:r>
              <a:rPr lang="en-US" altLang="zh-CN" dirty="0">
                <a:solidFill>
                  <a:srgbClr val="0000FF"/>
                </a:solidFill>
                <a:latin typeface="Times New Roman" panose="02020603050405020304" pitchFamily="18" charset="0"/>
                <a:ea typeface="宋体" panose="02010600030101010101" pitchFamily="2" charset="-122"/>
              </a:rPr>
              <a:t>+1→E</a:t>
            </a:r>
            <a:r>
              <a:rPr lang="en-US" altLang="zh-CN" baseline="-25000" dirty="0">
                <a:solidFill>
                  <a:srgbClr val="0000FF"/>
                </a:solidFill>
                <a:latin typeface="Times New Roman" panose="02020603050405020304" pitchFamily="18" charset="0"/>
                <a:ea typeface="宋体" panose="02010600030101010101" pitchFamily="2" charset="-122"/>
              </a:rPr>
              <a:t>C</a:t>
            </a:r>
            <a:r>
              <a:rPr lang="zh-CN" altLang="en-US" dirty="0">
                <a:solidFill>
                  <a:srgbClr val="0000FF"/>
                </a:solidFill>
                <a:latin typeface="Times New Roman" panose="02020603050405020304" pitchFamily="18" charset="0"/>
                <a:ea typeface="宋体" panose="02010600030101010101" pitchFamily="2" charset="-122"/>
              </a:rPr>
              <a:t>）。</a:t>
            </a:r>
            <a:endParaRPr lang="zh-CN" altLang="en-US"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028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浮点数加减运算步骤（续）</a:t>
            </a:r>
            <a:endParaRPr lang="zh-CN" altLang="en-US" dirty="0">
              <a:latin typeface="Times New Roman" panose="02020603050405020304" pitchFamily="18" charset="0"/>
              <a:ea typeface="Times New Roman" panose="02020603050405020304" pitchFamily="18" charset="0"/>
            </a:endParaRPr>
          </a:p>
        </p:txBody>
      </p:sp>
      <p:sp>
        <p:nvSpPr>
          <p:cNvPr id="140290" name="内容占位符 2"/>
          <p:cNvSpPr>
            <a:spLocks noGrp="1"/>
          </p:cNvSpPr>
          <p:nvPr>
            <p:ph idx="1"/>
          </p:nvPr>
        </p:nvSpPr>
        <p:spPr>
          <a:xfrm>
            <a:off x="481013" y="1417638"/>
            <a:ext cx="8229600" cy="5035550"/>
          </a:xfrm>
          <a:noFill/>
          <a:ln>
            <a:noFill/>
          </a:ln>
        </p:spPr>
        <p:txBody>
          <a:bodyPr anchor="t" anchorCtr="0"/>
          <a:p>
            <a:r>
              <a:rPr lang="zh-CN" altLang="en-US" dirty="0">
                <a:latin typeface="Times New Roman" panose="02020603050405020304" pitchFamily="18" charset="0"/>
              </a:rPr>
              <a:t>⑷舍入</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最简单的舍入方法是恒舍法；</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无条件丢掉正常尾数最低位之后的全部数值。</a:t>
            </a:r>
            <a:endParaRPr lang="zh-CN" altLang="en-US" sz="2400"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⑸溢出判断</a:t>
            </a:r>
            <a:endParaRPr lang="zh-CN" altLang="en-US"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尾数右规后，</a:t>
            </a:r>
            <a:r>
              <a:rPr lang="zh-CN" altLang="en-US" sz="2400" dirty="0">
                <a:solidFill>
                  <a:srgbClr val="FF0000"/>
                </a:solidFill>
                <a:latin typeface="Times New Roman" panose="02020603050405020304" pitchFamily="18" charset="0"/>
              </a:rPr>
              <a:t>根据阶码判断运算结果是否溢出</a:t>
            </a:r>
            <a:endParaRPr lang="zh-CN" altLang="en-US" sz="2400"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[E</a:t>
            </a:r>
            <a:r>
              <a:rPr lang="en-US" altLang="zh-CN" sz="2400" baseline="-25000" dirty="0">
                <a:latin typeface="Times New Roman" panose="02020603050405020304" pitchFamily="18" charset="0"/>
              </a:rPr>
              <a:t>C</a:t>
            </a:r>
            <a:r>
              <a:rPr lang="en-US" altLang="zh-CN" sz="2400" dirty="0">
                <a:latin typeface="Times New Roman" panose="02020603050405020304" pitchFamily="18" charset="0"/>
              </a:rPr>
              <a:t>]</a:t>
            </a:r>
            <a:r>
              <a:rPr lang="zh-CN" altLang="en-US" sz="2400" baseline="-25000" dirty="0">
                <a:latin typeface="Times New Roman" panose="02020603050405020304" pitchFamily="18" charset="0"/>
              </a:rPr>
              <a:t>补</a:t>
            </a:r>
            <a:r>
              <a:rPr lang="en-US" altLang="zh-CN" sz="2400" dirty="0">
                <a:latin typeface="Times New Roman" panose="02020603050405020304" pitchFamily="18" charset="0"/>
              </a:rPr>
              <a:t>=01, x x x </a:t>
            </a:r>
            <a:r>
              <a:rPr lang="en-US" altLang="zh-CN" sz="2400" dirty="0">
                <a:latin typeface="Times New Roman" panose="02020603050405020304" pitchFamily="18" charset="0"/>
                <a:ea typeface="Times New Roman" panose="02020603050405020304" pitchFamily="18" charset="0"/>
              </a:rPr>
              <a:t>…</a:t>
            </a:r>
            <a:r>
              <a:rPr lang="en-US" altLang="zh-CN" sz="2400" dirty="0">
                <a:latin typeface="Times New Roman" panose="02020603050405020304" pitchFamily="18" charset="0"/>
              </a:rPr>
              <a:t> x</a:t>
            </a:r>
            <a:r>
              <a:rPr lang="zh-CN" altLang="en-US" sz="2400" dirty="0">
                <a:latin typeface="Times New Roman" panose="02020603050405020304" pitchFamily="18" charset="0"/>
              </a:rPr>
              <a:t>，表示上溢。</a:t>
            </a:r>
            <a:endParaRPr lang="zh-CN" altLang="en-US" sz="2400" dirty="0">
              <a:latin typeface="Times New Roman" panose="02020603050405020304" pitchFamily="18" charset="0"/>
            </a:endParaRPr>
          </a:p>
          <a:p>
            <a:pPr lvl="2"/>
            <a:r>
              <a:rPr lang="zh-CN" altLang="en-US" dirty="0">
                <a:latin typeface="Times New Roman" panose="02020603050405020304" pitchFamily="18" charset="0"/>
              </a:rPr>
              <a:t>真正溢出，机器需停止运算，做溢出中断处理。</a:t>
            </a:r>
            <a:endParaRPr lang="zh-CN" altLang="en-US"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[E</a:t>
            </a:r>
            <a:r>
              <a:rPr lang="en-US" altLang="zh-CN" sz="2400" baseline="-25000" dirty="0">
                <a:latin typeface="Times New Roman" panose="02020603050405020304" pitchFamily="18" charset="0"/>
              </a:rPr>
              <a:t>C</a:t>
            </a:r>
            <a:r>
              <a:rPr lang="en-US" altLang="zh-CN" sz="2400" dirty="0">
                <a:latin typeface="Times New Roman" panose="02020603050405020304" pitchFamily="18" charset="0"/>
              </a:rPr>
              <a:t>]</a:t>
            </a:r>
            <a:r>
              <a:rPr lang="zh-CN" altLang="en-US" sz="2400" baseline="-25000" dirty="0">
                <a:latin typeface="Times New Roman" panose="02020603050405020304" pitchFamily="18" charset="0"/>
              </a:rPr>
              <a:t>补</a:t>
            </a:r>
            <a:r>
              <a:rPr lang="en-US" altLang="zh-CN" sz="2400" dirty="0">
                <a:latin typeface="Times New Roman" panose="02020603050405020304" pitchFamily="18" charset="0"/>
              </a:rPr>
              <a:t>=10, x x x </a:t>
            </a:r>
            <a:r>
              <a:rPr lang="en-US" altLang="zh-CN" sz="2400" dirty="0">
                <a:latin typeface="Times New Roman" panose="02020603050405020304" pitchFamily="18" charset="0"/>
                <a:ea typeface="Times New Roman" panose="02020603050405020304" pitchFamily="18" charset="0"/>
              </a:rPr>
              <a:t>…</a:t>
            </a:r>
            <a:r>
              <a:rPr lang="en-US" altLang="zh-CN" sz="2400" dirty="0">
                <a:latin typeface="Times New Roman" panose="02020603050405020304" pitchFamily="18" charset="0"/>
              </a:rPr>
              <a:t> x</a:t>
            </a:r>
            <a:r>
              <a:rPr lang="zh-CN" altLang="en-US" sz="2400" dirty="0">
                <a:latin typeface="Times New Roman" panose="02020603050405020304" pitchFamily="18" charset="0"/>
              </a:rPr>
              <a:t>，表示下溢。</a:t>
            </a:r>
            <a:endParaRPr lang="zh-CN" altLang="en-US" sz="2400" dirty="0">
              <a:latin typeface="Times New Roman" panose="02020603050405020304" pitchFamily="18" charset="0"/>
            </a:endParaRPr>
          </a:p>
          <a:p>
            <a:pPr lvl="2"/>
            <a:r>
              <a:rPr lang="zh-CN" altLang="en-US" dirty="0">
                <a:solidFill>
                  <a:srgbClr val="FF0000"/>
                </a:solidFill>
                <a:latin typeface="Times New Roman" panose="02020603050405020304" pitchFamily="18" charset="0"/>
              </a:rPr>
              <a:t>浮点数值趋于零，不是溢出</a:t>
            </a:r>
            <a:r>
              <a:rPr lang="zh-CN" altLang="en-US" dirty="0">
                <a:latin typeface="Times New Roman" panose="02020603050405020304" pitchFamily="18" charset="0"/>
              </a:rPr>
              <a:t>，按机器零处理。</a:t>
            </a:r>
            <a:endParaRPr lang="zh-CN" altLang="en-US" dirty="0">
              <a:latin typeface="Times New Roman" panose="02020603050405020304" pitchFamily="18" charset="0"/>
            </a:endParaRPr>
          </a:p>
          <a:p>
            <a:endParaRPr lang="zh-CN" altLang="en-US" sz="2400"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131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浮点数加减运算举例</a:t>
            </a:r>
            <a:endParaRPr lang="zh-CN" altLang="en-US" dirty="0">
              <a:latin typeface="Times New Roman" panose="02020603050405020304" pitchFamily="18" charset="0"/>
              <a:ea typeface="Times New Roman" panose="02020603050405020304" pitchFamily="18" charset="0"/>
            </a:endParaRPr>
          </a:p>
        </p:txBody>
      </p:sp>
      <p:sp>
        <p:nvSpPr>
          <p:cNvPr id="141314" name="内容占位符 2"/>
          <p:cNvSpPr>
            <a:spLocks noGrp="1"/>
          </p:cNvSpPr>
          <p:nvPr>
            <p:ph idx="1"/>
          </p:nvPr>
        </p:nvSpPr>
        <p:spPr>
          <a:xfrm>
            <a:off x="457200" y="1417638"/>
            <a:ext cx="8229600" cy="4708525"/>
          </a:xfrm>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有两浮点数为</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857250" marR="0" lvl="2" indent="0" algn="l" defTabSz="914400" rtl="0" eaLnBrk="0" fontAlgn="base" latinLnBrk="0" hangingPunct="0">
              <a:lnSpc>
                <a:spcPct val="100000"/>
              </a:lnSpc>
              <a:spcBef>
                <a:spcPct val="20000"/>
              </a:spcBef>
              <a:spcAft>
                <a:spcPct val="0"/>
              </a:spcAft>
              <a:buClr>
                <a:schemeClr val="tx1"/>
              </a:buClr>
              <a:buSzTx/>
              <a:buFontTx/>
              <a:buNone/>
            </a:pPr>
            <a:r>
              <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rPr>
              <a:t>A=0.101110×2</a:t>
            </a:r>
            <a:r>
              <a:rPr kumimoji="0" lang="en-US" altLang="zh-CN" sz="2800" b="0" i="0" u="none" strike="noStrike" kern="0" cap="none" spc="0" normalizeH="0" baseline="30000" noProof="1" dirty="0">
                <a:solidFill>
                  <a:schemeClr val="tx1"/>
                </a:solidFill>
                <a:latin typeface="Times New Roman" panose="02020603050405020304" pitchFamily="18" charset="0"/>
                <a:ea typeface="+mn-ea"/>
                <a:cs typeface="+mn-ea"/>
              </a:rPr>
              <a:t>-01</a:t>
            </a:r>
            <a:endPar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endParaRPr>
          </a:p>
          <a:p>
            <a:pPr marL="857250" marR="0" lvl="2" indent="0" algn="l" defTabSz="914400" rtl="0" eaLnBrk="0" fontAlgn="base" latinLnBrk="0" hangingPunct="0">
              <a:lnSpc>
                <a:spcPct val="100000"/>
              </a:lnSpc>
              <a:spcBef>
                <a:spcPct val="20000"/>
              </a:spcBef>
              <a:spcAft>
                <a:spcPct val="0"/>
              </a:spcAft>
              <a:buClr>
                <a:schemeClr val="tx1"/>
              </a:buClr>
              <a:buSzTx/>
              <a:buFontTx/>
              <a:buNone/>
            </a:pPr>
            <a:r>
              <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rPr>
              <a:t>B=-(0.101011)×2</a:t>
            </a:r>
            <a:r>
              <a:rPr kumimoji="0" lang="en-US" altLang="zh-CN" sz="2800" b="0" i="0" u="none" strike="noStrike" kern="0" cap="none" spc="0" normalizeH="0" baseline="30000" noProof="1" dirty="0">
                <a:solidFill>
                  <a:schemeClr val="tx1"/>
                </a:solidFill>
                <a:latin typeface="Times New Roman" panose="02020603050405020304" pitchFamily="18" charset="0"/>
                <a:ea typeface="+mn-ea"/>
                <a:cs typeface="+mn-ea"/>
              </a:rPr>
              <a:t>-10</a:t>
            </a:r>
            <a:endPar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假设这两数的格式：</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阶码</a:t>
            </a:r>
            <a:r>
              <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rPr>
              <a:t>4</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位，用</a:t>
            </a:r>
            <a:r>
              <a:rPr kumimoji="0" lang="zh-CN" altLang="en-US" sz="2800" b="0" i="0" u="none" strike="noStrike" kern="0" cap="none" spc="0" normalizeH="0" baseline="0" noProof="1" dirty="0">
                <a:solidFill>
                  <a:srgbClr val="FF0000"/>
                </a:solidFill>
                <a:latin typeface="Times New Roman" panose="02020603050405020304" pitchFamily="18" charset="0"/>
                <a:ea typeface="+mn-ea"/>
                <a:cs typeface="+mn-ea"/>
              </a:rPr>
              <a:t>移码</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（偏置值为</a:t>
            </a:r>
            <a:r>
              <a:rPr kumimoji="0" lang="en-US" altLang="zh-CN" sz="2800" b="0" i="0" u="none" strike="noStrike" kern="0" cap="none" spc="0" normalizeH="0" baseline="0" noProof="1" dirty="0">
                <a:solidFill>
                  <a:schemeClr val="tx1"/>
                </a:solidFill>
                <a:latin typeface="Times New Roman" panose="02020603050405020304" pitchFamily="18" charset="0"/>
                <a:ea typeface="+mn-ea"/>
                <a:cs typeface="+mn-ea"/>
              </a:rPr>
              <a:t>2</a:t>
            </a:r>
            <a:r>
              <a:rPr kumimoji="0" lang="en-US" altLang="zh-CN" sz="2800" b="0" i="0" u="none" strike="noStrike" kern="0" cap="none" spc="0" normalizeH="0" baseline="30000" noProof="1" dirty="0">
                <a:solidFill>
                  <a:schemeClr val="tx1"/>
                </a:solidFill>
                <a:latin typeface="Times New Roman" panose="02020603050405020304" pitchFamily="18" charset="0"/>
                <a:ea typeface="+mn-ea"/>
                <a:cs typeface="+mn-ea"/>
              </a:rPr>
              <a:t>3</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）表示；</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尾数</a:t>
            </a:r>
            <a:r>
              <a:rPr kumimoji="0" lang="en-US" altLang="zh-CN" sz="2800" b="0" i="0" u="none" strike="noStrike" kern="0" cap="none" spc="0" normalizeH="0" baseline="0" noProof="1" dirty="0">
                <a:solidFill>
                  <a:srgbClr val="FF0000"/>
                </a:solidFill>
                <a:latin typeface="Times New Roman" panose="02020603050405020304" pitchFamily="18" charset="0"/>
                <a:ea typeface="+mn-ea"/>
                <a:cs typeface="+mn-ea"/>
              </a:rPr>
              <a:t>8</a:t>
            </a:r>
            <a:r>
              <a:rPr kumimoji="0" lang="zh-CN" altLang="en-US" sz="2800" b="0" i="0" u="none" strike="noStrike" kern="0" cap="none" spc="0" normalizeH="0" baseline="0" noProof="1" dirty="0">
                <a:solidFill>
                  <a:srgbClr val="FF0000"/>
                </a:solidFill>
                <a:latin typeface="Times New Roman" panose="02020603050405020304" pitchFamily="18" charset="0"/>
                <a:ea typeface="+mn-ea"/>
                <a:cs typeface="+mn-ea"/>
              </a:rPr>
              <a:t>位</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，用</a:t>
            </a:r>
            <a:r>
              <a:rPr kumimoji="0" lang="zh-CN" altLang="en-US" sz="2800" b="0" i="0" u="none" strike="noStrike" kern="0" cap="none" spc="0" normalizeH="0" baseline="0" noProof="1" dirty="0">
                <a:solidFill>
                  <a:srgbClr val="FF0000"/>
                </a:solidFill>
                <a:latin typeface="Times New Roman" panose="02020603050405020304" pitchFamily="18" charset="0"/>
                <a:ea typeface="+mn-ea"/>
                <a:cs typeface="+mn-ea"/>
              </a:rPr>
              <a:t>补码</a:t>
            </a:r>
            <a:r>
              <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rPr>
              <a:t>表示，包含一位符号位：</a:t>
            </a:r>
            <a:endParaRPr kumimoji="0" lang="zh-CN" altLang="en-US" sz="2800" b="0" i="0" u="none" strike="noStrike" kern="0" cap="none" spc="0" normalizeH="0" baseline="0" noProof="1" dirty="0">
              <a:solidFill>
                <a:schemeClr val="tx1"/>
              </a:solidFill>
              <a:latin typeface="Times New Roman" panose="02020603050405020304" pitchFamily="18" charset="0"/>
              <a:ea typeface="+mn-ea"/>
              <a:cs typeface="+mn-ea"/>
            </a:endParaRPr>
          </a:p>
          <a:p>
            <a:pPr marL="914400" marR="0" lvl="2" indent="0" algn="l" defTabSz="914400" rtl="0" eaLnBrk="0" fontAlgn="base" latinLnBrk="0" hangingPunct="0">
              <a:lnSpc>
                <a:spcPct val="100000"/>
              </a:lnSpc>
              <a:spcBef>
                <a:spcPct val="20000"/>
              </a:spcBef>
              <a:spcAft>
                <a:spcPct val="0"/>
              </a:spcAft>
              <a:buClr>
                <a:schemeClr val="tx1"/>
              </a:buClr>
              <a:buSzTx/>
              <a:buFontTx/>
              <a:buNone/>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    阶码                尾数</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914400" marR="0" lvl="2" indent="0" algn="l" defTabSz="914400" rtl="0" eaLnBrk="0" fontAlgn="base" latinLnBrk="0" hangingPunct="0">
              <a:lnSpc>
                <a:spcPct val="100000"/>
              </a:lnSpc>
              <a:spcBef>
                <a:spcPct val="20000"/>
              </a:spcBef>
              <a:spcAft>
                <a:spcPct val="0"/>
              </a:spcAft>
              <a:buClr>
                <a:schemeClr val="tx1"/>
              </a:buClr>
              <a:buSzTx/>
              <a:buFontTx/>
              <a:buNone/>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[A]</a:t>
            </a:r>
            <a:r>
              <a:rPr kumimoji="0" lang="zh-CN" altLang="en-US" sz="2400" b="0" i="0" u="none" strike="noStrike" kern="0" cap="none" spc="0" normalizeH="0" baseline="-25000" noProof="1" dirty="0">
                <a:solidFill>
                  <a:schemeClr val="tx1"/>
                </a:solidFill>
                <a:latin typeface="Times New Roman" panose="02020603050405020304" pitchFamily="18" charset="0"/>
                <a:ea typeface="+mn-ea"/>
                <a:cs typeface="+mn-ea"/>
              </a:rPr>
              <a:t>浮</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=0111</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0.1011100</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914400" marR="0" lvl="2" indent="0" algn="l" defTabSz="914400" rtl="0" eaLnBrk="0" fontAlgn="base" latinLnBrk="0" hangingPunct="0">
              <a:lnSpc>
                <a:spcPct val="100000"/>
              </a:lnSpc>
              <a:spcBef>
                <a:spcPct val="20000"/>
              </a:spcBef>
              <a:spcAft>
                <a:spcPct val="0"/>
              </a:spcAft>
              <a:buClr>
                <a:schemeClr val="tx1"/>
              </a:buClr>
              <a:buSzTx/>
              <a:buFontTx/>
              <a:buNone/>
            </a:pP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[B]</a:t>
            </a:r>
            <a:r>
              <a:rPr kumimoji="0" lang="zh-CN" altLang="en-US" sz="2400" b="0" i="0" u="none" strike="noStrike" kern="0" cap="none" spc="0" normalizeH="0" baseline="-25000" noProof="1" dirty="0">
                <a:solidFill>
                  <a:schemeClr val="tx1"/>
                </a:solidFill>
                <a:latin typeface="Times New Roman" panose="02020603050405020304" pitchFamily="18" charset="0"/>
                <a:ea typeface="+mn-ea"/>
                <a:cs typeface="+mn-ea"/>
              </a:rPr>
              <a:t>浮</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=0110</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1.0101010</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0" marR="0" indent="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None/>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233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浮点数加减运算举例（续）</a:t>
            </a:r>
            <a:endParaRPr lang="zh-CN" altLang="en-US" dirty="0">
              <a:latin typeface="Times New Roman" panose="02020603050405020304" pitchFamily="18" charset="0"/>
              <a:ea typeface="Times New Roman" panose="02020603050405020304" pitchFamily="18" charset="0"/>
            </a:endParaRPr>
          </a:p>
        </p:txBody>
      </p:sp>
      <p:sp>
        <p:nvSpPr>
          <p:cNvPr id="3" name="内容占位符 2"/>
          <p:cNvSpPr>
            <a:spLocks noGrp="1"/>
          </p:cNvSpPr>
          <p:nvPr>
            <p:ph idx="1"/>
          </p:nvPr>
        </p:nvSpPr>
        <p:spPr>
          <a:xfrm>
            <a:off x="490538" y="1417638"/>
            <a:ext cx="8229600" cy="4819650"/>
          </a:xfrm>
        </p:spPr>
        <p:txBody>
          <a:bodyPr/>
          <a:lstStyle/>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⑴ 对阶</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求阶差：</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ΔE=E</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=-1-(-2)=1</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ΔE=1</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，表示</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按对阶规则，将</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M</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右移一位，</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E</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+1→E</a:t>
            </a:r>
            <a:r>
              <a:rPr kumimoji="0" lang="en-US" altLang="zh-CN" sz="28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，得：</a:t>
            </a:r>
            <a:endPar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914400" marR="0" lvl="2" indent="0" algn="l" defTabSz="914400" rtl="0" eaLnBrk="0" fontAlgn="base" latinLnBrk="0" hangingPunct="0">
              <a:lnSpc>
                <a:spcPct val="100000"/>
              </a:lnSpc>
              <a:spcBef>
                <a:spcPct val="20000"/>
              </a:spcBef>
              <a:spcAft>
                <a:spcPct val="0"/>
              </a:spcAft>
              <a:buClr>
                <a:schemeClr val="accent1"/>
              </a:buClr>
              <a:buSzTx/>
              <a:buFontTx/>
              <a:buNone/>
              <a:defRPr/>
            </a:pP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[B]</a:t>
            </a:r>
            <a:r>
              <a:rPr kumimoji="0" lang="zh-CN" altLang="en-US" sz="2400" b="0" i="0" u="none" strike="noStrike" kern="0" cap="none" spc="0" normalizeH="0" baseline="-2500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浮</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=0111</a:t>
            </a:r>
            <a:r>
              <a:rPr kumimoji="0" lang="zh-CN" altLang="en-US"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；1.0101010</a:t>
            </a:r>
            <a:r>
              <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—&gt;1.1010101</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（符号位）</a:t>
            </a:r>
            <a:endParaRPr kumimoji="0" lang="en-US" altLang="zh-CN" sz="24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0" marR="0" lvl="0" indent="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None/>
              <a:defRPr/>
            </a:pPr>
            <a:r>
              <a:rPr kumimoji="0" lang="en-US" altLang="zh-CN"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⑵ </a:t>
            </a:r>
            <a:r>
              <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尾数求和</a:t>
            </a: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zh-CN" altLang="en-US"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a:t>
            </a: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00.1011100</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  11.1010101</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defRPr/>
            </a:pPr>
            <a:r>
              <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rPr>
              <a:t>          00.0110001 </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rPr>
              <a:t>（非规格化）</a:t>
            </a:r>
            <a:endParaRPr kumimoji="0" lang="en-US" altLang="zh-CN" sz="2800" b="0" i="0" u="none" strike="noStrike" kern="0" cap="none" spc="0" normalizeH="0" baseline="0" noProof="0" dirty="0">
              <a:ln>
                <a:noFill/>
              </a:ln>
              <a:solidFill>
                <a:schemeClr val="tx1"/>
              </a:solidFill>
              <a:effectLst/>
              <a:uLnTx/>
              <a:uFillTx/>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defRPr/>
            </a:pPr>
            <a:endParaRPr kumimoji="0" lang="zh-CN" altLang="en-US" sz="28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cxnSp>
        <p:nvCxnSpPr>
          <p:cNvPr id="142339" name="直接连接符 4"/>
          <p:cNvCxnSpPr/>
          <p:nvPr/>
        </p:nvCxnSpPr>
        <p:spPr>
          <a:xfrm>
            <a:off x="1403350" y="5805488"/>
            <a:ext cx="2808288" cy="0"/>
          </a:xfrm>
          <a:prstGeom prst="line">
            <a:avLst/>
          </a:prstGeom>
          <a:ln w="9525" cap="flat" cmpd="sng">
            <a:solidFill>
              <a:schemeClr val="tx1"/>
            </a:solidFill>
            <a:prstDash val="solid"/>
            <a:round/>
            <a:headEnd type="none" w="med" len="med"/>
            <a:tailEnd type="none" w="med" len="med"/>
          </a:ln>
        </p:spPr>
      </p:cxn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6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浮点数加减运算举例（续）</a:t>
            </a:r>
            <a:endParaRPr lang="zh-CN" altLang="en-US" dirty="0">
              <a:latin typeface="Times New Roman" panose="02020603050405020304" pitchFamily="18" charset="0"/>
              <a:ea typeface="Times New Roman" panose="02020603050405020304" pitchFamily="18" charset="0"/>
            </a:endParaRPr>
          </a:p>
        </p:txBody>
      </p:sp>
      <p:sp>
        <p:nvSpPr>
          <p:cNvPr id="14336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⑶尾数结果规格化</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由于结果的尾数是非规格化的数，故应左规；</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尾数每左移一位，阶码减</a:t>
            </a:r>
            <a:r>
              <a:rPr lang="en-US" altLang="zh-CN" dirty="0">
                <a:latin typeface="Times New Roman" panose="02020603050405020304" pitchFamily="18" charset="0"/>
              </a:rPr>
              <a:t>1</a:t>
            </a:r>
            <a:r>
              <a:rPr lang="zh-CN" altLang="en-US" dirty="0">
                <a:latin typeface="Times New Roman" panose="02020603050405020304" pitchFamily="18" charset="0"/>
              </a:rPr>
              <a:t>。最后结果为</a:t>
            </a:r>
            <a:endParaRPr lang="zh-CN" altLang="en-US" dirty="0">
              <a:latin typeface="Times New Roman" panose="02020603050405020304" pitchFamily="18" charset="0"/>
            </a:endParaRPr>
          </a:p>
          <a:p>
            <a:pPr lvl="2">
              <a:spcBef>
                <a:spcPts val="1200"/>
              </a:spcBef>
            </a:pPr>
            <a:r>
              <a:rPr lang="en-US" altLang="zh-CN" dirty="0">
                <a:latin typeface="Times New Roman" panose="02020603050405020304" pitchFamily="18" charset="0"/>
              </a:rPr>
              <a:t>[A+B]</a:t>
            </a:r>
            <a:r>
              <a:rPr lang="zh-CN" altLang="en-US" baseline="-25000" dirty="0">
                <a:latin typeface="Times New Roman" panose="02020603050405020304" pitchFamily="18" charset="0"/>
              </a:rPr>
              <a:t>浮</a:t>
            </a:r>
            <a:r>
              <a:rPr lang="en-US" altLang="zh-CN" dirty="0">
                <a:latin typeface="Times New Roman" panose="02020603050405020304" pitchFamily="18" charset="0"/>
              </a:rPr>
              <a:t>=0110  </a:t>
            </a:r>
            <a:r>
              <a:rPr lang="en-US" altLang="zh-CN" dirty="0">
                <a:solidFill>
                  <a:srgbClr val="FF0000"/>
                </a:solidFill>
                <a:latin typeface="Times New Roman" panose="02020603050405020304" pitchFamily="18" charset="0"/>
                <a:sym typeface="+mn-ea"/>
              </a:rPr>
              <a:t> </a:t>
            </a:r>
            <a:r>
              <a:rPr lang="zh-CN" altLang="en-US" dirty="0">
                <a:solidFill>
                  <a:srgbClr val="FF0000"/>
                </a:solidFill>
                <a:latin typeface="Times New Roman" panose="02020603050405020304" pitchFamily="18" charset="0"/>
                <a:sym typeface="+mn-ea"/>
              </a:rPr>
              <a:t>（</a:t>
            </a:r>
            <a:r>
              <a:rPr lang="en-US" altLang="zh-CN" dirty="0">
                <a:solidFill>
                  <a:srgbClr val="FF0000"/>
                </a:solidFill>
                <a:latin typeface="Times New Roman" panose="02020603050405020304" pitchFamily="18" charset="0"/>
                <a:sym typeface="+mn-ea"/>
              </a:rPr>
              <a:t>0111-1</a:t>
            </a:r>
            <a:r>
              <a:rPr lang="zh-CN" altLang="en-US" dirty="0">
                <a:solidFill>
                  <a:srgbClr val="FF0000"/>
                </a:solidFill>
                <a:latin typeface="Times New Roman" panose="02020603050405020304" pitchFamily="18" charset="0"/>
                <a:sym typeface="+mn-ea"/>
              </a:rPr>
              <a:t>）</a:t>
            </a:r>
            <a:r>
              <a:rPr lang="zh-CN" altLang="en-US" dirty="0">
                <a:latin typeface="Times New Roman" panose="02020603050405020304" pitchFamily="18" charset="0"/>
              </a:rPr>
              <a:t>；</a:t>
            </a:r>
            <a:r>
              <a:rPr lang="en-US" altLang="zh-CN" dirty="0">
                <a:latin typeface="Times New Roman" panose="02020603050405020304" pitchFamily="18" charset="0"/>
              </a:rPr>
              <a:t>0.110001   </a:t>
            </a:r>
            <a:r>
              <a:rPr lang="en-US" altLang="zh-CN" dirty="0">
                <a:latin typeface="Times New Roman" panose="02020603050405020304" pitchFamily="18" charset="0"/>
                <a:sym typeface="+mn-ea"/>
              </a:rPr>
              <a:t> </a:t>
            </a:r>
            <a:endParaRPr lang="en-US" altLang="zh-CN" dirty="0">
              <a:latin typeface="Times New Roman" panose="02020603050405020304" pitchFamily="18" charset="0"/>
            </a:endParaRPr>
          </a:p>
          <a:p>
            <a:pPr lvl="2">
              <a:spcBef>
                <a:spcPts val="1200"/>
              </a:spcBef>
            </a:pPr>
            <a:r>
              <a:rPr lang="zh-CN" altLang="en-US" dirty="0">
                <a:latin typeface="Times New Roman" panose="02020603050405020304" pitchFamily="18" charset="0"/>
              </a:rPr>
              <a:t>即  </a:t>
            </a:r>
            <a:r>
              <a:rPr lang="en-US" altLang="zh-CN" dirty="0">
                <a:latin typeface="Times New Roman" panose="02020603050405020304" pitchFamily="18" charset="0"/>
              </a:rPr>
              <a:t>A+B =(0.110001)×2</a:t>
            </a:r>
            <a:r>
              <a:rPr lang="en-US" altLang="zh-CN" baseline="30000" dirty="0">
                <a:latin typeface="Times New Roman" panose="02020603050405020304" pitchFamily="18" charset="0"/>
              </a:rPr>
              <a:t>-10</a:t>
            </a:r>
            <a:endParaRPr lang="en-US" altLang="zh-CN" baseline="30000" dirty="0">
              <a:latin typeface="Times New Roman" panose="02020603050405020304" pitchFamily="18" charset="0"/>
            </a:endParaRPr>
          </a:p>
          <a:p>
            <a:pPr lvl="2">
              <a:spcBef>
                <a:spcPts val="1200"/>
              </a:spcBef>
            </a:pPr>
            <a:r>
              <a:rPr lang="zh-CN" altLang="en-US" dirty="0">
                <a:latin typeface="Times New Roman" panose="02020603050405020304" pitchFamily="18" charset="0"/>
              </a:rPr>
              <a:t>未发生溢出。</a:t>
            </a:r>
            <a:endParaRPr lang="zh-CN" altLang="en-US" dirty="0">
              <a:latin typeface="Times New Roman" panose="02020603050405020304" pitchFamily="18" charset="0"/>
            </a:endParaRPr>
          </a:p>
          <a:p>
            <a:pPr lvl="1"/>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438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4.6.2 </a:t>
            </a:r>
            <a:r>
              <a:rPr lang="zh-CN" altLang="en-US" dirty="0">
                <a:latin typeface="Times New Roman" panose="02020603050405020304" pitchFamily="18" charset="0"/>
              </a:rPr>
              <a:t>浮点乘除运算 </a:t>
            </a:r>
            <a:endParaRPr lang="zh-CN" altLang="en-US" dirty="0">
              <a:latin typeface="Times New Roman" panose="02020603050405020304" pitchFamily="18" charset="0"/>
              <a:ea typeface="Times New Roman" panose="02020603050405020304" pitchFamily="18" charset="0"/>
            </a:endParaRPr>
          </a:p>
        </p:txBody>
      </p:sp>
      <p:sp>
        <p:nvSpPr>
          <p:cNvPr id="144386"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设两个非</a:t>
            </a:r>
            <a:r>
              <a:rPr lang="en-US" altLang="zh-CN" dirty="0">
                <a:latin typeface="Times New Roman" panose="02020603050405020304" pitchFamily="18" charset="0"/>
              </a:rPr>
              <a:t>0</a:t>
            </a:r>
            <a:r>
              <a:rPr lang="zh-CN" altLang="en-US" dirty="0">
                <a:latin typeface="Times New Roman" panose="02020603050405020304" pitchFamily="18" charset="0"/>
              </a:rPr>
              <a:t>的规格化浮点数分别为</a:t>
            </a:r>
            <a:endParaRPr lang="zh-CN" altLang="en-US" dirty="0">
              <a:latin typeface="Times New Roman" panose="02020603050405020304" pitchFamily="18" charset="0"/>
            </a:endParaRPr>
          </a:p>
          <a:p>
            <a:pPr marL="800100" lvl="2" indent="0">
              <a:spcBef>
                <a:spcPts val="1800"/>
              </a:spcBef>
              <a:buNone/>
            </a:pPr>
            <a:r>
              <a:rPr lang="en-US" altLang="zh-CN" sz="2800" dirty="0">
                <a:latin typeface="Times New Roman" panose="02020603050405020304" pitchFamily="18" charset="0"/>
              </a:rPr>
              <a:t>A=M</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marL="800100" lvl="2" indent="0">
              <a:spcBef>
                <a:spcPts val="1800"/>
              </a:spcBef>
              <a:buNone/>
            </a:pPr>
            <a:r>
              <a:rPr lang="en-US" altLang="zh-CN" sz="2800" dirty="0">
                <a:latin typeface="Times New Roman" panose="02020603050405020304" pitchFamily="18" charset="0"/>
              </a:rPr>
              <a:t>B=M</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marL="342900" lvl="1" indent="-342900" latinLnBrk="0">
              <a:spcBef>
                <a:spcPts val="1800"/>
              </a:spcBef>
              <a:buClr>
                <a:schemeClr val="hlink"/>
              </a:buClr>
              <a:buSzTx/>
              <a:buFont typeface="Wingdings" panose="05000000000000000000" pitchFamily="2" charset="2"/>
              <a:buChar char="v"/>
            </a:pPr>
            <a:r>
              <a:rPr lang="zh-CN" altLang="en-US" b="1" dirty="0">
                <a:solidFill>
                  <a:schemeClr val="hlink"/>
                </a:solidFill>
                <a:latin typeface="Times New Roman" panose="02020603050405020304" pitchFamily="18" charset="0"/>
              </a:rPr>
              <a:t>规格化浮点数A、B乘除运算通式为：</a:t>
            </a:r>
            <a:endParaRPr lang="zh-CN" altLang="en-US" b="1" dirty="0">
              <a:solidFill>
                <a:schemeClr val="hlink"/>
              </a:solidFill>
              <a:latin typeface="Times New Roman" panose="02020603050405020304" pitchFamily="18" charset="0"/>
            </a:endParaRPr>
          </a:p>
          <a:p>
            <a:pPr marL="800100" lvl="2" indent="0">
              <a:spcBef>
                <a:spcPts val="1800"/>
              </a:spcBef>
              <a:buNone/>
            </a:pPr>
            <a:r>
              <a:rPr lang="en-US" altLang="zh-CN" sz="2800" dirty="0">
                <a:latin typeface="Times New Roman" panose="02020603050405020304" pitchFamily="18" charset="0"/>
              </a:rPr>
              <a:t>(M</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,E</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)×(M</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,E</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)=(M</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×M</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,E</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+E</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a:t>
            </a:r>
            <a:endParaRPr lang="en-US" altLang="zh-CN" sz="2800" dirty="0">
              <a:latin typeface="Times New Roman" panose="02020603050405020304" pitchFamily="18" charset="0"/>
            </a:endParaRPr>
          </a:p>
          <a:p>
            <a:pPr marL="800100" lvl="2" indent="0">
              <a:spcBef>
                <a:spcPts val="1800"/>
              </a:spcBef>
              <a:buNone/>
            </a:pPr>
            <a:r>
              <a:rPr lang="en-US" altLang="zh-CN" sz="2800" dirty="0">
                <a:latin typeface="Times New Roman" panose="02020603050405020304" pitchFamily="18" charset="0"/>
              </a:rPr>
              <a:t>(M</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,E</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)÷(M</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,E</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)=(M</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÷M</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,E</a:t>
            </a:r>
            <a:r>
              <a:rPr lang="en-US" altLang="zh-CN" sz="2800" baseline="-25000" dirty="0">
                <a:latin typeface="Times New Roman" panose="02020603050405020304" pitchFamily="18" charset="0"/>
              </a:rPr>
              <a:t>A</a:t>
            </a:r>
            <a:r>
              <a:rPr lang="en-US" altLang="zh-CN" sz="2800" dirty="0">
                <a:latin typeface="Times New Roman" panose="02020603050405020304" pitchFamily="18" charset="0"/>
              </a:rPr>
              <a:t>-E</a:t>
            </a:r>
            <a:r>
              <a:rPr lang="en-US" altLang="zh-CN" sz="2800" baseline="-25000" dirty="0">
                <a:latin typeface="Times New Roman" panose="02020603050405020304" pitchFamily="18" charset="0"/>
              </a:rPr>
              <a:t>B</a:t>
            </a:r>
            <a:r>
              <a:rPr lang="en-US" altLang="zh-CN" sz="2800" dirty="0">
                <a:latin typeface="Times New Roman" panose="02020603050405020304" pitchFamily="18" charset="0"/>
              </a:rPr>
              <a:t>)</a:t>
            </a:r>
            <a:endParaRPr lang="zh-CN" altLang="en-US" dirty="0">
              <a:latin typeface="Times New Roman" panose="02020603050405020304" pitchFamily="18" charset="0"/>
              <a:ea typeface="Times New Roman" panose="02020603050405020304" pitchFamily="18" charset="0"/>
            </a:endParaRPr>
          </a:p>
        </p:txBody>
      </p:sp>
      <p:graphicFrame>
        <p:nvGraphicFramePr>
          <p:cNvPr id="144387" name="Object 4"/>
          <p:cNvGraphicFramePr>
            <a:graphicFrameLocks noChangeAspect="1"/>
          </p:cNvGraphicFramePr>
          <p:nvPr/>
        </p:nvGraphicFramePr>
        <p:xfrm>
          <a:off x="2570163" y="2170113"/>
          <a:ext cx="838200" cy="598487"/>
        </p:xfrm>
        <a:graphic>
          <a:graphicData uri="http://schemas.openxmlformats.org/presentationml/2006/ole">
            <mc:AlternateContent xmlns:mc="http://schemas.openxmlformats.org/markup-compatibility/2006">
              <mc:Choice xmlns:v="urn:schemas-microsoft-com:vml" Requires="v">
                <p:oleObj spid="_x0000_s3102" name="" r:id="rId1" imgW="241300" imgH="177800" progId="Equation.3">
                  <p:embed/>
                </p:oleObj>
              </mc:Choice>
              <mc:Fallback>
                <p:oleObj name="" r:id="rId1" imgW="241300" imgH="177800" progId="Equation.3">
                  <p:embed/>
                  <p:pic>
                    <p:nvPicPr>
                      <p:cNvPr id="0" name="图片 3101"/>
                      <p:cNvPicPr/>
                      <p:nvPr/>
                    </p:nvPicPr>
                    <p:blipFill>
                      <a:blip r:embed="rId2"/>
                      <a:stretch>
                        <a:fillRect/>
                      </a:stretch>
                    </p:blipFill>
                    <p:spPr>
                      <a:xfrm>
                        <a:off x="2570163" y="2170113"/>
                        <a:ext cx="838200" cy="598487"/>
                      </a:xfrm>
                      <a:prstGeom prst="rect">
                        <a:avLst/>
                      </a:prstGeom>
                      <a:noFill/>
                      <a:ln w="38100">
                        <a:noFill/>
                        <a:miter/>
                      </a:ln>
                    </p:spPr>
                  </p:pic>
                </p:oleObj>
              </mc:Fallback>
            </mc:AlternateContent>
          </a:graphicData>
        </a:graphic>
      </p:graphicFrame>
      <p:graphicFrame>
        <p:nvGraphicFramePr>
          <p:cNvPr id="144388" name="Object 5"/>
          <p:cNvGraphicFramePr>
            <a:graphicFrameLocks noChangeAspect="1"/>
          </p:cNvGraphicFramePr>
          <p:nvPr/>
        </p:nvGraphicFramePr>
        <p:xfrm>
          <a:off x="2586038" y="2846388"/>
          <a:ext cx="808037" cy="577850"/>
        </p:xfrm>
        <a:graphic>
          <a:graphicData uri="http://schemas.openxmlformats.org/presentationml/2006/ole">
            <mc:AlternateContent xmlns:mc="http://schemas.openxmlformats.org/markup-compatibility/2006">
              <mc:Choice xmlns:v="urn:schemas-microsoft-com:vml" Requires="v">
                <p:oleObj spid="_x0000_s3104" name="" r:id="rId3" imgW="241300" imgH="177800" progId="Equation.3">
                  <p:embed/>
                </p:oleObj>
              </mc:Choice>
              <mc:Fallback>
                <p:oleObj name="" r:id="rId3" imgW="241300" imgH="177800" progId="Equation.3">
                  <p:embed/>
                  <p:pic>
                    <p:nvPicPr>
                      <p:cNvPr id="0" name="图片 3103"/>
                      <p:cNvPicPr/>
                      <p:nvPr/>
                    </p:nvPicPr>
                    <p:blipFill>
                      <a:blip r:embed="rId4"/>
                      <a:stretch>
                        <a:fillRect/>
                      </a:stretch>
                    </p:blipFill>
                    <p:spPr>
                      <a:xfrm>
                        <a:off x="2586038" y="2846388"/>
                        <a:ext cx="808037" cy="577850"/>
                      </a:xfrm>
                      <a:prstGeom prst="rect">
                        <a:avLst/>
                      </a:prstGeom>
                      <a:noFill/>
                      <a:ln w="38100">
                        <a:noFill/>
                        <a:miter/>
                      </a:ln>
                    </p:spPr>
                  </p:pic>
                </p:oleObj>
              </mc:Fallback>
            </mc:AlternateContent>
          </a:graphicData>
        </a:graphic>
      </p:graphicFrame>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540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乘法步骤</a:t>
            </a:r>
            <a:endParaRPr lang="zh-CN" altLang="en-US" dirty="0">
              <a:latin typeface="Times New Roman" panose="02020603050405020304" pitchFamily="18" charset="0"/>
              <a:ea typeface="Times New Roman" panose="02020603050405020304" pitchFamily="18" charset="0"/>
            </a:endParaRPr>
          </a:p>
        </p:txBody>
      </p:sp>
      <p:sp>
        <p:nvSpPr>
          <p:cNvPr id="145410"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两浮点数相乘：</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其乘积的阶码应为相乘两数的阶码之和；</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其乘积的尾数应为相乘两数的尾数之积。</a:t>
            </a:r>
            <a:endParaRPr lang="zh-CN" altLang="en-US" dirty="0">
              <a:latin typeface="Times New Roman" panose="02020603050405020304" pitchFamily="18" charset="0"/>
            </a:endParaRPr>
          </a:p>
          <a:p>
            <a:pPr lvl="2"/>
            <a:r>
              <a:rPr lang="zh-CN" altLang="en-US" dirty="0">
                <a:latin typeface="Times New Roman" panose="02020603050405020304" pitchFamily="18" charset="0"/>
              </a:rPr>
              <a:t> </a:t>
            </a:r>
            <a:r>
              <a:rPr lang="en-US" altLang="zh-CN" dirty="0">
                <a:latin typeface="Times New Roman" panose="02020603050405020304" pitchFamily="18" charset="0"/>
              </a:rPr>
              <a:t>A×B=(M</a:t>
            </a:r>
            <a:r>
              <a:rPr lang="en-US" altLang="zh-CN" baseline="-25000" dirty="0">
                <a:latin typeface="Times New Roman" panose="02020603050405020304" pitchFamily="18" charset="0"/>
              </a:rPr>
              <a:t>A</a:t>
            </a:r>
            <a:r>
              <a:rPr lang="en-US" altLang="zh-CN" dirty="0">
                <a:latin typeface="Times New Roman" panose="02020603050405020304" pitchFamily="18" charset="0"/>
              </a:rPr>
              <a:t>×M</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a:spcBef>
                <a:spcPts val="1800"/>
              </a:spcBef>
            </a:pPr>
            <a:r>
              <a:rPr lang="en-US" altLang="zh-CN" dirty="0">
                <a:latin typeface="Times New Roman" panose="02020603050405020304" pitchFamily="18" charset="0"/>
              </a:rPr>
              <a:t>⑴</a:t>
            </a:r>
            <a:r>
              <a:rPr lang="zh-CN" altLang="en-US" dirty="0">
                <a:latin typeface="Times New Roman" panose="02020603050405020304" pitchFamily="18" charset="0"/>
              </a:rPr>
              <a:t>阶码相加</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如果阶码用补码表示，无须校正；</a:t>
            </a:r>
            <a:endParaRPr lang="zh-CN" altLang="en-US" dirty="0">
              <a:latin typeface="Times New Roman" panose="02020603050405020304" pitchFamily="18" charset="0"/>
            </a:endParaRPr>
          </a:p>
          <a:p>
            <a:pPr lvl="1" latinLnBrk="0">
              <a:spcBef>
                <a:spcPts val="1200"/>
              </a:spcBef>
            </a:pPr>
            <a:r>
              <a:rPr lang="zh-CN" altLang="en-US" dirty="0">
                <a:solidFill>
                  <a:srgbClr val="FF0000"/>
                </a:solidFill>
                <a:latin typeface="Times New Roman" panose="02020603050405020304" pitchFamily="18" charset="0"/>
              </a:rPr>
              <a:t>移码表示时，阶码相加后减去一个偏移量</a:t>
            </a:r>
            <a:r>
              <a:rPr lang="en-US" altLang="zh-CN" dirty="0">
                <a:solidFill>
                  <a:srgbClr val="FF0000"/>
                </a:solidFill>
                <a:latin typeface="Times New Roman" panose="02020603050405020304" pitchFamily="18" charset="0"/>
              </a:rPr>
              <a:t>2</a:t>
            </a:r>
            <a:r>
              <a:rPr lang="en-US" altLang="zh-CN" baseline="30000" dirty="0">
                <a:solidFill>
                  <a:srgbClr val="FF0000"/>
                </a:solidFill>
                <a:latin typeface="Times New Roman" panose="02020603050405020304" pitchFamily="18" charset="0"/>
              </a:rPr>
              <a:t>n</a:t>
            </a:r>
            <a:r>
              <a:rPr lang="zh-CN" altLang="en-US"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graphicFrame>
        <p:nvGraphicFramePr>
          <p:cNvPr id="145411" name="Object 5"/>
          <p:cNvGraphicFramePr>
            <a:graphicFrameLocks noChangeAspect="1"/>
          </p:cNvGraphicFramePr>
          <p:nvPr/>
        </p:nvGraphicFramePr>
        <p:xfrm>
          <a:off x="4427538" y="3211513"/>
          <a:ext cx="1641475" cy="554037"/>
        </p:xfrm>
        <a:graphic>
          <a:graphicData uri="http://schemas.openxmlformats.org/presentationml/2006/ole">
            <mc:AlternateContent xmlns:mc="http://schemas.openxmlformats.org/markup-compatibility/2006">
              <mc:Choice xmlns:v="urn:schemas-microsoft-com:vml" Requires="v">
                <p:oleObj spid="_x0000_s3101" name="" r:id="rId1" imgW="469900" imgH="177800" progId="Equation.3">
                  <p:embed/>
                </p:oleObj>
              </mc:Choice>
              <mc:Fallback>
                <p:oleObj name="" r:id="rId1" imgW="469900" imgH="177800" progId="Equation.3">
                  <p:embed/>
                  <p:pic>
                    <p:nvPicPr>
                      <p:cNvPr id="0" name="图片 3100"/>
                      <p:cNvPicPr/>
                      <p:nvPr/>
                    </p:nvPicPr>
                    <p:blipFill>
                      <a:blip r:embed="rId2"/>
                      <a:stretch>
                        <a:fillRect/>
                      </a:stretch>
                    </p:blipFill>
                    <p:spPr>
                      <a:xfrm>
                        <a:off x="4427538" y="3211513"/>
                        <a:ext cx="1641475" cy="554037"/>
                      </a:xfrm>
                      <a:prstGeom prst="rect">
                        <a:avLst/>
                      </a:prstGeom>
                      <a:noFill/>
                      <a:ln w="38100">
                        <a:noFill/>
                        <a:miter/>
                      </a:ln>
                    </p:spPr>
                  </p:pic>
                </p:oleObj>
              </mc:Fallback>
            </mc:AlternateContent>
          </a:graphicData>
        </a:graphic>
      </p:graphicFrame>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643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乘法步骤（续）</a:t>
            </a:r>
            <a:endParaRPr lang="zh-CN" altLang="en-US" dirty="0">
              <a:latin typeface="Times New Roman" panose="02020603050405020304" pitchFamily="18" charset="0"/>
              <a:ea typeface="Times New Roman" panose="02020603050405020304" pitchFamily="18" charset="0"/>
            </a:endParaRPr>
          </a:p>
        </p:txBody>
      </p:sp>
      <p:sp>
        <p:nvSpPr>
          <p:cNvPr id="146434" name="内容占位符 2"/>
          <p:cNvSpPr>
            <a:spLocks noGrp="1"/>
          </p:cNvSpPr>
          <p:nvPr>
            <p:ph idx="1"/>
          </p:nvPr>
        </p:nvSpPr>
        <p:spPr>
          <a:xfrm>
            <a:off x="457200" y="1600200"/>
            <a:ext cx="8362950" cy="4525963"/>
          </a:xfrm>
          <a:noFill/>
          <a:ln>
            <a:noFill/>
          </a:ln>
        </p:spPr>
        <p:txBody>
          <a:bodyPr anchor="t" anchorCtr="0"/>
          <a:p>
            <a:r>
              <a:rPr lang="zh-CN" altLang="en-US" dirty="0">
                <a:latin typeface="Times New Roman" panose="02020603050405020304" pitchFamily="18" charset="0"/>
              </a:rPr>
              <a:t>因为</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a:t>
            </a:r>
            <a:r>
              <a:rPr lang="zh-CN" altLang="en-US" baseline="-25000" dirty="0">
                <a:latin typeface="Times New Roman" panose="02020603050405020304" pitchFamily="18" charset="0"/>
              </a:rPr>
              <a:t>移</a:t>
            </a:r>
            <a:r>
              <a:rPr lang="en-US" altLang="zh-CN" dirty="0">
                <a:latin typeface="Times New Roman" panose="02020603050405020304" pitchFamily="18" charset="0"/>
              </a:rPr>
              <a:t>=2</a:t>
            </a:r>
            <a:r>
              <a:rPr lang="en-US" altLang="zh-CN" baseline="30000" dirty="0">
                <a:latin typeface="Times New Roman" panose="02020603050405020304" pitchFamily="18" charset="0"/>
              </a:rPr>
              <a:t>n</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r>
              <a:rPr lang="zh-CN" altLang="en-US" baseline="-25000" dirty="0">
                <a:latin typeface="Times New Roman" panose="02020603050405020304" pitchFamily="18" charset="0"/>
              </a:rPr>
              <a:t>移</a:t>
            </a:r>
            <a:r>
              <a:rPr lang="en-US" altLang="zh-CN" dirty="0">
                <a:latin typeface="Times New Roman" panose="02020603050405020304" pitchFamily="18" charset="0"/>
              </a:rPr>
              <a:t>=2</a:t>
            </a:r>
            <a:r>
              <a:rPr lang="en-US" altLang="zh-CN" baseline="30000" dirty="0">
                <a:latin typeface="Times New Roman" panose="02020603050405020304" pitchFamily="18" charset="0"/>
              </a:rPr>
              <a:t>n</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spcBef>
                <a:spcPts val="1800"/>
              </a:spcBef>
            </a:pP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r>
              <a:rPr lang="zh-CN" altLang="en-US" baseline="-25000" dirty="0">
                <a:latin typeface="Times New Roman" panose="02020603050405020304" pitchFamily="18" charset="0"/>
              </a:rPr>
              <a:t>移</a:t>
            </a:r>
            <a:r>
              <a:rPr lang="en-US" altLang="zh-CN" dirty="0">
                <a:latin typeface="Times New Roman" panose="02020603050405020304" pitchFamily="18" charset="0"/>
              </a:rPr>
              <a:t>=2</a:t>
            </a:r>
            <a:r>
              <a:rPr lang="en-US" altLang="zh-CN" b="1" baseline="30000" dirty="0">
                <a:latin typeface="Times New Roman" panose="02020603050405020304" pitchFamily="18" charset="0"/>
              </a:rPr>
              <a:t>n</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而</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a:t>
            </a:r>
            <a:r>
              <a:rPr lang="zh-CN" altLang="en-US" baseline="-25000" dirty="0">
                <a:latin typeface="Times New Roman" panose="02020603050405020304" pitchFamily="18" charset="0"/>
              </a:rPr>
              <a:t>移</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r>
              <a:rPr lang="zh-CN" altLang="en-US" baseline="-25000" dirty="0">
                <a:latin typeface="Times New Roman" panose="02020603050405020304" pitchFamily="18" charset="0"/>
              </a:rPr>
              <a:t>移</a:t>
            </a:r>
            <a:r>
              <a:rPr lang="en-US" altLang="zh-CN" dirty="0">
                <a:latin typeface="Times New Roman" panose="02020603050405020304" pitchFamily="18" charset="0"/>
              </a:rPr>
              <a:t>=2</a:t>
            </a:r>
            <a:r>
              <a:rPr lang="en-US" altLang="zh-CN" b="1" baseline="30000" dirty="0">
                <a:latin typeface="Times New Roman" panose="02020603050405020304" pitchFamily="18" charset="0"/>
              </a:rPr>
              <a:t>n</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+2</a:t>
            </a:r>
            <a:r>
              <a:rPr lang="en-US" altLang="zh-CN" baseline="30000" dirty="0">
                <a:latin typeface="Times New Roman" panose="02020603050405020304" pitchFamily="18" charset="0"/>
              </a:rPr>
              <a:t>n</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endParaRPr lang="en-US" altLang="zh-CN" baseline="-25000" dirty="0">
              <a:latin typeface="Times New Roman" panose="02020603050405020304" pitchFamily="18" charset="0"/>
            </a:endParaRPr>
          </a:p>
          <a:p>
            <a:pPr lvl="1">
              <a:spcBef>
                <a:spcPts val="1200"/>
              </a:spcBef>
            </a:pPr>
            <a:r>
              <a:rPr lang="zh-CN" altLang="en-US" dirty="0">
                <a:latin typeface="Times New Roman" panose="02020603050405020304" pitchFamily="18" charset="0"/>
              </a:rPr>
              <a:t>所以</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r>
              <a:rPr lang="zh-CN" altLang="en-US" baseline="-25000" dirty="0">
                <a:latin typeface="Times New Roman" panose="02020603050405020304" pitchFamily="18" charset="0"/>
              </a:rPr>
              <a:t>移</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a:t>
            </a:r>
            <a:r>
              <a:rPr lang="zh-CN" altLang="en-US" baseline="-25000" dirty="0">
                <a:latin typeface="Times New Roman" panose="02020603050405020304" pitchFamily="18" charset="0"/>
              </a:rPr>
              <a:t>移</a:t>
            </a:r>
            <a:r>
              <a:rPr lang="en-US" altLang="zh-CN" dirty="0">
                <a:latin typeface="Times New Roman" panose="02020603050405020304" pitchFamily="18" charset="0"/>
              </a:rPr>
              <a:t>+[E</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r>
              <a:rPr lang="zh-CN" altLang="en-US" baseline="-25000" dirty="0">
                <a:latin typeface="Times New Roman" panose="02020603050405020304" pitchFamily="18" charset="0"/>
              </a:rPr>
              <a:t>移</a:t>
            </a:r>
            <a:r>
              <a:rPr lang="en-US" altLang="zh-CN" dirty="0">
                <a:latin typeface="Times New Roman" panose="02020603050405020304" pitchFamily="18" charset="0"/>
              </a:rPr>
              <a:t>-2</a:t>
            </a:r>
            <a:r>
              <a:rPr lang="en-US" altLang="zh-CN" baseline="30000" dirty="0">
                <a:latin typeface="Times New Roman" panose="02020603050405020304" pitchFamily="18" charset="0"/>
              </a:rPr>
              <a:t>n</a:t>
            </a:r>
            <a:endParaRPr lang="en-US" altLang="zh-CN" baseline="30000"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阶码和中多余了一个偏置量</a:t>
            </a:r>
            <a:r>
              <a:rPr lang="en-US" altLang="zh-CN" dirty="0">
                <a:latin typeface="Times New Roman" panose="02020603050405020304" pitchFamily="18" charset="0"/>
              </a:rPr>
              <a:t>2</a:t>
            </a:r>
            <a:r>
              <a:rPr lang="en-US" altLang="zh-CN" baseline="30000" dirty="0">
                <a:latin typeface="Times New Roman" panose="02020603050405020304" pitchFamily="18" charset="0"/>
              </a:rPr>
              <a:t>n</a:t>
            </a:r>
            <a:r>
              <a:rPr lang="zh-CN" altLang="en-US" dirty="0">
                <a:latin typeface="Times New Roman" panose="02020603050405020304" pitchFamily="18" charset="0"/>
              </a:rPr>
              <a:t>，应将它减去。</a:t>
            </a:r>
            <a:endParaRPr lang="en-US" altLang="zh-CN"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阶码相加后有可能产生溢出，此时应另作处理。 </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7457" name="标题 1"/>
          <p:cNvSpPr>
            <a:spLocks noGrp="1"/>
          </p:cNvSpPr>
          <p:nvPr>
            <p:ph type="title"/>
          </p:nvPr>
        </p:nvSpPr>
        <p:spPr>
          <a:noFill/>
          <a:ln>
            <a:noFill/>
          </a:ln>
        </p:spPr>
        <p:txBody>
          <a:bodyPr anchor="t" anchorCtr="0"/>
          <a:p>
            <a:r>
              <a:rPr lang="en-US" altLang="zh-CN" dirty="0"/>
              <a:t>1.</a:t>
            </a:r>
            <a:r>
              <a:rPr lang="zh-CN" altLang="en-US" dirty="0"/>
              <a:t>乘法步骤（续）</a:t>
            </a:r>
            <a:endParaRPr lang="zh-CN" altLang="en-US" dirty="0"/>
          </a:p>
        </p:txBody>
      </p:sp>
      <p:sp>
        <p:nvSpPr>
          <p:cNvPr id="147458" name="内容占位符 2"/>
          <p:cNvSpPr>
            <a:spLocks noGrp="1"/>
          </p:cNvSpPr>
          <p:nvPr>
            <p:ph idx="1"/>
          </p:nvPr>
        </p:nvSpPr>
        <p:spPr>
          <a:xfrm>
            <a:off x="457200" y="1409700"/>
            <a:ext cx="8229600" cy="5043488"/>
          </a:xfrm>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⑵尾数相乘</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若</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mn-ea"/>
              </a:rPr>
              <a:t>A</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mn-ea"/>
              </a:rPr>
              <a:t>B</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都不为</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0</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，则可进行尾数乘法。</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ts val="18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rPr>
              <a:t>⑶尾数结果规格化</a:t>
            </a:r>
            <a:endParaRPr kumimoji="0" lang="zh-CN" altLang="en-US" sz="2800" b="1" i="0" u="none" strike="noStrike" kern="0" cap="none" spc="0" normalizeH="0" baseline="0" noProof="1" dirty="0">
              <a:solidFill>
                <a:schemeClr val="hlink"/>
              </a:solidFill>
              <a:latin typeface="Times New Roman" panose="02020603050405020304" pitchFamily="18" charset="0"/>
              <a:ea typeface="+mn-ea"/>
              <a:cs typeface="+mn-cs"/>
            </a:endParaRPr>
          </a:p>
          <a:p>
            <a:pPr marL="742950" marR="0" lvl="1" indent="-285750" algn="l" defTabSz="914400" rtl="0" eaLnBrk="0" fontAlgn="base" latinLnBrk="0" hangingPunct="0">
              <a:lnSpc>
                <a:spcPct val="150000"/>
              </a:lnSpc>
              <a:spcBef>
                <a:spcPct val="200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尾数相乘后的结果范围：    ≤</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mn-ea"/>
              </a:rPr>
              <a:t>A</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mn-ea"/>
              </a:rPr>
              <a:t>B</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1</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50000"/>
              </a:lnSpc>
              <a:spcBef>
                <a:spcPts val="12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当    ≤</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mn-ea"/>
              </a:rPr>
              <a:t>A</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mn-ea"/>
              </a:rPr>
              <a:t>B</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1</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时，乘积无须再进行规格化操作；</a:t>
            </a:r>
            <a:endPar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endParaRPr>
          </a:p>
          <a:p>
            <a:pPr marL="742950" marR="0" lvl="1" indent="-285750" algn="l" defTabSz="914400" rtl="0" eaLnBrk="0" fontAlgn="base" latinLnBrk="0" hangingPunct="0">
              <a:lnSpc>
                <a:spcPct val="150000"/>
              </a:lnSpc>
              <a:spcBef>
                <a:spcPts val="1800"/>
              </a:spcBef>
              <a:spcAft>
                <a:spcPct val="0"/>
              </a:spcAft>
              <a:buClr>
                <a:schemeClr val="accent1"/>
              </a:buClr>
              <a:buSzTx/>
              <a:buFont typeface="Wingdings" panose="05000000000000000000" pitchFamily="2" charset="2"/>
              <a:buChar char="§"/>
            </a:pP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当    ≤</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mn-ea"/>
              </a:rPr>
              <a:t>A</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×M</a:t>
            </a:r>
            <a:r>
              <a:rPr kumimoji="0" lang="en-US" altLang="zh-CN" sz="2400" b="0" i="0" u="none" strike="noStrike" kern="0" cap="none" spc="0" normalizeH="0" baseline="-25000" noProof="1" dirty="0">
                <a:solidFill>
                  <a:schemeClr val="tx1"/>
                </a:solidFill>
                <a:latin typeface="Times New Roman" panose="02020603050405020304" pitchFamily="18" charset="0"/>
                <a:ea typeface="+mn-ea"/>
                <a:cs typeface="+mn-ea"/>
              </a:rPr>
              <a:t>B</a:t>
            </a:r>
            <a:r>
              <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rPr>
              <a:t>|</a:t>
            </a:r>
            <a:r>
              <a:rPr kumimoji="0" lang="zh-CN" altLang="en-US" sz="2400" b="0" i="0" u="none" strike="noStrike" kern="0" cap="none" spc="0" normalizeH="0" baseline="0" noProof="1" dirty="0">
                <a:solidFill>
                  <a:schemeClr val="tx1"/>
                </a:solidFill>
                <a:latin typeface="Times New Roman" panose="02020603050405020304" pitchFamily="18" charset="0"/>
                <a:ea typeface="+mn-ea"/>
                <a:cs typeface="+mn-ea"/>
              </a:rPr>
              <a:t>＜   时，需要左规一次；</a:t>
            </a:r>
            <a:endParaRPr kumimoji="0" lang="en-US" altLang="zh-CN" sz="2400" b="0" i="0" u="none" strike="noStrike" kern="0" cap="none" spc="0" normalizeH="0" baseline="0" noProof="1" dirty="0">
              <a:solidFill>
                <a:schemeClr val="tx1"/>
              </a:solidFill>
              <a:latin typeface="Times New Roman" panose="02020603050405020304" pitchFamily="18" charset="0"/>
              <a:ea typeface="+mn-ea"/>
              <a:cs typeface="+mn-ea"/>
            </a:endParaRPr>
          </a:p>
          <a:p>
            <a:pPr marL="1143000" marR="0" lvl="2" indent="-228600" algn="l" defTabSz="914400" rtl="0" eaLnBrk="0" fontAlgn="base" latinLnBrk="0" hangingPunct="0">
              <a:lnSpc>
                <a:spcPct val="100000"/>
              </a:lnSpc>
              <a:spcBef>
                <a:spcPts val="1800"/>
              </a:spcBef>
              <a:spcAft>
                <a:spcPct val="0"/>
              </a:spcAft>
              <a:buClr>
                <a:schemeClr val="tx1"/>
              </a:buClr>
              <a:buSzTx/>
              <a:buFontTx/>
              <a:buChar char="•"/>
            </a:pPr>
            <a:r>
              <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rPr>
              <a:t>左规时如果发生阶码下溢，则做机器零处理。 </a:t>
            </a:r>
            <a:endParaRPr kumimoji="0" lang="zh-CN" altLang="en-US" sz="2055" b="0" i="0" u="none" strike="noStrike" kern="0" cap="none" spc="0" normalizeH="0" baseline="0" noProof="1" dirty="0">
              <a:solidFill>
                <a:schemeClr val="tx1"/>
              </a:solidFill>
              <a:latin typeface="Times New Roman" panose="02020603050405020304" pitchFamily="18" charset="0"/>
              <a:ea typeface="+mn-ea"/>
              <a:cs typeface="+mn-ea"/>
            </a:endParaRPr>
          </a:p>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endParaRPr kumimoji="0" lang="zh-CN" altLang="en-US" sz="2800" b="1" i="0" u="none" strike="noStrike" kern="0" cap="none" spc="0" normalizeH="0" baseline="0" noProof="1" dirty="0">
              <a:solidFill>
                <a:schemeClr val="hlink"/>
              </a:solidFill>
              <a:latin typeface="Times New Roman" panose="02020603050405020304" pitchFamily="18" charset="0"/>
              <a:ea typeface="Times New Roman" panose="02020603050405020304" pitchFamily="18" charset="0"/>
              <a:cs typeface="+mn-cs"/>
            </a:endParaRPr>
          </a:p>
        </p:txBody>
      </p:sp>
      <p:graphicFrame>
        <p:nvGraphicFramePr>
          <p:cNvPr id="147459" name="Object 4"/>
          <p:cNvGraphicFramePr>
            <a:graphicFrameLocks noChangeAspect="1"/>
          </p:cNvGraphicFramePr>
          <p:nvPr/>
        </p:nvGraphicFramePr>
        <p:xfrm>
          <a:off x="4633913" y="2973388"/>
          <a:ext cx="287337" cy="762000"/>
        </p:xfrm>
        <a:graphic>
          <a:graphicData uri="http://schemas.openxmlformats.org/presentationml/2006/ole">
            <mc:AlternateContent xmlns:mc="http://schemas.openxmlformats.org/markup-compatibility/2006">
              <mc:Choice xmlns:v="urn:schemas-microsoft-com:vml" Requires="v">
                <p:oleObj spid="_x0000_s3103" name="" r:id="rId1" imgW="152400" imgH="393700" progId="Equation.3">
                  <p:embed/>
                </p:oleObj>
              </mc:Choice>
              <mc:Fallback>
                <p:oleObj name="" r:id="rId1" imgW="152400" imgH="393700" progId="Equation.3">
                  <p:embed/>
                  <p:pic>
                    <p:nvPicPr>
                      <p:cNvPr id="0" name="图片 3102"/>
                      <p:cNvPicPr/>
                      <p:nvPr/>
                    </p:nvPicPr>
                    <p:blipFill>
                      <a:blip r:embed="rId2"/>
                      <a:stretch>
                        <a:fillRect/>
                      </a:stretch>
                    </p:blipFill>
                    <p:spPr>
                      <a:xfrm>
                        <a:off x="4633913" y="2973388"/>
                        <a:ext cx="287337" cy="762000"/>
                      </a:xfrm>
                      <a:prstGeom prst="rect">
                        <a:avLst/>
                      </a:prstGeom>
                      <a:noFill/>
                      <a:ln w="38100">
                        <a:noFill/>
                        <a:miter/>
                      </a:ln>
                    </p:spPr>
                  </p:pic>
                </p:oleObj>
              </mc:Fallback>
            </mc:AlternateContent>
          </a:graphicData>
        </a:graphic>
      </p:graphicFrame>
      <p:graphicFrame>
        <p:nvGraphicFramePr>
          <p:cNvPr id="147460" name="Object 5"/>
          <p:cNvGraphicFramePr>
            <a:graphicFrameLocks noChangeAspect="1"/>
          </p:cNvGraphicFramePr>
          <p:nvPr/>
        </p:nvGraphicFramePr>
        <p:xfrm>
          <a:off x="1620838" y="3735388"/>
          <a:ext cx="287337" cy="762000"/>
        </p:xfrm>
        <a:graphic>
          <a:graphicData uri="http://schemas.openxmlformats.org/presentationml/2006/ole">
            <mc:AlternateContent xmlns:mc="http://schemas.openxmlformats.org/markup-compatibility/2006">
              <mc:Choice xmlns:v="urn:schemas-microsoft-com:vml" Requires="v">
                <p:oleObj spid="_x0000_s3100" name="" r:id="rId3" imgW="152400" imgH="393700" progId="Equation.3">
                  <p:embed/>
                </p:oleObj>
              </mc:Choice>
              <mc:Fallback>
                <p:oleObj name="" r:id="rId3" imgW="152400" imgH="393700" progId="Equation.3">
                  <p:embed/>
                  <p:pic>
                    <p:nvPicPr>
                      <p:cNvPr id="0" name="图片 3099"/>
                      <p:cNvPicPr/>
                      <p:nvPr/>
                    </p:nvPicPr>
                    <p:blipFill>
                      <a:blip r:embed="rId4"/>
                      <a:stretch>
                        <a:fillRect/>
                      </a:stretch>
                    </p:blipFill>
                    <p:spPr>
                      <a:xfrm>
                        <a:off x="1620838" y="3735388"/>
                        <a:ext cx="287337" cy="762000"/>
                      </a:xfrm>
                      <a:prstGeom prst="rect">
                        <a:avLst/>
                      </a:prstGeom>
                      <a:noFill/>
                      <a:ln w="38100">
                        <a:noFill/>
                        <a:miter/>
                      </a:ln>
                    </p:spPr>
                  </p:pic>
                </p:oleObj>
              </mc:Fallback>
            </mc:AlternateContent>
          </a:graphicData>
        </a:graphic>
      </p:graphicFrame>
      <p:graphicFrame>
        <p:nvGraphicFramePr>
          <p:cNvPr id="147461" name="Object 5"/>
          <p:cNvGraphicFramePr>
            <a:graphicFrameLocks noChangeAspect="1"/>
          </p:cNvGraphicFramePr>
          <p:nvPr/>
        </p:nvGraphicFramePr>
        <p:xfrm>
          <a:off x="3581400" y="4460875"/>
          <a:ext cx="287338" cy="762000"/>
        </p:xfrm>
        <a:graphic>
          <a:graphicData uri="http://schemas.openxmlformats.org/presentationml/2006/ole">
            <mc:AlternateContent xmlns:mc="http://schemas.openxmlformats.org/markup-compatibility/2006">
              <mc:Choice xmlns:v="urn:schemas-microsoft-com:vml" Requires="v">
                <p:oleObj spid="_x0000_s3105" name="" r:id="rId5" imgW="152400" imgH="393700" progId="Equation.3">
                  <p:embed/>
                </p:oleObj>
              </mc:Choice>
              <mc:Fallback>
                <p:oleObj name="" r:id="rId5" imgW="152400" imgH="393700" progId="Equation.3">
                  <p:embed/>
                  <p:pic>
                    <p:nvPicPr>
                      <p:cNvPr id="0" name="图片 3104"/>
                      <p:cNvPicPr/>
                      <p:nvPr/>
                    </p:nvPicPr>
                    <p:blipFill>
                      <a:blip r:embed="rId4"/>
                      <a:stretch>
                        <a:fillRect/>
                      </a:stretch>
                    </p:blipFill>
                    <p:spPr>
                      <a:xfrm>
                        <a:off x="3581400" y="4460875"/>
                        <a:ext cx="287338" cy="762000"/>
                      </a:xfrm>
                      <a:prstGeom prst="rect">
                        <a:avLst/>
                      </a:prstGeom>
                      <a:noFill/>
                      <a:ln w="38100">
                        <a:noFill/>
                        <a:miter/>
                      </a:ln>
                    </p:spPr>
                  </p:pic>
                </p:oleObj>
              </mc:Fallback>
            </mc:AlternateContent>
          </a:graphicData>
        </a:graphic>
      </p:graphicFrame>
      <p:graphicFrame>
        <p:nvGraphicFramePr>
          <p:cNvPr id="147462" name="Object 4"/>
          <p:cNvGraphicFramePr>
            <a:graphicFrameLocks noChangeAspect="1"/>
          </p:cNvGraphicFramePr>
          <p:nvPr/>
        </p:nvGraphicFramePr>
        <p:xfrm>
          <a:off x="1620838" y="4532313"/>
          <a:ext cx="287337" cy="762000"/>
        </p:xfrm>
        <a:graphic>
          <a:graphicData uri="http://schemas.openxmlformats.org/presentationml/2006/ole">
            <mc:AlternateContent xmlns:mc="http://schemas.openxmlformats.org/markup-compatibility/2006">
              <mc:Choice xmlns:v="urn:schemas-microsoft-com:vml" Requires="v">
                <p:oleObj spid="_x0000_s3108" name="" r:id="rId6" imgW="152400" imgH="393700" progId="Equation.3">
                  <p:embed/>
                </p:oleObj>
              </mc:Choice>
              <mc:Fallback>
                <p:oleObj name="" r:id="rId6" imgW="152400" imgH="393700" progId="Equation.3">
                  <p:embed/>
                  <p:pic>
                    <p:nvPicPr>
                      <p:cNvPr id="0" name="图片 3107"/>
                      <p:cNvPicPr/>
                      <p:nvPr/>
                    </p:nvPicPr>
                    <p:blipFill>
                      <a:blip r:embed="rId2"/>
                      <a:stretch>
                        <a:fillRect/>
                      </a:stretch>
                    </p:blipFill>
                    <p:spPr>
                      <a:xfrm>
                        <a:off x="1620838" y="4532313"/>
                        <a:ext cx="287337" cy="762000"/>
                      </a:xfrm>
                      <a:prstGeom prst="rect">
                        <a:avLst/>
                      </a:prstGeom>
                      <a:noFill/>
                      <a:ln w="38100">
                        <a:noFill/>
                        <a:miter/>
                      </a:ln>
                    </p:spPr>
                  </p:pic>
                </p:oleObj>
              </mc:Fallback>
            </mc:AlternateContent>
          </a:graphicData>
        </a:graphic>
      </p:graphicFrame>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8481" name="标题 1"/>
          <p:cNvSpPr>
            <a:spLocks noGrp="1"/>
          </p:cNvSpPr>
          <p:nvPr>
            <p:ph type="title"/>
          </p:nvPr>
        </p:nvSpPr>
        <p:spPr>
          <a:noFill/>
          <a:ln>
            <a:noFill/>
          </a:ln>
        </p:spPr>
        <p:txBody>
          <a:bodyPr anchor="t" anchorCtr="0"/>
          <a:p>
            <a:r>
              <a:rPr lang="en-US" altLang="zh-CN" dirty="0"/>
              <a:t>2.</a:t>
            </a:r>
            <a:r>
              <a:rPr lang="zh-CN" altLang="en-US" dirty="0"/>
              <a:t>除法步骤</a:t>
            </a:r>
            <a:endParaRPr lang="zh-CN" altLang="en-US" dirty="0"/>
          </a:p>
        </p:txBody>
      </p:sp>
      <p:sp>
        <p:nvSpPr>
          <p:cNvPr id="14848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两浮点数相除：</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其商的阶码应为相除两数的阶码之差；</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其商的尾数应为相除两数的尾数之商。</a:t>
            </a:r>
            <a:endParaRPr lang="zh-CN" altLang="en-US" dirty="0">
              <a:latin typeface="Times New Roman" panose="02020603050405020304" pitchFamily="18" charset="0"/>
            </a:endParaRPr>
          </a:p>
          <a:p>
            <a:pPr lvl="2"/>
            <a:r>
              <a:rPr lang="en-US" altLang="zh-CN" dirty="0">
                <a:latin typeface="Times New Roman" panose="02020603050405020304" pitchFamily="18" charset="0"/>
              </a:rPr>
              <a:t>A÷B=(M</a:t>
            </a:r>
            <a:r>
              <a:rPr lang="en-US" altLang="zh-CN" baseline="-25000" dirty="0">
                <a:latin typeface="Times New Roman" panose="02020603050405020304" pitchFamily="18" charset="0"/>
              </a:rPr>
              <a:t>A</a:t>
            </a:r>
            <a:r>
              <a:rPr lang="en-US" altLang="zh-CN" dirty="0">
                <a:latin typeface="Times New Roman" panose="02020603050405020304" pitchFamily="18" charset="0"/>
              </a:rPr>
              <a:t>÷M</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endParaRPr lang="en-US" altLang="zh-CN" dirty="0">
              <a:latin typeface="Times New Roman" panose="02020603050405020304" pitchFamily="18" charset="0"/>
            </a:endParaRPr>
          </a:p>
          <a:p>
            <a:pPr>
              <a:spcBef>
                <a:spcPts val="1800"/>
              </a:spcBef>
            </a:pPr>
            <a:r>
              <a:rPr lang="en-US" altLang="zh-CN" dirty="0">
                <a:latin typeface="Times New Roman" panose="02020603050405020304" pitchFamily="18" charset="0"/>
              </a:rPr>
              <a:t>⑴</a:t>
            </a:r>
            <a:r>
              <a:rPr lang="zh-CN" altLang="en-US" dirty="0">
                <a:latin typeface="Times New Roman" panose="02020603050405020304" pitchFamily="18" charset="0"/>
              </a:rPr>
              <a:t>尾数调整</a:t>
            </a:r>
            <a:endParaRPr lang="zh-CN" altLang="en-US" dirty="0">
              <a:latin typeface="Times New Roman" panose="02020603050405020304" pitchFamily="18" charset="0"/>
            </a:endParaRPr>
          </a:p>
          <a:p>
            <a:pPr lvl="1" latinLnBrk="0">
              <a:spcBef>
                <a:spcPts val="1200"/>
              </a:spcBef>
            </a:pPr>
            <a:r>
              <a:rPr lang="zh-CN" altLang="en-US" dirty="0">
                <a:solidFill>
                  <a:srgbClr val="FF0000"/>
                </a:solidFill>
                <a:latin typeface="Times New Roman" panose="02020603050405020304" pitchFamily="18" charset="0"/>
              </a:rPr>
              <a:t>保证商的尾数为定点小数</a:t>
            </a:r>
            <a:r>
              <a:rPr lang="zh-CN" altLang="en-US" dirty="0">
                <a:latin typeface="Times New Roman" panose="02020603050405020304" pitchFamily="18" charset="0"/>
              </a:rPr>
              <a:t>，检测</a:t>
            </a:r>
            <a:r>
              <a:rPr lang="en-US" altLang="zh-CN" dirty="0">
                <a:latin typeface="Times New Roman" panose="02020603050405020304" pitchFamily="18" charset="0"/>
              </a:rPr>
              <a:t>|M</a:t>
            </a:r>
            <a:r>
              <a:rPr lang="en-US" altLang="zh-CN" baseline="-25000" dirty="0">
                <a:latin typeface="Times New Roman" panose="02020603050405020304" pitchFamily="18" charset="0"/>
              </a:rPr>
              <a:t>A</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|M</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如果不小于，则</a:t>
            </a:r>
            <a:r>
              <a:rPr lang="en-US" altLang="zh-CN" dirty="0">
                <a:latin typeface="Times New Roman" panose="02020603050405020304" pitchFamily="18" charset="0"/>
              </a:rPr>
              <a:t>M</a:t>
            </a:r>
            <a:r>
              <a:rPr lang="en-US" altLang="zh-CN" baseline="-25000" dirty="0">
                <a:latin typeface="Times New Roman" panose="02020603050405020304" pitchFamily="18" charset="0"/>
              </a:rPr>
              <a:t>A</a:t>
            </a:r>
            <a:r>
              <a:rPr lang="zh-CN" altLang="en-US" dirty="0">
                <a:latin typeface="Times New Roman" panose="02020603050405020304" pitchFamily="18" charset="0"/>
              </a:rPr>
              <a:t>右移一位，</a:t>
            </a:r>
            <a:r>
              <a:rPr lang="en-US" altLang="zh-CN" dirty="0">
                <a:latin typeface="Times New Roman" panose="02020603050405020304" pitchFamily="18" charset="0"/>
              </a:rPr>
              <a:t>E</a:t>
            </a:r>
            <a:r>
              <a:rPr lang="en-US" altLang="zh-CN" baseline="-25000" dirty="0">
                <a:latin typeface="Times New Roman" panose="02020603050405020304" pitchFamily="18" charset="0"/>
              </a:rPr>
              <a:t>A</a:t>
            </a:r>
            <a:r>
              <a:rPr lang="en-US" altLang="zh-CN" dirty="0">
                <a:latin typeface="Times New Roman" panose="02020603050405020304" pitchFamily="18" charset="0"/>
              </a:rPr>
              <a:t>+1→E</a:t>
            </a:r>
            <a:r>
              <a:rPr lang="en-US" altLang="zh-CN" baseline="-25000" dirty="0">
                <a:latin typeface="Times New Roman" panose="02020603050405020304" pitchFamily="18" charset="0"/>
              </a:rPr>
              <a:t>A</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r>
              <a:rPr lang="zh-CN" altLang="en-US" dirty="0">
                <a:latin typeface="Times New Roman" panose="02020603050405020304" pitchFamily="18" charset="0"/>
              </a:rPr>
              <a:t>因为</a:t>
            </a:r>
            <a:r>
              <a:rPr lang="en-US" altLang="zh-CN"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B</a:t>
            </a:r>
            <a:r>
              <a:rPr lang="zh-CN" altLang="en-US" dirty="0">
                <a:latin typeface="Times New Roman" panose="02020603050405020304" pitchFamily="18" charset="0"/>
              </a:rPr>
              <a:t>都是规格化数，所以最多调整一次。</a:t>
            </a:r>
            <a:endParaRPr lang="zh-CN" altLang="en-US" dirty="0">
              <a:latin typeface="Times New Roman" panose="02020603050405020304" pitchFamily="18" charset="0"/>
              <a:ea typeface="Times New Roman" panose="02020603050405020304" pitchFamily="18" charset="0"/>
            </a:endParaRPr>
          </a:p>
        </p:txBody>
      </p:sp>
      <p:graphicFrame>
        <p:nvGraphicFramePr>
          <p:cNvPr id="148483" name="Object 4"/>
          <p:cNvGraphicFramePr>
            <a:graphicFrameLocks noChangeAspect="1"/>
          </p:cNvGraphicFramePr>
          <p:nvPr/>
        </p:nvGraphicFramePr>
        <p:xfrm>
          <a:off x="4254500" y="3149600"/>
          <a:ext cx="1617663" cy="615950"/>
        </p:xfrm>
        <a:graphic>
          <a:graphicData uri="http://schemas.openxmlformats.org/presentationml/2006/ole">
            <mc:AlternateContent xmlns:mc="http://schemas.openxmlformats.org/markup-compatibility/2006">
              <mc:Choice xmlns:v="urn:schemas-microsoft-com:vml" Requires="v">
                <p:oleObj spid="_x0000_s3106" name="" r:id="rId1" imgW="481965" imgH="177800" progId="Equation.3">
                  <p:embed/>
                </p:oleObj>
              </mc:Choice>
              <mc:Fallback>
                <p:oleObj name="" r:id="rId1" imgW="481965" imgH="177800" progId="Equation.3">
                  <p:embed/>
                  <p:pic>
                    <p:nvPicPr>
                      <p:cNvPr id="0" name="图片 3105"/>
                      <p:cNvPicPr/>
                      <p:nvPr/>
                    </p:nvPicPr>
                    <p:blipFill>
                      <a:blip r:embed="rId2"/>
                      <a:stretch>
                        <a:fillRect/>
                      </a:stretch>
                    </p:blipFill>
                    <p:spPr>
                      <a:xfrm>
                        <a:off x="4254500" y="3149600"/>
                        <a:ext cx="1617663" cy="615950"/>
                      </a:xfrm>
                      <a:prstGeom prst="rect">
                        <a:avLst/>
                      </a:prstGeom>
                      <a:noFill/>
                      <a:ln w="38100">
                        <a:noFill/>
                        <a:miter/>
                      </a:ln>
                    </p:spPr>
                  </p:pic>
                </p:oleObj>
              </mc:Fallback>
            </mc:AlternateContent>
          </a:graphicData>
        </a:graphic>
      </p:graphicFrame>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950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a:t>
            </a:r>
            <a:r>
              <a:rPr lang="zh-CN" altLang="en-US" dirty="0">
                <a:latin typeface="Times New Roman" panose="02020603050405020304" pitchFamily="18" charset="0"/>
              </a:rPr>
              <a:t>除法步骤（续）</a:t>
            </a:r>
            <a:endParaRPr lang="zh-CN" altLang="en-US" dirty="0">
              <a:latin typeface="Times New Roman" panose="02020603050405020304" pitchFamily="18" charset="0"/>
              <a:ea typeface="Times New Roman" panose="02020603050405020304" pitchFamily="18" charset="0"/>
            </a:endParaRPr>
          </a:p>
        </p:txBody>
      </p:sp>
      <p:sp>
        <p:nvSpPr>
          <p:cNvPr id="149506" name="内容占位符 2"/>
          <p:cNvSpPr>
            <a:spLocks noGrp="1"/>
          </p:cNvSpPr>
          <p:nvPr>
            <p:ph idx="1"/>
          </p:nvPr>
        </p:nvSpPr>
        <p:spPr>
          <a:xfrm>
            <a:off x="457200" y="1417638"/>
            <a:ext cx="8229600" cy="5099050"/>
          </a:xfrm>
          <a:noFill/>
          <a:ln>
            <a:noFill/>
          </a:ln>
        </p:spPr>
        <p:txBody>
          <a:bodyPr anchor="t" anchorCtr="0"/>
          <a:p>
            <a:r>
              <a:rPr lang="zh-CN" altLang="en-US" dirty="0">
                <a:latin typeface="Times New Roman" panose="02020603050405020304" pitchFamily="18" charset="0"/>
              </a:rPr>
              <a:t>⑵阶码相减</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如果阶码用补码表示，阶码相减后无须校正；</a:t>
            </a:r>
            <a:endParaRPr lang="zh-CN" altLang="en-US" dirty="0">
              <a:latin typeface="Times New Roman" panose="02020603050405020304" pitchFamily="18" charset="0"/>
            </a:endParaRPr>
          </a:p>
          <a:p>
            <a:pPr lvl="1" latinLnBrk="0">
              <a:spcBef>
                <a:spcPts val="1200"/>
              </a:spcBef>
            </a:pPr>
            <a:r>
              <a:rPr lang="zh-CN" altLang="en-US" dirty="0">
                <a:solidFill>
                  <a:srgbClr val="FF0000"/>
                </a:solidFill>
                <a:latin typeface="Times New Roman" panose="02020603050405020304" pitchFamily="18" charset="0"/>
              </a:rPr>
              <a:t>移码表示时，相减后要加上一个偏移量</a:t>
            </a:r>
            <a:r>
              <a:rPr lang="en-US" altLang="zh-CN" dirty="0">
                <a:solidFill>
                  <a:srgbClr val="FF0000"/>
                </a:solidFill>
                <a:latin typeface="Times New Roman" panose="02020603050405020304" pitchFamily="18" charset="0"/>
              </a:rPr>
              <a:t>2</a:t>
            </a:r>
            <a:r>
              <a:rPr lang="en-US" altLang="zh-CN" baseline="30000" dirty="0">
                <a:solidFill>
                  <a:srgbClr val="FF0000"/>
                </a:solidFill>
                <a:latin typeface="Times New Roman" panose="02020603050405020304" pitchFamily="18" charset="0"/>
              </a:rPr>
              <a:t>n</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阶码相减后，如有溢出，应另作处理。</a:t>
            </a:r>
            <a:endParaRPr lang="en-US" altLang="zh-CN" dirty="0">
              <a:latin typeface="Times New Roman" panose="02020603050405020304" pitchFamily="18" charset="0"/>
            </a:endParaRPr>
          </a:p>
          <a:p>
            <a:pPr latinLnBrk="0">
              <a:spcBef>
                <a:spcPts val="1800"/>
              </a:spcBef>
            </a:pPr>
            <a:r>
              <a:rPr lang="zh-CN" altLang="en-US" dirty="0">
                <a:latin typeface="Times New Roman" panose="02020603050405020304" pitchFamily="18" charset="0"/>
              </a:rPr>
              <a:t> ⑶尾数相除</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若</a:t>
            </a:r>
            <a:r>
              <a:rPr lang="en-US" altLang="zh-CN" dirty="0">
                <a:latin typeface="Times New Roman" panose="02020603050405020304" pitchFamily="18" charset="0"/>
              </a:rPr>
              <a:t>M</a:t>
            </a:r>
            <a:r>
              <a:rPr lang="en-US" altLang="zh-CN" baseline="-25000" dirty="0">
                <a:latin typeface="Times New Roman" panose="02020603050405020304" pitchFamily="18" charset="0"/>
              </a:rPr>
              <a:t>A</a:t>
            </a:r>
            <a:r>
              <a:rPr lang="zh-CN" altLang="en-US" dirty="0">
                <a:latin typeface="Times New Roman" panose="02020603050405020304" pitchFamily="18" charset="0"/>
              </a:rPr>
              <a:t>、</a:t>
            </a:r>
            <a:r>
              <a:rPr lang="en-US" altLang="zh-CN" dirty="0">
                <a:latin typeface="Times New Roman" panose="02020603050405020304" pitchFamily="18" charset="0"/>
              </a:rPr>
              <a:t>M</a:t>
            </a:r>
            <a:r>
              <a:rPr lang="en-US" altLang="zh-CN" baseline="-25000" dirty="0">
                <a:latin typeface="Times New Roman" panose="02020603050405020304" pitchFamily="18" charset="0"/>
              </a:rPr>
              <a:t>B</a:t>
            </a:r>
            <a:r>
              <a:rPr lang="zh-CN" altLang="en-US" dirty="0">
                <a:latin typeface="Times New Roman" panose="02020603050405020304" pitchFamily="18" charset="0"/>
              </a:rPr>
              <a:t>都不为</a:t>
            </a:r>
            <a:r>
              <a:rPr lang="en-US" altLang="zh-CN" dirty="0">
                <a:latin typeface="Times New Roman" panose="02020603050405020304" pitchFamily="18" charset="0"/>
              </a:rPr>
              <a:t>0</a:t>
            </a:r>
            <a:r>
              <a:rPr lang="zh-CN" altLang="en-US" dirty="0">
                <a:latin typeface="Times New Roman" panose="02020603050405020304" pitchFamily="18" charset="0"/>
              </a:rPr>
              <a:t>，则可进行尾数除法。</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运算结果一定落在规格化范围内，即：  </a:t>
            </a:r>
            <a:endParaRPr lang="zh-CN" altLang="en-US" dirty="0">
              <a:latin typeface="Times New Roman" panose="02020603050405020304" pitchFamily="18" charset="0"/>
            </a:endParaRPr>
          </a:p>
          <a:p>
            <a:pPr lvl="2" latinLnBrk="0">
              <a:spcBef>
                <a:spcPts val="1800"/>
              </a:spcBef>
            </a:pPr>
            <a:r>
              <a:rPr lang="zh-CN" altLang="en-US" dirty="0">
                <a:latin typeface="Times New Roman" panose="02020603050405020304" pitchFamily="18" charset="0"/>
              </a:rPr>
              <a:t>    ≤</a:t>
            </a:r>
            <a:r>
              <a:rPr lang="en-US" altLang="zh-CN" dirty="0">
                <a:latin typeface="Times New Roman" panose="02020603050405020304" pitchFamily="18" charset="0"/>
              </a:rPr>
              <a:t>|M</a:t>
            </a:r>
            <a:r>
              <a:rPr lang="en-US" altLang="zh-CN" baseline="-25000" dirty="0">
                <a:latin typeface="Times New Roman" panose="02020603050405020304" pitchFamily="18" charset="0"/>
              </a:rPr>
              <a:t>A</a:t>
            </a:r>
            <a:r>
              <a:rPr lang="en-US" altLang="zh-CN" dirty="0">
                <a:latin typeface="Times New Roman" panose="02020603050405020304" pitchFamily="18" charset="0"/>
              </a:rPr>
              <a:t>÷M</a:t>
            </a:r>
            <a:r>
              <a:rPr lang="en-US" altLang="zh-CN" baseline="-25000" dirty="0">
                <a:latin typeface="Times New Roman" panose="02020603050405020304" pitchFamily="18" charset="0"/>
              </a:rPr>
              <a:t>B</a:t>
            </a:r>
            <a:r>
              <a:rPr lang="en-US" altLang="zh-CN" dirty="0">
                <a:latin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1 </a:t>
            </a:r>
            <a:endParaRPr lang="en-US" altLang="zh-CN" dirty="0">
              <a:latin typeface="Times New Roman" panose="02020603050405020304" pitchFamily="18" charset="0"/>
            </a:endParaRPr>
          </a:p>
          <a:p>
            <a:pPr>
              <a:spcBef>
                <a:spcPts val="1200"/>
              </a:spcBef>
            </a:pP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graphicFrame>
        <p:nvGraphicFramePr>
          <p:cNvPr id="149507" name="Object 5"/>
          <p:cNvGraphicFramePr>
            <a:graphicFrameLocks noChangeAspect="1"/>
          </p:cNvGraphicFramePr>
          <p:nvPr/>
        </p:nvGraphicFramePr>
        <p:xfrm>
          <a:off x="1673225" y="5451475"/>
          <a:ext cx="330200" cy="876300"/>
        </p:xfrm>
        <a:graphic>
          <a:graphicData uri="http://schemas.openxmlformats.org/presentationml/2006/ole">
            <mc:AlternateContent xmlns:mc="http://schemas.openxmlformats.org/markup-compatibility/2006">
              <mc:Choice xmlns:v="urn:schemas-microsoft-com:vml" Requires="v">
                <p:oleObj spid="_x0000_s3107" name="" r:id="rId1" imgW="152400" imgH="393700" progId="Equation.3">
                  <p:embed/>
                </p:oleObj>
              </mc:Choice>
              <mc:Fallback>
                <p:oleObj name="" r:id="rId1" imgW="152400" imgH="393700" progId="Equation.3">
                  <p:embed/>
                  <p:pic>
                    <p:nvPicPr>
                      <p:cNvPr id="0" name="图片 3106"/>
                      <p:cNvPicPr/>
                      <p:nvPr/>
                    </p:nvPicPr>
                    <p:blipFill>
                      <a:blip r:embed="rId2"/>
                      <a:stretch>
                        <a:fillRect/>
                      </a:stretch>
                    </p:blipFill>
                    <p:spPr>
                      <a:xfrm>
                        <a:off x="1673225" y="5451475"/>
                        <a:ext cx="330200" cy="876300"/>
                      </a:xfrm>
                      <a:prstGeom prst="rect">
                        <a:avLst/>
                      </a:prstGeom>
                      <a:noFill/>
                      <a:ln w="38100">
                        <a:noFill/>
                        <a:miter/>
                      </a:ln>
                    </p:spPr>
                  </p:pic>
                </p:oleObj>
              </mc:Fallback>
            </mc:AlternateContent>
          </a:graphicData>
        </a:graphic>
      </p:graphicFrame>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052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4.6.3 </a:t>
            </a:r>
            <a:r>
              <a:rPr lang="zh-CN" altLang="en-US" dirty="0">
                <a:latin typeface="Times New Roman" panose="02020603050405020304" pitchFamily="18" charset="0"/>
              </a:rPr>
              <a:t>浮点运算器的实现</a:t>
            </a:r>
            <a:endParaRPr lang="zh-CN" altLang="en-US" dirty="0">
              <a:latin typeface="Times New Roman" panose="02020603050405020304" pitchFamily="18" charset="0"/>
            </a:endParaRPr>
          </a:p>
        </p:txBody>
      </p:sp>
      <p:sp>
        <p:nvSpPr>
          <p:cNvPr id="150530" name="内容占位符 2"/>
          <p:cNvSpPr>
            <a:spLocks noGrp="1"/>
          </p:cNvSpPr>
          <p:nvPr>
            <p:ph idx="1"/>
          </p:nvPr>
        </p:nvSpPr>
        <p:spPr>
          <a:xfrm>
            <a:off x="457200" y="1268413"/>
            <a:ext cx="8229600" cy="5318125"/>
          </a:xfrm>
          <a:noFill/>
          <a:ln>
            <a:noFill/>
          </a:ln>
        </p:spPr>
        <p:txBody>
          <a:bodyPr anchor="t" anchorCtr="0"/>
          <a:p>
            <a:r>
              <a:rPr lang="zh-CN" altLang="en-US" dirty="0">
                <a:latin typeface="Times New Roman" panose="02020603050405020304" pitchFamily="18" charset="0"/>
              </a:rPr>
              <a:t>阶码：加减运算，尾数：加、减、乘、除。</a:t>
            </a:r>
            <a:endParaRPr lang="zh-CN" altLang="en-US" dirty="0">
              <a:latin typeface="Times New Roman" panose="02020603050405020304" pitchFamily="18" charset="0"/>
            </a:endParaRPr>
          </a:p>
          <a:p>
            <a:pPr lvl="1"/>
            <a:r>
              <a:rPr lang="zh-CN" altLang="en-US" dirty="0">
                <a:solidFill>
                  <a:srgbClr val="FF0000"/>
                </a:solidFill>
                <a:latin typeface="Times New Roman" panose="02020603050405020304" pitchFamily="18" charset="0"/>
              </a:rPr>
              <a:t>阶码运算部件</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r>
              <a:rPr lang="zh-CN" altLang="en-US" dirty="0">
                <a:latin typeface="Times New Roman" panose="02020603050405020304" pitchFamily="18" charset="0"/>
              </a:rPr>
              <a:t>完成阶码加、减；</a:t>
            </a:r>
            <a:endParaRPr lang="zh-CN" altLang="en-US" dirty="0">
              <a:latin typeface="Times New Roman" panose="02020603050405020304" pitchFamily="18" charset="0"/>
            </a:endParaRPr>
          </a:p>
          <a:p>
            <a:pPr lvl="2"/>
            <a:r>
              <a:rPr lang="zh-CN" altLang="en-US" dirty="0">
                <a:latin typeface="Times New Roman" panose="02020603050405020304" pitchFamily="18" charset="0"/>
              </a:rPr>
              <a:t>控制对阶时小阶的尾数右移次数；</a:t>
            </a:r>
            <a:endParaRPr lang="zh-CN" altLang="en-US" dirty="0">
              <a:latin typeface="Times New Roman" panose="02020603050405020304" pitchFamily="18" charset="0"/>
            </a:endParaRPr>
          </a:p>
          <a:p>
            <a:pPr lvl="2"/>
            <a:r>
              <a:rPr lang="zh-CN" altLang="en-US" dirty="0">
                <a:latin typeface="Times New Roman" panose="02020603050405020304" pitchFamily="18" charset="0"/>
              </a:rPr>
              <a:t>规格化时对阶码调整；</a:t>
            </a:r>
            <a:endParaRPr lang="en-US" altLang="zh-CN" dirty="0">
              <a:latin typeface="Times New Roman" panose="02020603050405020304" pitchFamily="18" charset="0"/>
            </a:endParaRPr>
          </a:p>
          <a:p>
            <a:pPr lvl="1"/>
            <a:r>
              <a:rPr lang="zh-CN" altLang="en-US" dirty="0">
                <a:solidFill>
                  <a:srgbClr val="FF0000"/>
                </a:solidFill>
                <a:latin typeface="Times New Roman" panose="02020603050405020304" pitchFamily="18" charset="0"/>
              </a:rPr>
              <a:t>尾数运算部件</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r>
              <a:rPr lang="zh-CN" altLang="en-US" dirty="0">
                <a:latin typeface="Times New Roman" panose="02020603050405020304" pitchFamily="18" charset="0"/>
              </a:rPr>
              <a:t>完成尾数的</a:t>
            </a:r>
            <a:r>
              <a:rPr lang="zh-CN" altLang="en-US" dirty="0">
                <a:solidFill>
                  <a:srgbClr val="FF0000"/>
                </a:solidFill>
                <a:latin typeface="Times New Roman" panose="02020603050405020304" pitchFamily="18" charset="0"/>
              </a:rPr>
              <a:t>四则运算</a:t>
            </a:r>
            <a:r>
              <a:rPr lang="zh-CN" altLang="en-US" dirty="0">
                <a:latin typeface="Times New Roman" panose="02020603050405020304" pitchFamily="18" charset="0"/>
              </a:rPr>
              <a:t>以及判断尾数是否已规格化。</a:t>
            </a:r>
            <a:endParaRPr lang="en-US" altLang="zh-CN" dirty="0">
              <a:latin typeface="Times New Roman" panose="02020603050405020304" pitchFamily="18" charset="0"/>
            </a:endParaRPr>
          </a:p>
          <a:p>
            <a:pPr lvl="1"/>
            <a:r>
              <a:rPr lang="zh-CN" altLang="en-US" dirty="0">
                <a:solidFill>
                  <a:srgbClr val="FF0000"/>
                </a:solidFill>
                <a:latin typeface="Times New Roman" panose="02020603050405020304" pitchFamily="18" charset="0"/>
              </a:rPr>
              <a:t>溢出判断电路</a:t>
            </a:r>
            <a:endParaRPr lang="zh-CN" altLang="en-US" dirty="0">
              <a:latin typeface="Times New Roman" panose="02020603050405020304" pitchFamily="18" charset="0"/>
            </a:endParaRPr>
          </a:p>
          <a:p>
            <a:pPr>
              <a:spcBef>
                <a:spcPts val="1200"/>
              </a:spcBef>
            </a:pPr>
            <a:r>
              <a:rPr lang="zh-CN" altLang="en-US" dirty="0">
                <a:latin typeface="Times New Roman" panose="02020603050405020304" pitchFamily="18" charset="0"/>
              </a:rPr>
              <a:t>浮点运算部件可做成协处理器：</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只能协助主处理器工作，不能单独工作。</a:t>
            </a:r>
            <a:endParaRPr lang="zh-CN" altLang="en-US" dirty="0">
              <a:latin typeface="Times New Roman" panose="02020603050405020304" pitchFamily="18" charset="0"/>
            </a:endParaRP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1553" name="标题 1"/>
          <p:cNvSpPr>
            <a:spLocks noGrp="1"/>
          </p:cNvSpPr>
          <p:nvPr>
            <p:ph type="title"/>
          </p:nvPr>
        </p:nvSpPr>
        <p:spPr>
          <a:noFill/>
          <a:ln>
            <a:noFill/>
          </a:ln>
        </p:spPr>
        <p:txBody>
          <a:bodyPr anchor="t" anchorCtr="0"/>
          <a:p>
            <a:r>
              <a:rPr lang="en-US" altLang="zh-CN" dirty="0"/>
              <a:t>*4.7 </a:t>
            </a:r>
            <a:r>
              <a:rPr lang="zh-CN" altLang="en-US" dirty="0"/>
              <a:t>十进制整数的加法运算</a:t>
            </a:r>
            <a:endParaRPr lang="zh-CN" altLang="en-US" dirty="0"/>
          </a:p>
        </p:txBody>
      </p:sp>
      <p:sp>
        <p:nvSpPr>
          <p:cNvPr id="151554" name="内容占位符 2"/>
          <p:cNvSpPr>
            <a:spLocks noGrp="1"/>
          </p:cNvSpPr>
          <p:nvPr>
            <p:ph idx="1"/>
          </p:nvPr>
        </p:nvSpPr>
        <p:spPr>
          <a:noFill/>
          <a:ln>
            <a:noFill/>
          </a:ln>
        </p:spPr>
        <p:txBody>
          <a:bodyPr anchor="t" anchorCtr="0"/>
          <a:p>
            <a:r>
              <a:rPr lang="zh-CN" altLang="en-US" dirty="0"/>
              <a:t>一些通用计算机中设有十进制数据表示，可以直接对十进制整数进行算术运算。下面讨论十进制整数的加法运算和十进制加法器。</a:t>
            </a:r>
            <a:endParaRPr lang="zh-CN" altLang="en-US" dirty="0"/>
          </a:p>
          <a:p>
            <a:endParaRPr lang="zh-CN" altLang="en-US"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2577" name="标题 1"/>
          <p:cNvSpPr>
            <a:spLocks noGrp="1"/>
          </p:cNvSpPr>
          <p:nvPr>
            <p:ph type="title"/>
          </p:nvPr>
        </p:nvSpPr>
        <p:spPr>
          <a:noFill/>
          <a:ln>
            <a:noFill/>
          </a:ln>
        </p:spPr>
        <p:txBody>
          <a:bodyPr anchor="t" anchorCtr="0"/>
          <a:p>
            <a:r>
              <a:rPr lang="en-US" altLang="zh-CN" dirty="0"/>
              <a:t>*4.7.1 </a:t>
            </a:r>
            <a:r>
              <a:rPr lang="zh-CN" altLang="en-US" dirty="0"/>
              <a:t>一位十进制加法运算</a:t>
            </a:r>
            <a:endParaRPr lang="zh-CN" altLang="en-US" dirty="0"/>
          </a:p>
        </p:txBody>
      </p:sp>
      <p:sp>
        <p:nvSpPr>
          <p:cNvPr id="152578" name="内容占位符 2"/>
          <p:cNvSpPr>
            <a:spLocks noGrp="1"/>
          </p:cNvSpPr>
          <p:nvPr>
            <p:ph idx="1"/>
          </p:nvPr>
        </p:nvSpPr>
        <p:spPr>
          <a:noFill/>
          <a:ln>
            <a:noFill/>
          </a:ln>
        </p:spPr>
        <p:txBody>
          <a:bodyPr anchor="t" anchorCtr="0"/>
          <a:p>
            <a:r>
              <a:rPr lang="en-US" altLang="zh-CN" dirty="0"/>
              <a:t>1.8421</a:t>
            </a:r>
            <a:r>
              <a:rPr lang="zh-CN" altLang="en-US" dirty="0"/>
              <a:t>码加法运算</a:t>
            </a:r>
            <a:endParaRPr lang="zh-CN" altLang="en-US" dirty="0"/>
          </a:p>
          <a:p>
            <a:pPr lvl="1">
              <a:spcBef>
                <a:spcPts val="1800"/>
              </a:spcBef>
            </a:pPr>
            <a:r>
              <a:rPr lang="en-US" altLang="zh-CN" dirty="0"/>
              <a:t>8421</a:t>
            </a:r>
            <a:r>
              <a:rPr lang="zh-CN" altLang="en-US" dirty="0"/>
              <a:t>码的加法规则：</a:t>
            </a:r>
            <a:endParaRPr lang="zh-CN" altLang="en-US" dirty="0"/>
          </a:p>
          <a:p>
            <a:pPr lvl="1"/>
            <a:r>
              <a:rPr lang="zh-CN" altLang="en-US" dirty="0"/>
              <a:t>⑴两个十进制数的</a:t>
            </a:r>
            <a:r>
              <a:rPr lang="en-US" altLang="zh-CN" dirty="0"/>
              <a:t>8421</a:t>
            </a:r>
            <a:r>
              <a:rPr lang="zh-CN" altLang="en-US" dirty="0"/>
              <a:t>码相加时，按“逢二进一”的原则进行；</a:t>
            </a:r>
            <a:endParaRPr lang="zh-CN" altLang="en-US" dirty="0"/>
          </a:p>
          <a:p>
            <a:pPr lvl="1"/>
            <a:r>
              <a:rPr lang="zh-CN" altLang="en-US" dirty="0"/>
              <a:t>⑵当和≤</a:t>
            </a:r>
            <a:r>
              <a:rPr lang="en-US" altLang="zh-CN" dirty="0"/>
              <a:t>9</a:t>
            </a:r>
            <a:r>
              <a:rPr lang="zh-CN" altLang="en-US" dirty="0"/>
              <a:t>，无需校正；</a:t>
            </a:r>
            <a:endParaRPr lang="zh-CN" altLang="en-US" dirty="0"/>
          </a:p>
          <a:p>
            <a:pPr lvl="1"/>
            <a:r>
              <a:rPr lang="zh-CN" altLang="en-US" dirty="0"/>
              <a:t>⑶当和＞</a:t>
            </a:r>
            <a:r>
              <a:rPr lang="en-US" altLang="zh-CN" dirty="0"/>
              <a:t>9</a:t>
            </a:r>
            <a:r>
              <a:rPr lang="zh-CN" altLang="en-US" dirty="0"/>
              <a:t>，则</a:t>
            </a:r>
            <a:r>
              <a:rPr lang="en-US" altLang="zh-CN" dirty="0"/>
              <a:t>+6</a:t>
            </a:r>
            <a:r>
              <a:rPr lang="zh-CN" altLang="en-US" dirty="0"/>
              <a:t>校正；</a:t>
            </a:r>
            <a:endParaRPr lang="zh-CN" altLang="en-US" dirty="0"/>
          </a:p>
          <a:p>
            <a:pPr lvl="1"/>
            <a:r>
              <a:rPr lang="zh-CN" altLang="en-US" dirty="0"/>
              <a:t>⑷在做</a:t>
            </a:r>
            <a:r>
              <a:rPr lang="en-US" altLang="zh-CN" dirty="0"/>
              <a:t>+6</a:t>
            </a:r>
            <a:r>
              <a:rPr lang="zh-CN" altLang="en-US" dirty="0"/>
              <a:t>校正的同时，将产生向上一位的进位</a:t>
            </a:r>
            <a:endParaRPr lang="zh-CN" altLang="en-US" dirty="0"/>
          </a:p>
          <a:p>
            <a:endParaRPr lang="zh-CN" altLang="en-US"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01" name="标题 1"/>
          <p:cNvSpPr>
            <a:spLocks noGrp="1"/>
          </p:cNvSpPr>
          <p:nvPr>
            <p:ph type="title"/>
          </p:nvPr>
        </p:nvSpPr>
        <p:spPr>
          <a:noFill/>
          <a:ln>
            <a:noFill/>
          </a:ln>
        </p:spPr>
        <p:txBody>
          <a:bodyPr anchor="t" anchorCtr="0"/>
          <a:p>
            <a:r>
              <a:rPr lang="en-US" altLang="zh-CN" dirty="0"/>
              <a:t>*8421</a:t>
            </a:r>
            <a:r>
              <a:rPr lang="zh-CN" altLang="en-US" dirty="0"/>
              <a:t>码的校正关系</a:t>
            </a:r>
            <a:endParaRPr lang="zh-CN" altLang="en-US" dirty="0"/>
          </a:p>
        </p:txBody>
      </p:sp>
      <p:pic>
        <p:nvPicPr>
          <p:cNvPr id="153602" name="图片 3"/>
          <p:cNvPicPr>
            <a:picLocks noChangeAspect="1"/>
          </p:cNvPicPr>
          <p:nvPr/>
        </p:nvPicPr>
        <p:blipFill>
          <a:blip r:embed="rId1"/>
          <a:stretch>
            <a:fillRect/>
          </a:stretch>
        </p:blipFill>
        <p:spPr>
          <a:xfrm>
            <a:off x="971550" y="1196975"/>
            <a:ext cx="6911975" cy="5307013"/>
          </a:xfrm>
          <a:prstGeom prst="rect">
            <a:avLst/>
          </a:prstGeom>
          <a:noFill/>
          <a:ln w="9525">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4625" name="标题 1"/>
          <p:cNvSpPr>
            <a:spLocks noGrp="1"/>
          </p:cNvSpPr>
          <p:nvPr>
            <p:ph type="title"/>
          </p:nvPr>
        </p:nvSpPr>
        <p:spPr>
          <a:noFill/>
          <a:ln>
            <a:noFill/>
          </a:ln>
        </p:spPr>
        <p:txBody>
          <a:bodyPr anchor="t" anchorCtr="0"/>
          <a:p>
            <a:r>
              <a:rPr lang="en-US" altLang="zh-CN" dirty="0"/>
              <a:t>*</a:t>
            </a:r>
            <a:r>
              <a:rPr lang="zh-CN" altLang="en-US" dirty="0"/>
              <a:t>校正举例</a:t>
            </a:r>
            <a:endParaRPr lang="zh-CN" altLang="en-US" dirty="0"/>
          </a:p>
        </p:txBody>
      </p:sp>
      <p:sp>
        <p:nvSpPr>
          <p:cNvPr id="4" name="Text Box 4"/>
          <p:cNvSpPr txBox="1"/>
          <p:nvPr/>
        </p:nvSpPr>
        <p:spPr>
          <a:xfrm>
            <a:off x="2190750" y="1619250"/>
            <a:ext cx="30670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0101		  5</a:t>
            </a:r>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5" name="Text Box 5"/>
          <p:cNvSpPr txBox="1"/>
          <p:nvPr/>
        </p:nvSpPr>
        <p:spPr>
          <a:xfrm>
            <a:off x="1485900" y="1943100"/>
            <a:ext cx="3524250" cy="519113"/>
          </a:xfrm>
          <a:prstGeom prst="rect">
            <a:avLst/>
          </a:prstGeom>
          <a:noFill/>
          <a:ln w="57150">
            <a:noFill/>
          </a:ln>
        </p:spPr>
        <p:txBody>
          <a:bodyPr anchor="t" anchorCtr="0">
            <a:spAutoFit/>
          </a:bodyPr>
          <a:p>
            <a:pPr eaLnBrk="0" hangingPunct="0">
              <a:spcBef>
                <a:spcPct val="50000"/>
              </a:spcBef>
            </a:pPr>
            <a:r>
              <a:rPr lang="zh-CN" altLang="en-US" sz="2800" b="1" dirty="0">
                <a:solidFill>
                  <a:schemeClr val="tx1"/>
                </a:solidFill>
                <a:latin typeface="Times New Roman" panose="02020603050405020304" pitchFamily="18" charset="0"/>
                <a:ea typeface="宋体" panose="02010600030101010101" pitchFamily="2" charset="-122"/>
              </a:rPr>
              <a:t>+     1000		8</a:t>
            </a: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6" name="Text Box 6"/>
          <p:cNvSpPr txBox="1"/>
          <p:nvPr/>
        </p:nvSpPr>
        <p:spPr>
          <a:xfrm>
            <a:off x="2190750" y="2305050"/>
            <a:ext cx="25717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1101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7" name="Text Box 7"/>
          <p:cNvSpPr txBox="1"/>
          <p:nvPr/>
        </p:nvSpPr>
        <p:spPr>
          <a:xfrm>
            <a:off x="1524000" y="2667000"/>
            <a:ext cx="37909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     </a:t>
            </a:r>
            <a:r>
              <a:rPr lang="zh-CN" altLang="en-US" sz="2800" b="1" dirty="0">
                <a:solidFill>
                  <a:srgbClr val="FF3300"/>
                </a:solidFill>
                <a:latin typeface="Times New Roman" panose="02020603050405020304" pitchFamily="18" charset="0"/>
                <a:ea typeface="宋体" panose="02010600030101010101" pitchFamily="2" charset="-122"/>
              </a:rPr>
              <a:t>0110</a:t>
            </a:r>
            <a:r>
              <a:rPr lang="zh-CN" altLang="en-US" sz="2800" b="1" dirty="0">
                <a:solidFill>
                  <a:schemeClr val="tx1"/>
                </a:solidFill>
                <a:latin typeface="Times New Roman" panose="02020603050405020304" pitchFamily="18" charset="0"/>
                <a:ea typeface="宋体" panose="02010600030101010101" pitchFamily="2" charset="-122"/>
              </a:rPr>
              <a:t>               6</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 name="Text Box 8"/>
          <p:cNvSpPr txBox="1"/>
          <p:nvPr/>
        </p:nvSpPr>
        <p:spPr>
          <a:xfrm>
            <a:off x="1809750" y="3086100"/>
            <a:ext cx="316230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1  0011              13</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9" name="Line 9"/>
          <p:cNvSpPr/>
          <p:nvPr/>
        </p:nvSpPr>
        <p:spPr>
          <a:xfrm>
            <a:off x="1581150" y="2362200"/>
            <a:ext cx="2057400" cy="0"/>
          </a:xfrm>
          <a:prstGeom prst="line">
            <a:avLst/>
          </a:prstGeom>
          <a:ln w="19050" cap="sq" cmpd="sng">
            <a:solidFill>
              <a:schemeClr val="tx1"/>
            </a:solidFill>
            <a:prstDash val="solid"/>
            <a:round/>
            <a:headEnd type="none" w="sm" len="sm"/>
            <a:tailEnd type="none" w="sm" len="sm"/>
          </a:ln>
        </p:spPr>
      </p:sp>
      <p:sp>
        <p:nvSpPr>
          <p:cNvPr id="10" name="Line 10"/>
          <p:cNvSpPr/>
          <p:nvPr/>
        </p:nvSpPr>
        <p:spPr>
          <a:xfrm>
            <a:off x="1581150" y="3105150"/>
            <a:ext cx="2057400" cy="0"/>
          </a:xfrm>
          <a:prstGeom prst="line">
            <a:avLst/>
          </a:prstGeom>
          <a:ln w="19050" cap="sq" cmpd="sng">
            <a:solidFill>
              <a:schemeClr val="tx1"/>
            </a:solidFill>
            <a:prstDash val="solid"/>
            <a:round/>
            <a:headEnd type="none" w="sm" len="sm"/>
            <a:tailEnd type="none" w="sm" len="sm"/>
          </a:ln>
        </p:spPr>
      </p:sp>
      <p:sp>
        <p:nvSpPr>
          <p:cNvPr id="11" name="Text Box 11"/>
          <p:cNvSpPr txBox="1"/>
          <p:nvPr/>
        </p:nvSpPr>
        <p:spPr>
          <a:xfrm>
            <a:off x="2247900" y="3905250"/>
            <a:ext cx="30670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1001		  9</a:t>
            </a:r>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12" name="Text Box 12"/>
          <p:cNvSpPr txBox="1"/>
          <p:nvPr/>
        </p:nvSpPr>
        <p:spPr>
          <a:xfrm>
            <a:off x="1543050" y="4229100"/>
            <a:ext cx="3524250" cy="519113"/>
          </a:xfrm>
          <a:prstGeom prst="rect">
            <a:avLst/>
          </a:prstGeom>
          <a:noFill/>
          <a:ln w="57150">
            <a:noFill/>
          </a:ln>
        </p:spPr>
        <p:txBody>
          <a:bodyPr anchor="t" anchorCtr="0">
            <a:spAutoFit/>
          </a:bodyPr>
          <a:p>
            <a:pPr eaLnBrk="0" hangingPunct="0">
              <a:spcBef>
                <a:spcPct val="50000"/>
              </a:spcBef>
            </a:pPr>
            <a:r>
              <a:rPr lang="zh-CN" altLang="en-US" sz="2800" b="1" dirty="0">
                <a:solidFill>
                  <a:schemeClr val="tx1"/>
                </a:solidFill>
                <a:latin typeface="Times New Roman" panose="02020603050405020304" pitchFamily="18" charset="0"/>
                <a:ea typeface="宋体" panose="02010600030101010101" pitchFamily="2" charset="-122"/>
              </a:rPr>
              <a:t>+     1000		8</a:t>
            </a: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3" name="Text Box 13"/>
          <p:cNvSpPr txBox="1"/>
          <p:nvPr/>
        </p:nvSpPr>
        <p:spPr>
          <a:xfrm>
            <a:off x="1771650" y="4610100"/>
            <a:ext cx="25717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1   0001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4" name="Text Box 14"/>
          <p:cNvSpPr txBox="1"/>
          <p:nvPr/>
        </p:nvSpPr>
        <p:spPr>
          <a:xfrm>
            <a:off x="1581150" y="4953000"/>
            <a:ext cx="37909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     </a:t>
            </a:r>
            <a:r>
              <a:rPr lang="zh-CN" altLang="en-US" sz="2800" b="1" dirty="0">
                <a:solidFill>
                  <a:srgbClr val="FF3300"/>
                </a:solidFill>
                <a:latin typeface="Times New Roman" panose="02020603050405020304" pitchFamily="18" charset="0"/>
                <a:ea typeface="宋体" panose="02010600030101010101" pitchFamily="2" charset="-122"/>
              </a:rPr>
              <a:t>0110</a:t>
            </a:r>
            <a:r>
              <a:rPr lang="zh-CN" altLang="en-US" sz="2800" b="1" dirty="0">
                <a:solidFill>
                  <a:schemeClr val="tx1"/>
                </a:solidFill>
                <a:latin typeface="Times New Roman" panose="02020603050405020304" pitchFamily="18" charset="0"/>
                <a:ea typeface="宋体" panose="02010600030101010101" pitchFamily="2" charset="-122"/>
              </a:rPr>
              <a:t>               6</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5" name="Text Box 15"/>
          <p:cNvSpPr txBox="1"/>
          <p:nvPr/>
        </p:nvSpPr>
        <p:spPr>
          <a:xfrm>
            <a:off x="1847850" y="5372100"/>
            <a:ext cx="34480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1  0111              17    </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6" name="Line 16"/>
          <p:cNvSpPr/>
          <p:nvPr/>
        </p:nvSpPr>
        <p:spPr>
          <a:xfrm>
            <a:off x="1638300" y="4648200"/>
            <a:ext cx="2057400" cy="0"/>
          </a:xfrm>
          <a:prstGeom prst="line">
            <a:avLst/>
          </a:prstGeom>
          <a:ln w="19050" cap="sq" cmpd="sng">
            <a:solidFill>
              <a:schemeClr val="tx1"/>
            </a:solidFill>
            <a:prstDash val="solid"/>
            <a:round/>
            <a:headEnd type="none" w="sm" len="sm"/>
            <a:tailEnd type="none" w="sm" len="sm"/>
          </a:ln>
        </p:spPr>
      </p:sp>
      <p:sp>
        <p:nvSpPr>
          <p:cNvPr id="17" name="Line 17"/>
          <p:cNvSpPr/>
          <p:nvPr/>
        </p:nvSpPr>
        <p:spPr>
          <a:xfrm>
            <a:off x="1638300" y="5391150"/>
            <a:ext cx="2057400" cy="0"/>
          </a:xfrm>
          <a:prstGeom prst="line">
            <a:avLst/>
          </a:prstGeom>
          <a:ln w="19050" cap="sq" cmpd="sng">
            <a:solidFill>
              <a:schemeClr val="tx1"/>
            </a:solidFill>
            <a:prstDash val="solid"/>
            <a:roun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6"/>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7"/>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1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1"/>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499"/>
                                          </p:stCondLst>
                                        </p:cTn>
                                        <p:tgtEl>
                                          <p:spTgt spid="12"/>
                                        </p:tgtEl>
                                        <p:attrNameLst>
                                          <p:attrName>style.visibility</p:attrName>
                                        </p:attrNameLst>
                                      </p:cBhvr>
                                      <p:to>
                                        <p:strVal val="visible"/>
                                      </p:to>
                                    </p:se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499"/>
                                          </p:stCondLst>
                                        </p:cTn>
                                        <p:tgtEl>
                                          <p:spTgt spid="16"/>
                                        </p:tgtEl>
                                        <p:attrNameLst>
                                          <p:attrName>style.visibility</p:attrName>
                                        </p:attrNameLst>
                                      </p:cBhvr>
                                      <p:to>
                                        <p:strVal val="visible"/>
                                      </p:to>
                                    </p:set>
                                  </p:childTnLst>
                                </p:cTn>
                              </p:par>
                            </p:childTnLst>
                          </p:cTn>
                        </p:par>
                        <p:par>
                          <p:cTn id="35" fill="hold">
                            <p:stCondLst>
                              <p:cond delay="1500"/>
                            </p:stCondLst>
                            <p:childTnLst>
                              <p:par>
                                <p:cTn id="36" presetID="1" presetClass="entr" presetSubtype="0" fill="hold" grpId="0" nodeType="afterEffect">
                                  <p:stCondLst>
                                    <p:cond delay="0"/>
                                  </p:stCondLst>
                                  <p:childTnLst>
                                    <p:set>
                                      <p:cBhvr>
                                        <p:cTn id="37" dur="1" fill="hold">
                                          <p:stCondLst>
                                            <p:cond delay="499"/>
                                          </p:stCondLst>
                                        </p:cTn>
                                        <p:tgtEl>
                                          <p:spTgt spid="13"/>
                                        </p:tgtEl>
                                        <p:attrNameLst>
                                          <p:attrName>style.visibility</p:attrName>
                                        </p:attrNameLst>
                                      </p:cBhvr>
                                      <p:to>
                                        <p:strVal val="visible"/>
                                      </p:to>
                                    </p:set>
                                  </p:childTnLst>
                                </p:cTn>
                              </p:par>
                            </p:childTnLst>
                          </p:cTn>
                        </p:par>
                        <p:par>
                          <p:cTn id="38" fill="hold">
                            <p:stCondLst>
                              <p:cond delay="2000"/>
                            </p:stCondLst>
                            <p:childTnLst>
                              <p:par>
                                <p:cTn id="39" presetID="1" presetClass="entr" presetSubtype="0" fill="hold" grpId="0" nodeType="afterEffect">
                                  <p:stCondLst>
                                    <p:cond delay="0"/>
                                  </p:stCondLst>
                                  <p:childTnLst>
                                    <p:set>
                                      <p:cBhvr>
                                        <p:cTn id="40" dur="1" fill="hold">
                                          <p:stCondLst>
                                            <p:cond delay="499"/>
                                          </p:stCondLst>
                                        </p:cTn>
                                        <p:tgtEl>
                                          <p:spTgt spid="14"/>
                                        </p:tgtEl>
                                        <p:attrNameLst>
                                          <p:attrName>style.visibility</p:attrName>
                                        </p:attrNameLst>
                                      </p:cBhvr>
                                      <p:to>
                                        <p:strVal val="visible"/>
                                      </p:to>
                                    </p:set>
                                  </p:childTnLst>
                                </p:cTn>
                              </p:par>
                            </p:childTnLst>
                          </p:cTn>
                        </p:par>
                        <p:par>
                          <p:cTn id="41" fill="hold">
                            <p:stCondLst>
                              <p:cond delay="2500"/>
                            </p:stCondLst>
                            <p:childTnLst>
                              <p:par>
                                <p:cTn id="42" presetID="1" presetClass="entr" presetSubtype="0" fill="hold" nodeType="afterEffect">
                                  <p:stCondLst>
                                    <p:cond delay="0"/>
                                  </p:stCondLst>
                                  <p:childTnLst>
                                    <p:set>
                                      <p:cBhvr>
                                        <p:cTn id="43" dur="1" fill="hold">
                                          <p:stCondLst>
                                            <p:cond delay="499"/>
                                          </p:stCondLst>
                                        </p:cTn>
                                        <p:tgtEl>
                                          <p:spTgt spid="17"/>
                                        </p:tgtEl>
                                        <p:attrNameLst>
                                          <p:attrName>style.visibility</p:attrName>
                                        </p:attrNameLst>
                                      </p:cBhvr>
                                      <p:to>
                                        <p:strVal val="visible"/>
                                      </p:to>
                                    </p:set>
                                  </p:childTnLst>
                                </p:cTn>
                              </p:par>
                            </p:childTnLst>
                          </p:cTn>
                        </p:par>
                        <p:par>
                          <p:cTn id="44" fill="hold">
                            <p:stCondLst>
                              <p:cond delay="3000"/>
                            </p:stCondLst>
                            <p:childTnLst>
                              <p:par>
                                <p:cTn id="45" presetID="1" presetClass="entr" presetSubtype="0" fill="hold" grpId="0" nodeType="afterEffect">
                                  <p:stCondLst>
                                    <p:cond delay="0"/>
                                  </p:stCondLst>
                                  <p:childTnLst>
                                    <p:set>
                                      <p:cBhvr>
                                        <p:cTn id="46"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1" grpId="0"/>
      <p:bldP spid="12" grpId="0"/>
      <p:bldP spid="13" grpId="0"/>
      <p:bldP spid="14" grpId="0"/>
      <p:bldP spid="15" grpId="0"/>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5649" name="标题 1"/>
          <p:cNvSpPr>
            <a:spLocks noGrp="1"/>
          </p:cNvSpPr>
          <p:nvPr>
            <p:ph type="title"/>
          </p:nvPr>
        </p:nvSpPr>
        <p:spPr>
          <a:noFill/>
          <a:ln>
            <a:noFill/>
          </a:ln>
        </p:spPr>
        <p:txBody>
          <a:bodyPr anchor="t" anchorCtr="0"/>
          <a:p>
            <a:r>
              <a:rPr lang="en-US" altLang="zh-CN" dirty="0"/>
              <a:t>*2.</a:t>
            </a:r>
            <a:r>
              <a:rPr lang="zh-CN" altLang="en-US" dirty="0"/>
              <a:t>余</a:t>
            </a:r>
            <a:r>
              <a:rPr lang="en-US" altLang="zh-CN" dirty="0"/>
              <a:t>3</a:t>
            </a:r>
            <a:r>
              <a:rPr lang="zh-CN" altLang="en-US" dirty="0"/>
              <a:t>码加法运算</a:t>
            </a:r>
            <a:endParaRPr lang="zh-CN" altLang="en-US" dirty="0"/>
          </a:p>
        </p:txBody>
      </p:sp>
      <p:sp>
        <p:nvSpPr>
          <p:cNvPr id="155650" name="内容占位符 2"/>
          <p:cNvSpPr>
            <a:spLocks noGrp="1"/>
          </p:cNvSpPr>
          <p:nvPr>
            <p:ph idx="1"/>
          </p:nvPr>
        </p:nvSpPr>
        <p:spPr>
          <a:noFill/>
          <a:ln>
            <a:noFill/>
          </a:ln>
        </p:spPr>
        <p:txBody>
          <a:bodyPr anchor="t" anchorCtr="0"/>
          <a:p>
            <a:r>
              <a:rPr lang="zh-CN" altLang="en-US" dirty="0"/>
              <a:t>余</a:t>
            </a:r>
            <a:r>
              <a:rPr lang="en-US" altLang="zh-CN" dirty="0"/>
              <a:t>3</a:t>
            </a:r>
            <a:r>
              <a:rPr lang="zh-CN" altLang="en-US" dirty="0"/>
              <a:t>码的加法规则：</a:t>
            </a:r>
            <a:endParaRPr lang="zh-CN" altLang="en-US" dirty="0"/>
          </a:p>
          <a:p>
            <a:pPr lvl="1">
              <a:spcBef>
                <a:spcPts val="1800"/>
              </a:spcBef>
            </a:pPr>
            <a:r>
              <a:rPr lang="zh-CN" altLang="en-US" dirty="0"/>
              <a:t>⑴两个十进制数的余</a:t>
            </a:r>
            <a:r>
              <a:rPr lang="en-US" altLang="zh-CN" dirty="0"/>
              <a:t>3</a:t>
            </a:r>
            <a:r>
              <a:rPr lang="zh-CN" altLang="en-US" dirty="0"/>
              <a:t>码相加，按“逢二进一”的原则进行；</a:t>
            </a:r>
            <a:endParaRPr lang="zh-CN" altLang="en-US" dirty="0"/>
          </a:p>
          <a:p>
            <a:pPr lvl="1">
              <a:spcBef>
                <a:spcPts val="1200"/>
              </a:spcBef>
            </a:pPr>
            <a:r>
              <a:rPr lang="zh-CN" altLang="en-US" dirty="0"/>
              <a:t>⑵若其和没有进位，则减</a:t>
            </a:r>
            <a:r>
              <a:rPr lang="en-US" altLang="zh-CN" dirty="0"/>
              <a:t>3</a:t>
            </a:r>
            <a:r>
              <a:rPr lang="zh-CN" altLang="en-US" dirty="0"/>
              <a:t>（即</a:t>
            </a:r>
            <a:r>
              <a:rPr lang="en-US" altLang="zh-CN" dirty="0"/>
              <a:t>+1101</a:t>
            </a:r>
            <a:r>
              <a:rPr lang="zh-CN" altLang="en-US" dirty="0"/>
              <a:t>）校正；</a:t>
            </a:r>
            <a:endParaRPr lang="zh-CN" altLang="en-US" dirty="0"/>
          </a:p>
          <a:p>
            <a:pPr lvl="1">
              <a:spcBef>
                <a:spcPts val="1200"/>
              </a:spcBef>
            </a:pPr>
            <a:r>
              <a:rPr lang="zh-CN" altLang="en-US" dirty="0"/>
              <a:t>⑶若其和有进位，则加</a:t>
            </a:r>
            <a:r>
              <a:rPr lang="en-US" altLang="zh-CN" dirty="0"/>
              <a:t>3</a:t>
            </a:r>
            <a:r>
              <a:rPr lang="zh-CN" altLang="en-US" dirty="0"/>
              <a:t>（即</a:t>
            </a:r>
            <a:r>
              <a:rPr lang="en-US" altLang="zh-CN" dirty="0"/>
              <a:t>+0011</a:t>
            </a:r>
            <a:r>
              <a:rPr lang="zh-CN" altLang="en-US" dirty="0"/>
              <a:t>）校正。</a:t>
            </a:r>
            <a:endParaRPr lang="zh-CN" altLang="en-US" dirty="0"/>
          </a:p>
          <a:p>
            <a:pPr lvl="1"/>
            <a:endParaRPr lang="zh-CN" altLang="en-US"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6673" name="标题 1"/>
          <p:cNvSpPr>
            <a:spLocks noGrp="1"/>
          </p:cNvSpPr>
          <p:nvPr>
            <p:ph type="title"/>
          </p:nvPr>
        </p:nvSpPr>
        <p:spPr>
          <a:noFill/>
          <a:ln>
            <a:noFill/>
          </a:ln>
        </p:spPr>
        <p:txBody>
          <a:bodyPr anchor="t" anchorCtr="0"/>
          <a:p>
            <a:r>
              <a:rPr lang="en-US" altLang="zh-CN" dirty="0"/>
              <a:t>*</a:t>
            </a:r>
            <a:r>
              <a:rPr lang="zh-CN" altLang="en-US" dirty="0"/>
              <a:t>余</a:t>
            </a:r>
            <a:r>
              <a:rPr lang="en-US" altLang="zh-CN" dirty="0"/>
              <a:t>3</a:t>
            </a:r>
            <a:r>
              <a:rPr lang="zh-CN" altLang="en-US" dirty="0"/>
              <a:t>码的校正关系</a:t>
            </a:r>
            <a:endParaRPr lang="zh-CN" altLang="en-US" dirty="0"/>
          </a:p>
        </p:txBody>
      </p:sp>
      <p:pic>
        <p:nvPicPr>
          <p:cNvPr id="156674" name="图片 3"/>
          <p:cNvPicPr>
            <a:picLocks noChangeAspect="1"/>
          </p:cNvPicPr>
          <p:nvPr/>
        </p:nvPicPr>
        <p:blipFill>
          <a:blip r:embed="rId1"/>
          <a:stretch>
            <a:fillRect/>
          </a:stretch>
        </p:blipFill>
        <p:spPr>
          <a:xfrm>
            <a:off x="828675" y="1557338"/>
            <a:ext cx="7486650" cy="4572000"/>
          </a:xfrm>
          <a:prstGeom prst="rect">
            <a:avLst/>
          </a:prstGeom>
          <a:noFill/>
          <a:ln w="9525">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7697" name="标题 1"/>
          <p:cNvSpPr>
            <a:spLocks noGrp="1"/>
          </p:cNvSpPr>
          <p:nvPr>
            <p:ph type="title"/>
          </p:nvPr>
        </p:nvSpPr>
        <p:spPr>
          <a:noFill/>
          <a:ln>
            <a:noFill/>
          </a:ln>
        </p:spPr>
        <p:txBody>
          <a:bodyPr anchor="t" anchorCtr="0"/>
          <a:p>
            <a:r>
              <a:rPr lang="en-US" altLang="zh-CN" dirty="0"/>
              <a:t>*</a:t>
            </a:r>
            <a:r>
              <a:rPr lang="zh-CN" altLang="en-US" dirty="0"/>
              <a:t>校正举例</a:t>
            </a:r>
            <a:endParaRPr lang="zh-CN" altLang="en-US" dirty="0"/>
          </a:p>
        </p:txBody>
      </p:sp>
      <p:sp>
        <p:nvSpPr>
          <p:cNvPr id="4" name="Text Box 4"/>
          <p:cNvSpPr txBox="1"/>
          <p:nvPr/>
        </p:nvSpPr>
        <p:spPr>
          <a:xfrm>
            <a:off x="2190750" y="1619250"/>
            <a:ext cx="30670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0110		  3</a:t>
            </a:r>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5" name="Text Box 5"/>
          <p:cNvSpPr txBox="1"/>
          <p:nvPr/>
        </p:nvSpPr>
        <p:spPr>
          <a:xfrm>
            <a:off x="1485900" y="1943100"/>
            <a:ext cx="3524250" cy="519113"/>
          </a:xfrm>
          <a:prstGeom prst="rect">
            <a:avLst/>
          </a:prstGeom>
          <a:noFill/>
          <a:ln w="57150">
            <a:noFill/>
          </a:ln>
        </p:spPr>
        <p:txBody>
          <a:bodyPr anchor="t" anchorCtr="0">
            <a:spAutoFit/>
          </a:bodyPr>
          <a:p>
            <a:pPr eaLnBrk="0" hangingPunct="0">
              <a:spcBef>
                <a:spcPct val="50000"/>
              </a:spcBef>
            </a:pPr>
            <a:r>
              <a:rPr lang="zh-CN" altLang="en-US" sz="2800" b="1" dirty="0">
                <a:solidFill>
                  <a:schemeClr val="tx1"/>
                </a:solidFill>
                <a:latin typeface="Times New Roman" panose="02020603050405020304" pitchFamily="18" charset="0"/>
                <a:ea typeface="宋体" panose="02010600030101010101" pitchFamily="2" charset="-122"/>
              </a:rPr>
              <a:t>+     1000		5</a:t>
            </a: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6" name="Text Box 6"/>
          <p:cNvSpPr txBox="1"/>
          <p:nvPr/>
        </p:nvSpPr>
        <p:spPr>
          <a:xfrm>
            <a:off x="2190750" y="2305050"/>
            <a:ext cx="25717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1110</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7" name="Text Box 7"/>
          <p:cNvSpPr txBox="1"/>
          <p:nvPr/>
        </p:nvSpPr>
        <p:spPr>
          <a:xfrm>
            <a:off x="1524000" y="2667000"/>
            <a:ext cx="68389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     </a:t>
            </a:r>
            <a:r>
              <a:rPr lang="zh-CN" altLang="en-US" sz="2800" b="1" dirty="0">
                <a:solidFill>
                  <a:srgbClr val="FF3300"/>
                </a:solidFill>
                <a:latin typeface="Times New Roman" panose="02020603050405020304" pitchFamily="18" charset="0"/>
                <a:ea typeface="宋体" panose="02010600030101010101" pitchFamily="2" charset="-122"/>
              </a:rPr>
              <a:t>1101</a:t>
            </a:r>
            <a:r>
              <a:rPr lang="zh-CN" altLang="en-US" sz="2800" b="1" dirty="0">
                <a:solidFill>
                  <a:schemeClr val="tx1"/>
                </a:solidFill>
                <a:latin typeface="Times New Roman" panose="02020603050405020304" pitchFamily="18" charset="0"/>
                <a:ea typeface="宋体" panose="02010600030101010101" pitchFamily="2" charset="-122"/>
              </a:rPr>
              <a:t>             无进位，-3，+1101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8" name="Text Box 8"/>
          <p:cNvSpPr txBox="1"/>
          <p:nvPr/>
        </p:nvSpPr>
        <p:spPr>
          <a:xfrm>
            <a:off x="1809750" y="3086100"/>
            <a:ext cx="316230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    1011               8</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9" name="Line 9"/>
          <p:cNvSpPr/>
          <p:nvPr/>
        </p:nvSpPr>
        <p:spPr>
          <a:xfrm>
            <a:off x="1581150" y="2362200"/>
            <a:ext cx="2057400" cy="0"/>
          </a:xfrm>
          <a:prstGeom prst="line">
            <a:avLst/>
          </a:prstGeom>
          <a:ln w="19050" cap="sq" cmpd="sng">
            <a:solidFill>
              <a:schemeClr val="tx1"/>
            </a:solidFill>
            <a:prstDash val="solid"/>
            <a:round/>
            <a:headEnd type="none" w="sm" len="sm"/>
            <a:tailEnd type="none" w="sm" len="sm"/>
          </a:ln>
        </p:spPr>
      </p:sp>
      <p:sp>
        <p:nvSpPr>
          <p:cNvPr id="10" name="Line 10"/>
          <p:cNvSpPr/>
          <p:nvPr/>
        </p:nvSpPr>
        <p:spPr>
          <a:xfrm>
            <a:off x="1581150" y="3105150"/>
            <a:ext cx="2057400" cy="0"/>
          </a:xfrm>
          <a:prstGeom prst="line">
            <a:avLst/>
          </a:prstGeom>
          <a:ln w="19050" cap="sq" cmpd="sng">
            <a:solidFill>
              <a:schemeClr val="tx1"/>
            </a:solidFill>
            <a:prstDash val="solid"/>
            <a:round/>
            <a:headEnd type="none" w="sm" len="sm"/>
            <a:tailEnd type="none" w="sm" len="sm"/>
          </a:ln>
        </p:spPr>
      </p:sp>
      <p:sp>
        <p:nvSpPr>
          <p:cNvPr id="11" name="Text Box 11"/>
          <p:cNvSpPr txBox="1"/>
          <p:nvPr/>
        </p:nvSpPr>
        <p:spPr>
          <a:xfrm>
            <a:off x="2247900" y="3905250"/>
            <a:ext cx="30670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1001		  6</a:t>
            </a:r>
            <a:endParaRPr lang="zh-CN" altLang="en-US" sz="2800" dirty="0">
              <a:solidFill>
                <a:schemeClr val="tx1"/>
              </a:solidFill>
              <a:latin typeface="Times New Roman" panose="02020603050405020304" pitchFamily="18" charset="0"/>
              <a:ea typeface="宋体" panose="02010600030101010101" pitchFamily="2" charset="-122"/>
            </a:endParaRPr>
          </a:p>
        </p:txBody>
      </p:sp>
      <p:sp>
        <p:nvSpPr>
          <p:cNvPr id="12" name="Text Box 12"/>
          <p:cNvSpPr txBox="1"/>
          <p:nvPr/>
        </p:nvSpPr>
        <p:spPr>
          <a:xfrm>
            <a:off x="1543050" y="4229100"/>
            <a:ext cx="3524250" cy="519113"/>
          </a:xfrm>
          <a:prstGeom prst="rect">
            <a:avLst/>
          </a:prstGeom>
          <a:noFill/>
          <a:ln w="57150">
            <a:noFill/>
          </a:ln>
        </p:spPr>
        <p:txBody>
          <a:bodyPr anchor="t" anchorCtr="0">
            <a:spAutoFit/>
          </a:bodyPr>
          <a:p>
            <a:pPr eaLnBrk="0" hangingPunct="0">
              <a:spcBef>
                <a:spcPct val="50000"/>
              </a:spcBef>
            </a:pPr>
            <a:r>
              <a:rPr lang="zh-CN" altLang="en-US" sz="2800" b="1" dirty="0">
                <a:solidFill>
                  <a:schemeClr val="tx1"/>
                </a:solidFill>
                <a:latin typeface="Times New Roman" panose="02020603050405020304" pitchFamily="18" charset="0"/>
                <a:ea typeface="宋体" panose="02010600030101010101" pitchFamily="2" charset="-122"/>
              </a:rPr>
              <a:t>+     1000		5</a:t>
            </a:r>
            <a:endParaRPr lang="zh-CN" altLang="en-US" sz="2800" b="1" dirty="0">
              <a:solidFill>
                <a:schemeClr val="tx1"/>
              </a:solidFill>
              <a:latin typeface="Times New Roman" panose="02020603050405020304" pitchFamily="18" charset="0"/>
              <a:ea typeface="宋体" panose="02010600030101010101" pitchFamily="2" charset="-122"/>
            </a:endParaRPr>
          </a:p>
        </p:txBody>
      </p:sp>
      <p:sp>
        <p:nvSpPr>
          <p:cNvPr id="13" name="Text Box 13"/>
          <p:cNvSpPr txBox="1"/>
          <p:nvPr/>
        </p:nvSpPr>
        <p:spPr>
          <a:xfrm>
            <a:off x="1771650" y="4610100"/>
            <a:ext cx="25717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1   0001</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4" name="Text Box 14"/>
          <p:cNvSpPr txBox="1"/>
          <p:nvPr/>
        </p:nvSpPr>
        <p:spPr>
          <a:xfrm>
            <a:off x="1581150" y="4953000"/>
            <a:ext cx="56959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     </a:t>
            </a:r>
            <a:r>
              <a:rPr lang="zh-CN" altLang="en-US" sz="2800" b="1" dirty="0">
                <a:solidFill>
                  <a:srgbClr val="FF3300"/>
                </a:solidFill>
                <a:latin typeface="Times New Roman" panose="02020603050405020304" pitchFamily="18" charset="0"/>
                <a:ea typeface="宋体" panose="02010600030101010101" pitchFamily="2" charset="-122"/>
              </a:rPr>
              <a:t>0011 </a:t>
            </a:r>
            <a:r>
              <a:rPr lang="zh-CN" altLang="en-US" sz="2800" b="1" dirty="0">
                <a:solidFill>
                  <a:schemeClr val="tx1"/>
                </a:solidFill>
                <a:latin typeface="Times New Roman" panose="02020603050405020304" pitchFamily="18" charset="0"/>
                <a:ea typeface="宋体" panose="02010600030101010101" pitchFamily="2" charset="-122"/>
              </a:rPr>
              <a:t>           有进位，+3</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5" name="Text Box 15"/>
          <p:cNvSpPr txBox="1"/>
          <p:nvPr/>
        </p:nvSpPr>
        <p:spPr>
          <a:xfrm>
            <a:off x="1771650" y="5353050"/>
            <a:ext cx="3448050" cy="519113"/>
          </a:xfrm>
          <a:prstGeom prst="rect">
            <a:avLst/>
          </a:prstGeom>
          <a:noFill/>
          <a:ln w="57150">
            <a:noFill/>
          </a:ln>
        </p:spPr>
        <p:txBody>
          <a:bodyPr anchor="t" anchorCtr="0">
            <a:spAutoFit/>
          </a:bodyPr>
          <a:p>
            <a:pPr>
              <a:spcBef>
                <a:spcPct val="20000"/>
              </a:spcBef>
              <a:buClr>
                <a:schemeClr val="accent2"/>
              </a:buClr>
              <a:buSzPct val="80000"/>
              <a:buFont typeface="Wingdings" panose="05000000000000000000" pitchFamily="2" charset="2"/>
            </a:pPr>
            <a:r>
              <a:rPr lang="zh-CN" altLang="en-US" sz="2800" b="1" dirty="0">
                <a:solidFill>
                  <a:schemeClr val="tx1"/>
                </a:solidFill>
                <a:latin typeface="Times New Roman" panose="02020603050405020304" pitchFamily="18" charset="0"/>
                <a:ea typeface="宋体" panose="02010600030101010101" pitchFamily="2" charset="-122"/>
              </a:rPr>
              <a:t>1   0100              11    </a:t>
            </a:r>
            <a:endParaRPr lang="zh-CN" altLang="en-US" sz="2400" dirty="0">
              <a:solidFill>
                <a:schemeClr val="tx1"/>
              </a:solidFill>
              <a:latin typeface="Times New Roman" panose="02020603050405020304" pitchFamily="18" charset="0"/>
              <a:ea typeface="宋体" panose="02010600030101010101" pitchFamily="2" charset="-122"/>
            </a:endParaRPr>
          </a:p>
        </p:txBody>
      </p:sp>
      <p:sp>
        <p:nvSpPr>
          <p:cNvPr id="16" name="Line 16"/>
          <p:cNvSpPr/>
          <p:nvPr/>
        </p:nvSpPr>
        <p:spPr>
          <a:xfrm>
            <a:off x="1638300" y="4648200"/>
            <a:ext cx="2057400" cy="0"/>
          </a:xfrm>
          <a:prstGeom prst="line">
            <a:avLst/>
          </a:prstGeom>
          <a:ln w="19050" cap="sq" cmpd="sng">
            <a:solidFill>
              <a:schemeClr val="tx1"/>
            </a:solidFill>
            <a:prstDash val="solid"/>
            <a:round/>
            <a:headEnd type="none" w="sm" len="sm"/>
            <a:tailEnd type="none" w="sm" len="sm"/>
          </a:ln>
        </p:spPr>
      </p:sp>
      <p:sp>
        <p:nvSpPr>
          <p:cNvPr id="17" name="Line 17"/>
          <p:cNvSpPr/>
          <p:nvPr/>
        </p:nvSpPr>
        <p:spPr>
          <a:xfrm>
            <a:off x="1638300" y="5391150"/>
            <a:ext cx="2057400" cy="0"/>
          </a:xfrm>
          <a:prstGeom prst="line">
            <a:avLst/>
          </a:prstGeom>
          <a:ln w="19050" cap="sq" cmpd="sng">
            <a:solidFill>
              <a:schemeClr val="tx1"/>
            </a:solidFill>
            <a:prstDash val="solid"/>
            <a:round/>
            <a:headEnd type="none" w="sm" len="sm"/>
            <a:tailEnd type="none" w="sm" len="sm"/>
          </a:ln>
        </p:spPr>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5"/>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nodeType="afterEffect">
                                  <p:stCondLst>
                                    <p:cond delay="0"/>
                                  </p:stCondLst>
                                  <p:childTnLst>
                                    <p:set>
                                      <p:cBhvr>
                                        <p:cTn id="12" dur="1" fill="hold">
                                          <p:stCondLst>
                                            <p:cond delay="499"/>
                                          </p:stCondLst>
                                        </p:cTn>
                                        <p:tgtEl>
                                          <p:spTgt spid="9"/>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6"/>
                                        </p:tgtEl>
                                        <p:attrNameLst>
                                          <p:attrName>style.visibility</p:attrName>
                                        </p:attrNameLst>
                                      </p:cBhvr>
                                      <p:to>
                                        <p:strVal val="visible"/>
                                      </p:to>
                                    </p:set>
                                  </p:childTnLst>
                                </p:cTn>
                              </p:par>
                            </p:childTnLst>
                          </p:cTn>
                        </p:par>
                        <p:par>
                          <p:cTn id="16" fill="hold">
                            <p:stCondLst>
                              <p:cond delay="2000"/>
                            </p:stCondLst>
                            <p:childTnLst>
                              <p:par>
                                <p:cTn id="17" presetID="1" presetClass="entr" presetSubtype="0" fill="hold" grpId="0" nodeType="afterEffect">
                                  <p:stCondLst>
                                    <p:cond delay="0"/>
                                  </p:stCondLst>
                                  <p:childTnLst>
                                    <p:set>
                                      <p:cBhvr>
                                        <p:cTn id="18" dur="1" fill="hold">
                                          <p:stCondLst>
                                            <p:cond delay="499"/>
                                          </p:stCondLst>
                                        </p:cTn>
                                        <p:tgtEl>
                                          <p:spTgt spid="7"/>
                                        </p:tgtEl>
                                        <p:attrNameLst>
                                          <p:attrName>style.visibility</p:attrName>
                                        </p:attrNameLst>
                                      </p:cBhvr>
                                      <p:to>
                                        <p:strVal val="visible"/>
                                      </p:to>
                                    </p:set>
                                  </p:childTnLst>
                                </p:cTn>
                              </p:par>
                            </p:childTnLst>
                          </p:cTn>
                        </p:par>
                        <p:par>
                          <p:cTn id="19" fill="hold">
                            <p:stCondLst>
                              <p:cond delay="2500"/>
                            </p:stCondLst>
                            <p:childTnLst>
                              <p:par>
                                <p:cTn id="20" presetID="1" presetClass="entr" presetSubtype="0" fill="hold" nodeType="afterEffect">
                                  <p:stCondLst>
                                    <p:cond delay="0"/>
                                  </p:stCondLst>
                                  <p:childTnLst>
                                    <p:set>
                                      <p:cBhvr>
                                        <p:cTn id="21" dur="1" fill="hold">
                                          <p:stCondLst>
                                            <p:cond delay="499"/>
                                          </p:stCondLst>
                                        </p:cTn>
                                        <p:tgtEl>
                                          <p:spTgt spid="10"/>
                                        </p:tgtEl>
                                        <p:attrNameLst>
                                          <p:attrName>style.visibility</p:attrName>
                                        </p:attrNameLst>
                                      </p:cBhvr>
                                      <p:to>
                                        <p:strVal val="visible"/>
                                      </p:to>
                                    </p:set>
                                  </p:childTnLst>
                                </p:cTn>
                              </p:par>
                            </p:childTnLst>
                          </p:cTn>
                        </p:par>
                        <p:par>
                          <p:cTn id="22" fill="hold">
                            <p:stCondLst>
                              <p:cond delay="3000"/>
                            </p:stCondLst>
                            <p:childTnLst>
                              <p:par>
                                <p:cTn id="23" presetID="1" presetClass="entr" presetSubtype="0" fill="hold" grpId="0" nodeType="afterEffect">
                                  <p:stCondLst>
                                    <p:cond delay="0"/>
                                  </p:stCondLst>
                                  <p:childTnLst>
                                    <p:set>
                                      <p:cBhvr>
                                        <p:cTn id="24" dur="1" fill="hold">
                                          <p:stCondLst>
                                            <p:cond delay="499"/>
                                          </p:stCondLst>
                                        </p:cTn>
                                        <p:tgtEl>
                                          <p:spTgt spid="8"/>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11"/>
                                        </p:tgtEl>
                                        <p:attrNameLst>
                                          <p:attrName>style.visibility</p:attrName>
                                        </p:attrNameLst>
                                      </p:cBhvr>
                                      <p:to>
                                        <p:strVal val="visible"/>
                                      </p:to>
                                    </p:se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499"/>
                                          </p:stCondLst>
                                        </p:cTn>
                                        <p:tgtEl>
                                          <p:spTgt spid="12"/>
                                        </p:tgtEl>
                                        <p:attrNameLst>
                                          <p:attrName>style.visibility</p:attrName>
                                        </p:attrNameLst>
                                      </p:cBhvr>
                                      <p:to>
                                        <p:strVal val="visible"/>
                                      </p:to>
                                    </p:set>
                                  </p:childTnLst>
                                </p:cTn>
                              </p:par>
                            </p:childTnLst>
                          </p:cTn>
                        </p:par>
                        <p:par>
                          <p:cTn id="32" fill="hold">
                            <p:stCondLst>
                              <p:cond delay="1000"/>
                            </p:stCondLst>
                            <p:childTnLst>
                              <p:par>
                                <p:cTn id="33" presetID="1" presetClass="entr" presetSubtype="0" fill="hold" nodeType="afterEffect">
                                  <p:stCondLst>
                                    <p:cond delay="0"/>
                                  </p:stCondLst>
                                  <p:childTnLst>
                                    <p:set>
                                      <p:cBhvr>
                                        <p:cTn id="34" dur="1" fill="hold">
                                          <p:stCondLst>
                                            <p:cond delay="499"/>
                                          </p:stCondLst>
                                        </p:cTn>
                                        <p:tgtEl>
                                          <p:spTgt spid="16"/>
                                        </p:tgtEl>
                                        <p:attrNameLst>
                                          <p:attrName>style.visibility</p:attrName>
                                        </p:attrNameLst>
                                      </p:cBhvr>
                                      <p:to>
                                        <p:strVal val="visible"/>
                                      </p:to>
                                    </p:set>
                                  </p:childTnLst>
                                </p:cTn>
                              </p:par>
                            </p:childTnLst>
                          </p:cTn>
                        </p:par>
                        <p:par>
                          <p:cTn id="35" fill="hold">
                            <p:stCondLst>
                              <p:cond delay="1500"/>
                            </p:stCondLst>
                            <p:childTnLst>
                              <p:par>
                                <p:cTn id="36" presetID="1" presetClass="entr" presetSubtype="0" fill="hold" grpId="0" nodeType="afterEffect">
                                  <p:stCondLst>
                                    <p:cond delay="0"/>
                                  </p:stCondLst>
                                  <p:childTnLst>
                                    <p:set>
                                      <p:cBhvr>
                                        <p:cTn id="37" dur="1" fill="hold">
                                          <p:stCondLst>
                                            <p:cond delay="499"/>
                                          </p:stCondLst>
                                        </p:cTn>
                                        <p:tgtEl>
                                          <p:spTgt spid="13"/>
                                        </p:tgtEl>
                                        <p:attrNameLst>
                                          <p:attrName>style.visibility</p:attrName>
                                        </p:attrNameLst>
                                      </p:cBhvr>
                                      <p:to>
                                        <p:strVal val="visible"/>
                                      </p:to>
                                    </p:set>
                                  </p:childTnLst>
                                </p:cTn>
                              </p:par>
                            </p:childTnLst>
                          </p:cTn>
                        </p:par>
                        <p:par>
                          <p:cTn id="38" fill="hold">
                            <p:stCondLst>
                              <p:cond delay="2000"/>
                            </p:stCondLst>
                            <p:childTnLst>
                              <p:par>
                                <p:cTn id="39" presetID="1" presetClass="entr" presetSubtype="0" fill="hold" grpId="0" nodeType="afterEffect">
                                  <p:stCondLst>
                                    <p:cond delay="0"/>
                                  </p:stCondLst>
                                  <p:childTnLst>
                                    <p:set>
                                      <p:cBhvr>
                                        <p:cTn id="40" dur="1" fill="hold">
                                          <p:stCondLst>
                                            <p:cond delay="499"/>
                                          </p:stCondLst>
                                        </p:cTn>
                                        <p:tgtEl>
                                          <p:spTgt spid="14"/>
                                        </p:tgtEl>
                                        <p:attrNameLst>
                                          <p:attrName>style.visibility</p:attrName>
                                        </p:attrNameLst>
                                      </p:cBhvr>
                                      <p:to>
                                        <p:strVal val="visible"/>
                                      </p:to>
                                    </p:set>
                                  </p:childTnLst>
                                </p:cTn>
                              </p:par>
                            </p:childTnLst>
                          </p:cTn>
                        </p:par>
                        <p:par>
                          <p:cTn id="41" fill="hold">
                            <p:stCondLst>
                              <p:cond delay="2500"/>
                            </p:stCondLst>
                            <p:childTnLst>
                              <p:par>
                                <p:cTn id="42" presetID="1" presetClass="entr" presetSubtype="0" fill="hold" nodeType="afterEffect">
                                  <p:stCondLst>
                                    <p:cond delay="0"/>
                                  </p:stCondLst>
                                  <p:childTnLst>
                                    <p:set>
                                      <p:cBhvr>
                                        <p:cTn id="43" dur="1" fill="hold">
                                          <p:stCondLst>
                                            <p:cond delay="499"/>
                                          </p:stCondLst>
                                        </p:cTn>
                                        <p:tgtEl>
                                          <p:spTgt spid="17"/>
                                        </p:tgtEl>
                                        <p:attrNameLst>
                                          <p:attrName>style.visibility</p:attrName>
                                        </p:attrNameLst>
                                      </p:cBhvr>
                                      <p:to>
                                        <p:strVal val="visible"/>
                                      </p:to>
                                    </p:set>
                                  </p:childTnLst>
                                </p:cTn>
                              </p:par>
                            </p:childTnLst>
                          </p:cTn>
                        </p:par>
                        <p:par>
                          <p:cTn id="44" fill="hold">
                            <p:stCondLst>
                              <p:cond delay="3000"/>
                            </p:stCondLst>
                            <p:childTnLst>
                              <p:par>
                                <p:cTn id="45" presetID="1" presetClass="entr" presetSubtype="0" fill="hold" grpId="0" nodeType="afterEffect">
                                  <p:stCondLst>
                                    <p:cond delay="0"/>
                                  </p:stCondLst>
                                  <p:childTnLst>
                                    <p:set>
                                      <p:cBhvr>
                                        <p:cTn id="46" dur="1" fill="hold">
                                          <p:stCondLst>
                                            <p:cond delay="499"/>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6" grpId="0"/>
      <p:bldP spid="7" grpId="0"/>
      <p:bldP spid="8" grpId="0"/>
      <p:bldP spid="11" grpId="0"/>
      <p:bldP spid="12" grpId="0"/>
      <p:bldP spid="13" grpId="0"/>
      <p:bldP spid="14" grpId="0"/>
      <p:bldP spid="15" grpId="0"/>
    </p:bld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8721" name="标题 1"/>
          <p:cNvSpPr>
            <a:spLocks noGrp="1"/>
          </p:cNvSpPr>
          <p:nvPr>
            <p:ph type="title"/>
          </p:nvPr>
        </p:nvSpPr>
        <p:spPr>
          <a:noFill/>
          <a:ln>
            <a:noFill/>
          </a:ln>
        </p:spPr>
        <p:txBody>
          <a:bodyPr anchor="t" anchorCtr="0"/>
          <a:p>
            <a:r>
              <a:rPr lang="en-US" altLang="zh-CN" dirty="0"/>
              <a:t>*4.7.2 </a:t>
            </a:r>
            <a:r>
              <a:rPr lang="zh-CN" altLang="en-US" dirty="0"/>
              <a:t>十进制加法器 </a:t>
            </a:r>
            <a:endParaRPr lang="zh-CN" altLang="en-US" dirty="0"/>
          </a:p>
        </p:txBody>
      </p:sp>
      <p:sp>
        <p:nvSpPr>
          <p:cNvPr id="158722" name="内容占位符 2"/>
          <p:cNvSpPr>
            <a:spLocks noGrp="1"/>
          </p:cNvSpPr>
          <p:nvPr>
            <p:ph idx="1"/>
          </p:nvPr>
        </p:nvSpPr>
        <p:spPr>
          <a:xfrm>
            <a:off x="454025" y="1196975"/>
            <a:ext cx="8229600" cy="1898650"/>
          </a:xfrm>
          <a:noFill/>
          <a:ln>
            <a:noFill/>
          </a:ln>
        </p:spPr>
        <p:txBody>
          <a:bodyPr anchor="t" anchorCtr="0"/>
          <a:p>
            <a:r>
              <a:rPr lang="en-US" altLang="zh-CN" dirty="0"/>
              <a:t>1.</a:t>
            </a:r>
            <a:r>
              <a:rPr lang="zh-CN" altLang="en-US" dirty="0"/>
              <a:t>一位</a:t>
            </a:r>
            <a:r>
              <a:rPr lang="en-US" altLang="zh-CN" dirty="0"/>
              <a:t>8421</a:t>
            </a:r>
            <a:r>
              <a:rPr lang="zh-CN" altLang="en-US" dirty="0"/>
              <a:t>码加法器</a:t>
            </a:r>
            <a:endParaRPr lang="zh-CN" altLang="en-US" dirty="0"/>
          </a:p>
          <a:p>
            <a:pPr lvl="1">
              <a:spcBef>
                <a:spcPts val="600"/>
              </a:spcBef>
            </a:pPr>
            <a:r>
              <a:rPr lang="zh-CN" altLang="en-US" dirty="0"/>
              <a:t>校正函数</a:t>
            </a:r>
            <a:r>
              <a:rPr lang="en-US" altLang="zh-CN" dirty="0"/>
              <a:t>=C4’+S4’S3’+S4’S2’</a:t>
            </a:r>
            <a:endParaRPr lang="en-US" altLang="zh-CN" dirty="0"/>
          </a:p>
          <a:p>
            <a:pPr lvl="1">
              <a:spcBef>
                <a:spcPts val="600"/>
              </a:spcBef>
            </a:pPr>
            <a:r>
              <a:rPr lang="zh-CN" altLang="en-US" dirty="0"/>
              <a:t>向上一位的进位</a:t>
            </a:r>
            <a:r>
              <a:rPr lang="en-US" altLang="zh-CN" dirty="0"/>
              <a:t>C4=</a:t>
            </a:r>
            <a:r>
              <a:rPr lang="zh-CN" altLang="en-US" dirty="0"/>
              <a:t>校正函数</a:t>
            </a:r>
            <a:endParaRPr lang="zh-CN" altLang="en-US" dirty="0"/>
          </a:p>
          <a:p>
            <a:endParaRPr lang="zh-CN" altLang="en-US" dirty="0"/>
          </a:p>
        </p:txBody>
      </p:sp>
      <p:pic>
        <p:nvPicPr>
          <p:cNvPr id="158723" name="图片 3"/>
          <p:cNvPicPr>
            <a:picLocks noChangeAspect="1"/>
          </p:cNvPicPr>
          <p:nvPr/>
        </p:nvPicPr>
        <p:blipFill>
          <a:blip r:embed="rId1"/>
          <a:stretch>
            <a:fillRect/>
          </a:stretch>
        </p:blipFill>
        <p:spPr>
          <a:xfrm>
            <a:off x="827088" y="2708275"/>
            <a:ext cx="6323012" cy="3960813"/>
          </a:xfrm>
          <a:prstGeom prst="rect">
            <a:avLst/>
          </a:prstGeom>
          <a:noFill/>
          <a:ln w="9525">
            <a:noFill/>
          </a:ln>
        </p:spPr>
      </p:pic>
      <p:sp>
        <p:nvSpPr>
          <p:cNvPr id="5" name="Rectangle 3"/>
          <p:cNvSpPr txBox="1">
            <a:spLocks noChangeArrowheads="1"/>
          </p:cNvSpPr>
          <p:nvPr/>
        </p:nvSpPr>
        <p:spPr bwMode="auto">
          <a:xfrm>
            <a:off x="6334125" y="5516563"/>
            <a:ext cx="2376488" cy="9874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mn-lt"/>
                <a:ea typeface="+mn-ea"/>
                <a:cs typeface="+mn-cs"/>
              </a:rPr>
              <a:t> 图4-21 一位8421码加法器</a:t>
            </a:r>
            <a:endParaRPr kumimoji="0" lang="zh-CN" altLang="en-US" sz="2400" b="1" i="0" u="none" strike="noStrike" kern="0" cap="none" spc="0" normalizeH="0" baseline="0" noProof="0" dirty="0">
              <a:ln>
                <a:noFill/>
              </a:ln>
              <a:solidFill>
                <a:schemeClr val="hlink"/>
              </a:solidFill>
              <a:effectLst/>
              <a:uLnTx/>
              <a:uFillTx/>
              <a:latin typeface="+mn-lt"/>
              <a:ea typeface="+mn-ea"/>
              <a:cs typeface="+mn-cs"/>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9745" name="标题 1"/>
          <p:cNvSpPr>
            <a:spLocks noGrp="1"/>
          </p:cNvSpPr>
          <p:nvPr>
            <p:ph type="title"/>
          </p:nvPr>
        </p:nvSpPr>
        <p:spPr>
          <a:noFill/>
          <a:ln>
            <a:noFill/>
          </a:ln>
        </p:spPr>
        <p:txBody>
          <a:bodyPr anchor="t" anchorCtr="0"/>
          <a:p>
            <a:r>
              <a:rPr lang="en-US" altLang="zh-CN" dirty="0"/>
              <a:t>*2.</a:t>
            </a:r>
            <a:r>
              <a:rPr lang="zh-CN" altLang="en-US" dirty="0"/>
              <a:t>一位余</a:t>
            </a:r>
            <a:r>
              <a:rPr lang="en-US" altLang="zh-CN" dirty="0"/>
              <a:t>3</a:t>
            </a:r>
            <a:r>
              <a:rPr lang="zh-CN" altLang="en-US" dirty="0"/>
              <a:t>码加法器 </a:t>
            </a:r>
            <a:endParaRPr lang="zh-CN" altLang="en-US" dirty="0"/>
          </a:p>
        </p:txBody>
      </p:sp>
      <p:sp>
        <p:nvSpPr>
          <p:cNvPr id="159746" name="内容占位符 2"/>
          <p:cNvSpPr>
            <a:spLocks noGrp="1"/>
          </p:cNvSpPr>
          <p:nvPr>
            <p:ph idx="1"/>
          </p:nvPr>
        </p:nvSpPr>
        <p:spPr>
          <a:xfrm>
            <a:off x="457200" y="1268413"/>
            <a:ext cx="8229600" cy="1003300"/>
          </a:xfrm>
          <a:noFill/>
          <a:ln>
            <a:noFill/>
          </a:ln>
        </p:spPr>
        <p:txBody>
          <a:bodyPr anchor="t" anchorCtr="0"/>
          <a:p>
            <a:r>
              <a:rPr lang="zh-CN" altLang="en-US" dirty="0"/>
              <a:t> </a:t>
            </a:r>
            <a:r>
              <a:rPr lang="en-US" altLang="zh-CN" dirty="0"/>
              <a:t>C4’=0</a:t>
            </a:r>
            <a:r>
              <a:rPr lang="zh-CN" altLang="en-US" dirty="0"/>
              <a:t>，</a:t>
            </a:r>
            <a:r>
              <a:rPr lang="en-US" altLang="zh-CN" dirty="0"/>
              <a:t>-3</a:t>
            </a:r>
            <a:r>
              <a:rPr lang="zh-CN" altLang="en-US" dirty="0"/>
              <a:t>校正；</a:t>
            </a:r>
            <a:r>
              <a:rPr lang="en-US" altLang="zh-CN" dirty="0"/>
              <a:t>C4’=1</a:t>
            </a:r>
            <a:r>
              <a:rPr lang="zh-CN" altLang="en-US" dirty="0"/>
              <a:t>，</a:t>
            </a:r>
            <a:r>
              <a:rPr lang="en-US" altLang="zh-CN" dirty="0"/>
              <a:t>+3</a:t>
            </a:r>
            <a:r>
              <a:rPr lang="zh-CN" altLang="en-US" dirty="0"/>
              <a:t>校正。</a:t>
            </a:r>
            <a:endParaRPr lang="zh-CN" altLang="en-US" dirty="0"/>
          </a:p>
          <a:p>
            <a:r>
              <a:rPr lang="zh-CN" altLang="en-US" dirty="0"/>
              <a:t> 向上一位的进位</a:t>
            </a:r>
            <a:r>
              <a:rPr lang="en-US" altLang="zh-CN" dirty="0"/>
              <a:t>C4=C4’</a:t>
            </a:r>
            <a:endParaRPr lang="zh-CN" altLang="en-US" dirty="0"/>
          </a:p>
        </p:txBody>
      </p:sp>
      <p:graphicFrame>
        <p:nvGraphicFramePr>
          <p:cNvPr id="159747" name="Object 6"/>
          <p:cNvGraphicFramePr>
            <a:graphicFrameLocks noChangeAspect="1"/>
          </p:cNvGraphicFramePr>
          <p:nvPr/>
        </p:nvGraphicFramePr>
        <p:xfrm>
          <a:off x="900113" y="2368550"/>
          <a:ext cx="6553200" cy="3559175"/>
        </p:xfrm>
        <a:graphic>
          <a:graphicData uri="http://schemas.openxmlformats.org/presentationml/2006/ole">
            <mc:AlternateContent xmlns:mc="http://schemas.openxmlformats.org/markup-compatibility/2006">
              <mc:Choice xmlns:v="urn:schemas-microsoft-com:vml" Requires="v">
                <p:oleObj spid="_x0000_s3091" name="" r:id="rId1" imgW="3672840" imgH="2028825" progId="Visio.Drawing.6">
                  <p:embed/>
                </p:oleObj>
              </mc:Choice>
              <mc:Fallback>
                <p:oleObj name="" r:id="rId1" imgW="3672840" imgH="2028825" progId="Visio.Drawing.6">
                  <p:embed/>
                  <p:pic>
                    <p:nvPicPr>
                      <p:cNvPr id="0" name="图片 3090"/>
                      <p:cNvPicPr/>
                      <p:nvPr/>
                    </p:nvPicPr>
                    <p:blipFill>
                      <a:blip r:embed="rId2"/>
                      <a:stretch>
                        <a:fillRect/>
                      </a:stretch>
                    </p:blipFill>
                    <p:spPr>
                      <a:xfrm>
                        <a:off x="900113" y="2368550"/>
                        <a:ext cx="6553200" cy="3559175"/>
                      </a:xfrm>
                      <a:prstGeom prst="rect">
                        <a:avLst/>
                      </a:prstGeom>
                      <a:noFill/>
                      <a:ln w="38100">
                        <a:noFill/>
                        <a:miter/>
                      </a:ln>
                    </p:spPr>
                  </p:pic>
                </p:oleObj>
              </mc:Fallback>
            </mc:AlternateContent>
          </a:graphicData>
        </a:graphic>
      </p:graphicFrame>
      <p:sp>
        <p:nvSpPr>
          <p:cNvPr id="5" name="Rectangle 3"/>
          <p:cNvSpPr txBox="1">
            <a:spLocks noChangeArrowheads="1"/>
          </p:cNvSpPr>
          <p:nvPr/>
        </p:nvSpPr>
        <p:spPr bwMode="auto">
          <a:xfrm>
            <a:off x="2124075" y="5943600"/>
            <a:ext cx="4608513" cy="91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mn-lt"/>
                <a:ea typeface="+mn-ea"/>
                <a:cs typeface="+mn-cs"/>
              </a:rPr>
              <a:t>图4-22 一位余3码加法器 </a:t>
            </a:r>
            <a:endParaRPr kumimoji="0" lang="zh-CN" altLang="en-US" sz="2400" b="1" i="0" u="none" strike="noStrike" kern="0" cap="none" spc="0" normalizeH="0" baseline="0" noProof="0" dirty="0">
              <a:ln>
                <a:noFill/>
              </a:ln>
              <a:solidFill>
                <a:schemeClr val="hlink"/>
              </a:solidFill>
              <a:effectLst/>
              <a:uLnTx/>
              <a:uFillTx/>
              <a:latin typeface="+mn-lt"/>
              <a:ea typeface="+mn-ea"/>
              <a:cs typeface="+mn-cs"/>
            </a:endParaRP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0769" name="标题 1"/>
          <p:cNvSpPr>
            <a:spLocks noGrp="1"/>
          </p:cNvSpPr>
          <p:nvPr>
            <p:ph type="title"/>
          </p:nvPr>
        </p:nvSpPr>
        <p:spPr>
          <a:noFill/>
          <a:ln>
            <a:noFill/>
          </a:ln>
        </p:spPr>
        <p:txBody>
          <a:bodyPr anchor="t" anchorCtr="0"/>
          <a:p>
            <a:r>
              <a:rPr lang="en-US" altLang="zh-CN" dirty="0"/>
              <a:t>*4.7.3 </a:t>
            </a:r>
            <a:r>
              <a:rPr lang="zh-CN" altLang="en-US" dirty="0"/>
              <a:t>多位十进制加法 </a:t>
            </a:r>
            <a:endParaRPr lang="zh-CN" altLang="en-US" dirty="0"/>
          </a:p>
        </p:txBody>
      </p:sp>
      <p:sp>
        <p:nvSpPr>
          <p:cNvPr id="160770"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 对于多位十进制数加法可采用多个</a:t>
            </a:r>
            <a:r>
              <a:rPr lang="en-US" altLang="zh-CN" dirty="0">
                <a:latin typeface="Times New Roman" panose="02020603050405020304" pitchFamily="18" charset="0"/>
              </a:rPr>
              <a:t>BCD</a:t>
            </a:r>
            <a:r>
              <a:rPr lang="zh-CN" altLang="en-US" dirty="0">
                <a:latin typeface="Times New Roman" panose="02020603050405020304" pitchFamily="18" charset="0"/>
              </a:rPr>
              <a:t>码加法器，每个</a:t>
            </a:r>
            <a:r>
              <a:rPr lang="en-US" altLang="zh-CN" dirty="0">
                <a:latin typeface="Times New Roman" panose="02020603050405020304" pitchFamily="18" charset="0"/>
              </a:rPr>
              <a:t>BCD</a:t>
            </a:r>
            <a:r>
              <a:rPr lang="zh-CN" altLang="en-US" dirty="0">
                <a:latin typeface="Times New Roman" panose="02020603050405020304" pitchFamily="18" charset="0"/>
              </a:rPr>
              <a:t>码加法器就是前述的一个一位十进制加法器，可执行两个一位</a:t>
            </a:r>
            <a:r>
              <a:rPr lang="en-US" altLang="zh-CN" dirty="0">
                <a:latin typeface="Times New Roman" panose="02020603050405020304" pitchFamily="18" charset="0"/>
              </a:rPr>
              <a:t>BCD</a:t>
            </a:r>
            <a:r>
              <a:rPr lang="zh-CN" altLang="en-US" dirty="0">
                <a:latin typeface="Times New Roman" panose="02020603050405020304" pitchFamily="18" charset="0"/>
              </a:rPr>
              <a:t>数的加法。</a:t>
            </a:r>
            <a:endParaRPr lang="en-US" altLang="zh-CN" dirty="0">
              <a:latin typeface="Times New Roman" panose="02020603050405020304" pitchFamily="18" charset="0"/>
            </a:endParaRPr>
          </a:p>
          <a:p>
            <a:pPr>
              <a:spcBef>
                <a:spcPts val="1800"/>
              </a:spcBef>
            </a:pPr>
            <a:r>
              <a:rPr lang="zh-CN" altLang="en-US" dirty="0">
                <a:latin typeface="Times New Roman" panose="02020603050405020304" pitchFamily="18" charset="0"/>
              </a:rPr>
              <a:t>若</a:t>
            </a:r>
            <a:r>
              <a:rPr lang="en-US" altLang="zh-CN" dirty="0">
                <a:latin typeface="Times New Roman" panose="02020603050405020304" pitchFamily="18" charset="0"/>
              </a:rPr>
              <a:t>n</a:t>
            </a:r>
            <a:r>
              <a:rPr lang="zh-CN" altLang="en-US" dirty="0">
                <a:latin typeface="Times New Roman" panose="02020603050405020304" pitchFamily="18" charset="0"/>
              </a:rPr>
              <a:t>位</a:t>
            </a:r>
            <a:r>
              <a:rPr lang="en-US" altLang="zh-CN" dirty="0">
                <a:latin typeface="Times New Roman" panose="02020603050405020304" pitchFamily="18" charset="0"/>
              </a:rPr>
              <a:t>BCD</a:t>
            </a:r>
            <a:r>
              <a:rPr lang="zh-CN" altLang="en-US" dirty="0">
                <a:latin typeface="Times New Roman" panose="02020603050405020304" pitchFamily="18" charset="0"/>
              </a:rPr>
              <a:t>数相加，由从低位至高位采用行波式串行进位的</a:t>
            </a:r>
            <a:r>
              <a:rPr lang="en-US" altLang="zh-CN" dirty="0">
                <a:latin typeface="Times New Roman" panose="02020603050405020304" pitchFamily="18" charset="0"/>
              </a:rPr>
              <a:t>n</a:t>
            </a:r>
            <a:r>
              <a:rPr lang="zh-CN" altLang="en-US" dirty="0">
                <a:latin typeface="Times New Roman" panose="02020603050405020304" pitchFamily="18" charset="0"/>
              </a:rPr>
              <a:t>位十进制加法器完成。</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179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4.8 </a:t>
            </a:r>
            <a:r>
              <a:rPr lang="zh-CN" altLang="en-US" dirty="0">
                <a:latin typeface="Times New Roman" panose="02020603050405020304" pitchFamily="18" charset="0"/>
              </a:rPr>
              <a:t>逻辑运算与实现</a:t>
            </a:r>
            <a:endParaRPr lang="zh-CN" altLang="en-US" dirty="0">
              <a:latin typeface="Times New Roman" panose="02020603050405020304" pitchFamily="18" charset="0"/>
            </a:endParaRPr>
          </a:p>
        </p:txBody>
      </p:sp>
      <p:sp>
        <p:nvSpPr>
          <p:cNvPr id="161794"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逻辑操作，如：与、或、非、异或等。</a:t>
            </a:r>
            <a:endParaRPr lang="en-US" altLang="zh-CN" dirty="0">
              <a:latin typeface="Times New Roman" panose="02020603050405020304" pitchFamily="18" charset="0"/>
            </a:endParaRPr>
          </a:p>
          <a:p>
            <a:pPr>
              <a:spcBef>
                <a:spcPts val="1800"/>
              </a:spcBef>
            </a:pPr>
            <a:r>
              <a:rPr lang="zh-CN" altLang="en-US" dirty="0">
                <a:latin typeface="Times New Roman" panose="02020603050405020304" pitchFamily="18" charset="0"/>
              </a:rPr>
              <a:t>逻辑运算比算术运算要简单得多：</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逻辑运算</a:t>
            </a:r>
            <a:r>
              <a:rPr lang="zh-CN" altLang="en-US" dirty="0">
                <a:solidFill>
                  <a:srgbClr val="FF0000"/>
                </a:solidFill>
                <a:latin typeface="Times New Roman" panose="02020603050405020304" pitchFamily="18" charset="0"/>
              </a:rPr>
              <a:t>按位进行</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位与位之间没有进位与借位的关系。</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281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4.8 </a:t>
            </a:r>
            <a:r>
              <a:rPr lang="zh-CN" altLang="en-US" dirty="0">
                <a:latin typeface="Times New Roman" panose="02020603050405020304" pitchFamily="18" charset="0"/>
              </a:rPr>
              <a:t>逻辑运算与实现</a:t>
            </a:r>
            <a:endParaRPr lang="zh-CN" altLang="en-US" dirty="0">
              <a:latin typeface="Times New Roman" panose="02020603050405020304" pitchFamily="18" charset="0"/>
              <a:ea typeface="Times New Roman" panose="02020603050405020304" pitchFamily="18" charset="0"/>
            </a:endParaRPr>
          </a:p>
        </p:txBody>
      </p:sp>
      <p:sp>
        <p:nvSpPr>
          <p:cNvPr id="162818" name="内容占位符 2"/>
          <p:cNvSpPr>
            <a:spLocks noGrp="1"/>
          </p:cNvSpPr>
          <p:nvPr>
            <p:ph idx="1"/>
          </p:nvPr>
        </p:nvSpPr>
        <p:spPr>
          <a:xfrm>
            <a:off x="479425" y="1250950"/>
            <a:ext cx="8229600" cy="4995863"/>
          </a:xfrm>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逻辑非</a:t>
            </a:r>
            <a:endParaRPr lang="en-US" altLang="zh-CN" dirty="0">
              <a:latin typeface="Times New Roman" panose="02020603050405020304" pitchFamily="18" charset="0"/>
            </a:endParaRPr>
          </a:p>
          <a:p>
            <a:pPr lvl="1" latinLnBrk="0">
              <a:spcBef>
                <a:spcPts val="1200"/>
              </a:spcBef>
            </a:pPr>
            <a:r>
              <a:rPr lang="zh-CN" altLang="en-US" dirty="0">
                <a:latin typeface="Times New Roman" panose="02020603050405020304" pitchFamily="18" charset="0"/>
              </a:rPr>
              <a:t>对某个寄存器或主存单元中各位代码</a:t>
            </a:r>
            <a:r>
              <a:rPr lang="zh-CN" altLang="en-US" dirty="0">
                <a:solidFill>
                  <a:srgbClr val="FF0000"/>
                </a:solidFill>
                <a:latin typeface="Times New Roman" panose="02020603050405020304" pitchFamily="18" charset="0"/>
              </a:rPr>
              <a:t>按位取反</a:t>
            </a:r>
            <a:endParaRPr lang="zh-CN" altLang="en-US"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设：</a:t>
            </a:r>
            <a:r>
              <a:rPr lang="en-US" altLang="zh-CN" dirty="0">
                <a:latin typeface="Times New Roman" panose="02020603050405020304" pitchFamily="18" charset="0"/>
              </a:rPr>
              <a:t>X=X</a:t>
            </a:r>
            <a:r>
              <a:rPr lang="en-US" altLang="zh-CN" baseline="-25000" dirty="0">
                <a:latin typeface="Times New Roman" panose="02020603050405020304" pitchFamily="18" charset="0"/>
              </a:rPr>
              <a:t>0</a:t>
            </a:r>
            <a:r>
              <a:rPr lang="en-US" altLang="zh-CN" dirty="0">
                <a:latin typeface="Times New Roman" panose="02020603050405020304" pitchFamily="18" charset="0"/>
              </a:rPr>
              <a:t>X</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X</a:t>
            </a:r>
            <a:r>
              <a:rPr lang="en-US" altLang="zh-CN" baseline="-25000"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Z=Z</a:t>
            </a:r>
            <a:r>
              <a:rPr lang="en-US" altLang="zh-CN" baseline="-25000" dirty="0">
                <a:latin typeface="Times New Roman" panose="02020603050405020304" pitchFamily="18" charset="0"/>
              </a:rPr>
              <a:t>0</a:t>
            </a:r>
            <a:r>
              <a:rPr lang="en-US" altLang="zh-CN" dirty="0">
                <a:latin typeface="Times New Roman" panose="02020603050405020304" pitchFamily="18" charset="0"/>
              </a:rPr>
              <a:t>Z</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Z</a:t>
            </a:r>
            <a:r>
              <a:rPr lang="en-US" altLang="zh-CN" baseline="-25000" dirty="0">
                <a:latin typeface="Times New Roman" panose="02020603050405020304" pitchFamily="18" charset="0"/>
              </a:rPr>
              <a:t>n</a:t>
            </a:r>
            <a:endParaRPr lang="en-US" altLang="zh-CN" baseline="-25000"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则：</a:t>
            </a:r>
            <a:r>
              <a:rPr lang="en-US" altLang="zh-CN" dirty="0">
                <a:latin typeface="Times New Roman" panose="02020603050405020304" pitchFamily="18" charset="0"/>
              </a:rPr>
              <a:t>Zi=    </a:t>
            </a:r>
            <a:r>
              <a:rPr lang="zh-CN" altLang="en-US" dirty="0">
                <a:latin typeface="Times New Roman" panose="02020603050405020304" pitchFamily="18" charset="0"/>
              </a:rPr>
              <a:t>（</a:t>
            </a:r>
            <a:r>
              <a:rPr lang="en-US" altLang="zh-CN" dirty="0">
                <a:latin typeface="Times New Roman" panose="02020603050405020304" pitchFamily="18" charset="0"/>
              </a:rPr>
              <a:t>i=0</a:t>
            </a: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n</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a:spcBef>
                <a:spcPts val="1800"/>
              </a:spcBef>
            </a:pPr>
            <a:r>
              <a:rPr lang="en-US" altLang="zh-CN" dirty="0">
                <a:latin typeface="Times New Roman" panose="02020603050405020304" pitchFamily="18" charset="0"/>
              </a:rPr>
              <a:t>2.</a:t>
            </a:r>
            <a:r>
              <a:rPr lang="zh-CN" altLang="en-US" dirty="0">
                <a:latin typeface="Times New Roman" panose="02020603050405020304" pitchFamily="18" charset="0"/>
              </a:rPr>
              <a:t>逻辑乘</a:t>
            </a:r>
            <a:endParaRPr lang="zh-CN" altLang="en-US"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将两个寄存器或主存单元中相应位代码</a:t>
            </a:r>
            <a:r>
              <a:rPr lang="zh-CN" altLang="en-US" dirty="0">
                <a:solidFill>
                  <a:srgbClr val="FF0000"/>
                </a:solidFill>
                <a:latin typeface="Times New Roman" panose="02020603050405020304" pitchFamily="18" charset="0"/>
              </a:rPr>
              <a:t>按位与</a:t>
            </a:r>
            <a:endParaRPr lang="zh-CN" altLang="en-US"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设：</a:t>
            </a:r>
            <a:r>
              <a:rPr lang="en-US" altLang="zh-CN" dirty="0">
                <a:latin typeface="Times New Roman" panose="02020603050405020304" pitchFamily="18" charset="0"/>
              </a:rPr>
              <a:t>X=X</a:t>
            </a:r>
            <a:r>
              <a:rPr lang="en-US" altLang="zh-CN" baseline="-25000" dirty="0">
                <a:latin typeface="Times New Roman" panose="02020603050405020304" pitchFamily="18" charset="0"/>
              </a:rPr>
              <a:t>0</a:t>
            </a:r>
            <a:r>
              <a:rPr lang="en-US" altLang="zh-CN" dirty="0">
                <a:latin typeface="Times New Roman" panose="02020603050405020304" pitchFamily="18" charset="0"/>
              </a:rPr>
              <a:t>X</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X</a:t>
            </a:r>
            <a:r>
              <a:rPr lang="en-US" altLang="zh-CN" baseline="-25000"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Y=Y</a:t>
            </a:r>
            <a:r>
              <a:rPr lang="en-US" altLang="zh-CN" baseline="-25000" dirty="0">
                <a:latin typeface="Times New Roman" panose="02020603050405020304" pitchFamily="18" charset="0"/>
              </a:rPr>
              <a:t>0</a:t>
            </a:r>
            <a:r>
              <a:rPr lang="en-US" altLang="zh-CN" dirty="0">
                <a:latin typeface="Times New Roman" panose="02020603050405020304" pitchFamily="18" charset="0"/>
              </a:rPr>
              <a:t>Y</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Y</a:t>
            </a:r>
            <a:r>
              <a:rPr lang="en-US" altLang="zh-CN" baseline="-25000"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Z=Z</a:t>
            </a:r>
            <a:r>
              <a:rPr lang="en-US" altLang="zh-CN" baseline="-25000" dirty="0">
                <a:latin typeface="Times New Roman" panose="02020603050405020304" pitchFamily="18" charset="0"/>
              </a:rPr>
              <a:t>0</a:t>
            </a:r>
            <a:r>
              <a:rPr lang="en-US" altLang="zh-CN" dirty="0">
                <a:latin typeface="Times New Roman" panose="02020603050405020304" pitchFamily="18" charset="0"/>
              </a:rPr>
              <a:t>Z</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Z</a:t>
            </a:r>
            <a:r>
              <a:rPr lang="en-US" altLang="zh-CN" baseline="-25000" dirty="0">
                <a:latin typeface="Times New Roman" panose="02020603050405020304" pitchFamily="18" charset="0"/>
              </a:rPr>
              <a:t>n</a:t>
            </a:r>
            <a:endParaRPr lang="en-US" altLang="zh-CN" baseline="-25000"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则：</a:t>
            </a:r>
            <a:r>
              <a:rPr lang="en-US" altLang="zh-CN" dirty="0">
                <a:latin typeface="Times New Roman" panose="02020603050405020304" pitchFamily="18" charset="0"/>
              </a:rPr>
              <a:t>Z</a:t>
            </a:r>
            <a:r>
              <a:rPr lang="en-US" altLang="zh-CN" baseline="-25000" dirty="0">
                <a:latin typeface="Times New Roman" panose="02020603050405020304" pitchFamily="18" charset="0"/>
              </a:rPr>
              <a:t>i</a:t>
            </a:r>
            <a:r>
              <a:rPr lang="en-US" altLang="zh-CN" dirty="0">
                <a:latin typeface="Times New Roman" panose="02020603050405020304" pitchFamily="18" charset="0"/>
              </a:rPr>
              <a:t>=X</a:t>
            </a:r>
            <a:r>
              <a:rPr lang="en-US" altLang="zh-CN" baseline="-25000" dirty="0">
                <a:latin typeface="Times New Roman" panose="02020603050405020304" pitchFamily="18" charset="0"/>
              </a:rPr>
              <a:t>i</a:t>
            </a:r>
            <a:r>
              <a:rPr lang="en-US" altLang="zh-CN" dirty="0">
                <a:latin typeface="Times New Roman" panose="02020603050405020304" pitchFamily="18" charset="0"/>
              </a:rPr>
              <a:t>∧Y</a:t>
            </a:r>
            <a:r>
              <a:rPr lang="en-US" altLang="zh-CN" baseline="-25000" dirty="0">
                <a:latin typeface="Times New Roman" panose="02020603050405020304" pitchFamily="18" charset="0"/>
              </a:rPr>
              <a:t>i</a:t>
            </a:r>
            <a:r>
              <a:rPr lang="zh-CN" altLang="en-US" dirty="0">
                <a:latin typeface="Times New Roman" panose="02020603050405020304" pitchFamily="18" charset="0"/>
              </a:rPr>
              <a:t>（</a:t>
            </a:r>
            <a:r>
              <a:rPr lang="en-US" altLang="zh-CN" dirty="0">
                <a:latin typeface="Times New Roman" panose="02020603050405020304" pitchFamily="18" charset="0"/>
              </a:rPr>
              <a:t>i=0</a:t>
            </a: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n</a:t>
            </a:r>
            <a:r>
              <a:rPr lang="zh-CN" altLang="en-US" dirty="0">
                <a:latin typeface="Times New Roman" panose="02020603050405020304" pitchFamily="18" charset="0"/>
              </a:rPr>
              <a:t>）</a:t>
            </a:r>
            <a:endParaRPr lang="zh-CN" altLang="en-US" dirty="0">
              <a:latin typeface="Times New Roman" panose="02020603050405020304" pitchFamily="18" charset="0"/>
              <a:ea typeface="Times New Roman" panose="02020603050405020304" pitchFamily="18" charset="0"/>
            </a:endParaRPr>
          </a:p>
        </p:txBody>
      </p:sp>
      <p:graphicFrame>
        <p:nvGraphicFramePr>
          <p:cNvPr id="162819" name="Object 4"/>
          <p:cNvGraphicFramePr>
            <a:graphicFrameLocks noChangeAspect="1"/>
          </p:cNvGraphicFramePr>
          <p:nvPr/>
        </p:nvGraphicFramePr>
        <p:xfrm>
          <a:off x="2813050" y="2881313"/>
          <a:ext cx="519113" cy="534987"/>
        </p:xfrm>
        <a:graphic>
          <a:graphicData uri="http://schemas.openxmlformats.org/presentationml/2006/ole">
            <mc:AlternateContent xmlns:mc="http://schemas.openxmlformats.org/markup-compatibility/2006">
              <mc:Choice xmlns:v="urn:schemas-microsoft-com:vml" Requires="v">
                <p:oleObj spid="_x0000_s3092" name="" r:id="rId1" imgW="203200" imgH="215900" progId="Equation.3">
                  <p:embed/>
                </p:oleObj>
              </mc:Choice>
              <mc:Fallback>
                <p:oleObj name="" r:id="rId1" imgW="203200" imgH="215900" progId="Equation.3">
                  <p:embed/>
                  <p:pic>
                    <p:nvPicPr>
                      <p:cNvPr id="0" name="图片 3091"/>
                      <p:cNvPicPr/>
                      <p:nvPr/>
                    </p:nvPicPr>
                    <p:blipFill>
                      <a:blip r:embed="rId2"/>
                      <a:stretch>
                        <a:fillRect/>
                      </a:stretch>
                    </p:blipFill>
                    <p:spPr>
                      <a:xfrm>
                        <a:off x="2813050" y="2881313"/>
                        <a:ext cx="519113" cy="534987"/>
                      </a:xfrm>
                      <a:prstGeom prst="rect">
                        <a:avLst/>
                      </a:prstGeom>
                      <a:noFill/>
                      <a:ln w="38100">
                        <a:noFill/>
                        <a:miter/>
                      </a:ln>
                    </p:spPr>
                  </p:pic>
                </p:oleObj>
              </mc:Fallback>
            </mc:AlternateContent>
          </a:graphicData>
        </a:graphic>
      </p:graphicFrame>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41" name="标题 1"/>
          <p:cNvSpPr>
            <a:spLocks noGrp="1"/>
          </p:cNvSpPr>
          <p:nvPr>
            <p:ph type="title"/>
          </p:nvPr>
        </p:nvSpPr>
        <p:spPr>
          <a:noFill/>
          <a:ln>
            <a:noFill/>
          </a:ln>
        </p:spPr>
        <p:txBody>
          <a:bodyPr anchor="t" anchorCtr="0"/>
          <a:p>
            <a:r>
              <a:rPr lang="en-US" altLang="zh-CN" dirty="0"/>
              <a:t>4.8 </a:t>
            </a:r>
            <a:r>
              <a:rPr lang="zh-CN" altLang="en-US" dirty="0"/>
              <a:t>逻辑运算与实现</a:t>
            </a:r>
            <a:endParaRPr lang="zh-CN" altLang="en-US" dirty="0"/>
          </a:p>
        </p:txBody>
      </p:sp>
      <p:sp>
        <p:nvSpPr>
          <p:cNvPr id="163842" name="内容占位符 2"/>
          <p:cNvSpPr>
            <a:spLocks noGrp="1"/>
          </p:cNvSpPr>
          <p:nvPr>
            <p:ph idx="1"/>
          </p:nvPr>
        </p:nvSpPr>
        <p:spPr>
          <a:xfrm>
            <a:off x="457200" y="1268413"/>
            <a:ext cx="8229600" cy="5329237"/>
          </a:xfrm>
          <a:noFill/>
          <a:ln>
            <a:noFill/>
          </a:ln>
        </p:spPr>
        <p:txBody>
          <a:bodyPr anchor="t" anchorCtr="0"/>
          <a:p>
            <a:r>
              <a:rPr lang="en-US" altLang="zh-CN" dirty="0">
                <a:latin typeface="Times New Roman" panose="02020603050405020304" pitchFamily="18" charset="0"/>
              </a:rPr>
              <a:t>3.</a:t>
            </a:r>
            <a:r>
              <a:rPr lang="zh-CN" altLang="en-US" dirty="0">
                <a:latin typeface="Times New Roman" panose="02020603050405020304" pitchFamily="18" charset="0"/>
              </a:rPr>
              <a:t>逻辑加</a:t>
            </a:r>
            <a:endParaRPr lang="en-US" altLang="zh-CN"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将两个寄存器或主存单元中相应位</a:t>
            </a:r>
            <a:r>
              <a:rPr lang="zh-CN" altLang="en-US" dirty="0">
                <a:solidFill>
                  <a:srgbClr val="FF0000"/>
                </a:solidFill>
                <a:latin typeface="Times New Roman" panose="02020603050405020304" pitchFamily="18" charset="0"/>
              </a:rPr>
              <a:t>按位或</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设：</a:t>
            </a:r>
            <a:r>
              <a:rPr lang="en-US" altLang="zh-CN" dirty="0">
                <a:latin typeface="Times New Roman" panose="02020603050405020304" pitchFamily="18" charset="0"/>
              </a:rPr>
              <a:t>X=X</a:t>
            </a:r>
            <a:r>
              <a:rPr lang="en-US" altLang="zh-CN" baseline="-25000" dirty="0">
                <a:latin typeface="Times New Roman" panose="02020603050405020304" pitchFamily="18" charset="0"/>
              </a:rPr>
              <a:t>0</a:t>
            </a:r>
            <a:r>
              <a:rPr lang="en-US" altLang="zh-CN" dirty="0">
                <a:latin typeface="Times New Roman" panose="02020603050405020304" pitchFamily="18" charset="0"/>
              </a:rPr>
              <a:t>X</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X</a:t>
            </a:r>
            <a:r>
              <a:rPr lang="en-US" altLang="zh-CN" baseline="-25000"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Y=Y</a:t>
            </a:r>
            <a:r>
              <a:rPr lang="en-US" altLang="zh-CN" baseline="-25000" dirty="0">
                <a:latin typeface="Times New Roman" panose="02020603050405020304" pitchFamily="18" charset="0"/>
              </a:rPr>
              <a:t>0</a:t>
            </a:r>
            <a:r>
              <a:rPr lang="en-US" altLang="zh-CN" dirty="0">
                <a:latin typeface="Times New Roman" panose="02020603050405020304" pitchFamily="18" charset="0"/>
              </a:rPr>
              <a:t>Y</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Y</a:t>
            </a:r>
            <a:r>
              <a:rPr lang="en-US" altLang="zh-CN" baseline="-25000"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Z=Z</a:t>
            </a:r>
            <a:r>
              <a:rPr lang="en-US" altLang="zh-CN" baseline="-25000" dirty="0">
                <a:latin typeface="Times New Roman" panose="02020603050405020304" pitchFamily="18" charset="0"/>
              </a:rPr>
              <a:t>0</a:t>
            </a:r>
            <a:r>
              <a:rPr lang="en-US" altLang="zh-CN" dirty="0">
                <a:latin typeface="Times New Roman" panose="02020603050405020304" pitchFamily="18" charset="0"/>
              </a:rPr>
              <a:t>Z</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Z</a:t>
            </a:r>
            <a:r>
              <a:rPr lang="en-US" altLang="zh-CN" baseline="-25000" dirty="0">
                <a:latin typeface="Times New Roman" panose="02020603050405020304" pitchFamily="18" charset="0"/>
              </a:rPr>
              <a:t>n</a:t>
            </a:r>
            <a:endParaRPr lang="en-US" altLang="zh-CN" baseline="-25000"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则：</a:t>
            </a:r>
            <a:r>
              <a:rPr lang="en-US" altLang="zh-CN" dirty="0">
                <a:latin typeface="Times New Roman" panose="02020603050405020304" pitchFamily="18" charset="0"/>
              </a:rPr>
              <a:t>Z</a:t>
            </a:r>
            <a:r>
              <a:rPr lang="en-US" altLang="zh-CN" baseline="-25000" dirty="0">
                <a:latin typeface="Times New Roman" panose="02020603050405020304" pitchFamily="18" charset="0"/>
              </a:rPr>
              <a:t>i</a:t>
            </a:r>
            <a:r>
              <a:rPr lang="en-US" altLang="zh-CN" dirty="0">
                <a:latin typeface="Times New Roman" panose="02020603050405020304" pitchFamily="18" charset="0"/>
              </a:rPr>
              <a:t>=X</a:t>
            </a:r>
            <a:r>
              <a:rPr lang="en-US" altLang="zh-CN" baseline="-25000" dirty="0">
                <a:latin typeface="Times New Roman" panose="02020603050405020304" pitchFamily="18" charset="0"/>
              </a:rPr>
              <a:t>i</a:t>
            </a:r>
            <a:r>
              <a:rPr lang="en-US" altLang="zh-CN" dirty="0">
                <a:latin typeface="Times New Roman" panose="02020603050405020304" pitchFamily="18" charset="0"/>
              </a:rPr>
              <a:t>∨Y</a:t>
            </a:r>
            <a:r>
              <a:rPr lang="en-US" altLang="zh-CN" baseline="-25000" dirty="0">
                <a:latin typeface="Times New Roman" panose="02020603050405020304" pitchFamily="18" charset="0"/>
              </a:rPr>
              <a:t>i</a:t>
            </a:r>
            <a:r>
              <a:rPr lang="zh-CN" altLang="en-US" dirty="0">
                <a:latin typeface="Times New Roman" panose="02020603050405020304" pitchFamily="18" charset="0"/>
              </a:rPr>
              <a:t>（</a:t>
            </a:r>
            <a:r>
              <a:rPr lang="en-US" altLang="zh-CN" dirty="0">
                <a:latin typeface="Times New Roman" panose="02020603050405020304" pitchFamily="18" charset="0"/>
              </a:rPr>
              <a:t>i=0</a:t>
            </a: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n</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a:spcBef>
                <a:spcPts val="1800"/>
              </a:spcBef>
            </a:pPr>
            <a:r>
              <a:rPr lang="en-US" altLang="zh-CN" dirty="0">
                <a:latin typeface="Times New Roman" panose="02020603050405020304" pitchFamily="18" charset="0"/>
              </a:rPr>
              <a:t>4.</a:t>
            </a:r>
            <a:r>
              <a:rPr lang="zh-CN" altLang="en-US" dirty="0">
                <a:latin typeface="Times New Roman" panose="02020603050405020304" pitchFamily="18" charset="0"/>
              </a:rPr>
              <a:t>逻辑异或</a:t>
            </a:r>
            <a:endParaRPr lang="zh-CN" altLang="en-US"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对两个寄存器或主存单元中相应位</a:t>
            </a:r>
            <a:r>
              <a:rPr lang="zh-CN" altLang="en-US" dirty="0">
                <a:solidFill>
                  <a:srgbClr val="FF0000"/>
                </a:solidFill>
                <a:latin typeface="Times New Roman" panose="02020603050405020304" pitchFamily="18" charset="0"/>
              </a:rPr>
              <a:t>按位模</a:t>
            </a:r>
            <a:r>
              <a:rPr lang="en-US" altLang="zh-CN" dirty="0">
                <a:solidFill>
                  <a:srgbClr val="FF0000"/>
                </a:solidFill>
                <a:latin typeface="Times New Roman" panose="02020603050405020304" pitchFamily="18" charset="0"/>
              </a:rPr>
              <a:t>2</a:t>
            </a:r>
            <a:r>
              <a:rPr lang="zh-CN" altLang="en-US" dirty="0">
                <a:solidFill>
                  <a:srgbClr val="FF0000"/>
                </a:solidFill>
                <a:latin typeface="Times New Roman" panose="02020603050405020304" pitchFamily="18" charset="0"/>
              </a:rPr>
              <a:t>和</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设：</a:t>
            </a:r>
            <a:r>
              <a:rPr lang="en-US" altLang="zh-CN" dirty="0">
                <a:latin typeface="Times New Roman" panose="02020603050405020304" pitchFamily="18" charset="0"/>
              </a:rPr>
              <a:t>X=X</a:t>
            </a:r>
            <a:r>
              <a:rPr lang="en-US" altLang="zh-CN" baseline="-25000" dirty="0">
                <a:latin typeface="Times New Roman" panose="02020603050405020304" pitchFamily="18" charset="0"/>
              </a:rPr>
              <a:t>0</a:t>
            </a:r>
            <a:r>
              <a:rPr lang="en-US" altLang="zh-CN" dirty="0">
                <a:latin typeface="Times New Roman" panose="02020603050405020304" pitchFamily="18" charset="0"/>
              </a:rPr>
              <a:t>X</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X</a:t>
            </a:r>
            <a:r>
              <a:rPr lang="en-US" altLang="zh-CN" baseline="-25000"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Y=Y</a:t>
            </a:r>
            <a:r>
              <a:rPr lang="en-US" altLang="zh-CN" baseline="-25000" dirty="0">
                <a:latin typeface="Times New Roman" panose="02020603050405020304" pitchFamily="18" charset="0"/>
              </a:rPr>
              <a:t>0</a:t>
            </a:r>
            <a:r>
              <a:rPr lang="en-US" altLang="zh-CN" dirty="0">
                <a:latin typeface="Times New Roman" panose="02020603050405020304" pitchFamily="18" charset="0"/>
              </a:rPr>
              <a:t>Y</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Y</a:t>
            </a:r>
            <a:r>
              <a:rPr lang="en-US" altLang="zh-CN" baseline="-25000" dirty="0">
                <a:latin typeface="Times New Roman" panose="02020603050405020304" pitchFamily="18" charset="0"/>
              </a:rPr>
              <a:t>n</a:t>
            </a:r>
            <a:r>
              <a:rPr lang="zh-CN" altLang="en-US" dirty="0">
                <a:latin typeface="Times New Roman" panose="02020603050405020304" pitchFamily="18" charset="0"/>
              </a:rPr>
              <a:t>，</a:t>
            </a:r>
            <a:r>
              <a:rPr lang="en-US" altLang="zh-CN" dirty="0">
                <a:latin typeface="Times New Roman" panose="02020603050405020304" pitchFamily="18" charset="0"/>
              </a:rPr>
              <a:t>Z=Z</a:t>
            </a:r>
            <a:r>
              <a:rPr lang="en-US" altLang="zh-CN" baseline="-25000" dirty="0">
                <a:latin typeface="Times New Roman" panose="02020603050405020304" pitchFamily="18" charset="0"/>
              </a:rPr>
              <a:t>0</a:t>
            </a:r>
            <a:r>
              <a:rPr lang="en-US" altLang="zh-CN" dirty="0">
                <a:latin typeface="Times New Roman" panose="02020603050405020304" pitchFamily="18" charset="0"/>
              </a:rPr>
              <a:t>Z</a:t>
            </a:r>
            <a:r>
              <a:rPr lang="en-US" altLang="zh-CN" baseline="-25000" dirty="0">
                <a:latin typeface="Times New Roman" panose="02020603050405020304" pitchFamily="18" charset="0"/>
              </a:rPr>
              <a:t>1</a:t>
            </a:r>
            <a:r>
              <a:rPr lang="en-US" altLang="zh-CN" dirty="0">
                <a:latin typeface="Times New Roman" panose="02020603050405020304" pitchFamily="18" charset="0"/>
                <a:ea typeface="Times New Roman" panose="02020603050405020304" pitchFamily="18" charset="0"/>
              </a:rPr>
              <a:t>…</a:t>
            </a:r>
            <a:r>
              <a:rPr lang="en-US" altLang="zh-CN" dirty="0">
                <a:latin typeface="Times New Roman" panose="02020603050405020304" pitchFamily="18" charset="0"/>
              </a:rPr>
              <a:t>Z</a:t>
            </a:r>
            <a:r>
              <a:rPr lang="en-US" altLang="zh-CN" baseline="-25000" dirty="0">
                <a:latin typeface="Times New Roman" panose="02020603050405020304" pitchFamily="18" charset="0"/>
              </a:rPr>
              <a:t>n</a:t>
            </a:r>
            <a:endParaRPr lang="en-US" altLang="zh-CN" baseline="-25000"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则：</a:t>
            </a:r>
            <a:r>
              <a:rPr lang="en-US" altLang="zh-CN" dirty="0">
                <a:latin typeface="Times New Roman" panose="02020603050405020304" pitchFamily="18" charset="0"/>
              </a:rPr>
              <a:t>Z</a:t>
            </a:r>
            <a:r>
              <a:rPr lang="en-US" altLang="zh-CN" baseline="-25000" dirty="0">
                <a:latin typeface="Times New Roman" panose="02020603050405020304" pitchFamily="18" charset="0"/>
              </a:rPr>
              <a:t>i</a:t>
            </a:r>
            <a:r>
              <a:rPr lang="en-US" altLang="zh-CN" dirty="0">
                <a:latin typeface="Times New Roman" panose="02020603050405020304" pitchFamily="18" charset="0"/>
              </a:rPr>
              <a:t>=X</a:t>
            </a:r>
            <a:r>
              <a:rPr lang="en-US" altLang="zh-CN" baseline="-25000" dirty="0">
                <a:latin typeface="Times New Roman" panose="02020603050405020304" pitchFamily="18" charset="0"/>
              </a:rPr>
              <a:t>i</a:t>
            </a:r>
            <a:r>
              <a:rPr lang="en-US" altLang="zh-CN" dirty="0">
                <a:latin typeface="Times New Roman" panose="02020603050405020304" pitchFamily="18" charset="0"/>
              </a:rPr>
              <a:t>⊕Y</a:t>
            </a:r>
            <a:r>
              <a:rPr lang="en-US" altLang="zh-CN" baseline="-25000" dirty="0">
                <a:latin typeface="Times New Roman" panose="02020603050405020304" pitchFamily="18" charset="0"/>
              </a:rPr>
              <a:t>i</a:t>
            </a:r>
            <a:r>
              <a:rPr lang="zh-CN" altLang="en-US" dirty="0">
                <a:latin typeface="Times New Roman" panose="02020603050405020304" pitchFamily="18" charset="0"/>
              </a:rPr>
              <a:t>（</a:t>
            </a:r>
            <a:r>
              <a:rPr lang="en-US" altLang="zh-CN" dirty="0">
                <a:latin typeface="Times New Roman" panose="02020603050405020304" pitchFamily="18" charset="0"/>
              </a:rPr>
              <a:t>i=0</a:t>
            </a:r>
            <a:r>
              <a:rPr lang="zh-CN" altLang="en-US" dirty="0">
                <a:latin typeface="Times New Roman" panose="02020603050405020304" pitchFamily="18" charset="0"/>
              </a:rPr>
              <a:t>，</a:t>
            </a:r>
            <a:r>
              <a:rPr lang="en-US" altLang="zh-CN" dirty="0">
                <a:latin typeface="Times New Roman" panose="02020603050405020304" pitchFamily="18" charset="0"/>
              </a:rPr>
              <a:t>1</a:t>
            </a:r>
            <a:r>
              <a:rPr lang="zh-CN" altLang="en-US" dirty="0">
                <a:latin typeface="Times New Roman" panose="02020603050405020304" pitchFamily="18" charset="0"/>
              </a:rPr>
              <a:t>，</a:t>
            </a:r>
            <a:r>
              <a:rPr lang="en-US" altLang="zh-CN" dirty="0">
                <a:latin typeface="Times New Roman" panose="02020603050405020304" pitchFamily="18" charset="0"/>
                <a:ea typeface="Times New Roman" panose="02020603050405020304" pitchFamily="18" charset="0"/>
              </a:rPr>
              <a:t>…</a:t>
            </a:r>
            <a:r>
              <a:rPr lang="zh-CN" altLang="en-US" dirty="0">
                <a:latin typeface="Times New Roman" panose="02020603050405020304" pitchFamily="18" charset="0"/>
              </a:rPr>
              <a:t>，</a:t>
            </a:r>
            <a:r>
              <a:rPr lang="en-US" altLang="zh-CN" dirty="0">
                <a:latin typeface="Times New Roman" panose="02020603050405020304" pitchFamily="18" charset="0"/>
              </a:rPr>
              <a:t>n</a:t>
            </a:r>
            <a:r>
              <a:rPr lang="zh-CN" altLang="en-US" dirty="0">
                <a:latin typeface="Times New Roman" panose="02020603050405020304" pitchFamily="18" charset="0"/>
              </a:rPr>
              <a:t>）</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486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4.9 </a:t>
            </a:r>
            <a:r>
              <a:rPr lang="zh-CN" altLang="en-US" dirty="0">
                <a:latin typeface="Times New Roman" panose="02020603050405020304" pitchFamily="18" charset="0"/>
              </a:rPr>
              <a:t>运算器的基本组成与实例</a:t>
            </a:r>
            <a:endParaRPr lang="zh-CN" altLang="en-US" dirty="0">
              <a:latin typeface="Times New Roman" panose="02020603050405020304" pitchFamily="18" charset="0"/>
            </a:endParaRPr>
          </a:p>
        </p:txBody>
      </p:sp>
      <p:sp>
        <p:nvSpPr>
          <p:cNvPr id="164866"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运算器是在控制器的控制下实现其功能的。</a:t>
            </a:r>
            <a:endParaRPr lang="zh-CN" altLang="en-US"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运算器可以完成数据信息的</a:t>
            </a:r>
            <a:r>
              <a:rPr lang="zh-CN" altLang="en-US" dirty="0">
                <a:solidFill>
                  <a:srgbClr val="FF0000"/>
                </a:solidFill>
                <a:latin typeface="Times New Roman" panose="02020603050405020304" pitchFamily="18" charset="0"/>
              </a:rPr>
              <a:t>算逻运算</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还可以作为数据信息的</a:t>
            </a:r>
            <a:r>
              <a:rPr lang="zh-CN" altLang="en-US" dirty="0">
                <a:solidFill>
                  <a:srgbClr val="FF0000"/>
                </a:solidFill>
                <a:latin typeface="Times New Roman" panose="02020603050405020304" pitchFamily="18" charset="0"/>
              </a:rPr>
              <a:t>传送通路</a:t>
            </a:r>
            <a:r>
              <a:rPr lang="zh-CN" altLang="en-US"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588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4.9.1 </a:t>
            </a:r>
            <a:r>
              <a:rPr lang="zh-CN" altLang="en-US" dirty="0">
                <a:latin typeface="Times New Roman" panose="02020603050405020304" pitchFamily="18" charset="0"/>
              </a:rPr>
              <a:t>运算器结构 </a:t>
            </a:r>
            <a:endParaRPr lang="zh-CN" altLang="en-US" dirty="0">
              <a:latin typeface="Times New Roman" panose="02020603050405020304" pitchFamily="18" charset="0"/>
            </a:endParaRPr>
          </a:p>
        </p:txBody>
      </p:sp>
      <p:sp>
        <p:nvSpPr>
          <p:cNvPr id="165890" name="内容占位符 2"/>
          <p:cNvSpPr>
            <a:spLocks noGrp="1"/>
          </p:cNvSpPr>
          <p:nvPr>
            <p:ph idx="1"/>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运算器的基本组成</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基本的运算器包含：</a:t>
            </a:r>
            <a:endParaRPr lang="en-US" altLang="zh-CN" dirty="0">
              <a:latin typeface="Times New Roman" panose="02020603050405020304" pitchFamily="18" charset="0"/>
            </a:endParaRPr>
          </a:p>
          <a:p>
            <a:pPr lvl="2" latinLnBrk="0">
              <a:spcBef>
                <a:spcPts val="600"/>
              </a:spcBef>
            </a:pPr>
            <a:r>
              <a:rPr lang="zh-CN" altLang="en-US" dirty="0">
                <a:latin typeface="Times New Roman" panose="02020603050405020304" pitchFamily="18" charset="0"/>
              </a:rPr>
              <a:t>实现基本算术、逻辑运算功能的</a:t>
            </a:r>
            <a:r>
              <a:rPr lang="en-US" altLang="zh-CN" dirty="0">
                <a:solidFill>
                  <a:srgbClr val="FF0000"/>
                </a:solidFill>
                <a:latin typeface="Times New Roman" panose="02020603050405020304" pitchFamily="18" charset="0"/>
              </a:rPr>
              <a:t>ALU</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latinLnBrk="0">
              <a:spcBef>
                <a:spcPts val="600"/>
              </a:spcBef>
            </a:pPr>
            <a:r>
              <a:rPr lang="zh-CN" altLang="en-US" dirty="0">
                <a:latin typeface="Times New Roman" panose="02020603050405020304" pitchFamily="18" charset="0"/>
              </a:rPr>
              <a:t>提供操作数与暂存结果的</a:t>
            </a:r>
            <a:r>
              <a:rPr lang="zh-CN" altLang="en-US" dirty="0">
                <a:solidFill>
                  <a:srgbClr val="FF0000"/>
                </a:solidFill>
                <a:latin typeface="Times New Roman" panose="02020603050405020304" pitchFamily="18" charset="0"/>
              </a:rPr>
              <a:t>寄存器组</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2" latinLnBrk="0">
              <a:spcBef>
                <a:spcPts val="600"/>
              </a:spcBef>
            </a:pPr>
            <a:r>
              <a:rPr lang="zh-CN" altLang="en-US" dirty="0">
                <a:latin typeface="Times New Roman" panose="02020603050405020304" pitchFamily="18" charset="0"/>
              </a:rPr>
              <a:t>有关的</a:t>
            </a:r>
            <a:r>
              <a:rPr lang="zh-CN" altLang="en-US" dirty="0">
                <a:solidFill>
                  <a:srgbClr val="FF0000"/>
                </a:solidFill>
                <a:latin typeface="Times New Roman" panose="02020603050405020304" pitchFamily="18" charset="0"/>
              </a:rPr>
              <a:t>判别逻辑和控制电路</a:t>
            </a:r>
            <a:r>
              <a:rPr lang="zh-CN" altLang="en-US" dirty="0">
                <a:latin typeface="Times New Roman" panose="02020603050405020304" pitchFamily="18" charset="0"/>
              </a:rPr>
              <a:t>等。</a:t>
            </a:r>
            <a:endParaRPr lang="zh-CN" altLang="en-US"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各功能模块之间的连接广泛采用</a:t>
            </a:r>
            <a:r>
              <a:rPr lang="zh-CN" altLang="en-US" dirty="0">
                <a:solidFill>
                  <a:srgbClr val="FF0000"/>
                </a:solidFill>
                <a:latin typeface="Times New Roman" panose="02020603050405020304" pitchFamily="18" charset="0"/>
              </a:rPr>
              <a:t>总线</a:t>
            </a:r>
            <a:r>
              <a:rPr lang="zh-CN" altLang="en-US" dirty="0">
                <a:latin typeface="Times New Roman" panose="02020603050405020304" pitchFamily="18" charset="0"/>
              </a:rPr>
              <a:t>结构：</a:t>
            </a:r>
            <a:endParaRPr lang="en-US" altLang="zh-CN" dirty="0">
              <a:latin typeface="Times New Roman" panose="02020603050405020304" pitchFamily="18" charset="0"/>
            </a:endParaRPr>
          </a:p>
          <a:p>
            <a:pPr lvl="2" latinLnBrk="0">
              <a:spcBef>
                <a:spcPts val="600"/>
              </a:spcBef>
            </a:pPr>
            <a:r>
              <a:rPr lang="zh-CN" altLang="en-US" dirty="0">
                <a:latin typeface="Times New Roman" panose="02020603050405020304" pitchFamily="18" charset="0"/>
              </a:rPr>
              <a:t>内部总线，</a:t>
            </a:r>
            <a:r>
              <a:rPr lang="en-US" altLang="zh-CN" dirty="0">
                <a:latin typeface="Times New Roman" panose="02020603050405020304" pitchFamily="18" charset="0"/>
              </a:rPr>
              <a:t>ALU</a:t>
            </a:r>
            <a:r>
              <a:rPr lang="zh-CN" altLang="en-US" dirty="0">
                <a:latin typeface="Times New Roman" panose="02020603050405020304" pitchFamily="18" charset="0"/>
              </a:rPr>
              <a:t>和各寄存器都挂在上面。</a:t>
            </a:r>
            <a:endParaRPr lang="en-US" altLang="zh-CN"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运算器的内部总线只有数据线。</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691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1.</a:t>
            </a:r>
            <a:r>
              <a:rPr lang="zh-CN" altLang="en-US" dirty="0">
                <a:latin typeface="Times New Roman" panose="02020603050405020304" pitchFamily="18" charset="0"/>
              </a:rPr>
              <a:t>运算器的基本组成（续）</a:t>
            </a:r>
            <a:endParaRPr lang="zh-CN" altLang="en-US" dirty="0">
              <a:latin typeface="Times New Roman" panose="02020603050405020304" pitchFamily="18" charset="0"/>
            </a:endParaRPr>
          </a:p>
        </p:txBody>
      </p:sp>
      <p:sp>
        <p:nvSpPr>
          <p:cNvPr id="166914"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⑴带多路选择器的运算器</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各寄存器</a:t>
            </a:r>
            <a:r>
              <a:rPr lang="zh-CN" altLang="en-US" dirty="0">
                <a:solidFill>
                  <a:srgbClr val="FF0000"/>
                </a:solidFill>
                <a:latin typeface="Times New Roman" panose="02020603050405020304" pitchFamily="18" charset="0"/>
              </a:rPr>
              <a:t>独立、多路</a:t>
            </a:r>
            <a:r>
              <a:rPr lang="zh-CN" altLang="en-US" dirty="0">
                <a:latin typeface="Times New Roman" panose="02020603050405020304" pitchFamily="18" charset="0"/>
              </a:rPr>
              <a:t>地将数据送至</a:t>
            </a:r>
            <a:r>
              <a:rPr lang="en-US" altLang="zh-CN" dirty="0">
                <a:latin typeface="Times New Roman" panose="02020603050405020304" pitchFamily="18" charset="0"/>
              </a:rPr>
              <a:t>ALU</a:t>
            </a:r>
            <a:r>
              <a:rPr lang="zh-CN" altLang="en-US" dirty="0">
                <a:latin typeface="Times New Roman" panose="02020603050405020304" pitchFamily="18" charset="0"/>
              </a:rPr>
              <a:t>；</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内部总线</a:t>
            </a:r>
            <a:r>
              <a:rPr lang="zh-CN" altLang="en-US" dirty="0">
                <a:solidFill>
                  <a:srgbClr val="FF0000"/>
                </a:solidFill>
                <a:latin typeface="Times New Roman" panose="02020603050405020304" pitchFamily="18" charset="0"/>
              </a:rPr>
              <a:t>单向传送</a:t>
            </a:r>
            <a:r>
              <a:rPr lang="zh-CN" altLang="en-US" dirty="0">
                <a:latin typeface="Times New Roman" panose="02020603050405020304" pitchFamily="18" charset="0"/>
              </a:rPr>
              <a:t>，将运算结果送往各寄存器</a:t>
            </a:r>
            <a:endParaRPr lang="zh-CN" altLang="en-US" dirty="0">
              <a:latin typeface="Times New Roman" panose="02020603050405020304" pitchFamily="18" charset="0"/>
            </a:endParaRPr>
          </a:p>
          <a:p>
            <a:pPr lvl="1">
              <a:spcBef>
                <a:spcPts val="1200"/>
              </a:spcBef>
            </a:pPr>
            <a:r>
              <a:rPr lang="zh-CN" altLang="en-US" dirty="0">
                <a:latin typeface="Times New Roman" panose="02020603050405020304" pitchFamily="18" charset="0"/>
              </a:rPr>
              <a:t>由</a:t>
            </a:r>
            <a:r>
              <a:rPr lang="zh-CN" altLang="en-US" dirty="0">
                <a:solidFill>
                  <a:srgbClr val="FF0000"/>
                </a:solidFill>
                <a:latin typeface="Times New Roman" panose="02020603050405020304" pitchFamily="18" charset="0"/>
              </a:rPr>
              <a:t>同步打入脉冲</a:t>
            </a:r>
            <a:r>
              <a:rPr lang="en-US" altLang="zh-CN" dirty="0">
                <a:solidFill>
                  <a:srgbClr val="FF0000"/>
                </a:solidFill>
                <a:latin typeface="Times New Roman" panose="02020603050405020304" pitchFamily="18" charset="0"/>
              </a:rPr>
              <a:t>CPi</a:t>
            </a:r>
            <a:r>
              <a:rPr lang="zh-CN" altLang="en-US" dirty="0">
                <a:latin typeface="Times New Roman" panose="02020603050405020304" pitchFamily="18" charset="0"/>
              </a:rPr>
              <a:t>将内部总线上的数据送入</a:t>
            </a:r>
            <a:r>
              <a:rPr lang="en-US" altLang="zh-CN" dirty="0">
                <a:latin typeface="Times New Roman" panose="02020603050405020304" pitchFamily="18" charset="0"/>
              </a:rPr>
              <a:t>Ri</a:t>
            </a:r>
            <a:endParaRPr lang="en-US" altLang="zh-CN" dirty="0">
              <a:latin typeface="Times New Roman" panose="02020603050405020304" pitchFamily="18" charset="0"/>
            </a:endParaRPr>
          </a:p>
          <a:p>
            <a:pPr lvl="2">
              <a:spcBef>
                <a:spcPts val="1200"/>
              </a:spcBef>
            </a:pPr>
            <a:r>
              <a:rPr lang="zh-CN" altLang="en-US" dirty="0">
                <a:latin typeface="Times New Roman" panose="02020603050405020304" pitchFamily="18" charset="0"/>
              </a:rPr>
              <a:t>如果同时发出几个打入脉冲，可将总线上的同一数据同时送入几个相关的寄存器中。 </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7937" name="标题 1"/>
          <p:cNvSpPr>
            <a:spLocks noGrp="1"/>
          </p:cNvSpPr>
          <p:nvPr>
            <p:ph type="title"/>
          </p:nvPr>
        </p:nvSpPr>
        <p:spPr>
          <a:noFill/>
          <a:ln>
            <a:noFill/>
          </a:ln>
        </p:spPr>
        <p:txBody>
          <a:bodyPr anchor="t" anchorCtr="0"/>
          <a:p>
            <a:r>
              <a:rPr lang="zh-CN" altLang="en-US" dirty="0"/>
              <a:t>带多路选择器的运算器</a:t>
            </a:r>
            <a:endParaRPr lang="zh-CN" altLang="en-US" dirty="0"/>
          </a:p>
        </p:txBody>
      </p:sp>
      <p:graphicFrame>
        <p:nvGraphicFramePr>
          <p:cNvPr id="167938" name="Object 4"/>
          <p:cNvGraphicFramePr>
            <a:graphicFrameLocks noChangeAspect="1"/>
          </p:cNvGraphicFramePr>
          <p:nvPr/>
        </p:nvGraphicFramePr>
        <p:xfrm>
          <a:off x="838200" y="1336675"/>
          <a:ext cx="7467600" cy="4183063"/>
        </p:xfrm>
        <a:graphic>
          <a:graphicData uri="http://schemas.openxmlformats.org/presentationml/2006/ole">
            <mc:AlternateContent xmlns:mc="http://schemas.openxmlformats.org/markup-compatibility/2006">
              <mc:Choice xmlns:v="urn:schemas-microsoft-com:vml" Requires="v">
                <p:oleObj spid="_x0000_s3094" name="" r:id="rId1" imgW="3365500" imgH="1879600" progId="Visio.Drawing.6">
                  <p:embed/>
                </p:oleObj>
              </mc:Choice>
              <mc:Fallback>
                <p:oleObj name="" r:id="rId1" imgW="3365500" imgH="1879600" progId="Visio.Drawing.6">
                  <p:embed/>
                  <p:pic>
                    <p:nvPicPr>
                      <p:cNvPr id="0" name="图片 3093"/>
                      <p:cNvPicPr/>
                      <p:nvPr/>
                    </p:nvPicPr>
                    <p:blipFill>
                      <a:blip r:embed="rId2"/>
                      <a:stretch>
                        <a:fillRect/>
                      </a:stretch>
                    </p:blipFill>
                    <p:spPr>
                      <a:xfrm>
                        <a:off x="838200" y="1336675"/>
                        <a:ext cx="7467600" cy="4183063"/>
                      </a:xfrm>
                      <a:prstGeom prst="rect">
                        <a:avLst/>
                      </a:prstGeom>
                      <a:noFill/>
                      <a:ln w="38100">
                        <a:noFill/>
                        <a:miter/>
                      </a:ln>
                    </p:spPr>
                  </p:pic>
                </p:oleObj>
              </mc:Fallback>
            </mc:AlternateContent>
          </a:graphicData>
        </a:graphic>
      </p:graphicFrame>
      <p:sp>
        <p:nvSpPr>
          <p:cNvPr id="167939" name="Rectangle 7"/>
          <p:cNvSpPr>
            <a:spLocks noGrp="1"/>
          </p:cNvSpPr>
          <p:nvPr>
            <p:ph idx="1"/>
          </p:nvPr>
        </p:nvSpPr>
        <p:spPr>
          <a:xfrm>
            <a:off x="685800" y="5715000"/>
            <a:ext cx="7772400" cy="685800"/>
          </a:xfrm>
          <a:noFill/>
          <a:ln>
            <a:noFill/>
          </a:ln>
        </p:spPr>
        <p:txBody>
          <a:bodyPr anchor="t" anchorCtr="0"/>
          <a:p>
            <a:pPr algn="ctr" eaLnBrk="1" hangingPunct="1">
              <a:buFontTx/>
              <a:buNone/>
            </a:pPr>
            <a:r>
              <a:rPr lang="zh-CN" altLang="en-US" sz="2400" dirty="0"/>
              <a:t>图4-24 带多路选择器的运算器</a:t>
            </a:r>
            <a:endParaRPr lang="zh-CN" altLang="en-US" sz="24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8961" name="标题 1"/>
          <p:cNvSpPr>
            <a:spLocks noGrp="1"/>
          </p:cNvSpPr>
          <p:nvPr>
            <p:ph type="title"/>
          </p:nvPr>
        </p:nvSpPr>
        <p:spPr>
          <a:noFill/>
          <a:ln>
            <a:noFill/>
          </a:ln>
        </p:spPr>
        <p:txBody>
          <a:bodyPr anchor="t" anchorCtr="0"/>
          <a:p>
            <a:r>
              <a:rPr lang="en-US" altLang="zh-CN" dirty="0"/>
              <a:t>1.</a:t>
            </a:r>
            <a:r>
              <a:rPr lang="zh-CN" altLang="en-US" dirty="0"/>
              <a:t>运算器的基本组成（续）</a:t>
            </a:r>
            <a:endParaRPr lang="zh-CN" altLang="en-US" dirty="0"/>
          </a:p>
        </p:txBody>
      </p:sp>
      <p:sp>
        <p:nvSpPr>
          <p:cNvPr id="168962"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⑵带输入锁存器的运算器</a:t>
            </a:r>
            <a:endParaRPr lang="zh-CN" altLang="en-US" dirty="0">
              <a:latin typeface="Times New Roman" panose="02020603050405020304" pitchFamily="18" charset="0"/>
            </a:endParaRPr>
          </a:p>
          <a:p>
            <a:pPr lvl="1">
              <a:spcBef>
                <a:spcPts val="1800"/>
              </a:spcBef>
            </a:pPr>
            <a:r>
              <a:rPr lang="zh-CN" altLang="en-US" dirty="0">
                <a:latin typeface="Times New Roman" panose="02020603050405020304" pitchFamily="18" charset="0"/>
              </a:rPr>
              <a:t>运算器的内部总线是一组</a:t>
            </a:r>
            <a:r>
              <a:rPr lang="zh-CN" altLang="en-US" dirty="0">
                <a:solidFill>
                  <a:srgbClr val="FF0000"/>
                </a:solidFill>
                <a:latin typeface="Times New Roman" panose="02020603050405020304" pitchFamily="18" charset="0"/>
              </a:rPr>
              <a:t>双向传送</a:t>
            </a:r>
            <a:r>
              <a:rPr lang="zh-CN" altLang="en-US" dirty="0">
                <a:latin typeface="Times New Roman" panose="02020603050405020304" pitchFamily="18" charset="0"/>
              </a:rPr>
              <a:t>的数据线；</a:t>
            </a:r>
            <a:endParaRPr lang="zh-CN" altLang="en-US" dirty="0">
              <a:latin typeface="Times New Roman" panose="02020603050405020304" pitchFamily="18" charset="0"/>
            </a:endParaRPr>
          </a:p>
          <a:p>
            <a:pPr lvl="1">
              <a:spcBef>
                <a:spcPts val="1800"/>
              </a:spcBef>
            </a:pPr>
            <a:r>
              <a:rPr lang="en-US" altLang="zh-CN" dirty="0">
                <a:latin typeface="Times New Roman" panose="02020603050405020304" pitchFamily="18" charset="0"/>
              </a:rPr>
              <a:t>ALU</a:t>
            </a:r>
            <a:r>
              <a:rPr lang="zh-CN" altLang="en-US" dirty="0">
                <a:latin typeface="Times New Roman" panose="02020603050405020304" pitchFamily="18" charset="0"/>
              </a:rPr>
              <a:t>输入端前设置一级锁存器，暂存操作数；</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例如：实现</a:t>
            </a:r>
            <a:r>
              <a:rPr lang="en-US" altLang="zh-CN" dirty="0">
                <a:latin typeface="Times New Roman" panose="02020603050405020304" pitchFamily="18" charset="0"/>
              </a:rPr>
              <a:t>(R0)+(R1)→R2</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通过内部总线先将</a:t>
            </a:r>
            <a:r>
              <a:rPr lang="en-US" altLang="zh-CN" dirty="0">
                <a:latin typeface="Times New Roman" panose="02020603050405020304" pitchFamily="18" charset="0"/>
              </a:rPr>
              <a:t>R0</a:t>
            </a:r>
            <a:r>
              <a:rPr lang="zh-CN" altLang="en-US" dirty="0">
                <a:latin typeface="Times New Roman" panose="02020603050405020304" pitchFamily="18" charset="0"/>
              </a:rPr>
              <a:t>中的数据送入锁存器</a:t>
            </a:r>
            <a:r>
              <a:rPr lang="en-US" altLang="zh-CN" dirty="0">
                <a:latin typeface="Times New Roman" panose="02020603050405020304" pitchFamily="18" charset="0"/>
              </a:rPr>
              <a:t>1</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通过内部总线将</a:t>
            </a:r>
            <a:r>
              <a:rPr lang="en-US" altLang="zh-CN" dirty="0">
                <a:latin typeface="Times New Roman" panose="02020603050405020304" pitchFamily="18" charset="0"/>
              </a:rPr>
              <a:t>R1</a:t>
            </a:r>
            <a:r>
              <a:rPr lang="zh-CN" altLang="en-US" dirty="0">
                <a:latin typeface="Times New Roman" panose="02020603050405020304" pitchFamily="18" charset="0"/>
              </a:rPr>
              <a:t>中的数据送入锁存器</a:t>
            </a:r>
            <a:r>
              <a:rPr lang="en-US" altLang="zh-CN" dirty="0">
                <a:latin typeface="Times New Roman" panose="02020603050405020304" pitchFamily="18" charset="0"/>
              </a:rPr>
              <a:t>2</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a:spcBef>
                <a:spcPts val="1200"/>
              </a:spcBef>
            </a:pPr>
            <a:r>
              <a:rPr lang="zh-CN" altLang="en-US" dirty="0">
                <a:latin typeface="Times New Roman" panose="02020603050405020304" pitchFamily="18" charset="0"/>
              </a:rPr>
              <a:t>然后相加，并将结果经总线送入</a:t>
            </a:r>
            <a:r>
              <a:rPr lang="en-US" altLang="zh-CN" dirty="0">
                <a:latin typeface="Times New Roman" panose="02020603050405020304" pitchFamily="18" charset="0"/>
              </a:rPr>
              <a:t>R2</a:t>
            </a:r>
            <a:r>
              <a:rPr lang="zh-CN" altLang="en-US" dirty="0">
                <a:latin typeface="Times New Roman" panose="02020603050405020304" pitchFamily="18" charset="0"/>
              </a:rPr>
              <a:t>。 </a:t>
            </a:r>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9985"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带输入锁存器的运算器</a:t>
            </a:r>
            <a:endParaRPr lang="zh-CN" altLang="en-US" dirty="0">
              <a:latin typeface="Times New Roman" panose="02020603050405020304" pitchFamily="18" charset="0"/>
            </a:endParaRPr>
          </a:p>
        </p:txBody>
      </p:sp>
      <p:graphicFrame>
        <p:nvGraphicFramePr>
          <p:cNvPr id="169986" name="Object 4"/>
          <p:cNvGraphicFramePr>
            <a:graphicFrameLocks noChangeAspect="1"/>
          </p:cNvGraphicFramePr>
          <p:nvPr/>
        </p:nvGraphicFramePr>
        <p:xfrm>
          <a:off x="762000" y="1439863"/>
          <a:ext cx="7848600" cy="4098925"/>
        </p:xfrm>
        <a:graphic>
          <a:graphicData uri="http://schemas.openxmlformats.org/presentationml/2006/ole">
            <mc:AlternateContent xmlns:mc="http://schemas.openxmlformats.org/markup-compatibility/2006">
              <mc:Choice xmlns:v="urn:schemas-microsoft-com:vml" Requires="v">
                <p:oleObj spid="_x0000_s3093" name="" r:id="rId1" imgW="3304540" imgH="1724660" progId="Visio.Drawing.6">
                  <p:embed/>
                </p:oleObj>
              </mc:Choice>
              <mc:Fallback>
                <p:oleObj name="" r:id="rId1" imgW="3304540" imgH="1724660" progId="Visio.Drawing.6">
                  <p:embed/>
                  <p:pic>
                    <p:nvPicPr>
                      <p:cNvPr id="0" name="图片 3092"/>
                      <p:cNvPicPr/>
                      <p:nvPr/>
                    </p:nvPicPr>
                    <p:blipFill>
                      <a:blip r:embed="rId2"/>
                      <a:stretch>
                        <a:fillRect/>
                      </a:stretch>
                    </p:blipFill>
                    <p:spPr>
                      <a:xfrm>
                        <a:off x="762000" y="1439863"/>
                        <a:ext cx="7848600" cy="4098925"/>
                      </a:xfrm>
                      <a:prstGeom prst="rect">
                        <a:avLst/>
                      </a:prstGeom>
                      <a:noFill/>
                      <a:ln w="38100">
                        <a:noFill/>
                        <a:miter/>
                      </a:ln>
                    </p:spPr>
                  </p:pic>
                </p:oleObj>
              </mc:Fallback>
            </mc:AlternateContent>
          </a:graphicData>
        </a:graphic>
      </p:graphicFrame>
      <p:sp>
        <p:nvSpPr>
          <p:cNvPr id="169987" name="Rectangle 7"/>
          <p:cNvSpPr>
            <a:spLocks noGrp="1"/>
          </p:cNvSpPr>
          <p:nvPr>
            <p:ph idx="1"/>
          </p:nvPr>
        </p:nvSpPr>
        <p:spPr>
          <a:xfrm>
            <a:off x="685800" y="5638800"/>
            <a:ext cx="7772400" cy="609600"/>
          </a:xfrm>
          <a:noFill/>
          <a:ln>
            <a:noFill/>
          </a:ln>
        </p:spPr>
        <p:txBody>
          <a:bodyPr anchor="t" anchorCtr="0"/>
          <a:p>
            <a:pPr algn="ctr" eaLnBrk="1" hangingPunct="1">
              <a:buFontTx/>
              <a:buNone/>
            </a:pPr>
            <a:r>
              <a:rPr lang="zh-CN" altLang="en-US" sz="2400" dirty="0">
                <a:latin typeface="Times New Roman" panose="02020603050405020304" pitchFamily="18" charset="0"/>
              </a:rPr>
              <a:t>图4-25 带输入锁存器的运算器</a:t>
            </a:r>
            <a:endParaRPr lang="zh-CN" altLang="en-US" sz="2400" dirty="0">
              <a:latin typeface="Times New Roman" panose="02020603050405020304" pitchFamily="18" charset="0"/>
            </a:endParaRP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1009" name="标题 1"/>
          <p:cNvSpPr>
            <a:spLocks noGrp="1"/>
          </p:cNvSpPr>
          <p:nvPr>
            <p:ph type="title"/>
          </p:nvPr>
        </p:nvSpPr>
        <p:spPr>
          <a:noFill/>
          <a:ln>
            <a:noFill/>
          </a:ln>
        </p:spPr>
        <p:txBody>
          <a:bodyPr anchor="t" anchorCtr="0"/>
          <a:p>
            <a:r>
              <a:rPr lang="en-US" altLang="zh-CN" dirty="0"/>
              <a:t>2.</a:t>
            </a:r>
            <a:r>
              <a:rPr lang="zh-CN" altLang="en-US" dirty="0"/>
              <a:t>运算器的内部总线结构</a:t>
            </a:r>
            <a:endParaRPr lang="zh-CN" altLang="en-US" dirty="0"/>
          </a:p>
        </p:txBody>
      </p:sp>
      <p:sp>
        <p:nvSpPr>
          <p:cNvPr id="171010" name="内容占位符 2"/>
          <p:cNvSpPr>
            <a:spLocks noGrp="1"/>
          </p:cNvSpPr>
          <p:nvPr>
            <p:ph idx="1"/>
          </p:nvPr>
        </p:nvSpPr>
        <p:spPr>
          <a:xfrm>
            <a:off x="430213" y="1268413"/>
            <a:ext cx="8229600" cy="5040312"/>
          </a:xfrm>
          <a:noFill/>
          <a:ln>
            <a:noFill/>
          </a:ln>
        </p:spPr>
        <p:txBody>
          <a:bodyPr anchor="t" anchorCtr="0"/>
          <a:p>
            <a:r>
              <a:rPr lang="zh-CN" altLang="en-US" dirty="0"/>
              <a:t>⑴单总线结构运算器</a:t>
            </a:r>
            <a:endParaRPr lang="zh-CN" altLang="en-US" dirty="0"/>
          </a:p>
          <a:p>
            <a:pPr lvl="1">
              <a:spcBef>
                <a:spcPts val="1200"/>
              </a:spcBef>
            </a:pPr>
            <a:r>
              <a:rPr lang="zh-CN" altLang="en-US" sz="2400" dirty="0"/>
              <a:t>实现一次双操作数的运算需要分成三步；</a:t>
            </a:r>
            <a:endParaRPr lang="zh-CN" altLang="en-US" sz="2400" dirty="0"/>
          </a:p>
          <a:p>
            <a:pPr lvl="1">
              <a:spcBef>
                <a:spcPts val="1200"/>
              </a:spcBef>
            </a:pPr>
            <a:r>
              <a:rPr lang="zh-CN" altLang="en-US" sz="2400" dirty="0"/>
              <a:t>主要缺点是操作速度慢。</a:t>
            </a:r>
            <a:endParaRPr lang="en-US" altLang="zh-CN" sz="2400" dirty="0"/>
          </a:p>
          <a:p>
            <a:pPr>
              <a:spcBef>
                <a:spcPts val="1800"/>
              </a:spcBef>
            </a:pPr>
            <a:r>
              <a:rPr lang="zh-CN" altLang="en-US" dirty="0">
                <a:latin typeface="Times New Roman" panose="02020603050405020304" pitchFamily="18" charset="0"/>
              </a:rPr>
              <a:t>⑵双总线结构运算器</a:t>
            </a:r>
            <a:endParaRPr lang="zh-CN" altLang="en-US"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两操作数可以分别通过总线</a:t>
            </a:r>
            <a:r>
              <a:rPr lang="en-US" altLang="zh-CN" sz="2400" dirty="0">
                <a:latin typeface="Times New Roman" panose="02020603050405020304" pitchFamily="18" charset="0"/>
              </a:rPr>
              <a:t>1</a:t>
            </a:r>
            <a:r>
              <a:rPr lang="zh-CN" altLang="en-US" sz="2400" dirty="0">
                <a:latin typeface="Times New Roman" panose="02020603050405020304" pitchFamily="18" charset="0"/>
              </a:rPr>
              <a:t>和</a:t>
            </a:r>
            <a:r>
              <a:rPr lang="en-US" altLang="zh-CN" sz="2400" dirty="0">
                <a:latin typeface="Times New Roman" panose="02020603050405020304" pitchFamily="18" charset="0"/>
              </a:rPr>
              <a:t>2</a:t>
            </a:r>
            <a:r>
              <a:rPr lang="zh-CN" altLang="en-US" sz="2400" dirty="0">
                <a:solidFill>
                  <a:srgbClr val="FF0000"/>
                </a:solidFill>
                <a:latin typeface="Times New Roman" panose="02020603050405020304" pitchFamily="18" charset="0"/>
              </a:rPr>
              <a:t>同时</a:t>
            </a:r>
            <a:r>
              <a:rPr lang="zh-CN" altLang="en-US" sz="2400" dirty="0">
                <a:latin typeface="Times New Roman" panose="02020603050405020304" pitchFamily="18" charset="0"/>
              </a:rPr>
              <a:t>送到</a:t>
            </a:r>
            <a:r>
              <a:rPr lang="en-US" altLang="zh-CN" sz="2400" dirty="0">
                <a:latin typeface="Times New Roman" panose="02020603050405020304" pitchFamily="18" charset="0"/>
              </a:rPr>
              <a:t>ALU</a:t>
            </a:r>
            <a:r>
              <a:rPr lang="zh-CN" altLang="en-US" sz="2400" dirty="0">
                <a:latin typeface="Times New Roman" panose="02020603050405020304" pitchFamily="18" charset="0"/>
              </a:rPr>
              <a:t>进行；</a:t>
            </a:r>
            <a:endParaRPr lang="zh-CN" altLang="en-US"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并立即可以得到运算的结果；</a:t>
            </a:r>
            <a:endParaRPr lang="en-US" altLang="zh-CN" sz="2400" dirty="0">
              <a:latin typeface="Times New Roman" panose="02020603050405020304" pitchFamily="18" charset="0"/>
            </a:endParaRPr>
          </a:p>
          <a:p>
            <a:pPr lvl="1">
              <a:spcBef>
                <a:spcPts val="1200"/>
              </a:spcBef>
            </a:pPr>
            <a:r>
              <a:rPr lang="en-US" altLang="zh-CN" sz="2400" dirty="0">
                <a:latin typeface="Times New Roman" panose="02020603050405020304" pitchFamily="18" charset="0"/>
              </a:rPr>
              <a:t>ALU</a:t>
            </a:r>
            <a:r>
              <a:rPr lang="zh-CN" altLang="en-US" sz="2400" dirty="0">
                <a:latin typeface="Times New Roman" panose="02020603050405020304" pitchFamily="18" charset="0"/>
              </a:rPr>
              <a:t>输出端设置缓冲器，先送缓冲器，再到寄存器；</a:t>
            </a:r>
            <a:endParaRPr lang="zh-CN" altLang="en-US" sz="2400" dirty="0">
              <a:latin typeface="Times New Roman" panose="02020603050405020304" pitchFamily="18" charset="0"/>
            </a:endParaRPr>
          </a:p>
          <a:p>
            <a:pPr lvl="1">
              <a:spcBef>
                <a:spcPts val="1200"/>
              </a:spcBef>
            </a:pPr>
            <a:r>
              <a:rPr lang="zh-CN" altLang="en-US" sz="2400" dirty="0">
                <a:latin typeface="Times New Roman" panose="02020603050405020304" pitchFamily="18" charset="0"/>
              </a:rPr>
              <a:t>速度比单总线快，每次操作比单总线少一步。</a:t>
            </a:r>
            <a:r>
              <a:rPr lang="zh-CN" altLang="en-US" dirty="0"/>
              <a:t> </a:t>
            </a:r>
            <a:endParaRPr lang="zh-CN" altLang="en-US" dirty="0"/>
          </a:p>
          <a:p>
            <a:endParaRPr lang="zh-CN" altLang="en-US"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2033"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双总线结构运算器</a:t>
            </a:r>
            <a:endParaRPr lang="zh-CN" altLang="en-US" dirty="0">
              <a:latin typeface="Times New Roman" panose="02020603050405020304" pitchFamily="18" charset="0"/>
            </a:endParaRPr>
          </a:p>
        </p:txBody>
      </p:sp>
      <p:graphicFrame>
        <p:nvGraphicFramePr>
          <p:cNvPr id="172034" name="Object 5"/>
          <p:cNvGraphicFramePr>
            <a:graphicFrameLocks noChangeAspect="1"/>
          </p:cNvGraphicFramePr>
          <p:nvPr/>
        </p:nvGraphicFramePr>
        <p:xfrm>
          <a:off x="990600" y="1828800"/>
          <a:ext cx="7058025" cy="3106738"/>
        </p:xfrm>
        <a:graphic>
          <a:graphicData uri="http://schemas.openxmlformats.org/presentationml/2006/ole">
            <mc:AlternateContent xmlns:mc="http://schemas.openxmlformats.org/markup-compatibility/2006">
              <mc:Choice xmlns:v="urn:schemas-microsoft-com:vml" Requires="v">
                <p:oleObj spid="_x0000_s3095" name="" r:id="rId1" imgW="2685415" imgH="1183005" progId="Visio.Drawing.6">
                  <p:embed/>
                </p:oleObj>
              </mc:Choice>
              <mc:Fallback>
                <p:oleObj name="" r:id="rId1" imgW="2685415" imgH="1183005" progId="Visio.Drawing.6">
                  <p:embed/>
                  <p:pic>
                    <p:nvPicPr>
                      <p:cNvPr id="0" name="图片 3094"/>
                      <p:cNvPicPr/>
                      <p:nvPr/>
                    </p:nvPicPr>
                    <p:blipFill>
                      <a:blip r:embed="rId2"/>
                      <a:stretch>
                        <a:fillRect/>
                      </a:stretch>
                    </p:blipFill>
                    <p:spPr>
                      <a:xfrm>
                        <a:off x="990600" y="1828800"/>
                        <a:ext cx="7058025" cy="3106738"/>
                      </a:xfrm>
                      <a:prstGeom prst="rect">
                        <a:avLst/>
                      </a:prstGeom>
                      <a:noFill/>
                      <a:ln w="38100">
                        <a:noFill/>
                        <a:miter/>
                      </a:ln>
                    </p:spPr>
                  </p:pic>
                </p:oleObj>
              </mc:Fallback>
            </mc:AlternateContent>
          </a:graphicData>
        </a:graphic>
      </p:graphicFrame>
      <p:sp>
        <p:nvSpPr>
          <p:cNvPr id="172035" name="Rectangle 7"/>
          <p:cNvSpPr>
            <a:spLocks noGrp="1"/>
          </p:cNvSpPr>
          <p:nvPr>
            <p:ph idx="1"/>
          </p:nvPr>
        </p:nvSpPr>
        <p:spPr>
          <a:xfrm>
            <a:off x="685800" y="5410200"/>
            <a:ext cx="7772400" cy="685800"/>
          </a:xfrm>
          <a:noFill/>
          <a:ln>
            <a:noFill/>
          </a:ln>
        </p:spPr>
        <p:txBody>
          <a:bodyPr anchor="t" anchorCtr="0"/>
          <a:p>
            <a:pPr algn="ctr" eaLnBrk="1" hangingPunct="1">
              <a:buFontTx/>
              <a:buNone/>
            </a:pPr>
            <a:r>
              <a:rPr lang="zh-CN" altLang="en-US" sz="2400" dirty="0">
                <a:latin typeface="Times New Roman" panose="02020603050405020304" pitchFamily="18" charset="0"/>
              </a:rPr>
              <a:t>图4-26(</a:t>
            </a:r>
            <a:r>
              <a:rPr lang="en-US" altLang="zh-CN" sz="2400" dirty="0">
                <a:latin typeface="Times New Roman" panose="02020603050405020304" pitchFamily="18" charset="0"/>
              </a:rPr>
              <a:t>a) </a:t>
            </a:r>
            <a:r>
              <a:rPr lang="zh-CN" altLang="en-US" sz="2400" dirty="0">
                <a:latin typeface="Times New Roman" panose="02020603050405020304" pitchFamily="18" charset="0"/>
              </a:rPr>
              <a:t>双总线结构运算器</a:t>
            </a:r>
            <a:endParaRPr lang="zh-CN" altLang="en-US" sz="2400" dirty="0">
              <a:latin typeface="Times New Roman" panose="02020603050405020304" pitchFamily="18" charset="0"/>
            </a:endParaRP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3057" name="标题 1"/>
          <p:cNvSpPr>
            <a:spLocks noGrp="1"/>
          </p:cNvSpPr>
          <p:nvPr>
            <p:ph type="title"/>
          </p:nvPr>
        </p:nvSpPr>
        <p:spPr>
          <a:noFill/>
          <a:ln>
            <a:noFill/>
          </a:ln>
        </p:spPr>
        <p:txBody>
          <a:bodyPr anchor="t" anchorCtr="0"/>
          <a:p>
            <a:r>
              <a:rPr lang="en-US" altLang="zh-CN" dirty="0"/>
              <a:t>2.</a:t>
            </a:r>
            <a:r>
              <a:rPr lang="zh-CN" altLang="en-US" dirty="0"/>
              <a:t>运算器的内部总线结构（续）</a:t>
            </a:r>
            <a:endParaRPr lang="zh-CN" altLang="en-US" dirty="0"/>
          </a:p>
        </p:txBody>
      </p:sp>
      <p:sp>
        <p:nvSpPr>
          <p:cNvPr id="173058" name="内容占位符 2"/>
          <p:cNvSpPr>
            <a:spLocks noGrp="1"/>
          </p:cNvSpPr>
          <p:nvPr>
            <p:ph idx="1"/>
          </p:nvPr>
        </p:nvSpPr>
        <p:spPr>
          <a:noFill/>
          <a:ln>
            <a:noFill/>
          </a:ln>
        </p:spPr>
        <p:txBody>
          <a:bodyPr anchor="t" anchorCtr="0"/>
          <a:p>
            <a:r>
              <a:rPr lang="zh-CN" altLang="en-US" dirty="0">
                <a:latin typeface="Times New Roman" panose="02020603050405020304" pitchFamily="18" charset="0"/>
              </a:rPr>
              <a:t>⑶三总线结构运算器</a:t>
            </a:r>
            <a:endParaRPr lang="zh-CN" altLang="en-US" dirty="0">
              <a:latin typeface="Times New Roman" panose="02020603050405020304" pitchFamily="18" charset="0"/>
            </a:endParaRPr>
          </a:p>
          <a:p>
            <a:pPr lvl="1" latinLnBrk="0">
              <a:spcBef>
                <a:spcPts val="1200"/>
              </a:spcBef>
            </a:pPr>
            <a:r>
              <a:rPr lang="en-US" altLang="zh-CN" sz="2400" dirty="0">
                <a:latin typeface="Times New Roman" panose="02020603050405020304" pitchFamily="18" charset="0"/>
              </a:rPr>
              <a:t>ALU</a:t>
            </a:r>
            <a:r>
              <a:rPr lang="zh-CN" altLang="en-US" sz="2400" dirty="0">
                <a:latin typeface="Times New Roman" panose="02020603050405020304" pitchFamily="18" charset="0"/>
              </a:rPr>
              <a:t>的两个输入端分别由两条总线供给；</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输出与第三条总线相连；</a:t>
            </a:r>
            <a:endParaRPr lang="zh-CN" altLang="en-US"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算逻操作就可以在一步控制之内完成。</a:t>
            </a:r>
            <a:endParaRPr lang="en-US" altLang="zh-CN" sz="2400" dirty="0">
              <a:latin typeface="Times New Roman" panose="02020603050405020304" pitchFamily="18" charset="0"/>
            </a:endParaRPr>
          </a:p>
          <a:p>
            <a:pPr lvl="1" latinLnBrk="0">
              <a:spcBef>
                <a:spcPts val="1200"/>
              </a:spcBef>
            </a:pPr>
            <a:r>
              <a:rPr lang="zh-CN" altLang="en-US" sz="2400" dirty="0">
                <a:solidFill>
                  <a:srgbClr val="FF0000"/>
                </a:solidFill>
                <a:latin typeface="Times New Roman" panose="02020603050405020304" pitchFamily="18" charset="0"/>
              </a:rPr>
              <a:t>如果某一个数不需要运算，直接由总线</a:t>
            </a:r>
            <a:r>
              <a:rPr lang="en-US" altLang="zh-CN" sz="2400" dirty="0">
                <a:solidFill>
                  <a:srgbClr val="FF0000"/>
                </a:solidFill>
                <a:latin typeface="Times New Roman" panose="02020603050405020304" pitchFamily="18" charset="0"/>
              </a:rPr>
              <a:t>2</a:t>
            </a:r>
            <a:r>
              <a:rPr lang="zh-CN" altLang="en-US" sz="2400" dirty="0">
                <a:solidFill>
                  <a:srgbClr val="FF0000"/>
                </a:solidFill>
                <a:latin typeface="Times New Roman" panose="02020603050405020304" pitchFamily="18" charset="0"/>
              </a:rPr>
              <a:t>传到总线</a:t>
            </a:r>
            <a:r>
              <a:rPr lang="en-US" altLang="zh-CN" sz="2400" dirty="0">
                <a:solidFill>
                  <a:srgbClr val="FF0000"/>
                </a:solidFill>
                <a:latin typeface="Times New Roman" panose="02020603050405020304" pitchFamily="18" charset="0"/>
              </a:rPr>
              <a:t>3</a:t>
            </a:r>
            <a:r>
              <a:rPr lang="zh-CN" altLang="zh-CN" sz="2400" dirty="0">
                <a:latin typeface="Times New Roman" panose="02020603050405020304" pitchFamily="18" charset="0"/>
              </a:rPr>
              <a:t>；</a:t>
            </a:r>
            <a:endParaRPr lang="zh-CN" altLang="zh-CN" sz="2400" dirty="0">
              <a:latin typeface="Times New Roman" panose="02020603050405020304" pitchFamily="18" charset="0"/>
            </a:endParaRPr>
          </a:p>
          <a:p>
            <a:pPr lvl="1" latinLnBrk="0">
              <a:spcBef>
                <a:spcPts val="1200"/>
              </a:spcBef>
            </a:pPr>
            <a:r>
              <a:rPr lang="zh-CN" altLang="en-US" sz="2400" dirty="0">
                <a:latin typeface="Times New Roman" panose="02020603050405020304" pitchFamily="18" charset="0"/>
              </a:rPr>
              <a:t>操作速度快，但控制较前两种复杂。</a:t>
            </a:r>
            <a:endParaRPr lang="zh-CN" altLang="en-US" sz="2400"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081" name="标题 1"/>
          <p:cNvSpPr>
            <a:spLocks noGrp="1"/>
          </p:cNvSpPr>
          <p:nvPr>
            <p:ph type="title"/>
          </p:nvPr>
        </p:nvSpPr>
        <p:spPr>
          <a:noFill/>
          <a:ln>
            <a:noFill/>
          </a:ln>
        </p:spPr>
        <p:txBody>
          <a:bodyPr anchor="t" anchorCtr="0"/>
          <a:p>
            <a:r>
              <a:rPr lang="zh-CN" altLang="en-US" dirty="0">
                <a:latin typeface="Times New Roman" panose="02020603050405020304" pitchFamily="18" charset="0"/>
              </a:rPr>
              <a:t>三总线结构运算器</a:t>
            </a:r>
            <a:endParaRPr lang="zh-CN" altLang="en-US" dirty="0">
              <a:latin typeface="Times New Roman" panose="02020603050405020304" pitchFamily="18" charset="0"/>
            </a:endParaRPr>
          </a:p>
        </p:txBody>
      </p:sp>
      <p:graphicFrame>
        <p:nvGraphicFramePr>
          <p:cNvPr id="174082" name="Object 4"/>
          <p:cNvGraphicFramePr>
            <a:graphicFrameLocks noChangeAspect="1"/>
          </p:cNvGraphicFramePr>
          <p:nvPr/>
        </p:nvGraphicFramePr>
        <p:xfrm>
          <a:off x="900113" y="1970088"/>
          <a:ext cx="7162800" cy="3186112"/>
        </p:xfrm>
        <a:graphic>
          <a:graphicData uri="http://schemas.openxmlformats.org/presentationml/2006/ole">
            <mc:AlternateContent xmlns:mc="http://schemas.openxmlformats.org/markup-compatibility/2006">
              <mc:Choice xmlns:v="urn:schemas-microsoft-com:vml" Requires="v">
                <p:oleObj spid="_x0000_s3097" name="" r:id="rId1" imgW="2675255" imgH="1191260" progId="Visio.Drawing.6">
                  <p:embed/>
                </p:oleObj>
              </mc:Choice>
              <mc:Fallback>
                <p:oleObj name="" r:id="rId1" imgW="2675255" imgH="1191260" progId="Visio.Drawing.6">
                  <p:embed/>
                  <p:pic>
                    <p:nvPicPr>
                      <p:cNvPr id="0" name="图片 3096"/>
                      <p:cNvPicPr/>
                      <p:nvPr/>
                    </p:nvPicPr>
                    <p:blipFill>
                      <a:blip r:embed="rId2"/>
                      <a:stretch>
                        <a:fillRect/>
                      </a:stretch>
                    </p:blipFill>
                    <p:spPr>
                      <a:xfrm>
                        <a:off x="900113" y="1970088"/>
                        <a:ext cx="7162800" cy="3186112"/>
                      </a:xfrm>
                      <a:prstGeom prst="rect">
                        <a:avLst/>
                      </a:prstGeom>
                      <a:noFill/>
                      <a:ln w="38100">
                        <a:noFill/>
                        <a:miter/>
                      </a:ln>
                    </p:spPr>
                  </p:pic>
                </p:oleObj>
              </mc:Fallback>
            </mc:AlternateContent>
          </a:graphicData>
        </a:graphic>
      </p:graphicFrame>
      <p:sp>
        <p:nvSpPr>
          <p:cNvPr id="174083" name="Rectangle 5"/>
          <p:cNvSpPr>
            <a:spLocks noGrp="1"/>
          </p:cNvSpPr>
          <p:nvPr>
            <p:ph idx="1"/>
          </p:nvPr>
        </p:nvSpPr>
        <p:spPr>
          <a:xfrm>
            <a:off x="685800" y="5638800"/>
            <a:ext cx="7772400" cy="457200"/>
          </a:xfrm>
          <a:noFill/>
          <a:ln>
            <a:noFill/>
          </a:ln>
        </p:spPr>
        <p:txBody>
          <a:bodyPr anchor="t" anchorCtr="0"/>
          <a:p>
            <a:pPr algn="ctr" eaLnBrk="1" hangingPunct="1">
              <a:buFontTx/>
              <a:buNone/>
            </a:pPr>
            <a:r>
              <a:rPr lang="zh-CN" altLang="en-US" sz="2400" dirty="0">
                <a:latin typeface="Times New Roman" panose="02020603050405020304" pitchFamily="18" charset="0"/>
              </a:rPr>
              <a:t>图4-26(</a:t>
            </a:r>
            <a:r>
              <a:rPr lang="en-US" altLang="zh-CN" sz="2400" dirty="0">
                <a:latin typeface="Times New Roman" panose="02020603050405020304" pitchFamily="18" charset="0"/>
              </a:rPr>
              <a:t>b) </a:t>
            </a:r>
            <a:r>
              <a:rPr lang="zh-CN" altLang="en-US" sz="2400" dirty="0">
                <a:latin typeface="Times New Roman" panose="02020603050405020304" pitchFamily="18" charset="0"/>
              </a:rPr>
              <a:t>三总线结构运算器</a:t>
            </a:r>
            <a:endParaRPr lang="zh-CN" altLang="en-US" sz="2000" u="sng" dirty="0">
              <a:solidFill>
                <a:srgbClr val="0000FF"/>
              </a:solidFill>
              <a:latin typeface="Times New Roman" panose="02020603050405020304" pitchFamily="18" charset="0"/>
              <a:ea typeface="华文新魏" panose="02010800040101010101" pitchFamily="2" charset="-122"/>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510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4.9.2 ALU</a:t>
            </a:r>
            <a:r>
              <a:rPr lang="zh-CN" altLang="en-US" dirty="0">
                <a:latin typeface="Times New Roman" panose="02020603050405020304" pitchFamily="18" charset="0"/>
              </a:rPr>
              <a:t>举例 </a:t>
            </a:r>
            <a:endParaRPr lang="zh-CN" altLang="en-US" dirty="0">
              <a:latin typeface="Times New Roman" panose="02020603050405020304" pitchFamily="18" charset="0"/>
              <a:ea typeface="Times New Roman" panose="02020603050405020304" pitchFamily="18" charset="0"/>
            </a:endParaRPr>
          </a:p>
        </p:txBody>
      </p:sp>
      <p:sp>
        <p:nvSpPr>
          <p:cNvPr id="175106" name="内容占位符 2"/>
          <p:cNvSpPr>
            <a:spLocks noGrp="1"/>
          </p:cNvSpPr>
          <p:nvPr>
            <p:ph idx="1"/>
          </p:nvPr>
        </p:nvSpPr>
        <p:spPr>
          <a:noFill/>
          <a:ln>
            <a:noFill/>
          </a:ln>
        </p:spPr>
        <p:txBody>
          <a:bodyPr anchor="t" anchorCtr="0"/>
          <a:p>
            <a:r>
              <a:rPr lang="en-US" altLang="zh-CN" dirty="0">
                <a:latin typeface="Times New Roman" panose="02020603050405020304" pitchFamily="18" charset="0"/>
              </a:rPr>
              <a:t>1.ALU</a:t>
            </a:r>
            <a:r>
              <a:rPr lang="zh-CN" altLang="en-US" dirty="0">
                <a:latin typeface="Times New Roman" panose="02020603050405020304" pitchFamily="18" charset="0"/>
              </a:rPr>
              <a:t>电路</a:t>
            </a:r>
            <a:endParaRPr lang="zh-CN" altLang="en-US"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既能完成算术运算又能完成逻辑运算的部件；</a:t>
            </a:r>
            <a:endParaRPr lang="en-US" altLang="zh-CN"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加、减、乘、除，最终都能归结为加法运算；</a:t>
            </a:r>
            <a:endParaRPr lang="en-US" altLang="zh-CN" dirty="0">
              <a:latin typeface="Times New Roman" panose="02020603050405020304" pitchFamily="18" charset="0"/>
            </a:endParaRPr>
          </a:p>
          <a:p>
            <a:pPr lvl="1" latinLnBrk="0">
              <a:spcBef>
                <a:spcPts val="1800"/>
              </a:spcBef>
            </a:pPr>
            <a:r>
              <a:rPr lang="en-US" altLang="zh-CN" dirty="0">
                <a:solidFill>
                  <a:srgbClr val="FF0000"/>
                </a:solidFill>
                <a:latin typeface="Times New Roman" panose="02020603050405020304" pitchFamily="18" charset="0"/>
              </a:rPr>
              <a:t>ALU</a:t>
            </a:r>
            <a:r>
              <a:rPr lang="zh-CN" altLang="en-US" dirty="0">
                <a:solidFill>
                  <a:srgbClr val="FF0000"/>
                </a:solidFill>
                <a:latin typeface="Times New Roman" panose="02020603050405020304" pitchFamily="18" charset="0"/>
              </a:rPr>
              <a:t>的核心首先应当是一个并行加法器</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latinLnBrk="0">
              <a:spcBef>
                <a:spcPts val="1800"/>
              </a:spcBef>
            </a:pPr>
            <a:r>
              <a:rPr lang="zh-CN" altLang="en-US" dirty="0">
                <a:latin typeface="Times New Roman" panose="02020603050405020304" pitchFamily="18" charset="0"/>
              </a:rPr>
              <a:t>同时也能执行与、或、非、异或等逻辑运算。 </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6129"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2.4</a:t>
            </a:r>
            <a:r>
              <a:rPr lang="zh-CN" altLang="en-US" dirty="0">
                <a:latin typeface="Times New Roman" panose="02020603050405020304" pitchFamily="18" charset="0"/>
              </a:rPr>
              <a:t>位</a:t>
            </a:r>
            <a:r>
              <a:rPr lang="en-US" altLang="zh-CN" dirty="0">
                <a:latin typeface="Times New Roman" panose="02020603050405020304" pitchFamily="18" charset="0"/>
              </a:rPr>
              <a:t>ALU</a:t>
            </a:r>
            <a:r>
              <a:rPr lang="zh-CN" altLang="en-US" dirty="0">
                <a:latin typeface="Times New Roman" panose="02020603050405020304" pitchFamily="18" charset="0"/>
              </a:rPr>
              <a:t>芯片</a:t>
            </a:r>
            <a:endParaRPr lang="zh-CN" altLang="en-US" dirty="0">
              <a:latin typeface="Times New Roman" panose="02020603050405020304" pitchFamily="18" charset="0"/>
              <a:ea typeface="Times New Roman" panose="02020603050405020304" pitchFamily="18" charset="0"/>
            </a:endParaRPr>
          </a:p>
        </p:txBody>
      </p:sp>
      <p:sp>
        <p:nvSpPr>
          <p:cNvPr id="176130" name="内容占位符 2"/>
          <p:cNvSpPr>
            <a:spLocks noGrp="1"/>
          </p:cNvSpPr>
          <p:nvPr>
            <p:ph idx="1"/>
          </p:nvPr>
        </p:nvSpPr>
        <p:spPr>
          <a:xfrm>
            <a:off x="457200" y="1417638"/>
            <a:ext cx="8229600" cy="1036637"/>
          </a:xfrm>
          <a:noFill/>
          <a:ln>
            <a:noFill/>
          </a:ln>
        </p:spPr>
        <p:txBody>
          <a:bodyPr anchor="t" anchorCtr="0"/>
          <a:p>
            <a:r>
              <a:rPr lang="zh-CN" altLang="en-US" dirty="0">
                <a:latin typeface="Times New Roman" panose="02020603050405020304" pitchFamily="18" charset="0"/>
              </a:rPr>
              <a:t>典型的</a:t>
            </a:r>
            <a:r>
              <a:rPr lang="en-US" altLang="zh-CN" dirty="0">
                <a:latin typeface="Times New Roman" panose="02020603050405020304" pitchFamily="18" charset="0"/>
              </a:rPr>
              <a:t>4</a:t>
            </a:r>
            <a:r>
              <a:rPr lang="zh-CN" altLang="en-US" dirty="0">
                <a:latin typeface="Times New Roman" panose="02020603050405020304" pitchFamily="18" charset="0"/>
              </a:rPr>
              <a:t>位</a:t>
            </a:r>
            <a:r>
              <a:rPr lang="en-US" altLang="zh-CN" dirty="0">
                <a:latin typeface="Times New Roman" panose="02020603050405020304" pitchFamily="18" charset="0"/>
              </a:rPr>
              <a:t>ALU</a:t>
            </a:r>
            <a:r>
              <a:rPr lang="zh-CN" altLang="en-US" dirty="0">
                <a:latin typeface="Times New Roman" panose="02020603050405020304" pitchFamily="18" charset="0"/>
              </a:rPr>
              <a:t>芯片（</a:t>
            </a:r>
            <a:r>
              <a:rPr lang="en-US" altLang="zh-CN" dirty="0">
                <a:latin typeface="Times New Roman" panose="02020603050405020304" pitchFamily="18" charset="0"/>
              </a:rPr>
              <a:t>74181</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1"/>
            <a:r>
              <a:rPr lang="zh-CN" altLang="en-US" dirty="0">
                <a:latin typeface="Times New Roman" panose="02020603050405020304" pitchFamily="18" charset="0"/>
              </a:rPr>
              <a:t>执行</a:t>
            </a:r>
            <a:r>
              <a:rPr lang="en-US" altLang="zh-CN" dirty="0">
                <a:latin typeface="Times New Roman" panose="02020603050405020304" pitchFamily="18" charset="0"/>
              </a:rPr>
              <a:t>16</a:t>
            </a:r>
            <a:r>
              <a:rPr lang="zh-CN" altLang="en-US" dirty="0">
                <a:latin typeface="Times New Roman" panose="02020603050405020304" pitchFamily="18" charset="0"/>
              </a:rPr>
              <a:t>种算术运算和</a:t>
            </a:r>
            <a:r>
              <a:rPr lang="en-US" altLang="zh-CN" dirty="0">
                <a:latin typeface="Times New Roman" panose="02020603050405020304" pitchFamily="18" charset="0"/>
              </a:rPr>
              <a:t>16</a:t>
            </a:r>
            <a:r>
              <a:rPr lang="zh-CN" altLang="en-US" dirty="0">
                <a:latin typeface="Times New Roman" panose="02020603050405020304" pitchFamily="18" charset="0"/>
              </a:rPr>
              <a:t>种逻辑运算。（</a:t>
            </a:r>
            <a:r>
              <a:rPr lang="en-US" altLang="zh-CN" dirty="0">
                <a:latin typeface="Times New Roman" panose="02020603050405020304" pitchFamily="18" charset="0"/>
              </a:rPr>
              <a:t>p118)</a:t>
            </a:r>
            <a:endParaRPr lang="zh-CN" altLang="en-US" dirty="0">
              <a:latin typeface="Times New Roman" panose="02020603050405020304" pitchFamily="18" charset="0"/>
              <a:ea typeface="Times New Roman" panose="02020603050405020304" pitchFamily="18" charset="0"/>
            </a:endParaRPr>
          </a:p>
        </p:txBody>
      </p:sp>
      <p:graphicFrame>
        <p:nvGraphicFramePr>
          <p:cNvPr id="176131" name="Object 4"/>
          <p:cNvGraphicFramePr>
            <a:graphicFrameLocks noChangeAspect="1"/>
          </p:cNvGraphicFramePr>
          <p:nvPr/>
        </p:nvGraphicFramePr>
        <p:xfrm>
          <a:off x="457200" y="2528888"/>
          <a:ext cx="5257800" cy="3175000"/>
        </p:xfrm>
        <a:graphic>
          <a:graphicData uri="http://schemas.openxmlformats.org/presentationml/2006/ole">
            <mc:AlternateContent xmlns:mc="http://schemas.openxmlformats.org/markup-compatibility/2006">
              <mc:Choice xmlns:v="urn:schemas-microsoft-com:vml" Requires="v">
                <p:oleObj spid="_x0000_s3096" name="" r:id="rId1" imgW="2891155" imgH="1746885" progId="Visio.Drawing.6">
                  <p:embed/>
                </p:oleObj>
              </mc:Choice>
              <mc:Fallback>
                <p:oleObj name="" r:id="rId1" imgW="2891155" imgH="1746885" progId="Visio.Drawing.6">
                  <p:embed/>
                  <p:pic>
                    <p:nvPicPr>
                      <p:cNvPr id="0" name="图片 3095"/>
                      <p:cNvPicPr/>
                      <p:nvPr/>
                    </p:nvPicPr>
                    <p:blipFill>
                      <a:blip r:embed="rId2"/>
                      <a:stretch>
                        <a:fillRect/>
                      </a:stretch>
                    </p:blipFill>
                    <p:spPr>
                      <a:xfrm>
                        <a:off x="457200" y="2528888"/>
                        <a:ext cx="5257800" cy="3175000"/>
                      </a:xfrm>
                      <a:prstGeom prst="rect">
                        <a:avLst/>
                      </a:prstGeom>
                      <a:noFill/>
                      <a:ln w="38100">
                        <a:noFill/>
                        <a:miter/>
                      </a:ln>
                    </p:spPr>
                  </p:pic>
                </p:oleObj>
              </mc:Fallback>
            </mc:AlternateContent>
          </a:graphicData>
        </a:graphic>
      </p:graphicFrame>
      <p:sp>
        <p:nvSpPr>
          <p:cNvPr id="5" name="Rectangle 3"/>
          <p:cNvSpPr txBox="1">
            <a:spLocks noChangeArrowheads="1"/>
          </p:cNvSpPr>
          <p:nvPr/>
        </p:nvSpPr>
        <p:spPr bwMode="auto">
          <a:xfrm>
            <a:off x="1114425" y="5773738"/>
            <a:ext cx="4683125" cy="6477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hlink"/>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n-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eaLnBrk="1" fontAlgn="base" hangingPunct="1">
              <a:spcBef>
                <a:spcPct val="20000"/>
              </a:spcBef>
              <a:spcAft>
                <a:spcPct val="0"/>
              </a:spcAft>
              <a:buChar char="»"/>
              <a:defRPr sz="2000">
                <a:solidFill>
                  <a:schemeClr val="tx1"/>
                </a:solidFill>
                <a:latin typeface="+mn-lt"/>
                <a:ea typeface="+mn-ea"/>
              </a:defRPr>
            </a:lvl6pPr>
            <a:lvl7pPr marL="2971800" indent="-228600" algn="l" rtl="0" eaLnBrk="1" fontAlgn="base" hangingPunct="1">
              <a:spcBef>
                <a:spcPct val="20000"/>
              </a:spcBef>
              <a:spcAft>
                <a:spcPct val="0"/>
              </a:spcAft>
              <a:buChar char="»"/>
              <a:defRPr sz="2000">
                <a:solidFill>
                  <a:schemeClr val="tx1"/>
                </a:solidFill>
                <a:latin typeface="+mn-lt"/>
                <a:ea typeface="+mn-ea"/>
              </a:defRPr>
            </a:lvl7pPr>
            <a:lvl8pPr marL="3429000" indent="-228600" algn="l" rtl="0" eaLnBrk="1" fontAlgn="base" hangingPunct="1">
              <a:spcBef>
                <a:spcPct val="20000"/>
              </a:spcBef>
              <a:spcAft>
                <a:spcPct val="0"/>
              </a:spcAft>
              <a:buChar char="»"/>
              <a:defRPr sz="2000">
                <a:solidFill>
                  <a:schemeClr val="tx1"/>
                </a:solidFill>
                <a:latin typeface="+mn-lt"/>
                <a:ea typeface="+mn-ea"/>
              </a:defRPr>
            </a:lvl8pPr>
            <a:lvl9pPr marL="3886200" indent="-228600" algn="l" rtl="0" eaLnBrk="1" fontAlgn="base" hangingPunct="1">
              <a:spcBef>
                <a:spcPct val="20000"/>
              </a:spcBef>
              <a:spcAft>
                <a:spcPct val="0"/>
              </a:spcAft>
              <a:buChar char="»"/>
              <a:defRPr sz="2000">
                <a:solidFill>
                  <a:schemeClr val="tx1"/>
                </a:solidFill>
                <a:latin typeface="+mn-lt"/>
                <a:ea typeface="+mn-ea"/>
              </a:defRPr>
            </a:lvl9pPr>
          </a:lstStyle>
          <a:p>
            <a:pPr marL="342900" marR="0" lvl="0" indent="-342900" algn="ctr" defTabSz="914400" rtl="0" eaLnBrk="1" fontAlgn="base" latinLnBrk="0" hangingPunct="1">
              <a:lnSpc>
                <a:spcPct val="100000"/>
              </a:lnSpc>
              <a:spcBef>
                <a:spcPct val="20000"/>
              </a:spcBef>
              <a:spcAft>
                <a:spcPct val="0"/>
              </a:spcAft>
              <a:buClr>
                <a:schemeClr val="hlink"/>
              </a:buClr>
              <a:buSzTx/>
              <a:buFontTx/>
              <a:buNone/>
              <a:defRPr/>
            </a:pP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图4-27(</a:t>
            </a:r>
            <a:r>
              <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a) </a:t>
            </a:r>
            <a:r>
              <a:rPr kumimoji="0" lang="zh-CN" altLang="en-US"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rPr>
              <a:t>74181芯片方框图</a:t>
            </a:r>
            <a:endParaRPr kumimoji="0" lang="en-US" altLang="zh-CN" sz="2400" b="1" i="0" u="none" strike="noStrike" kern="0" cap="none" spc="0" normalizeH="0" baseline="0" noProof="0" dirty="0">
              <a:ln>
                <a:noFill/>
              </a:ln>
              <a:solidFill>
                <a:schemeClr val="hlink"/>
              </a:solidFill>
              <a:effectLst/>
              <a:uLnTx/>
              <a:uFillTx/>
              <a:latin typeface="Times New Roman" panose="02020603050405020304" pitchFamily="18" charset="0"/>
              <a:ea typeface="+mn-ea"/>
              <a:cs typeface="Times New Roman" panose="02020603050405020304" pitchFamily="18" charset="0"/>
            </a:endParaRPr>
          </a:p>
        </p:txBody>
      </p:sp>
      <p:sp>
        <p:nvSpPr>
          <p:cNvPr id="176133" name="文本框 1"/>
          <p:cNvSpPr txBox="1"/>
          <p:nvPr/>
        </p:nvSpPr>
        <p:spPr>
          <a:xfrm>
            <a:off x="5797550" y="2560638"/>
            <a:ext cx="3167063" cy="3508375"/>
          </a:xfrm>
          <a:prstGeom prst="rect">
            <a:avLst/>
          </a:prstGeom>
          <a:noFill/>
          <a:ln w="9525">
            <a:noFill/>
          </a:ln>
        </p:spPr>
        <p:txBody>
          <a:bodyPr anchor="t" anchorCtr="0">
            <a:spAutoFit/>
          </a:bodyPr>
          <a:p>
            <a:pPr marL="285750" indent="-285750" eaLnBrk="0" hangingPunct="0">
              <a:spcBef>
                <a:spcPts val="1200"/>
              </a:spcBef>
              <a:buFont typeface="Wingdings" panose="05000000000000000000" pitchFamily="2" charset="2"/>
              <a:buChar char="l"/>
            </a:pPr>
            <a:r>
              <a:rPr lang="en-US" altLang="zh-CN" dirty="0">
                <a:solidFill>
                  <a:srgbClr val="0000FF"/>
                </a:solidFill>
                <a:latin typeface="Times New Roman" panose="02020603050405020304" pitchFamily="18" charset="0"/>
                <a:ea typeface="宋体" panose="02010600030101010101" pitchFamily="2" charset="-122"/>
              </a:rPr>
              <a:t>S0</a:t>
            </a:r>
            <a:r>
              <a:rPr lang="zh-CN" altLang="en-US" dirty="0">
                <a:solidFill>
                  <a:srgbClr val="0000FF"/>
                </a:solidFill>
                <a:latin typeface="Times New Roman" panose="02020603050405020304" pitchFamily="18" charset="0"/>
                <a:ea typeface="宋体" panose="02010600030101010101" pitchFamily="2" charset="-122"/>
              </a:rPr>
              <a:t>到</a:t>
            </a:r>
            <a:r>
              <a:rPr lang="en-US" altLang="zh-CN" dirty="0">
                <a:solidFill>
                  <a:srgbClr val="0000FF"/>
                </a:solidFill>
                <a:latin typeface="Times New Roman" panose="02020603050405020304" pitchFamily="18" charset="0"/>
                <a:ea typeface="宋体" panose="02010600030101010101" pitchFamily="2" charset="-122"/>
              </a:rPr>
              <a:t>S3</a:t>
            </a:r>
            <a:r>
              <a:rPr lang="zh-CN" altLang="en-US" dirty="0">
                <a:solidFill>
                  <a:srgbClr val="0000FF"/>
                </a:solidFill>
                <a:latin typeface="Times New Roman" panose="02020603050405020304" pitchFamily="18" charset="0"/>
                <a:ea typeface="宋体" panose="02010600030101010101" pitchFamily="2" charset="-122"/>
              </a:rPr>
              <a:t>是工作方式选择；</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eaLnBrk="0" hangingPunct="0">
              <a:spcBef>
                <a:spcPts val="1200"/>
              </a:spcBef>
              <a:buFont typeface="Wingdings" panose="05000000000000000000" pitchFamily="2" charset="2"/>
              <a:buChar char="l"/>
            </a:pPr>
            <a:r>
              <a:rPr lang="en-US" altLang="zh-CN" dirty="0">
                <a:solidFill>
                  <a:srgbClr val="0000FF"/>
                </a:solidFill>
                <a:latin typeface="Times New Roman" panose="02020603050405020304" pitchFamily="18" charset="0"/>
                <a:ea typeface="宋体" panose="02010600030101010101" pitchFamily="2" charset="-122"/>
              </a:rPr>
              <a:t>M</a:t>
            </a:r>
            <a:r>
              <a:rPr lang="zh-CN" altLang="en-US" dirty="0">
                <a:solidFill>
                  <a:srgbClr val="0000FF"/>
                </a:solidFill>
                <a:latin typeface="Times New Roman" panose="02020603050405020304" pitchFamily="18" charset="0"/>
                <a:ea typeface="宋体" panose="02010600030101010101" pitchFamily="2" charset="-122"/>
              </a:rPr>
              <a:t>指示逻辑</a:t>
            </a:r>
            <a:r>
              <a:rPr lang="en-US" altLang="zh-CN" dirty="0">
                <a:solidFill>
                  <a:srgbClr val="0000FF"/>
                </a:solidFill>
                <a:latin typeface="Times New Roman" panose="02020603050405020304" pitchFamily="18" charset="0"/>
                <a:ea typeface="宋体" panose="02010600030101010101" pitchFamily="2" charset="-122"/>
              </a:rPr>
              <a:t>Or</a:t>
            </a:r>
            <a:r>
              <a:rPr lang="zh-CN" altLang="en-US" dirty="0">
                <a:solidFill>
                  <a:srgbClr val="0000FF"/>
                </a:solidFill>
                <a:latin typeface="Times New Roman" panose="02020603050405020304" pitchFamily="18" charset="0"/>
                <a:ea typeface="宋体" panose="02010600030101010101" pitchFamily="2" charset="-122"/>
              </a:rPr>
              <a:t>算术运算；</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eaLnBrk="0" hangingPunct="0">
              <a:spcBef>
                <a:spcPts val="1200"/>
              </a:spcBef>
              <a:buFont typeface="Wingdings" panose="05000000000000000000" pitchFamily="2" charset="2"/>
              <a:buChar char="l"/>
            </a:pPr>
            <a:r>
              <a:rPr lang="en-US" altLang="zh-CN" dirty="0">
                <a:solidFill>
                  <a:srgbClr val="0000FF"/>
                </a:solidFill>
                <a:latin typeface="Times New Roman" panose="02020603050405020304" pitchFamily="18" charset="0"/>
                <a:ea typeface="宋体" panose="02010600030101010101" pitchFamily="2" charset="-122"/>
              </a:rPr>
              <a:t>A0-A3</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B0-B3</a:t>
            </a:r>
            <a:r>
              <a:rPr lang="zh-CN" altLang="en-US" dirty="0">
                <a:solidFill>
                  <a:srgbClr val="0000FF"/>
                </a:solidFill>
                <a:latin typeface="Times New Roman" panose="02020603050405020304" pitchFamily="18" charset="0"/>
                <a:ea typeface="宋体" panose="02010600030101010101" pitchFamily="2" charset="-122"/>
              </a:rPr>
              <a:t>是输入数据</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eaLnBrk="0" hangingPunct="0">
              <a:spcBef>
                <a:spcPts val="1200"/>
              </a:spcBef>
              <a:buFont typeface="Wingdings" panose="05000000000000000000" pitchFamily="2" charset="2"/>
              <a:buChar char="l"/>
            </a:pPr>
            <a:r>
              <a:rPr lang="en-US" altLang="zh-CN" dirty="0">
                <a:solidFill>
                  <a:srgbClr val="0000FF"/>
                </a:solidFill>
                <a:latin typeface="Times New Roman" panose="02020603050405020304" pitchFamily="18" charset="0"/>
                <a:ea typeface="宋体" panose="02010600030101010101" pitchFamily="2" charset="-122"/>
              </a:rPr>
              <a:t>F0-F3</a:t>
            </a:r>
            <a:r>
              <a:rPr lang="zh-CN" altLang="en-US" dirty="0">
                <a:solidFill>
                  <a:srgbClr val="0000FF"/>
                </a:solidFill>
                <a:latin typeface="Times New Roman" panose="02020603050405020304" pitchFamily="18" charset="0"/>
                <a:ea typeface="宋体" panose="02010600030101010101" pitchFamily="2" charset="-122"/>
              </a:rPr>
              <a:t>是输出结果；</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eaLnBrk="0" hangingPunct="0">
              <a:spcBef>
                <a:spcPts val="1200"/>
              </a:spcBef>
              <a:buFont typeface="Wingdings" panose="05000000000000000000" pitchFamily="2" charset="2"/>
              <a:buChar char="l"/>
            </a:pPr>
            <a:r>
              <a:rPr lang="en-US" altLang="zh-CN" dirty="0">
                <a:solidFill>
                  <a:srgbClr val="0000FF"/>
                </a:solidFill>
                <a:latin typeface="Times New Roman" panose="02020603050405020304" pitchFamily="18" charset="0"/>
                <a:ea typeface="宋体" panose="02010600030101010101" pitchFamily="2" charset="-122"/>
              </a:rPr>
              <a:t>G</a:t>
            </a:r>
            <a:r>
              <a:rPr lang="zh-CN" altLang="en-US" dirty="0">
                <a:solidFill>
                  <a:srgbClr val="0000FF"/>
                </a:solidFill>
                <a:latin typeface="Times New Roman" panose="02020603050405020304" pitchFamily="18" charset="0"/>
                <a:ea typeface="宋体" panose="02010600030101010101" pitchFamily="2" charset="-122"/>
              </a:rPr>
              <a:t>和</a:t>
            </a:r>
            <a:r>
              <a:rPr lang="en-US" altLang="zh-CN" dirty="0">
                <a:solidFill>
                  <a:srgbClr val="0000FF"/>
                </a:solidFill>
                <a:latin typeface="Times New Roman" panose="02020603050405020304" pitchFamily="18" charset="0"/>
                <a:ea typeface="宋体" panose="02010600030101010101" pitchFamily="2" charset="-122"/>
              </a:rPr>
              <a:t>P</a:t>
            </a:r>
            <a:r>
              <a:rPr lang="zh-CN" altLang="en-US" dirty="0">
                <a:solidFill>
                  <a:srgbClr val="0000FF"/>
                </a:solidFill>
                <a:latin typeface="Times New Roman" panose="02020603050405020304" pitchFamily="18" charset="0"/>
                <a:ea typeface="宋体" panose="02010600030101010101" pitchFamily="2" charset="-122"/>
              </a:rPr>
              <a:t>是进位产生函数和进位传递函数输出；</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eaLnBrk="0" hangingPunct="0">
              <a:spcBef>
                <a:spcPts val="1200"/>
              </a:spcBef>
              <a:buFont typeface="Wingdings" panose="05000000000000000000" pitchFamily="2" charset="2"/>
              <a:buChar char="l"/>
            </a:pPr>
            <a:r>
              <a:rPr lang="en-US" altLang="zh-CN" dirty="0">
                <a:solidFill>
                  <a:srgbClr val="0000FF"/>
                </a:solidFill>
                <a:latin typeface="Times New Roman" panose="02020603050405020304" pitchFamily="18" charset="0"/>
                <a:ea typeface="宋体" panose="02010600030101010101" pitchFamily="2" charset="-122"/>
              </a:rPr>
              <a:t>Cn</a:t>
            </a:r>
            <a:r>
              <a:rPr lang="zh-CN" altLang="en-US" dirty="0">
                <a:solidFill>
                  <a:srgbClr val="0000FF"/>
                </a:solidFill>
                <a:latin typeface="Times New Roman" panose="02020603050405020304" pitchFamily="18" charset="0"/>
                <a:ea typeface="宋体" panose="02010600030101010101" pitchFamily="2" charset="-122"/>
              </a:rPr>
              <a:t>是进位输入，</a:t>
            </a:r>
            <a:r>
              <a:rPr lang="en-US" altLang="zh-CN" dirty="0">
                <a:solidFill>
                  <a:srgbClr val="0000FF"/>
                </a:solidFill>
                <a:latin typeface="Times New Roman" panose="02020603050405020304" pitchFamily="18" charset="0"/>
                <a:ea typeface="宋体" panose="02010600030101010101" pitchFamily="2" charset="-122"/>
              </a:rPr>
              <a:t>Cn+4</a:t>
            </a:r>
            <a:r>
              <a:rPr lang="zh-CN" altLang="en-US" dirty="0">
                <a:solidFill>
                  <a:srgbClr val="0000FF"/>
                </a:solidFill>
                <a:latin typeface="Times New Roman" panose="02020603050405020304" pitchFamily="18" charset="0"/>
                <a:ea typeface="宋体" panose="02010600030101010101" pitchFamily="2" charset="-122"/>
              </a:rPr>
              <a:t>是进位输出</a:t>
            </a:r>
            <a:r>
              <a:rPr lang="en-US" altLang="zh-CN" dirty="0">
                <a:solidFill>
                  <a:srgbClr val="0000FF"/>
                </a:solidFill>
                <a:latin typeface="Times New Roman" panose="02020603050405020304" pitchFamily="18" charset="0"/>
                <a:ea typeface="宋体" panose="02010600030101010101" pitchFamily="2" charset="-122"/>
              </a:rPr>
              <a:t>;</a:t>
            </a:r>
            <a:endParaRPr lang="en-US" altLang="zh-CN" dirty="0">
              <a:solidFill>
                <a:srgbClr val="0000FF"/>
              </a:solidFill>
              <a:latin typeface="Times New Roman" panose="02020603050405020304" pitchFamily="18" charset="0"/>
              <a:ea typeface="宋体" panose="02010600030101010101" pitchFamily="2" charset="-122"/>
            </a:endParaRPr>
          </a:p>
          <a:p>
            <a:pPr marL="285750" indent="-285750" eaLnBrk="0" hangingPunct="0">
              <a:spcBef>
                <a:spcPts val="1200"/>
              </a:spcBef>
              <a:buFont typeface="Wingdings" panose="05000000000000000000" pitchFamily="2" charset="2"/>
              <a:buChar char="l"/>
            </a:pPr>
            <a:r>
              <a:rPr lang="en-US" altLang="zh-CN" dirty="0">
                <a:solidFill>
                  <a:srgbClr val="0000FF"/>
                </a:solidFill>
                <a:latin typeface="Times New Roman" panose="02020603050405020304" pitchFamily="18" charset="0"/>
                <a:ea typeface="宋体" panose="02010600030101010101" pitchFamily="2" charset="-122"/>
              </a:rPr>
              <a:t>A=B</a:t>
            </a:r>
            <a:r>
              <a:rPr lang="zh-CN" altLang="en-US" dirty="0">
                <a:solidFill>
                  <a:srgbClr val="0000FF"/>
                </a:solidFill>
                <a:latin typeface="Times New Roman" panose="02020603050405020304" pitchFamily="18" charset="0"/>
                <a:ea typeface="宋体" panose="02010600030101010101" pitchFamily="2" charset="-122"/>
              </a:rPr>
              <a:t>指示</a:t>
            </a:r>
            <a:r>
              <a:rPr lang="en-US" altLang="zh-CN" dirty="0">
                <a:solidFill>
                  <a:srgbClr val="0000FF"/>
                </a:solidFill>
                <a:latin typeface="Times New Roman" panose="02020603050405020304" pitchFamily="18" charset="0"/>
                <a:ea typeface="宋体" panose="02010600030101010101" pitchFamily="2" charset="-122"/>
              </a:rPr>
              <a:t>A</a:t>
            </a:r>
            <a:r>
              <a:rPr lang="zh-CN" altLang="en-US" dirty="0">
                <a:solidFill>
                  <a:srgbClr val="0000FF"/>
                </a:solidFill>
                <a:latin typeface="Times New Roman" panose="02020603050405020304" pitchFamily="18" charset="0"/>
                <a:ea typeface="宋体" panose="02010600030101010101" pitchFamily="2" charset="-122"/>
              </a:rPr>
              <a:t>和</a:t>
            </a:r>
            <a:r>
              <a:rPr lang="en-US" altLang="zh-CN" dirty="0">
                <a:solidFill>
                  <a:srgbClr val="0000FF"/>
                </a:solidFill>
                <a:latin typeface="Times New Roman" panose="02020603050405020304" pitchFamily="18" charset="0"/>
                <a:ea typeface="宋体" panose="02010600030101010101" pitchFamily="2" charset="-122"/>
              </a:rPr>
              <a:t>B</a:t>
            </a:r>
            <a:r>
              <a:rPr lang="zh-CN" altLang="en-US" dirty="0">
                <a:solidFill>
                  <a:srgbClr val="0000FF"/>
                </a:solidFill>
                <a:latin typeface="Times New Roman" panose="02020603050405020304" pitchFamily="18" charset="0"/>
                <a:ea typeface="宋体" panose="02010600030101010101" pitchFamily="2" charset="-122"/>
              </a:rPr>
              <a:t>是否相等。</a:t>
            </a:r>
            <a:endParaRPr lang="zh-CN" altLang="en-US"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7153"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3.ALU</a:t>
            </a:r>
            <a:r>
              <a:rPr lang="zh-CN" altLang="en-US" dirty="0">
                <a:latin typeface="Times New Roman" panose="02020603050405020304" pitchFamily="18" charset="0"/>
              </a:rPr>
              <a:t>的应用</a:t>
            </a:r>
            <a:endParaRPr lang="zh-CN" altLang="en-US" dirty="0">
              <a:latin typeface="Times New Roman" panose="02020603050405020304" pitchFamily="18" charset="0"/>
              <a:ea typeface="Times New Roman" panose="02020603050405020304" pitchFamily="18" charset="0"/>
            </a:endParaRPr>
          </a:p>
        </p:txBody>
      </p:sp>
      <p:sp>
        <p:nvSpPr>
          <p:cNvPr id="177154" name="内容占位符 2"/>
          <p:cNvSpPr>
            <a:spLocks noGrp="1"/>
          </p:cNvSpPr>
          <p:nvPr>
            <p:ph idx="1"/>
          </p:nvPr>
        </p:nvSpPr>
        <p:spPr>
          <a:xfrm>
            <a:off x="457200" y="1628775"/>
            <a:ext cx="8229600" cy="4525963"/>
          </a:xfrm>
          <a:noFill/>
          <a:ln>
            <a:noFill/>
          </a:ln>
        </p:spPr>
        <p:txBody>
          <a:bodyPr anchor="t" anchorCtr="0"/>
          <a:p>
            <a:r>
              <a:rPr lang="en-US" altLang="zh-CN" dirty="0">
                <a:latin typeface="Times New Roman" panose="02020603050405020304" pitchFamily="18" charset="0"/>
              </a:rPr>
              <a:t>74181</a:t>
            </a:r>
            <a:r>
              <a:rPr lang="zh-CN" altLang="en-US" dirty="0">
                <a:latin typeface="Times New Roman" panose="02020603050405020304" pitchFamily="18" charset="0"/>
              </a:rPr>
              <a:t>的</a:t>
            </a:r>
            <a:r>
              <a:rPr lang="en-US" altLang="zh-CN" dirty="0">
                <a:latin typeface="Times New Roman" panose="02020603050405020304" pitchFamily="18" charset="0"/>
              </a:rPr>
              <a:t>4</a:t>
            </a:r>
            <a:r>
              <a:rPr lang="zh-CN" altLang="en-US" dirty="0">
                <a:latin typeface="Times New Roman" panose="02020603050405020304" pitchFamily="18" charset="0"/>
              </a:rPr>
              <a:t>位一组，小组间可串行或并行进位：</a:t>
            </a:r>
            <a:endParaRPr lang="en-US" altLang="zh-CN" dirty="0">
              <a:latin typeface="Times New Roman" panose="02020603050405020304" pitchFamily="18" charset="0"/>
            </a:endParaRPr>
          </a:p>
          <a:p>
            <a:pPr lvl="1">
              <a:spcBef>
                <a:spcPts val="1800"/>
              </a:spcBef>
            </a:pPr>
            <a:r>
              <a:rPr lang="zh-CN" altLang="en-US" dirty="0">
                <a:latin typeface="Times New Roman" panose="02020603050405020304" pitchFamily="18" charset="0"/>
              </a:rPr>
              <a:t>串行进位：把低片的</a:t>
            </a:r>
            <a:r>
              <a:rPr lang="en-US" altLang="zh-CN" dirty="0">
                <a:latin typeface="Times New Roman" panose="02020603050405020304" pitchFamily="18" charset="0"/>
              </a:rPr>
              <a:t>C</a:t>
            </a:r>
            <a:r>
              <a:rPr lang="en-US" altLang="zh-CN" baseline="-25000" dirty="0">
                <a:latin typeface="Times New Roman" panose="02020603050405020304" pitchFamily="18" charset="0"/>
              </a:rPr>
              <a:t>n+4</a:t>
            </a:r>
            <a:r>
              <a:rPr lang="zh-CN" altLang="en-US" dirty="0">
                <a:latin typeface="Times New Roman" panose="02020603050405020304" pitchFamily="18" charset="0"/>
              </a:rPr>
              <a:t>与高片的</a:t>
            </a:r>
            <a:r>
              <a:rPr lang="en-US" altLang="zh-CN" dirty="0">
                <a:latin typeface="Times New Roman" panose="02020603050405020304" pitchFamily="18" charset="0"/>
              </a:rPr>
              <a:t>C</a:t>
            </a:r>
            <a:r>
              <a:rPr lang="en-US" altLang="zh-CN" baseline="-25000" dirty="0">
                <a:latin typeface="Times New Roman" panose="02020603050405020304" pitchFamily="18" charset="0"/>
              </a:rPr>
              <a:t>n</a:t>
            </a:r>
            <a:r>
              <a:rPr lang="zh-CN" altLang="en-US" dirty="0">
                <a:latin typeface="Times New Roman" panose="02020603050405020304" pitchFamily="18" charset="0"/>
              </a:rPr>
              <a:t>相连；</a:t>
            </a:r>
            <a:endParaRPr lang="en-US" altLang="zh-CN" dirty="0">
              <a:latin typeface="Times New Roman" panose="02020603050405020304" pitchFamily="18" charset="0"/>
            </a:endParaRPr>
          </a:p>
          <a:p>
            <a:pPr lvl="1">
              <a:spcBef>
                <a:spcPts val="1200"/>
              </a:spcBef>
            </a:pPr>
            <a:r>
              <a:rPr lang="zh-CN" altLang="en-US" dirty="0">
                <a:latin typeface="Times New Roman" panose="02020603050405020304" pitchFamily="18" charset="0"/>
              </a:rPr>
              <a:t>并行进位：增加一片</a:t>
            </a:r>
            <a:r>
              <a:rPr lang="en-US" altLang="zh-CN" dirty="0">
                <a:latin typeface="Times New Roman" panose="02020603050405020304" pitchFamily="18" charset="0"/>
              </a:rPr>
              <a:t>74182</a:t>
            </a:r>
            <a:r>
              <a:rPr lang="zh-CN" altLang="en-US" dirty="0">
                <a:latin typeface="Times New Roman" panose="02020603050405020304" pitchFamily="18" charset="0"/>
              </a:rPr>
              <a:t>（先行进位部件）。</a:t>
            </a:r>
            <a:endParaRPr lang="en-US" altLang="zh-CN" dirty="0">
              <a:latin typeface="Times New Roman" panose="02020603050405020304" pitchFamily="18" charset="0"/>
            </a:endParaRPr>
          </a:p>
          <a:p>
            <a:pPr lvl="2" latinLnBrk="0">
              <a:spcBef>
                <a:spcPts val="1200"/>
              </a:spcBef>
            </a:pPr>
            <a:r>
              <a:rPr lang="en-US" altLang="zh-CN" dirty="0">
                <a:latin typeface="Times New Roman" panose="02020603050405020304" pitchFamily="18" charset="0"/>
              </a:rPr>
              <a:t>74182</a:t>
            </a:r>
            <a:r>
              <a:rPr lang="zh-CN" altLang="en-US" dirty="0">
                <a:latin typeface="Times New Roman" panose="02020603050405020304" pitchFamily="18" charset="0"/>
              </a:rPr>
              <a:t>产生</a:t>
            </a:r>
            <a:r>
              <a:rPr lang="en-US" altLang="zh-CN" dirty="0">
                <a:latin typeface="Times New Roman" panose="02020603050405020304" pitchFamily="18" charset="0"/>
              </a:rPr>
              <a:t>3</a:t>
            </a:r>
            <a:r>
              <a:rPr lang="zh-CN" altLang="en-US" dirty="0">
                <a:latin typeface="Times New Roman" panose="02020603050405020304" pitchFamily="18" charset="0"/>
              </a:rPr>
              <a:t>个进位信号</a:t>
            </a:r>
            <a:r>
              <a:rPr lang="en-US" altLang="zh-CN" dirty="0">
                <a:latin typeface="Times New Roman" panose="02020603050405020304" pitchFamily="18" charset="0"/>
              </a:rPr>
              <a:t>Cn+x</a:t>
            </a:r>
            <a:r>
              <a:rPr lang="zh-CN" altLang="en-US" dirty="0">
                <a:latin typeface="Times New Roman" panose="02020603050405020304" pitchFamily="18" charset="0"/>
              </a:rPr>
              <a:t>、</a:t>
            </a:r>
            <a:r>
              <a:rPr lang="en-US" altLang="zh-CN" dirty="0">
                <a:latin typeface="Times New Roman" panose="02020603050405020304" pitchFamily="18" charset="0"/>
              </a:rPr>
              <a:t>Cn+y</a:t>
            </a:r>
            <a:r>
              <a:rPr lang="zh-CN" altLang="en-US" dirty="0">
                <a:latin typeface="Times New Roman" panose="02020603050405020304" pitchFamily="18" charset="0"/>
              </a:rPr>
              <a:t>、</a:t>
            </a:r>
            <a:r>
              <a:rPr lang="en-US" altLang="zh-CN" dirty="0">
                <a:latin typeface="Times New Roman" panose="02020603050405020304" pitchFamily="18" charset="0"/>
              </a:rPr>
              <a:t>Cn+z</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latinLnBrk="0">
              <a:spcBef>
                <a:spcPts val="1200"/>
              </a:spcBef>
            </a:pPr>
            <a:r>
              <a:rPr lang="zh-CN" altLang="en-US" dirty="0">
                <a:latin typeface="Times New Roman" panose="02020603050405020304" pitchFamily="18" charset="0"/>
              </a:rPr>
              <a:t>还产生大组进位产生函数和进位传递函数。</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8177"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74182</a:t>
            </a:r>
            <a:r>
              <a:rPr lang="zh-CN" altLang="en-US" dirty="0">
                <a:latin typeface="Times New Roman" panose="02020603050405020304" pitchFamily="18" charset="0"/>
              </a:rPr>
              <a:t>芯片方框图 </a:t>
            </a:r>
            <a:endParaRPr lang="zh-CN" altLang="en-US" dirty="0">
              <a:latin typeface="Times New Roman" panose="02020603050405020304" pitchFamily="18" charset="0"/>
            </a:endParaRPr>
          </a:p>
        </p:txBody>
      </p:sp>
      <p:graphicFrame>
        <p:nvGraphicFramePr>
          <p:cNvPr id="178178" name="Object 5"/>
          <p:cNvGraphicFramePr>
            <a:graphicFrameLocks noChangeAspect="1"/>
          </p:cNvGraphicFramePr>
          <p:nvPr/>
        </p:nvGraphicFramePr>
        <p:xfrm>
          <a:off x="693738" y="1417638"/>
          <a:ext cx="5486400" cy="3448050"/>
        </p:xfrm>
        <a:graphic>
          <a:graphicData uri="http://schemas.openxmlformats.org/presentationml/2006/ole">
            <mc:AlternateContent xmlns:mc="http://schemas.openxmlformats.org/markup-compatibility/2006">
              <mc:Choice xmlns:v="urn:schemas-microsoft-com:vml" Requires="v">
                <p:oleObj spid="_x0000_s3098" name="" r:id="rId1" imgW="2402840" imgH="1513840" progId="Visio.Drawing.6">
                  <p:embed/>
                </p:oleObj>
              </mc:Choice>
              <mc:Fallback>
                <p:oleObj name="" r:id="rId1" imgW="2402840" imgH="1513840" progId="Visio.Drawing.6">
                  <p:embed/>
                  <p:pic>
                    <p:nvPicPr>
                      <p:cNvPr id="0" name="图片 3097"/>
                      <p:cNvPicPr/>
                      <p:nvPr/>
                    </p:nvPicPr>
                    <p:blipFill>
                      <a:blip r:embed="rId2"/>
                      <a:stretch>
                        <a:fillRect/>
                      </a:stretch>
                    </p:blipFill>
                    <p:spPr>
                      <a:xfrm>
                        <a:off x="693738" y="1417638"/>
                        <a:ext cx="5486400" cy="3448050"/>
                      </a:xfrm>
                      <a:prstGeom prst="rect">
                        <a:avLst/>
                      </a:prstGeom>
                      <a:noFill/>
                      <a:ln w="38100">
                        <a:noFill/>
                        <a:miter/>
                      </a:ln>
                    </p:spPr>
                  </p:pic>
                </p:oleObj>
              </mc:Fallback>
            </mc:AlternateContent>
          </a:graphicData>
        </a:graphic>
      </p:graphicFrame>
      <p:sp>
        <p:nvSpPr>
          <p:cNvPr id="178179" name="Rectangle 7"/>
          <p:cNvSpPr>
            <a:spLocks noGrp="1"/>
          </p:cNvSpPr>
          <p:nvPr>
            <p:ph idx="1"/>
          </p:nvPr>
        </p:nvSpPr>
        <p:spPr>
          <a:xfrm>
            <a:off x="1116013" y="5100638"/>
            <a:ext cx="4191000" cy="609600"/>
          </a:xfrm>
          <a:noFill/>
          <a:ln>
            <a:noFill/>
          </a:ln>
        </p:spPr>
        <p:txBody>
          <a:bodyPr anchor="t" anchorCtr="0"/>
          <a:p>
            <a:pPr algn="ctr" eaLnBrk="1" hangingPunct="1">
              <a:buFontTx/>
              <a:buNone/>
            </a:pPr>
            <a:r>
              <a:rPr lang="zh-CN" altLang="en-US" sz="2400" dirty="0">
                <a:latin typeface="Times New Roman" panose="02020603050405020304" pitchFamily="18" charset="0"/>
              </a:rPr>
              <a:t>图4-28  74182芯片方框图 </a:t>
            </a:r>
            <a:endParaRPr lang="zh-CN" altLang="en-US" sz="2400" dirty="0">
              <a:latin typeface="Times New Roman" panose="02020603050405020304" pitchFamily="18" charset="0"/>
            </a:endParaRPr>
          </a:p>
        </p:txBody>
      </p:sp>
      <p:sp>
        <p:nvSpPr>
          <p:cNvPr id="178180" name="矩形 5"/>
          <p:cNvSpPr/>
          <p:nvPr/>
        </p:nvSpPr>
        <p:spPr>
          <a:xfrm>
            <a:off x="5773738" y="1628775"/>
            <a:ext cx="2759075" cy="4538663"/>
          </a:xfrm>
          <a:prstGeom prst="rect">
            <a:avLst/>
          </a:prstGeom>
          <a:noFill/>
          <a:ln w="9525">
            <a:noFill/>
          </a:ln>
        </p:spPr>
        <p:txBody>
          <a:bodyPr wrap="square" anchor="t" anchorCtr="0">
            <a:spAutoFit/>
          </a:bodyPr>
          <a:p>
            <a:pPr marL="382905" lvl="1" indent="-285750" algn="just" eaLnBrk="0" hangingPunct="0">
              <a:lnSpc>
                <a:spcPct val="120000"/>
              </a:lnSpc>
              <a:spcBef>
                <a:spcPts val="1800"/>
              </a:spcBef>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各片</a:t>
            </a:r>
            <a:r>
              <a:rPr lang="en-US" altLang="zh-CN" dirty="0">
                <a:solidFill>
                  <a:srgbClr val="0000FF"/>
                </a:solidFill>
                <a:latin typeface="Times New Roman" panose="02020603050405020304" pitchFamily="18" charset="0"/>
                <a:ea typeface="宋体" panose="02010600030101010101" pitchFamily="2" charset="-122"/>
              </a:rPr>
              <a:t>74181</a:t>
            </a:r>
            <a:r>
              <a:rPr lang="zh-CN" altLang="en-US" dirty="0">
                <a:solidFill>
                  <a:srgbClr val="0000FF"/>
                </a:solidFill>
                <a:latin typeface="Times New Roman" panose="02020603050405020304" pitchFamily="18" charset="0"/>
                <a:ea typeface="宋体" panose="02010600030101010101" pitchFamily="2" charset="-122"/>
              </a:rPr>
              <a:t>输出的组进位产生函数和组进位传递函数作为</a:t>
            </a:r>
            <a:r>
              <a:rPr lang="en-US" altLang="zh-CN" dirty="0">
                <a:solidFill>
                  <a:srgbClr val="0000FF"/>
                </a:solidFill>
                <a:latin typeface="Times New Roman" panose="02020603050405020304" pitchFamily="18" charset="0"/>
                <a:ea typeface="宋体" panose="02010600030101010101" pitchFamily="2" charset="-122"/>
              </a:rPr>
              <a:t>74182</a:t>
            </a:r>
            <a:r>
              <a:rPr lang="zh-CN" altLang="en-US" dirty="0">
                <a:solidFill>
                  <a:srgbClr val="0000FF"/>
                </a:solidFill>
                <a:latin typeface="Times New Roman" panose="02020603050405020304" pitchFamily="18" charset="0"/>
                <a:ea typeface="宋体" panose="02010600030101010101" pitchFamily="2" charset="-122"/>
              </a:rPr>
              <a:t>的输入；</a:t>
            </a:r>
            <a:endParaRPr lang="zh-CN" altLang="en-US" dirty="0">
              <a:solidFill>
                <a:srgbClr val="0000FF"/>
              </a:solidFill>
              <a:latin typeface="Times New Roman" panose="02020603050405020304" pitchFamily="18" charset="0"/>
              <a:ea typeface="宋体" panose="02010600030101010101" pitchFamily="2" charset="-122"/>
            </a:endParaRPr>
          </a:p>
          <a:p>
            <a:pPr marL="382905" lvl="1" indent="-285750" algn="just" eaLnBrk="0" hangingPunct="0">
              <a:lnSpc>
                <a:spcPct val="120000"/>
              </a:lnSpc>
              <a:spcBef>
                <a:spcPts val="1800"/>
              </a:spcBef>
              <a:buFont typeface="Wingdings" panose="05000000000000000000" charset="0"/>
              <a:buChar char="u"/>
            </a:pPr>
            <a:r>
              <a:rPr lang="zh-CN" altLang="en-US" dirty="0">
                <a:solidFill>
                  <a:srgbClr val="0000FF"/>
                </a:solidFill>
                <a:latin typeface="Times New Roman" panose="02020603050405020304" pitchFamily="18" charset="0"/>
                <a:ea typeface="宋体" panose="02010600030101010101" pitchFamily="2" charset="-122"/>
              </a:rPr>
              <a:t>而</a:t>
            </a:r>
            <a:r>
              <a:rPr lang="en-US" altLang="zh-CN" dirty="0">
                <a:solidFill>
                  <a:srgbClr val="0000FF"/>
                </a:solidFill>
                <a:latin typeface="Times New Roman" panose="02020603050405020304" pitchFamily="18" charset="0"/>
                <a:ea typeface="宋体" panose="02010600030101010101" pitchFamily="2" charset="-122"/>
              </a:rPr>
              <a:t>74182</a:t>
            </a:r>
            <a:r>
              <a:rPr lang="zh-CN" altLang="en-US" dirty="0">
                <a:solidFill>
                  <a:srgbClr val="0000FF"/>
                </a:solidFill>
                <a:latin typeface="Times New Roman" panose="02020603050405020304" pitchFamily="18" charset="0"/>
                <a:ea typeface="宋体" panose="02010600030101010101" pitchFamily="2" charset="-122"/>
              </a:rPr>
              <a:t>输出的进位信号</a:t>
            </a:r>
            <a:r>
              <a:rPr lang="en-US" altLang="zh-CN" dirty="0">
                <a:solidFill>
                  <a:srgbClr val="0000FF"/>
                </a:solidFill>
                <a:latin typeface="Times New Roman" panose="02020603050405020304" pitchFamily="18" charset="0"/>
                <a:ea typeface="宋体" panose="02010600030101010101" pitchFamily="2" charset="-122"/>
              </a:rPr>
              <a:t>Cn+x</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Cn+y</a:t>
            </a:r>
            <a:r>
              <a:rPr lang="zh-CN" altLang="en-US" dirty="0">
                <a:solidFill>
                  <a:srgbClr val="0000FF"/>
                </a:solidFill>
                <a:latin typeface="Times New Roman" panose="02020603050405020304" pitchFamily="18" charset="0"/>
                <a:ea typeface="宋体" panose="02010600030101010101" pitchFamily="2" charset="-122"/>
              </a:rPr>
              <a:t>、</a:t>
            </a:r>
            <a:r>
              <a:rPr lang="en-US" altLang="zh-CN" dirty="0">
                <a:solidFill>
                  <a:srgbClr val="0000FF"/>
                </a:solidFill>
                <a:latin typeface="Times New Roman" panose="02020603050405020304" pitchFamily="18" charset="0"/>
                <a:ea typeface="宋体" panose="02010600030101010101" pitchFamily="2" charset="-122"/>
              </a:rPr>
              <a:t>Cn+x</a:t>
            </a:r>
            <a:r>
              <a:rPr lang="zh-CN" altLang="en-US" dirty="0">
                <a:solidFill>
                  <a:srgbClr val="0000FF"/>
                </a:solidFill>
                <a:latin typeface="Times New Roman" panose="02020603050405020304" pitchFamily="18" charset="0"/>
                <a:ea typeface="宋体" panose="02010600030101010101" pitchFamily="2" charset="-122"/>
              </a:rPr>
              <a:t>作为</a:t>
            </a:r>
            <a:r>
              <a:rPr lang="en-US" altLang="zh-CN" dirty="0">
                <a:solidFill>
                  <a:srgbClr val="0000FF"/>
                </a:solidFill>
                <a:latin typeface="Times New Roman" panose="02020603050405020304" pitchFamily="18" charset="0"/>
                <a:ea typeface="宋体" panose="02010600030101010101" pitchFamily="2" charset="-122"/>
              </a:rPr>
              <a:t>74181</a:t>
            </a:r>
            <a:r>
              <a:rPr lang="zh-CN" altLang="en-US" dirty="0">
                <a:solidFill>
                  <a:srgbClr val="0000FF"/>
                </a:solidFill>
                <a:latin typeface="Times New Roman" panose="02020603050405020304" pitchFamily="18" charset="0"/>
                <a:ea typeface="宋体" panose="02010600030101010101" pitchFamily="2" charset="-122"/>
              </a:rPr>
              <a:t>的输入；</a:t>
            </a:r>
            <a:endParaRPr lang="zh-CN" altLang="en-US" dirty="0">
              <a:solidFill>
                <a:srgbClr val="0000FF"/>
              </a:solidFill>
              <a:latin typeface="Times New Roman" panose="02020603050405020304" pitchFamily="18" charset="0"/>
              <a:ea typeface="宋体" panose="02010600030101010101" pitchFamily="2" charset="-122"/>
            </a:endParaRPr>
          </a:p>
          <a:p>
            <a:pPr marL="382905" lvl="1" indent="-285750" algn="just" eaLnBrk="0" hangingPunct="0">
              <a:lnSpc>
                <a:spcPct val="120000"/>
              </a:lnSpc>
              <a:spcBef>
                <a:spcPts val="1800"/>
              </a:spcBef>
              <a:buFont typeface="Wingdings" panose="05000000000000000000" charset="0"/>
              <a:buChar char="u"/>
            </a:pPr>
            <a:r>
              <a:rPr lang="en-US" altLang="zh-CN" dirty="0">
                <a:solidFill>
                  <a:srgbClr val="0000FF"/>
                </a:solidFill>
                <a:latin typeface="Times New Roman" panose="02020603050405020304" pitchFamily="18" charset="0"/>
                <a:ea typeface="宋体" panose="02010600030101010101" pitchFamily="2" charset="-122"/>
              </a:rPr>
              <a:t>74182</a:t>
            </a:r>
            <a:r>
              <a:rPr lang="zh-CN" altLang="en-US" dirty="0">
                <a:solidFill>
                  <a:srgbClr val="0000FF"/>
                </a:solidFill>
                <a:latin typeface="Times New Roman" panose="02020603050405020304" pitchFamily="18" charset="0"/>
                <a:ea typeface="宋体" panose="02010600030101010101" pitchFamily="2" charset="-122"/>
              </a:rPr>
              <a:t>输出的大组进位产生函数和大组进位传递函数可作为更高一级</a:t>
            </a:r>
            <a:r>
              <a:rPr lang="en-US" altLang="zh-CN" dirty="0">
                <a:solidFill>
                  <a:srgbClr val="0000FF"/>
                </a:solidFill>
                <a:latin typeface="Times New Roman" panose="02020603050405020304" pitchFamily="18" charset="0"/>
                <a:ea typeface="宋体" panose="02010600030101010101" pitchFamily="2" charset="-122"/>
              </a:rPr>
              <a:t>74182</a:t>
            </a:r>
            <a:r>
              <a:rPr lang="zh-CN" altLang="en-US" dirty="0">
                <a:solidFill>
                  <a:srgbClr val="0000FF"/>
                </a:solidFill>
                <a:latin typeface="Times New Roman" panose="02020603050405020304" pitchFamily="18" charset="0"/>
                <a:ea typeface="宋体" panose="02010600030101010101" pitchFamily="2" charset="-122"/>
              </a:rPr>
              <a:t>的输入。 </a:t>
            </a:r>
            <a:endParaRPr lang="zh-CN" altLang="en-US" dirty="0">
              <a:solidFill>
                <a:srgbClr val="0000FF"/>
              </a:solidFill>
              <a:latin typeface="Times New Roman" panose="02020603050405020304" pitchFamily="18" charset="0"/>
              <a:ea typeface="宋体" panose="02010600030101010101" pitchFamily="2" charset="-122"/>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9201"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4.9.3 </a:t>
            </a:r>
            <a:r>
              <a:rPr lang="zh-CN" altLang="en-US" dirty="0">
                <a:latin typeface="Times New Roman" panose="02020603050405020304" pitchFamily="18" charset="0"/>
              </a:rPr>
              <a:t>浮点运算器举例 </a:t>
            </a:r>
            <a:endParaRPr lang="zh-CN" altLang="en-US" dirty="0">
              <a:latin typeface="Times New Roman" panose="02020603050405020304" pitchFamily="18" charset="0"/>
              <a:ea typeface="Times New Roman" panose="02020603050405020304" pitchFamily="18" charset="0"/>
            </a:endParaRPr>
          </a:p>
        </p:txBody>
      </p:sp>
      <p:sp>
        <p:nvSpPr>
          <p:cNvPr id="179202" name="内容占位符 2"/>
          <p:cNvSpPr>
            <a:spLocks noGrp="1"/>
          </p:cNvSpPr>
          <p:nvPr>
            <p:ph idx="1"/>
          </p:nvPr>
        </p:nvSpPr>
        <p:spPr>
          <a:xfrm>
            <a:off x="457200" y="1203325"/>
            <a:ext cx="8229600" cy="5105400"/>
          </a:xfrm>
          <a:noFill/>
          <a:ln>
            <a:noFill/>
          </a:ln>
        </p:spPr>
        <p:txBody>
          <a:bodyPr anchor="t" anchorCtr="0"/>
          <a:p>
            <a:pPr>
              <a:lnSpc>
                <a:spcPct val="80000"/>
              </a:lnSpc>
            </a:pPr>
            <a:r>
              <a:rPr lang="en-US" altLang="zh-CN" dirty="0">
                <a:latin typeface="Times New Roman" panose="02020603050405020304" pitchFamily="18" charset="0"/>
              </a:rPr>
              <a:t>1.80x87</a:t>
            </a:r>
            <a:r>
              <a:rPr lang="zh-CN" altLang="en-US" dirty="0">
                <a:latin typeface="Times New Roman" panose="02020603050405020304" pitchFamily="18" charset="0"/>
              </a:rPr>
              <a:t>的数据格式</a:t>
            </a:r>
            <a:endParaRPr lang="zh-CN" altLang="en-US" dirty="0">
              <a:latin typeface="Times New Roman" panose="02020603050405020304" pitchFamily="18" charset="0"/>
            </a:endParaRPr>
          </a:p>
          <a:p>
            <a:pPr lvl="1" latinLnBrk="0">
              <a:lnSpc>
                <a:spcPct val="80000"/>
              </a:lnSpc>
              <a:spcBef>
                <a:spcPts val="1200"/>
              </a:spcBef>
            </a:pPr>
            <a:r>
              <a:rPr lang="zh-CN" altLang="en-US" dirty="0">
                <a:latin typeface="Times New Roman" panose="02020603050405020304" pitchFamily="18" charset="0"/>
              </a:rPr>
              <a:t>可处理</a:t>
            </a:r>
            <a:r>
              <a:rPr lang="en-US" altLang="zh-CN" dirty="0">
                <a:latin typeface="Times New Roman" panose="02020603050405020304" pitchFamily="18" charset="0"/>
              </a:rPr>
              <a:t>7</a:t>
            </a:r>
            <a:r>
              <a:rPr lang="zh-CN" altLang="en-US" dirty="0">
                <a:latin typeface="Times New Roman" panose="02020603050405020304" pitchFamily="18" charset="0"/>
              </a:rPr>
              <a:t>种不同的数据类型。</a:t>
            </a:r>
            <a:endParaRPr lang="en-US" altLang="zh-CN" dirty="0">
              <a:latin typeface="Times New Roman" panose="02020603050405020304" pitchFamily="18" charset="0"/>
            </a:endParaRPr>
          </a:p>
          <a:p>
            <a:pPr lvl="1" latinLnBrk="0">
              <a:lnSpc>
                <a:spcPct val="80000"/>
              </a:lnSpc>
              <a:spcBef>
                <a:spcPts val="1200"/>
              </a:spcBef>
            </a:pPr>
            <a:r>
              <a:rPr lang="zh-CN" altLang="en-US" dirty="0">
                <a:solidFill>
                  <a:srgbClr val="FF0000"/>
                </a:solidFill>
                <a:latin typeface="Times New Roman" panose="02020603050405020304" pitchFamily="18" charset="0"/>
              </a:rPr>
              <a:t>整数</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latinLnBrk="0">
              <a:lnSpc>
                <a:spcPct val="80000"/>
              </a:lnSpc>
              <a:spcBef>
                <a:spcPts val="600"/>
              </a:spcBef>
            </a:pPr>
            <a:r>
              <a:rPr lang="zh-CN" altLang="en-US" dirty="0">
                <a:latin typeface="Times New Roman" panose="02020603050405020304" pitchFamily="18" charset="0"/>
              </a:rPr>
              <a:t>最高位为符号位，</a:t>
            </a:r>
            <a:r>
              <a:rPr lang="zh-CN" altLang="en-US" dirty="0">
                <a:solidFill>
                  <a:srgbClr val="FF0000"/>
                </a:solidFill>
                <a:latin typeface="Times New Roman" panose="02020603050405020304" pitchFamily="18" charset="0"/>
              </a:rPr>
              <a:t>补码</a:t>
            </a:r>
            <a:r>
              <a:rPr lang="zh-CN" altLang="en-US" dirty="0">
                <a:latin typeface="Times New Roman" panose="02020603050405020304" pitchFamily="18" charset="0"/>
              </a:rPr>
              <a:t>表示；</a:t>
            </a:r>
            <a:endParaRPr lang="zh-CN" altLang="en-US" dirty="0">
              <a:latin typeface="Times New Roman" panose="02020603050405020304" pitchFamily="18" charset="0"/>
            </a:endParaRPr>
          </a:p>
          <a:p>
            <a:pPr lvl="2" latinLnBrk="0">
              <a:lnSpc>
                <a:spcPct val="80000"/>
              </a:lnSpc>
              <a:spcBef>
                <a:spcPts val="600"/>
              </a:spcBef>
            </a:pPr>
            <a:r>
              <a:rPr lang="en-US" altLang="zh-CN" dirty="0">
                <a:latin typeface="Times New Roman" panose="02020603050405020304" pitchFamily="18" charset="0"/>
              </a:rPr>
              <a:t>16</a:t>
            </a:r>
            <a:r>
              <a:rPr lang="zh-CN" altLang="en-US" dirty="0">
                <a:latin typeface="Times New Roman" panose="02020603050405020304" pitchFamily="18" charset="0"/>
              </a:rPr>
              <a:t>、</a:t>
            </a:r>
            <a:r>
              <a:rPr lang="en-US" altLang="zh-CN" dirty="0">
                <a:latin typeface="Times New Roman" panose="02020603050405020304" pitchFamily="18" charset="0"/>
              </a:rPr>
              <a:t>32</a:t>
            </a:r>
            <a:r>
              <a:rPr lang="zh-CN" altLang="en-US" dirty="0">
                <a:latin typeface="Times New Roman" panose="02020603050405020304" pitchFamily="18" charset="0"/>
              </a:rPr>
              <a:t>和</a:t>
            </a:r>
            <a:r>
              <a:rPr lang="en-US" altLang="zh-CN" dirty="0">
                <a:latin typeface="Times New Roman" panose="02020603050405020304" pitchFamily="18" charset="0"/>
              </a:rPr>
              <a:t>64</a:t>
            </a:r>
            <a:r>
              <a:rPr lang="zh-CN" altLang="en-US" dirty="0">
                <a:latin typeface="Times New Roman" panose="02020603050405020304" pitchFamily="18" charset="0"/>
              </a:rPr>
              <a:t>位三种格式。</a:t>
            </a:r>
            <a:endParaRPr lang="en-US" altLang="zh-CN" dirty="0">
              <a:latin typeface="Times New Roman" panose="02020603050405020304" pitchFamily="18" charset="0"/>
            </a:endParaRPr>
          </a:p>
          <a:p>
            <a:pPr lvl="1">
              <a:lnSpc>
                <a:spcPct val="80000"/>
              </a:lnSpc>
              <a:spcBef>
                <a:spcPts val="1200"/>
              </a:spcBef>
            </a:pPr>
            <a:r>
              <a:rPr lang="zh-CN" altLang="en-US" dirty="0">
                <a:solidFill>
                  <a:srgbClr val="FF0000"/>
                </a:solidFill>
                <a:latin typeface="Times New Roman" panose="02020603050405020304" pitchFamily="18" charset="0"/>
              </a:rPr>
              <a:t>十进制数</a:t>
            </a:r>
            <a:r>
              <a:rPr lang="zh-CN" altLang="en-US" dirty="0">
                <a:latin typeface="Times New Roman" panose="02020603050405020304" pitchFamily="18" charset="0"/>
              </a:rPr>
              <a:t>：</a:t>
            </a:r>
            <a:endParaRPr lang="zh-CN" altLang="en-US" dirty="0">
              <a:latin typeface="Times New Roman" panose="02020603050405020304" pitchFamily="18" charset="0"/>
            </a:endParaRPr>
          </a:p>
          <a:p>
            <a:pPr lvl="2" latinLnBrk="0">
              <a:lnSpc>
                <a:spcPct val="80000"/>
              </a:lnSpc>
              <a:spcBef>
                <a:spcPts val="600"/>
              </a:spcBef>
            </a:pPr>
            <a:r>
              <a:rPr lang="zh-CN" altLang="en-US" dirty="0">
                <a:latin typeface="Times New Roman" panose="02020603050405020304" pitchFamily="18" charset="0"/>
              </a:rPr>
              <a:t>一位用</a:t>
            </a:r>
            <a:r>
              <a:rPr lang="en-US" altLang="zh-CN" dirty="0">
                <a:latin typeface="Times New Roman" panose="02020603050405020304" pitchFamily="18" charset="0"/>
              </a:rPr>
              <a:t>4</a:t>
            </a:r>
            <a:r>
              <a:rPr lang="zh-CN" altLang="en-US" dirty="0">
                <a:latin typeface="Times New Roman" panose="02020603050405020304" pitchFamily="18" charset="0"/>
              </a:rPr>
              <a:t>位二进制表示；</a:t>
            </a:r>
            <a:endParaRPr lang="zh-CN" altLang="en-US" dirty="0">
              <a:latin typeface="Times New Roman" panose="02020603050405020304" pitchFamily="18" charset="0"/>
            </a:endParaRPr>
          </a:p>
          <a:p>
            <a:pPr lvl="2" latinLnBrk="0">
              <a:lnSpc>
                <a:spcPct val="80000"/>
              </a:lnSpc>
              <a:spcBef>
                <a:spcPts val="600"/>
              </a:spcBef>
            </a:pPr>
            <a:r>
              <a:rPr lang="en-US" altLang="zh-CN" dirty="0">
                <a:latin typeface="Times New Roman" panose="02020603050405020304" pitchFamily="18" charset="0"/>
              </a:rPr>
              <a:t>80</a:t>
            </a:r>
            <a:r>
              <a:rPr lang="zh-CN" altLang="en-US" dirty="0">
                <a:latin typeface="Times New Roman" panose="02020603050405020304" pitchFamily="18" charset="0"/>
              </a:rPr>
              <a:t>位的低</a:t>
            </a:r>
            <a:r>
              <a:rPr lang="en-US" altLang="zh-CN" dirty="0">
                <a:latin typeface="Times New Roman" panose="02020603050405020304" pitchFamily="18" charset="0"/>
              </a:rPr>
              <a:t>72</a:t>
            </a:r>
            <a:r>
              <a:rPr lang="zh-CN" altLang="en-US" dirty="0">
                <a:latin typeface="Times New Roman" panose="02020603050405020304" pitchFamily="18" charset="0"/>
              </a:rPr>
              <a:t>位表示</a:t>
            </a:r>
            <a:r>
              <a:rPr lang="en-US" altLang="zh-CN" dirty="0">
                <a:latin typeface="Times New Roman" panose="02020603050405020304" pitchFamily="18" charset="0"/>
              </a:rPr>
              <a:t>18</a:t>
            </a:r>
            <a:r>
              <a:rPr lang="zh-CN" altLang="en-US" dirty="0">
                <a:latin typeface="Times New Roman" panose="02020603050405020304" pitchFamily="18" charset="0"/>
              </a:rPr>
              <a:t>位十进制数；</a:t>
            </a:r>
            <a:endParaRPr lang="zh-CN" altLang="en-US" dirty="0">
              <a:latin typeface="Times New Roman" panose="02020603050405020304" pitchFamily="18" charset="0"/>
            </a:endParaRPr>
          </a:p>
          <a:p>
            <a:pPr lvl="2" latinLnBrk="0">
              <a:lnSpc>
                <a:spcPct val="80000"/>
              </a:lnSpc>
              <a:spcBef>
                <a:spcPts val="600"/>
              </a:spcBef>
            </a:pPr>
            <a:r>
              <a:rPr lang="zh-CN" altLang="en-US" dirty="0">
                <a:latin typeface="Times New Roman" panose="02020603050405020304" pitchFamily="18" charset="0"/>
              </a:rPr>
              <a:t>最高位为符号位，正数和负数都以</a:t>
            </a:r>
            <a:r>
              <a:rPr lang="zh-CN" altLang="en-US" dirty="0">
                <a:solidFill>
                  <a:srgbClr val="FF0000"/>
                </a:solidFill>
                <a:latin typeface="Times New Roman" panose="02020603050405020304" pitchFamily="18" charset="0"/>
              </a:rPr>
              <a:t>原码</a:t>
            </a:r>
            <a:r>
              <a:rPr lang="zh-CN" altLang="en-US" dirty="0">
                <a:latin typeface="Times New Roman" panose="02020603050405020304" pitchFamily="18" charset="0"/>
              </a:rPr>
              <a:t>形式存储。</a:t>
            </a:r>
            <a:endParaRPr lang="en-US" altLang="zh-CN" dirty="0">
              <a:latin typeface="Times New Roman" panose="02020603050405020304" pitchFamily="18" charset="0"/>
            </a:endParaRPr>
          </a:p>
          <a:p>
            <a:pPr lvl="1">
              <a:lnSpc>
                <a:spcPct val="80000"/>
              </a:lnSpc>
              <a:spcBef>
                <a:spcPts val="1200"/>
              </a:spcBef>
            </a:pPr>
            <a:r>
              <a:rPr lang="zh-CN" altLang="en-US" dirty="0">
                <a:solidFill>
                  <a:srgbClr val="FF0000"/>
                </a:solidFill>
                <a:latin typeface="Times New Roman" panose="02020603050405020304" pitchFamily="18" charset="0"/>
              </a:rPr>
              <a:t>浮点数：</a:t>
            </a:r>
            <a:endParaRPr lang="zh-CN" altLang="en-US" dirty="0">
              <a:solidFill>
                <a:srgbClr val="FF0000"/>
              </a:solidFill>
              <a:latin typeface="Times New Roman" panose="02020603050405020304" pitchFamily="18" charset="0"/>
            </a:endParaRPr>
          </a:p>
          <a:p>
            <a:pPr lvl="2" latinLnBrk="0">
              <a:lnSpc>
                <a:spcPct val="80000"/>
              </a:lnSpc>
              <a:spcBef>
                <a:spcPts val="600"/>
              </a:spcBef>
            </a:pPr>
            <a:r>
              <a:rPr lang="zh-CN" altLang="en-US" dirty="0">
                <a:latin typeface="Times New Roman" panose="02020603050405020304" pitchFamily="18" charset="0"/>
              </a:rPr>
              <a:t>有</a:t>
            </a:r>
            <a:r>
              <a:rPr lang="en-US" altLang="zh-CN" dirty="0">
                <a:latin typeface="Times New Roman" panose="02020603050405020304" pitchFamily="18" charset="0"/>
              </a:rPr>
              <a:t>32</a:t>
            </a:r>
            <a:r>
              <a:rPr lang="zh-CN" altLang="en-US" dirty="0">
                <a:latin typeface="Times New Roman" panose="02020603050405020304" pitchFamily="18" charset="0"/>
              </a:rPr>
              <a:t>、</a:t>
            </a:r>
            <a:r>
              <a:rPr lang="en-US" altLang="zh-CN" dirty="0">
                <a:latin typeface="Times New Roman" panose="02020603050405020304" pitchFamily="18" charset="0"/>
              </a:rPr>
              <a:t>64</a:t>
            </a:r>
            <a:r>
              <a:rPr lang="zh-CN" altLang="en-US" dirty="0">
                <a:latin typeface="Times New Roman" panose="02020603050405020304" pitchFamily="18" charset="0"/>
              </a:rPr>
              <a:t>和</a:t>
            </a:r>
            <a:r>
              <a:rPr lang="en-US" altLang="zh-CN" dirty="0">
                <a:latin typeface="Times New Roman" panose="02020603050405020304" pitchFamily="18" charset="0"/>
              </a:rPr>
              <a:t>80</a:t>
            </a:r>
            <a:r>
              <a:rPr lang="zh-CN" altLang="en-US" dirty="0">
                <a:latin typeface="Times New Roman" panose="02020603050405020304" pitchFamily="18" charset="0"/>
              </a:rPr>
              <a:t>位三种格式；</a:t>
            </a:r>
            <a:endParaRPr lang="zh-CN" altLang="en-US" dirty="0">
              <a:latin typeface="Times New Roman" panose="02020603050405020304" pitchFamily="18" charset="0"/>
            </a:endParaRPr>
          </a:p>
          <a:p>
            <a:pPr lvl="2" latinLnBrk="0">
              <a:lnSpc>
                <a:spcPct val="80000"/>
              </a:lnSpc>
              <a:spcBef>
                <a:spcPts val="600"/>
              </a:spcBef>
            </a:pPr>
            <a:r>
              <a:rPr lang="zh-CN" altLang="en-US" dirty="0">
                <a:solidFill>
                  <a:srgbClr val="FF0000"/>
                </a:solidFill>
                <a:latin typeface="Times New Roman" panose="02020603050405020304" pitchFamily="18" charset="0"/>
              </a:rPr>
              <a:t>阶码</a:t>
            </a:r>
            <a:r>
              <a:rPr lang="zh-CN" altLang="en-US" dirty="0">
                <a:latin typeface="Times New Roman" panose="02020603050405020304" pitchFamily="18" charset="0"/>
              </a:rPr>
              <a:t>的底为</a:t>
            </a:r>
            <a:r>
              <a:rPr lang="en-US" altLang="zh-CN" dirty="0">
                <a:latin typeface="Times New Roman" panose="02020603050405020304" pitchFamily="18" charset="0"/>
              </a:rPr>
              <a:t>2</a:t>
            </a:r>
            <a:r>
              <a:rPr lang="zh-CN" altLang="en-US" dirty="0">
                <a:latin typeface="Times New Roman" panose="02020603050405020304" pitchFamily="18" charset="0"/>
              </a:rPr>
              <a:t>，用</a:t>
            </a:r>
            <a:r>
              <a:rPr lang="zh-CN" altLang="en-US" dirty="0">
                <a:solidFill>
                  <a:srgbClr val="FF0000"/>
                </a:solidFill>
                <a:latin typeface="Times New Roman" panose="02020603050405020304" pitchFamily="18" charset="0"/>
              </a:rPr>
              <a:t>移码</a:t>
            </a:r>
            <a:r>
              <a:rPr lang="zh-CN" altLang="en-US" dirty="0">
                <a:latin typeface="Times New Roman" panose="02020603050405020304" pitchFamily="18" charset="0"/>
              </a:rPr>
              <a:t>表示，</a:t>
            </a:r>
            <a:r>
              <a:rPr lang="zh-CN" altLang="en-US" dirty="0">
                <a:solidFill>
                  <a:srgbClr val="FF0000"/>
                </a:solidFill>
                <a:latin typeface="Times New Roman" panose="02020603050405020304" pitchFamily="18" charset="0"/>
              </a:rPr>
              <a:t>尾数</a:t>
            </a:r>
            <a:r>
              <a:rPr lang="zh-CN" altLang="en-US" dirty="0">
                <a:latin typeface="Times New Roman" panose="02020603050405020304" pitchFamily="18" charset="0"/>
              </a:rPr>
              <a:t>用</a:t>
            </a:r>
            <a:r>
              <a:rPr lang="zh-CN" altLang="en-US" dirty="0">
                <a:solidFill>
                  <a:srgbClr val="FF0000"/>
                </a:solidFill>
                <a:latin typeface="Times New Roman" panose="02020603050405020304" pitchFamily="18" charset="0"/>
              </a:rPr>
              <a:t>原码</a:t>
            </a:r>
            <a:r>
              <a:rPr lang="zh-CN" altLang="en-US" dirty="0">
                <a:latin typeface="Times New Roman" panose="02020603050405020304" pitchFamily="18" charset="0"/>
              </a:rPr>
              <a:t>表示。</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0225" name="标题 1"/>
          <p:cNvSpPr>
            <a:spLocks noGrp="1"/>
          </p:cNvSpPr>
          <p:nvPr>
            <p:ph type="title"/>
          </p:nvPr>
        </p:nvSpPr>
        <p:spPr>
          <a:noFill/>
          <a:ln>
            <a:noFill/>
          </a:ln>
        </p:spPr>
        <p:txBody>
          <a:bodyPr anchor="t" anchorCtr="0"/>
          <a:p>
            <a:r>
              <a:rPr lang="en-US" altLang="zh-CN" dirty="0">
                <a:latin typeface="Times New Roman" panose="02020603050405020304" pitchFamily="18" charset="0"/>
              </a:rPr>
              <a:t>2.80x87</a:t>
            </a:r>
            <a:r>
              <a:rPr lang="zh-CN" altLang="en-US" dirty="0">
                <a:latin typeface="Times New Roman" panose="02020603050405020304" pitchFamily="18" charset="0"/>
              </a:rPr>
              <a:t>的内部结构（</a:t>
            </a:r>
            <a:r>
              <a:rPr lang="en-US" altLang="zh-CN" dirty="0">
                <a:latin typeface="Times New Roman" panose="02020603050405020304" pitchFamily="18" charset="0"/>
              </a:rPr>
              <a:t>p121)</a:t>
            </a:r>
            <a:endParaRPr lang="zh-CN" altLang="en-US" dirty="0">
              <a:latin typeface="Times New Roman" panose="02020603050405020304" pitchFamily="18" charset="0"/>
            </a:endParaRPr>
          </a:p>
        </p:txBody>
      </p:sp>
      <p:sp>
        <p:nvSpPr>
          <p:cNvPr id="180226" name="内容占位符 2"/>
          <p:cNvSpPr>
            <a:spLocks noGrp="1"/>
          </p:cNvSpPr>
          <p:nvPr>
            <p:ph idx="1"/>
          </p:nvPr>
        </p:nvSpPr>
        <p:spPr>
          <a:xfrm>
            <a:off x="457200" y="1417638"/>
            <a:ext cx="8229600" cy="4708525"/>
          </a:xfrm>
          <a:noFill/>
          <a:ln>
            <a:noFill/>
          </a:ln>
        </p:spPr>
        <p:txBody>
          <a:bodyPr anchor="t" anchorCtr="0"/>
          <a:p>
            <a:r>
              <a:rPr lang="en-US" altLang="zh-CN" dirty="0">
                <a:latin typeface="Times New Roman" panose="02020603050405020304" pitchFamily="18" charset="0"/>
              </a:rPr>
              <a:t>80x87</a:t>
            </a:r>
            <a:r>
              <a:rPr lang="zh-CN" altLang="en-US" dirty="0">
                <a:latin typeface="Times New Roman" panose="02020603050405020304" pitchFamily="18" charset="0"/>
              </a:rPr>
              <a:t>由</a:t>
            </a:r>
            <a:r>
              <a:rPr lang="en-US" altLang="zh-CN" dirty="0">
                <a:latin typeface="Times New Roman" panose="02020603050405020304" pitchFamily="18" charset="0"/>
              </a:rPr>
              <a:t>3</a:t>
            </a:r>
            <a:r>
              <a:rPr lang="zh-CN" altLang="en-US" dirty="0">
                <a:latin typeface="Times New Roman" panose="02020603050405020304" pitchFamily="18" charset="0"/>
              </a:rPr>
              <a:t>个主要功能模块组成：</a:t>
            </a:r>
            <a:endParaRPr lang="zh-CN" altLang="en-US" dirty="0">
              <a:latin typeface="Times New Roman" panose="02020603050405020304" pitchFamily="18" charset="0"/>
            </a:endParaRPr>
          </a:p>
          <a:p>
            <a:pPr lvl="1"/>
            <a:r>
              <a:rPr lang="zh-CN" altLang="en-US" dirty="0">
                <a:latin typeface="Times New Roman" panose="02020603050405020304" pitchFamily="18" charset="0"/>
                <a:cs typeface="+mn-ea"/>
              </a:rPr>
              <a:t>总线控制逻辑部件；</a:t>
            </a:r>
            <a:endParaRPr lang="zh-CN" altLang="en-US" dirty="0">
              <a:latin typeface="Times New Roman" panose="02020603050405020304" pitchFamily="18" charset="0"/>
              <a:cs typeface="+mn-ea"/>
            </a:endParaRPr>
          </a:p>
          <a:p>
            <a:pPr lvl="1"/>
            <a:r>
              <a:rPr lang="zh-CN" altLang="en-US" dirty="0">
                <a:latin typeface="Times New Roman" panose="02020603050405020304" pitchFamily="18" charset="0"/>
                <a:cs typeface="+mn-ea"/>
              </a:rPr>
              <a:t>数据接口与控制部件；</a:t>
            </a:r>
            <a:endParaRPr lang="zh-CN" altLang="en-US" dirty="0">
              <a:latin typeface="Times New Roman" panose="02020603050405020304" pitchFamily="18" charset="0"/>
              <a:cs typeface="+mn-ea"/>
            </a:endParaRPr>
          </a:p>
          <a:p>
            <a:pPr lvl="1"/>
            <a:r>
              <a:rPr lang="zh-CN" altLang="en-US" dirty="0">
                <a:latin typeface="Times New Roman" panose="02020603050405020304" pitchFamily="18" charset="0"/>
                <a:cs typeface="+mn-ea"/>
              </a:rPr>
              <a:t>浮点运算部件。</a:t>
            </a:r>
            <a:endParaRPr lang="zh-CN" altLang="en-US" dirty="0">
              <a:latin typeface="Times New Roman" panose="02020603050405020304" pitchFamily="18" charset="0"/>
              <a:cs typeface="+mn-ea"/>
            </a:endParaRPr>
          </a:p>
          <a:p>
            <a:pPr lvl="2" latinLnBrk="0">
              <a:spcBef>
                <a:spcPts val="600"/>
              </a:spcBef>
            </a:pPr>
            <a:r>
              <a:rPr lang="zh-CN" altLang="en-US" dirty="0">
                <a:latin typeface="Times New Roman" panose="02020603050405020304" pitchFamily="18" charset="0"/>
              </a:rPr>
              <a:t>分别设置</a:t>
            </a:r>
            <a:r>
              <a:rPr lang="zh-CN" altLang="en-US" dirty="0">
                <a:solidFill>
                  <a:srgbClr val="FF0000"/>
                </a:solidFill>
                <a:latin typeface="Times New Roman" panose="02020603050405020304" pitchFamily="18" charset="0"/>
              </a:rPr>
              <a:t>阶码（指数）运算部件</a:t>
            </a:r>
            <a:r>
              <a:rPr lang="zh-CN" altLang="en-US" dirty="0">
                <a:latin typeface="Times New Roman" panose="02020603050405020304" pitchFamily="18" charset="0"/>
                <a:cs typeface="+mn-ea"/>
              </a:rPr>
              <a:t>与</a:t>
            </a:r>
            <a:r>
              <a:rPr lang="zh-CN" altLang="en-US" dirty="0">
                <a:solidFill>
                  <a:srgbClr val="FF0000"/>
                </a:solidFill>
                <a:latin typeface="Times New Roman" panose="02020603050405020304" pitchFamily="18" charset="0"/>
              </a:rPr>
              <a:t>尾数运算部件；</a:t>
            </a:r>
            <a:endParaRPr lang="zh-CN" altLang="en-US" dirty="0">
              <a:solidFill>
                <a:srgbClr val="FF0000"/>
              </a:solidFill>
              <a:latin typeface="Times New Roman" panose="02020603050405020304" pitchFamily="18" charset="0"/>
            </a:endParaRPr>
          </a:p>
          <a:p>
            <a:pPr lvl="2" latinLnBrk="0">
              <a:spcBef>
                <a:spcPts val="600"/>
              </a:spcBef>
            </a:pPr>
            <a:r>
              <a:rPr lang="zh-CN" altLang="en-US" dirty="0">
                <a:latin typeface="Times New Roman" panose="02020603050405020304" pitchFamily="18" charset="0"/>
              </a:rPr>
              <a:t>设有加速移位操作的移位器。</a:t>
            </a:r>
            <a:endParaRPr lang="zh-CN" altLang="en-US" dirty="0">
              <a:latin typeface="Times New Roman" panose="02020603050405020304" pitchFamily="18" charset="0"/>
            </a:endParaRPr>
          </a:p>
          <a:p>
            <a:pPr latinLnBrk="0">
              <a:spcBef>
                <a:spcPts val="1800"/>
              </a:spcBef>
            </a:pPr>
            <a:r>
              <a:rPr lang="en-US" altLang="zh-CN" dirty="0">
                <a:latin typeface="Times New Roman" panose="02020603050405020304" pitchFamily="18" charset="0"/>
              </a:rPr>
              <a:t>80x87</a:t>
            </a:r>
            <a:r>
              <a:rPr lang="zh-CN" altLang="en-US" dirty="0">
                <a:latin typeface="Times New Roman" panose="02020603050405020304" pitchFamily="18" charset="0"/>
              </a:rPr>
              <a:t>与主微处理器协同工作：</a:t>
            </a:r>
            <a:endParaRPr lang="zh-CN" altLang="en-US" dirty="0">
              <a:latin typeface="Times New Roman" panose="02020603050405020304" pitchFamily="18" charset="0"/>
            </a:endParaRPr>
          </a:p>
          <a:p>
            <a:pPr lvl="1" latinLnBrk="0">
              <a:spcBef>
                <a:spcPts val="600"/>
              </a:spcBef>
            </a:pPr>
            <a:r>
              <a:rPr lang="zh-CN" altLang="en-US" dirty="0">
                <a:latin typeface="Times New Roman" panose="02020603050405020304" pitchFamily="18" charset="0"/>
              </a:rPr>
              <a:t>微处理器执行常规指令，</a:t>
            </a:r>
            <a:r>
              <a:rPr lang="en-US" altLang="zh-CN" dirty="0">
                <a:latin typeface="Times New Roman" panose="02020603050405020304" pitchFamily="18" charset="0"/>
              </a:rPr>
              <a:t>80x87</a:t>
            </a:r>
            <a:r>
              <a:rPr lang="zh-CN" altLang="en-US" dirty="0">
                <a:latin typeface="Times New Roman" panose="02020603050405020304" pitchFamily="18" charset="0"/>
              </a:rPr>
              <a:t>执行协处理指令</a:t>
            </a:r>
            <a:endParaRPr lang="zh-CN" altLang="en-US" dirty="0">
              <a:latin typeface="Times New Roman" panose="02020603050405020304" pitchFamily="18" charset="0"/>
            </a:endParaRPr>
          </a:p>
          <a:p>
            <a:pPr lvl="1" latinLnBrk="0">
              <a:spcBef>
                <a:spcPts val="600"/>
              </a:spcBef>
            </a:pPr>
            <a:r>
              <a:rPr lang="zh-CN" altLang="en-US" dirty="0">
                <a:latin typeface="Times New Roman" panose="02020603050405020304" pitchFamily="18" charset="0"/>
              </a:rPr>
              <a:t>可以</a:t>
            </a:r>
            <a:r>
              <a:rPr lang="zh-CN" altLang="en-US" dirty="0">
                <a:solidFill>
                  <a:srgbClr val="FF0000"/>
                </a:solidFill>
                <a:latin typeface="Times New Roman" panose="02020603050405020304" pitchFamily="18" charset="0"/>
              </a:rPr>
              <a:t>同时或并行执行各自的指令</a:t>
            </a:r>
            <a:r>
              <a:rPr lang="zh-CN" altLang="en-US" dirty="0">
                <a:latin typeface="Times New Roman" panose="02020603050405020304" pitchFamily="18" charset="0"/>
              </a:rPr>
              <a:t>。</a:t>
            </a:r>
            <a:endParaRPr lang="zh-CN" altLang="en-US" dirty="0">
              <a:latin typeface="Times New Roman" panose="02020603050405020304" pitchFamily="18" charset="0"/>
            </a:endParaRPr>
          </a:p>
          <a:p>
            <a:endParaRPr lang="zh-CN" altLang="en-US" dirty="0">
              <a:latin typeface="Times New Roman" panose="02020603050405020304" pitchFamily="18" charset="0"/>
              <a:ea typeface="Times New Roman" panose="02020603050405020304" pitchFamily="18" charset="0"/>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1249" name="标题 1"/>
          <p:cNvSpPr>
            <a:spLocks noGrp="1"/>
          </p:cNvSpPr>
          <p:nvPr>
            <p:ph type="title"/>
          </p:nvPr>
        </p:nvSpPr>
        <p:spPr>
          <a:noFill/>
          <a:ln>
            <a:noFill/>
          </a:ln>
        </p:spPr>
        <p:txBody>
          <a:bodyPr anchor="t" anchorCtr="0"/>
          <a:p>
            <a:r>
              <a:rPr lang="zh-CN" altLang="en-US"/>
              <a:t>课堂练习</a:t>
            </a:r>
            <a:endParaRPr lang="zh-CN" altLang="en-US"/>
          </a:p>
        </p:txBody>
      </p:sp>
      <p:sp>
        <p:nvSpPr>
          <p:cNvPr id="181250" name="内容占位符 2"/>
          <p:cNvSpPr>
            <a:spLocks noGrp="1"/>
          </p:cNvSpPr>
          <p:nvPr>
            <p:ph idx="1"/>
          </p:nvPr>
        </p:nvSpPr>
        <p:spPr>
          <a:noFill/>
          <a:ln>
            <a:noFill/>
          </a:ln>
        </p:spPr>
        <p:txBody>
          <a:bodyPr anchor="t" anchorCtr="0"/>
          <a:p>
            <a:r>
              <a:rPr lang="zh-CN" altLang="en-US"/>
              <a:t>已知 ：</a:t>
            </a:r>
            <a:r>
              <a:rPr lang="en-US" altLang="zh-CN"/>
              <a:t>x=0.1011,y=-0.0101</a:t>
            </a:r>
            <a:endParaRPr lang="zh-CN" altLang="en-US"/>
          </a:p>
          <a:p>
            <a:pPr lvl="1"/>
            <a:endParaRPr lang="zh-CN" altLang="en-US"/>
          </a:p>
          <a:p>
            <a:pPr latinLnBrk="0">
              <a:spcBef>
                <a:spcPts val="3600"/>
              </a:spcBef>
            </a:pPr>
            <a:r>
              <a:rPr lang="zh-CN" altLang="en-US"/>
              <a:t>原码乘法计算：</a:t>
            </a:r>
            <a:endParaRPr lang="zh-CN" altLang="en-US"/>
          </a:p>
          <a:p>
            <a:pPr lvl="1"/>
            <a:r>
              <a:rPr lang="en-US" altLang="zh-CN"/>
              <a:t>x=0.11011,y=-0.11111</a:t>
            </a:r>
            <a:endParaRPr lang="en-US" altLang="zh-CN"/>
          </a:p>
          <a:p>
            <a:pPr latinLnBrk="0">
              <a:spcBef>
                <a:spcPts val="1800"/>
              </a:spcBef>
            </a:pPr>
            <a:r>
              <a:rPr lang="zh-CN" altLang="en-US"/>
              <a:t>原码加减交替</a:t>
            </a:r>
            <a:r>
              <a:rPr lang="zh-CN" altLang="en-US"/>
              <a:t>除法计算：</a:t>
            </a:r>
            <a:endParaRPr lang="zh-CN" altLang="en-US"/>
          </a:p>
          <a:p>
            <a:pPr lvl="1"/>
            <a:r>
              <a:rPr lang="en-US" altLang="zh-CN"/>
              <a:t>x=-0.10101,y=0.11011</a:t>
            </a:r>
            <a:endParaRPr lang="en-US" altLang="zh-CN"/>
          </a:p>
          <a:p>
            <a:endParaRPr lang="zh-CN" altLang="en-US"/>
          </a:p>
        </p:txBody>
      </p:sp>
      <p:pic>
        <p:nvPicPr>
          <p:cNvPr id="181251" name="图片 3"/>
          <p:cNvPicPr>
            <a:picLocks noChangeAspect="1"/>
          </p:cNvPicPr>
          <p:nvPr/>
        </p:nvPicPr>
        <p:blipFill>
          <a:blip r:embed="rId1"/>
          <a:stretch>
            <a:fillRect/>
          </a:stretch>
        </p:blipFill>
        <p:spPr>
          <a:xfrm>
            <a:off x="1233488" y="2228850"/>
            <a:ext cx="5872162" cy="681038"/>
          </a:xfrm>
          <a:prstGeom prst="rect">
            <a:avLst/>
          </a:prstGeom>
          <a:noFill/>
          <a:ln w="9525">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2273" name="标题 1"/>
          <p:cNvSpPr>
            <a:spLocks noGrp="1"/>
          </p:cNvSpPr>
          <p:nvPr>
            <p:ph type="title"/>
          </p:nvPr>
        </p:nvSpPr>
        <p:spPr>
          <a:noFill/>
          <a:ln>
            <a:noFill/>
          </a:ln>
        </p:spPr>
        <p:txBody>
          <a:bodyPr anchor="t" anchorCtr="0"/>
          <a:p>
            <a:r>
              <a:rPr lang="zh-CN" altLang="en-US">
                <a:latin typeface="Times New Roman" panose="02020603050405020304" pitchFamily="18" charset="0"/>
              </a:rPr>
              <a:t>课堂练习</a:t>
            </a:r>
            <a:endParaRPr lang="zh-CN" altLang="en-US">
              <a:latin typeface="Times New Roman" panose="02020603050405020304" pitchFamily="18" charset="0"/>
            </a:endParaRPr>
          </a:p>
        </p:txBody>
      </p:sp>
      <p:sp>
        <p:nvSpPr>
          <p:cNvPr id="181250" name="内容占位符 2"/>
          <p:cNvSpPr>
            <a:spLocks noGrp="1"/>
          </p:cNvSpPr>
          <p:nvPr>
            <p:ph idx="1"/>
          </p:nvPr>
        </p:nvSpPr>
        <p:spPr>
          <a:noFill/>
          <a:ln>
            <a:noFill/>
          </a:ln>
        </p:spPr>
        <p:txBody>
          <a:bodyPr anchor="t"/>
          <a:p>
            <a:pPr marL="342900" marR="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设浮点数的阶码和尾数部分均用补码表示 ，按照浮点数的运算规则 ，计算</a:t>
            </a:r>
            <a:r>
              <a:rPr kumimoji="0" lang="zh-CN"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a:t>
            </a:r>
            <a:endParaRPr kumimoji="0"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1200"/>
              </a:spcBef>
              <a:spcAft>
                <a:spcPct val="0"/>
              </a:spcAft>
              <a:buClr>
                <a:schemeClr val="accent1"/>
              </a:buClr>
              <a:buSzTx/>
              <a:buFont typeface="Wingdings" panose="05000000000000000000" pitchFamily="2" charset="2"/>
              <a:buChar char="§"/>
            </a:pPr>
            <a:r>
              <a:rPr kumimoji="0" lang="en-US" altLang="zh-CN"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rPr>
              <a:t>x=2</a:t>
            </a:r>
            <a:r>
              <a:rPr kumimoji="0" lang="en-US" altLang="zh-CN" sz="2800" b="0" i="0" u="none" strike="noStrike" kern="0" cap="none" spc="0" normalizeH="0" baseline="30000" noProof="1">
                <a:solidFill>
                  <a:schemeClr val="tx1"/>
                </a:solidFill>
                <a:latin typeface="Times New Roman" panose="02020603050405020304" pitchFamily="18" charset="0"/>
                <a:ea typeface="+mn-ea"/>
                <a:cs typeface="Times New Roman" panose="02020603050405020304" pitchFamily="18" charset="0"/>
              </a:rPr>
              <a:t>-101</a:t>
            </a:r>
            <a:r>
              <a:rPr kumimoji="0" lang="en-US" altLang="zh-CN"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rPr>
              <a:t>*0.101100</a:t>
            </a:r>
            <a:r>
              <a:rPr kumimoji="0" lang="zh-CN" altLang="en-US"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rPr>
              <a:t>，</a:t>
            </a:r>
            <a:r>
              <a:rPr kumimoji="0" lang="en-US" altLang="zh-CN"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rPr>
              <a:t>y=2</a:t>
            </a:r>
            <a:r>
              <a:rPr kumimoji="0" lang="en-US" altLang="zh-CN" sz="2800" b="0" i="0" u="none" strike="noStrike" kern="0" cap="none" spc="0" normalizeH="0" baseline="30000" noProof="1">
                <a:solidFill>
                  <a:schemeClr val="tx1"/>
                </a:solidFill>
                <a:latin typeface="Times New Roman" panose="02020603050405020304" pitchFamily="18" charset="0"/>
                <a:ea typeface="+mn-ea"/>
                <a:cs typeface="Times New Roman" panose="02020603050405020304" pitchFamily="18" charset="0"/>
              </a:rPr>
              <a:t>-100</a:t>
            </a:r>
            <a:r>
              <a:rPr kumimoji="0" lang="en-US" altLang="zh-CN"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rPr>
              <a:t>*(-0.101000)</a:t>
            </a:r>
            <a:r>
              <a:rPr kumimoji="0" lang="zh-CN" altLang="en-US"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rPr>
              <a:t> </a:t>
            </a:r>
            <a:endParaRPr kumimoji="0" lang="zh-CN" altLang="en-US"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endParaRPr>
          </a:p>
          <a:p>
            <a:pPr marL="742950" marR="0" lvl="1" indent="-285750" algn="l" defTabSz="914400" rtl="0" eaLnBrk="0" fontAlgn="base" latinLnBrk="0" hangingPunct="0">
              <a:lnSpc>
                <a:spcPct val="100000"/>
              </a:lnSpc>
              <a:spcBef>
                <a:spcPts val="2400"/>
              </a:spcBef>
              <a:spcAft>
                <a:spcPct val="0"/>
              </a:spcAft>
              <a:buClr>
                <a:schemeClr val="accent1"/>
              </a:buClr>
              <a:buSzTx/>
              <a:buFont typeface="Wingdings" panose="05000000000000000000" pitchFamily="2" charset="2"/>
              <a:buChar char="§"/>
            </a:pPr>
            <a:r>
              <a:rPr kumimoji="0" lang="zh-CN" altLang="en-US"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rPr>
              <a:t> </a:t>
            </a:r>
            <a:endParaRPr kumimoji="0" lang="zh-CN" altLang="en-US"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endParaRPr>
          </a:p>
          <a:p>
            <a:pPr marL="457200" marR="0" lvl="1" indent="0" algn="l" defTabSz="914400" rtl="0" eaLnBrk="0" fontAlgn="base" latinLnBrk="0" hangingPunct="0">
              <a:lnSpc>
                <a:spcPct val="100000"/>
              </a:lnSpc>
              <a:spcBef>
                <a:spcPct val="20000"/>
              </a:spcBef>
              <a:spcAft>
                <a:spcPct val="0"/>
              </a:spcAft>
              <a:buClr>
                <a:schemeClr val="accent1"/>
              </a:buClr>
              <a:buSzTx/>
              <a:buFont typeface="Wingdings" panose="05000000000000000000" pitchFamily="2" charset="2"/>
              <a:buNone/>
            </a:pPr>
            <a:endParaRPr kumimoji="0" lang="zh-CN" altLang="en-US" sz="2800" b="0" i="0" u="none" strike="noStrike" kern="0" cap="none" spc="0" normalizeH="0" baseline="0" noProof="1">
              <a:solidFill>
                <a:schemeClr val="tx1"/>
              </a:solidFill>
              <a:latin typeface="Times New Roman" panose="02020603050405020304" pitchFamily="18" charset="0"/>
              <a:ea typeface="+mn-ea"/>
              <a:cs typeface="Times New Roman" panose="02020603050405020304" pitchFamily="18" charset="0"/>
            </a:endParaRPr>
          </a:p>
          <a:p>
            <a:pPr marL="342900" marR="0" lvl="0" indent="-342900" algn="l" defTabSz="914400" rtl="0" eaLnBrk="0" fontAlgn="base" latinLnBrk="0" hangingPunct="0">
              <a:lnSpc>
                <a:spcPct val="100000"/>
              </a:lnSpc>
              <a:spcBef>
                <a:spcPct val="20000"/>
              </a:spcBef>
              <a:spcAft>
                <a:spcPct val="0"/>
              </a:spcAft>
              <a:buClr>
                <a:schemeClr val="hlink"/>
              </a:buClr>
              <a:buSzTx/>
              <a:buFont typeface="Wingdings" panose="05000000000000000000" pitchFamily="2" charset="2"/>
              <a:buChar char="v"/>
            </a:pPr>
            <a:r>
              <a:rPr kumimoji="0" lang="zh-CN" altLang="en-US"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用</a:t>
            </a:r>
            <a:r>
              <a:rPr kumimoji="0" lang="en-US" altLang="zh-CN"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74181</a:t>
            </a:r>
            <a:r>
              <a:rPr kumimoji="0" lang="zh-CN" altLang="en-US"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和</a:t>
            </a:r>
            <a:r>
              <a:rPr kumimoji="0" lang="en-US" altLang="zh-CN"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74182</a:t>
            </a:r>
            <a:r>
              <a:rPr kumimoji="0" lang="zh-CN" altLang="en-US"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芯片构成一个</a:t>
            </a:r>
            <a:r>
              <a:rPr kumimoji="0" lang="en-US" altLang="zh-CN"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64</a:t>
            </a:r>
            <a:r>
              <a:rPr kumimoji="0" lang="zh-CN" altLang="en-US"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rPr>
              <a:t>位的ALU，采用多级分组并行进位链（要求速度尽可能快） 。</a:t>
            </a:r>
            <a:endParaRPr kumimoji="0" lang="zh-CN" altLang="en-US" sz="2800" b="1" i="0" u="none" strike="noStrike" kern="0" cap="none" spc="0" normalizeH="0" baseline="0" noProof="1">
              <a:solidFill>
                <a:schemeClr val="hlink"/>
              </a:solidFill>
              <a:latin typeface="Times New Roman" panose="02020603050405020304" pitchFamily="18" charset="0"/>
              <a:ea typeface="+mn-ea"/>
              <a:cs typeface="Times New Roman" panose="02020603050405020304" pitchFamily="18" charset="0"/>
            </a:endParaRPr>
          </a:p>
        </p:txBody>
      </p:sp>
      <p:pic>
        <p:nvPicPr>
          <p:cNvPr id="182275" name="图片 1"/>
          <p:cNvPicPr>
            <a:picLocks noChangeAspect="1"/>
          </p:cNvPicPr>
          <p:nvPr/>
        </p:nvPicPr>
        <p:blipFill>
          <a:blip r:embed="rId1"/>
          <a:stretch>
            <a:fillRect/>
          </a:stretch>
        </p:blipFill>
        <p:spPr>
          <a:xfrm>
            <a:off x="1270000" y="3203575"/>
            <a:ext cx="3679825" cy="722313"/>
          </a:xfrm>
          <a:prstGeom prst="rect">
            <a:avLst/>
          </a:prstGeom>
          <a:noFill/>
          <a:ln w="9525">
            <a:noFill/>
          </a:ln>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第一次小测排名（不分</a:t>
            </a:r>
            <a:r>
              <a:rPr lang="zh-CN" altLang="en-US"/>
              <a:t>前后）前十</a:t>
            </a:r>
            <a:r>
              <a:rPr lang="zh-CN" altLang="en-US"/>
              <a:t>名单</a:t>
            </a:r>
            <a:endParaRPr lang="zh-CN" altLang="en-US"/>
          </a:p>
        </p:txBody>
      </p:sp>
      <p:pic>
        <p:nvPicPr>
          <p:cNvPr id="4" name="图片 3"/>
          <p:cNvPicPr>
            <a:picLocks noChangeAspect="1"/>
          </p:cNvPicPr>
          <p:nvPr/>
        </p:nvPicPr>
        <p:blipFill>
          <a:blip r:embed="rId1"/>
          <a:stretch>
            <a:fillRect/>
          </a:stretch>
        </p:blipFill>
        <p:spPr>
          <a:xfrm>
            <a:off x="1835785" y="1196975"/>
            <a:ext cx="5434965" cy="4934585"/>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97.25000000000004,&quot;left&quot;:93.5,&quot;top&quot;:342.87503937007875,&quot;width&quot;:519.1250393700788}"/>
</p:tagLst>
</file>

<file path=ppt/tags/tag2.xml><?xml version="1.0" encoding="utf-8"?>
<p:tagLst xmlns:p="http://schemas.openxmlformats.org/presentationml/2006/main">
  <p:tag name="KSO_WM_DIAGRAM_VIRTUALLY_FRAME" val="{&quot;height&quot;:97.25000000000004,&quot;left&quot;:93.5,&quot;top&quot;:342.87503937007875,&quot;width&quot;:519.1250393700788}"/>
</p:tagLst>
</file>

<file path=ppt/tags/tag3.xml><?xml version="1.0" encoding="utf-8"?>
<p:tagLst xmlns:p="http://schemas.openxmlformats.org/presentationml/2006/main">
  <p:tag name="KSO_WM_DIAGRAM_VIRTUALLY_FRAME" val="{&quot;height&quot;:97.25000000000004,&quot;left&quot;:93.5,&quot;top&quot;:342.87503937007875,&quot;width&quot;:519.1250393700788}"/>
</p:tagLst>
</file>

<file path=ppt/tags/tag4.xml><?xml version="1.0" encoding="utf-8"?>
<p:tagLst xmlns:p="http://schemas.openxmlformats.org/presentationml/2006/main">
  <p:tag name="KSO_WM_DIAGRAM_VIRTUALLY_FRAME" val="{&quot;height&quot;:97.25000000000004,&quot;left&quot;:93.5,&quot;top&quot;:342.87503937007875,&quot;width&quot;:519.1250393700788}"/>
</p:tagLst>
</file>

<file path=ppt/tags/tag5.xml><?xml version="1.0" encoding="utf-8"?>
<p:tagLst xmlns:p="http://schemas.openxmlformats.org/presentationml/2006/main">
  <p:tag name="KSO_WM_DIAGRAM_VIRTUALLY_FRAME" val="{&quot;height&quot;:97.25000000000004,&quot;left&quot;:93.5,&quot;top&quot;:342.87503937007875,&quot;width&quot;:519.1250393700788}"/>
</p:tagLst>
</file>

<file path=ppt/tags/tag6.xml><?xml version="1.0" encoding="utf-8"?>
<p:tagLst xmlns:p="http://schemas.openxmlformats.org/presentationml/2006/main">
  <p:tag name="KSO_WM_DIAGRAM_VIRTUALLY_FRAME" val="{&quot;height&quot;:97.25000000000004,&quot;left&quot;:93.5,&quot;top&quot;:342.87503937007875,&quot;width&quot;:519.1250393700788}"/>
</p:tagLst>
</file>

<file path=ppt/tags/tag7.xml><?xml version="1.0" encoding="utf-8"?>
<p:tagLst xmlns:p="http://schemas.openxmlformats.org/presentationml/2006/main">
  <p:tag name="KSO_WM_DIAGRAM_VIRTUALLY_FRAME" val="{&quot;height&quot;:95.37503937007872,&quot;left&quot;:105.37503937007872,&quot;top&quot;:304,&quot;width&quot;:413.87496062992125}"/>
</p:tagLst>
</file>

<file path=ppt/tags/tag8.xml><?xml version="1.0" encoding="utf-8"?>
<p:tagLst xmlns:p="http://schemas.openxmlformats.org/presentationml/2006/main">
  <p:tag name="KSO_WM_DIAGRAM_VIRTUALLY_FRAME" val="{&quot;height&quot;:95.37503937007872,&quot;left&quot;:105.37503937007872,&quot;top&quot;:304,&quot;width&quot;:413.87496062992125}"/>
</p:tagLst>
</file>

<file path=ppt/tags/tag9.xml><?xml version="1.0" encoding="utf-8"?>
<p:tagLst xmlns:p="http://schemas.openxmlformats.org/presentationml/2006/main">
  <p:tag name="KSO_WM_DIAGRAM_VIRTUALLY_FRAME" val="{&quot;height&quot;:95.37503937007872,&quot;left&quot;:105.37503937007872,&quot;top&quot;:304,&quot;width&quot;:413.87496062992125}"/>
</p:tagLst>
</file>

<file path=ppt/tags/tag10.xml><?xml version="1.0" encoding="utf-8"?>
<p:tagLst xmlns:p="http://schemas.openxmlformats.org/presentationml/2006/main">
  <p:tag name="KSO_WM_DIAGRAM_VIRTUALLY_FRAME" val="{&quot;height&quot;:95.37503937007872,&quot;left&quot;:105.37503937007872,&quot;top&quot;:304,&quot;width&quot;:413.87496062992125}"/>
</p:tagLst>
</file>

<file path=ppt/tags/tag11.xml><?xml version="1.0" encoding="utf-8"?>
<p:tagLst xmlns:p="http://schemas.openxmlformats.org/presentationml/2006/main">
  <p:tag name="KSO_WM_DIAGRAM_VIRTUALLY_FRAME" val="{&quot;height&quot;:95.37503937007872,&quot;left&quot;:105.37503937007872,&quot;top&quot;:304,&quot;width&quot;:413.87496062992125}"/>
</p:tagLst>
</file>

<file path=ppt/tags/tag12.xml><?xml version="1.0" encoding="utf-8"?>
<p:tagLst xmlns:p="http://schemas.openxmlformats.org/presentationml/2006/main">
  <p:tag name="KSO_WM_DIAGRAM_VIRTUALLY_FRAME" val="{&quot;height&quot;:95.37503937007872,&quot;left&quot;:105.37503937007872,&quot;top&quot;:304,&quot;width&quot;:413.87496062992125}"/>
</p:tagLst>
</file>

<file path=ppt/tags/tag13.xml><?xml version="1.0" encoding="utf-8"?>
<p:tagLst xmlns:p="http://schemas.openxmlformats.org/presentationml/2006/main">
  <p:tag name="KSO_WM_DIAGRAM_VIRTUALLY_FRAME" val="{&quot;height&quot;:95.37503937007872,&quot;left&quot;:105.37503937007872,&quot;top&quot;:304,&quot;width&quot;:413.87496062992125}"/>
</p:tagLst>
</file>

<file path=ppt/tags/tag14.xml><?xml version="1.0" encoding="utf-8"?>
<p:tagLst xmlns:p="http://schemas.openxmlformats.org/presentationml/2006/main">
  <p:tag name="KSO_WM_DIAGRAM_VIRTUALLY_FRAME" val="{&quot;height&quot;:95.37503937007872,&quot;left&quot;:105.37503937007872,&quot;top&quot;:304,&quot;width&quot;:413.87496062992125}"/>
</p:tagLst>
</file>

<file path=ppt/tags/tag15.xml><?xml version="1.0" encoding="utf-8"?>
<p:tagLst xmlns:p="http://schemas.openxmlformats.org/presentationml/2006/main">
  <p:tag name="KSO_WPP_MARK_KEY" val="59858124-a5ce-4411-b005-44a3d6538f73"/>
  <p:tag name="COMMONDATA" val="eyJoZGlkIjoiNzgwZWUzYWQ0MzYxM2VlNjVhZWQ5MmMwYjc0MjZhZjkifQ=="/>
</p:tagLst>
</file>

<file path=ppt/theme/theme1.xml><?xml version="1.0" encoding="utf-8"?>
<a:theme xmlns:a="http://schemas.openxmlformats.org/drawingml/2006/main" name="主题1">
  <a:themeElements>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2">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2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2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24美金的ppt模板">
  <a:themeElements>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1_24美金的ppt模板">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1_24美金的ppt模板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1_24美金的ppt模板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4美金的ppt模板_3">
  <a:themeElements>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3">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3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3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4美金的ppt模板_4">
  <a:themeElements>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4">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4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4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4美金的ppt模板_5">
  <a:themeElements>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fontScheme name="24美金的ppt模板_5">
      <a:majorFont>
        <a:latin typeface="黑体"/>
        <a:ea typeface="黑体"/>
        <a:cs typeface=""/>
      </a:majorFont>
      <a:minorFont>
        <a:latin typeface="黑体"/>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rgbClr val="FFFFFF"/>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en-US"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24美金的ppt模板_5 1">
        <a:dk1>
          <a:srgbClr val="003366"/>
        </a:dk1>
        <a:lt1>
          <a:srgbClr val="FFFFFF"/>
        </a:lt1>
        <a:dk2>
          <a:srgbClr val="3C8196"/>
        </a:dk2>
        <a:lt2>
          <a:srgbClr val="B2B2B2"/>
        </a:lt2>
        <a:accent1>
          <a:srgbClr val="2C6AA2"/>
        </a:accent1>
        <a:accent2>
          <a:srgbClr val="77AE26"/>
        </a:accent2>
        <a:accent3>
          <a:srgbClr val="FFFFFF"/>
        </a:accent3>
        <a:accent4>
          <a:srgbClr val="002A56"/>
        </a:accent4>
        <a:accent5>
          <a:srgbClr val="ACB9CE"/>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2">
        <a:dk1>
          <a:srgbClr val="003366"/>
        </a:dk1>
        <a:lt1>
          <a:srgbClr val="FFFFFF"/>
        </a:lt1>
        <a:dk2>
          <a:srgbClr val="2E6272"/>
        </a:dk2>
        <a:lt2>
          <a:srgbClr val="B2B2B2"/>
        </a:lt2>
        <a:accent1>
          <a:srgbClr val="3984C9"/>
        </a:accent1>
        <a:accent2>
          <a:srgbClr val="77AE26"/>
        </a:accent2>
        <a:accent3>
          <a:srgbClr val="FFFFFF"/>
        </a:accent3>
        <a:accent4>
          <a:srgbClr val="002A56"/>
        </a:accent4>
        <a:accent5>
          <a:srgbClr val="AEC2E1"/>
        </a:accent5>
        <a:accent6>
          <a:srgbClr val="6B9D21"/>
        </a:accent6>
        <a:hlink>
          <a:srgbClr val="6E815B"/>
        </a:hlink>
        <a:folHlink>
          <a:srgbClr val="90A8B0"/>
        </a:folHlink>
      </a:clrScheme>
      <a:clrMap bg1="lt1" tx1="dk1" bg2="lt2" tx2="dk2" accent1="accent1" accent2="accent2" accent3="accent3" accent4="accent4" accent5="accent5" accent6="accent6" hlink="hlink" folHlink="folHlink"/>
    </a:extraClrScheme>
    <a:extraClrScheme>
      <a:clrScheme name="24美金的ppt模板_5 3">
        <a:dk1>
          <a:srgbClr val="30311D"/>
        </a:dk1>
        <a:lt1>
          <a:srgbClr val="FFFFFF"/>
        </a:lt1>
        <a:dk2>
          <a:srgbClr val="4A5B1F"/>
        </a:dk2>
        <a:lt2>
          <a:srgbClr val="B2B2B2"/>
        </a:lt2>
        <a:accent1>
          <a:srgbClr val="907242"/>
        </a:accent1>
        <a:accent2>
          <a:srgbClr val="93B75F"/>
        </a:accent2>
        <a:accent3>
          <a:srgbClr val="FFFFFF"/>
        </a:accent3>
        <a:accent4>
          <a:srgbClr val="272817"/>
        </a:accent4>
        <a:accent5>
          <a:srgbClr val="C6BCB0"/>
        </a:accent5>
        <a:accent6>
          <a:srgbClr val="85A655"/>
        </a:accent6>
        <a:hlink>
          <a:srgbClr val="557B97"/>
        </a:hlink>
        <a:folHlink>
          <a:srgbClr val="A1A18B"/>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0</TotalTime>
  <Words>20669</Words>
  <Application>WPS 演示</Application>
  <PresentationFormat>全屏显示(4:3)</PresentationFormat>
  <Paragraphs>1692</Paragraphs>
  <Slides>139</Slides>
  <Notes>27</Notes>
  <HiddenSlides>0</HiddenSlides>
  <MMClips>0</MMClips>
  <ScaleCrop>false</ScaleCrop>
  <HeadingPairs>
    <vt:vector size="8" baseType="variant">
      <vt:variant>
        <vt:lpstr>已用的字体</vt:lpstr>
      </vt:variant>
      <vt:variant>
        <vt:i4>16</vt:i4>
      </vt:variant>
      <vt:variant>
        <vt:lpstr>主题</vt:lpstr>
      </vt:variant>
      <vt:variant>
        <vt:i4>5</vt:i4>
      </vt:variant>
      <vt:variant>
        <vt:lpstr>嵌入 OLE 服务器</vt:lpstr>
      </vt:variant>
      <vt:variant>
        <vt:i4>36</vt:i4>
      </vt:variant>
      <vt:variant>
        <vt:lpstr>幻灯片标题</vt:lpstr>
      </vt:variant>
      <vt:variant>
        <vt:i4>139</vt:i4>
      </vt:variant>
    </vt:vector>
  </HeadingPairs>
  <TitlesOfParts>
    <vt:vector size="196" baseType="lpstr">
      <vt:lpstr>Arial</vt:lpstr>
      <vt:lpstr>宋体</vt:lpstr>
      <vt:lpstr>Wingdings</vt:lpstr>
      <vt:lpstr>华文行楷</vt:lpstr>
      <vt:lpstr>黑体</vt:lpstr>
      <vt:lpstr>华文中宋</vt:lpstr>
      <vt:lpstr>Times New Roman</vt:lpstr>
      <vt:lpstr>微软雅黑</vt:lpstr>
      <vt:lpstr>Times New Roman</vt:lpstr>
      <vt:lpstr>Arial Unicode MS</vt:lpstr>
      <vt:lpstr>Symbol</vt:lpstr>
      <vt:lpstr>Wingdings</vt:lpstr>
      <vt:lpstr>楷体_GB2312</vt:lpstr>
      <vt:lpstr>新宋体</vt:lpstr>
      <vt:lpstr>Tahoma</vt:lpstr>
      <vt:lpstr>华文新魏</vt:lpstr>
      <vt:lpstr>主题1</vt:lpstr>
      <vt:lpstr>1_24美金的ppt模板</vt:lpstr>
      <vt:lpstr>24美金的ppt模板_3</vt:lpstr>
      <vt:lpstr>24美金的ppt模板_4</vt:lpstr>
      <vt:lpstr>24美金的ppt模板_5</vt:lpstr>
      <vt:lpstr>Visio.Drawing.6</vt:lpstr>
      <vt:lpstr>Photoshop.Image.6</vt:lpstr>
      <vt:lpstr>Equation.3</vt:lpstr>
      <vt:lpstr>Visio.Drawing.6</vt:lpstr>
      <vt:lpstr>Visio.Drawing.6</vt:lpstr>
      <vt:lpstr>Visio.Drawing.11</vt:lpstr>
      <vt:lpstr>Visio.Drawing.6</vt:lpstr>
      <vt:lpstr>Equation.3</vt:lpstr>
      <vt:lpstr>Equation.3</vt:lpstr>
      <vt:lpstr>Equation.3</vt:lpstr>
      <vt:lpstr>Equation.3</vt:lpstr>
      <vt:lpstr>Visio.Drawing.6</vt:lpstr>
      <vt:lpstr>Equation.3</vt:lpstr>
      <vt:lpstr>Equation.3</vt:lpstr>
      <vt:lpstr>Equation.3</vt:lpstr>
      <vt:lpstr>Equation.3</vt:lpstr>
      <vt:lpstr>Equation.3</vt:lpstr>
      <vt:lpstr>Equation.3</vt:lpstr>
      <vt:lpstr>Equation.3</vt:lpstr>
      <vt:lpstr>Equation.3</vt:lpstr>
      <vt:lpstr>Equation.3</vt:lpstr>
      <vt:lpstr>Visio.Drawing.6</vt:lpstr>
      <vt:lpstr>Visio.Drawing.6</vt:lpstr>
      <vt:lpstr>Equation.3</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Visio.Drawing.6</vt:lpstr>
      <vt:lpstr>Equation.3</vt:lpstr>
      <vt:lpstr>PowerPoint 演示文稿</vt:lpstr>
      <vt:lpstr>第4章 数值的机器运算</vt:lpstr>
      <vt:lpstr>运算器</vt:lpstr>
      <vt:lpstr>本章学习内容</vt:lpstr>
      <vt:lpstr>4.1  基本算术运算的实现</vt:lpstr>
      <vt:lpstr>4.1.1  加法器 </vt:lpstr>
      <vt:lpstr>全加器真值表及逻辑表达式</vt:lpstr>
      <vt:lpstr>2.串行加法器与并行加法器</vt:lpstr>
      <vt:lpstr>2.串行加法器与并行加法器（续）</vt:lpstr>
      <vt:lpstr>4.1.2 进位的产生和传递</vt:lpstr>
      <vt:lpstr>串行进位的并行加法器 </vt:lpstr>
      <vt:lpstr>4.1.2 进位的产生和传递（续） </vt:lpstr>
      <vt:lpstr>4.1.3 并行加法器的快速进位 </vt:lpstr>
      <vt:lpstr>16位单级先行进位加法器</vt:lpstr>
      <vt:lpstr>2.分组并行进位方式</vt:lpstr>
      <vt:lpstr>16位单级先行进位时间图</vt:lpstr>
      <vt:lpstr>2.分组并行进位方式（续）</vt:lpstr>
      <vt:lpstr>2.分组并行进位方式（续）</vt:lpstr>
      <vt:lpstr>16位两级先行进位加法器</vt:lpstr>
      <vt:lpstr>2.分组并行进位方式（续）</vt:lpstr>
      <vt:lpstr>16位两级先行进位时间图</vt:lpstr>
      <vt:lpstr>4.2 定点加减运算</vt:lpstr>
      <vt:lpstr>*4.2.1 原码加减运算 </vt:lpstr>
      <vt:lpstr>4.2.2 补码加减运算</vt:lpstr>
      <vt:lpstr>4.2.2 补码加减运算</vt:lpstr>
      <vt:lpstr>2.补码减法（续）</vt:lpstr>
      <vt:lpstr>3.补码加减运算规则</vt:lpstr>
      <vt:lpstr>补码加法示例</vt:lpstr>
      <vt:lpstr>补码减法示例</vt:lpstr>
      <vt:lpstr>4.符号扩展</vt:lpstr>
      <vt:lpstr>4.2.3 补码的溢出判断与检测方法 </vt:lpstr>
      <vt:lpstr>1.溢出的产生（续）</vt:lpstr>
      <vt:lpstr>溢出的检测方法</vt:lpstr>
      <vt:lpstr>溢出的检测方法</vt:lpstr>
      <vt:lpstr>例：双符号位判溢出</vt:lpstr>
      <vt:lpstr>补码加减运算的逻辑电路</vt:lpstr>
      <vt:lpstr>4.2.4 补码定点加减运算的实现</vt:lpstr>
      <vt:lpstr>4.3 带符号数的移位和舍入操作</vt:lpstr>
      <vt:lpstr>4.3.1 带符号数的移位操作 </vt:lpstr>
      <vt:lpstr>2.补码的移位规则 </vt:lpstr>
      <vt:lpstr>3.移位功能的实现 </vt:lpstr>
      <vt:lpstr>4.3.2 带符号数的舍入操作 </vt:lpstr>
      <vt:lpstr>4.3.2 带符号数的舍入操作（续）</vt:lpstr>
      <vt:lpstr>4.3.2 带符号数的舍入操作（续）</vt:lpstr>
      <vt:lpstr>4.4 定点乘法运算</vt:lpstr>
      <vt:lpstr>PowerPoint 演示文稿</vt:lpstr>
      <vt:lpstr>4.4.1 原码一位乘法</vt:lpstr>
      <vt:lpstr>1.原码一位乘法算法（续）</vt:lpstr>
      <vt:lpstr>1.原码一位乘法算法（续）</vt:lpstr>
      <vt:lpstr>原码一位乘法示例</vt:lpstr>
      <vt:lpstr>原码一位乘法流程图 </vt:lpstr>
      <vt:lpstr>2.原码一位乘法运算的实现</vt:lpstr>
      <vt:lpstr>*4.4.2 补码一位乘法 </vt:lpstr>
      <vt:lpstr>2.比较法——Booth乘法 </vt:lpstr>
      <vt:lpstr>2.比较法——Booth乘法 （续） </vt:lpstr>
      <vt:lpstr>Booth乘法运算操作 </vt:lpstr>
      <vt:lpstr>2.比较法——Booth乘法 （续） </vt:lpstr>
      <vt:lpstr>Booth乘法示例</vt:lpstr>
      <vt:lpstr>Booth乘法流程图</vt:lpstr>
      <vt:lpstr>3.Booth乘法运算的实现（p96)</vt:lpstr>
      <vt:lpstr>*4.4.3 补码两位乘法</vt:lpstr>
      <vt:lpstr>*补码两位乘法操作</vt:lpstr>
      <vt:lpstr>*4.4.3 补码两位乘法（续）</vt:lpstr>
      <vt:lpstr>*补码两位乘法示例</vt:lpstr>
      <vt:lpstr>4.4.4 阵列乘法器</vt:lpstr>
      <vt:lpstr>4.4.4 阵列乘法器</vt:lpstr>
      <vt:lpstr>习惯方法运算过程</vt:lpstr>
      <vt:lpstr>并行乘法器</vt:lpstr>
      <vt:lpstr>PowerPoint 演示文稿</vt:lpstr>
      <vt:lpstr>4.5 定点除法运算</vt:lpstr>
      <vt:lpstr>4.5.1 原码除法运算</vt:lpstr>
      <vt:lpstr>恢复余数法</vt:lpstr>
      <vt:lpstr>恢复余数过程的流程图</vt:lpstr>
      <vt:lpstr>2.原码不恢复余数法（原码加减交替法）</vt:lpstr>
      <vt:lpstr>2.原码不恢复余数法（续）</vt:lpstr>
      <vt:lpstr>2.原码不恢复余数法（续）</vt:lpstr>
      <vt:lpstr>原码不恢复余数除法示例</vt:lpstr>
      <vt:lpstr>原码不恢复余数除法示例（续）</vt:lpstr>
      <vt:lpstr>原码加减交替除法流程图</vt:lpstr>
      <vt:lpstr>2.原码不恢复余数法（续）</vt:lpstr>
      <vt:lpstr>3.原码加减交替除法的实现</vt:lpstr>
      <vt:lpstr>*4.5.2 补码除法运算 </vt:lpstr>
      <vt:lpstr>*2.上商规则</vt:lpstr>
      <vt:lpstr>*3.商符的确定</vt:lpstr>
      <vt:lpstr>*4.求新部分余数</vt:lpstr>
      <vt:lpstr>*补码加减交替除法规则</vt:lpstr>
      <vt:lpstr>*补码加减交替除法示例</vt:lpstr>
      <vt:lpstr>*补码加减交替除法示例（续）</vt:lpstr>
      <vt:lpstr>*补码加减交替除法示例（续）</vt:lpstr>
      <vt:lpstr>*补码加减交替除法流程图 </vt:lpstr>
      <vt:lpstr>4.6 规格化浮点运算</vt:lpstr>
      <vt:lpstr>4.6.1 浮点加减运算 </vt:lpstr>
      <vt:lpstr>1.浮点数加减运算步骤</vt:lpstr>
      <vt:lpstr>1.浮点数加减运算步骤（续）</vt:lpstr>
      <vt:lpstr>1.浮点数加减运算步骤（续）</vt:lpstr>
      <vt:lpstr>1.浮点数加减运算步骤（续）</vt:lpstr>
      <vt:lpstr>1.浮点数加减运算步骤（续）</vt:lpstr>
      <vt:lpstr>2.浮点数加减运算举例</vt:lpstr>
      <vt:lpstr>2.浮点数加减运算举例（续）</vt:lpstr>
      <vt:lpstr>2.浮点数加减运算举例（续）</vt:lpstr>
      <vt:lpstr>4.6.2 浮点乘除运算 </vt:lpstr>
      <vt:lpstr>1.乘法步骤</vt:lpstr>
      <vt:lpstr>1.乘法步骤（续）</vt:lpstr>
      <vt:lpstr>1.乘法步骤（续）</vt:lpstr>
      <vt:lpstr>2.除法步骤</vt:lpstr>
      <vt:lpstr>2.除法步骤（续）</vt:lpstr>
      <vt:lpstr>4.6.3 浮点运算器的实现</vt:lpstr>
      <vt:lpstr>*4.7 十进制整数的加法运算</vt:lpstr>
      <vt:lpstr>*4.7.1 一位十进制加法运算</vt:lpstr>
      <vt:lpstr>*8421码的校正关系</vt:lpstr>
      <vt:lpstr>*校正举例</vt:lpstr>
      <vt:lpstr>*2.余3码加法运算</vt:lpstr>
      <vt:lpstr>*余3码的校正关系</vt:lpstr>
      <vt:lpstr>*校正举例</vt:lpstr>
      <vt:lpstr>*4.7.2 十进制加法器 </vt:lpstr>
      <vt:lpstr>*2.一位余3码加法器 </vt:lpstr>
      <vt:lpstr>*4.7.3 多位十进制加法 </vt:lpstr>
      <vt:lpstr>4.8 逻辑运算与实现</vt:lpstr>
      <vt:lpstr>4.8 逻辑运算与实现</vt:lpstr>
      <vt:lpstr>4.8 逻辑运算与实现</vt:lpstr>
      <vt:lpstr>4.9 运算器的基本组成与实例</vt:lpstr>
      <vt:lpstr>4.9.1 运算器结构 </vt:lpstr>
      <vt:lpstr>1.运算器的基本组成（续）</vt:lpstr>
      <vt:lpstr>带多路选择器的运算器</vt:lpstr>
      <vt:lpstr>1.运算器的基本组成（续）</vt:lpstr>
      <vt:lpstr>带输入锁存器的运算器</vt:lpstr>
      <vt:lpstr>2.运算器的内部总线结构</vt:lpstr>
      <vt:lpstr>双总线结构运算器</vt:lpstr>
      <vt:lpstr>2.运算器的内部总线结构（续）</vt:lpstr>
      <vt:lpstr>三总线结构运算器</vt:lpstr>
      <vt:lpstr>4.9.2 ALU举例 </vt:lpstr>
      <vt:lpstr>2.4位ALU芯片</vt:lpstr>
      <vt:lpstr>3.ALU的应用</vt:lpstr>
      <vt:lpstr>74182芯片方框图 </vt:lpstr>
      <vt:lpstr>4.9.3 浮点运算器举例 </vt:lpstr>
      <vt:lpstr>2.80x87的内部结构（p121)</vt:lpstr>
      <vt:lpstr>课堂练习</vt:lpstr>
      <vt:lpstr>课堂练习</vt:lpstr>
      <vt:lpstr>第一次小测排名（不分前后）前十名单</vt:lpstr>
    </vt:vector>
  </TitlesOfParts>
  <Company>北京理工大学计算机系</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第4章 数值的机器运算</dc:title>
  <dc:creator>蒋本珊</dc:creator>
  <cp:lastModifiedBy>red</cp:lastModifiedBy>
  <cp:revision>238</cp:revision>
  <dcterms:created xsi:type="dcterms:W3CDTF">2003-05-27T06:14:00Z</dcterms:created>
  <dcterms:modified xsi:type="dcterms:W3CDTF">2024-03-29T06:16:24Z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2052-12.1.0.16417</vt:lpwstr>
  </property>
  <property fmtid="{D5CDD505-2E9C-101B-9397-08002B2CF9AE}" pid="3" name="ICV">
    <vt:lpwstr>D1488DED215B458683587677754FAE9B</vt:lpwstr>
  </property>
</Properties>
</file>