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3"/>
  </p:notesMasterIdLst>
  <p:sldIdLst>
    <p:sldId id="315" r:id="rId2"/>
    <p:sldId id="312" r:id="rId3"/>
    <p:sldId id="296" r:id="rId4"/>
    <p:sldId id="495" r:id="rId5"/>
    <p:sldId id="297" r:id="rId6"/>
    <p:sldId id="445" r:id="rId7"/>
    <p:sldId id="446" r:id="rId8"/>
    <p:sldId id="448" r:id="rId9"/>
    <p:sldId id="450" r:id="rId10"/>
    <p:sldId id="451" r:id="rId11"/>
    <p:sldId id="496" r:id="rId12"/>
    <p:sldId id="452" r:id="rId13"/>
    <p:sldId id="453" r:id="rId14"/>
    <p:sldId id="454" r:id="rId15"/>
    <p:sldId id="319" r:id="rId16"/>
    <p:sldId id="456" r:id="rId17"/>
    <p:sldId id="457" r:id="rId18"/>
    <p:sldId id="449" r:id="rId19"/>
    <p:sldId id="458" r:id="rId20"/>
    <p:sldId id="490" r:id="rId21"/>
    <p:sldId id="460" r:id="rId22"/>
    <p:sldId id="462" r:id="rId23"/>
    <p:sldId id="463" r:id="rId24"/>
    <p:sldId id="305" r:id="rId25"/>
    <p:sldId id="459" r:id="rId26"/>
    <p:sldId id="464" r:id="rId27"/>
    <p:sldId id="466" r:id="rId28"/>
    <p:sldId id="491" r:id="rId29"/>
    <p:sldId id="467" r:id="rId30"/>
    <p:sldId id="362" r:id="rId31"/>
    <p:sldId id="465" r:id="rId32"/>
    <p:sldId id="300" r:id="rId33"/>
    <p:sldId id="363" r:id="rId34"/>
    <p:sldId id="301" r:id="rId35"/>
    <p:sldId id="470" r:id="rId36"/>
    <p:sldId id="492" r:id="rId37"/>
    <p:sldId id="386" r:id="rId38"/>
    <p:sldId id="304" r:id="rId39"/>
    <p:sldId id="469" r:id="rId40"/>
    <p:sldId id="473" r:id="rId41"/>
    <p:sldId id="474" r:id="rId42"/>
    <p:sldId id="472" r:id="rId43"/>
    <p:sldId id="476" r:id="rId44"/>
    <p:sldId id="477" r:id="rId45"/>
    <p:sldId id="370" r:id="rId46"/>
    <p:sldId id="479" r:id="rId47"/>
    <p:sldId id="493" r:id="rId48"/>
    <p:sldId id="369" r:id="rId49"/>
    <p:sldId id="483" r:id="rId50"/>
    <p:sldId id="484" r:id="rId51"/>
    <p:sldId id="364" r:id="rId52"/>
    <p:sldId id="485" r:id="rId53"/>
    <p:sldId id="486" r:id="rId54"/>
    <p:sldId id="494" r:id="rId55"/>
    <p:sldId id="478" r:id="rId56"/>
    <p:sldId id="475" r:id="rId57"/>
    <p:sldId id="481" r:id="rId58"/>
    <p:sldId id="438" r:id="rId59"/>
    <p:sldId id="440" r:id="rId60"/>
    <p:sldId id="488" r:id="rId61"/>
    <p:sldId id="489" r:id="rId62"/>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FFC000"/>
    <a:srgbClr val="00005C"/>
    <a:srgbClr val="06D24C"/>
    <a:srgbClr val="035920"/>
    <a:srgbClr val="F6F5F3"/>
    <a:srgbClr val="04862F"/>
    <a:srgbClr val="07DB4E"/>
    <a:srgbClr val="083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945" autoAdjust="0"/>
  </p:normalViewPr>
  <p:slideViewPr>
    <p:cSldViewPr snapToGrid="0">
      <p:cViewPr varScale="1">
        <p:scale>
          <a:sx n="73" d="100"/>
          <a:sy n="73" d="100"/>
        </p:scale>
        <p:origin x="408" y="-96"/>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68970D-B28F-4490-8AB0-4DBEC719409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zh-CN" altLang="en-US"/>
        </a:p>
      </dgm:t>
    </dgm:pt>
    <dgm:pt modelId="{D178FFB5-16F5-444B-BEA5-52F8AF19ACB2}">
      <dgm:prSet phldrT="[文本]"/>
      <dgm:spPr/>
      <dgm:t>
        <a:bodyPr/>
        <a:lstStyle/>
        <a:p>
          <a:r>
            <a:rPr lang="zh-CN" altLang="en-US" dirty="0"/>
            <a:t>磁盘存储器</a:t>
          </a:r>
        </a:p>
      </dgm:t>
    </dgm:pt>
    <dgm:pt modelId="{3351B5D4-10D0-4F58-B633-77704E2A4124}" type="parTrans" cxnId="{EC1A7772-80F8-479B-98B3-796EB97B0650}">
      <dgm:prSet/>
      <dgm:spPr/>
      <dgm:t>
        <a:bodyPr/>
        <a:lstStyle/>
        <a:p>
          <a:endParaRPr lang="zh-CN" altLang="en-US"/>
        </a:p>
      </dgm:t>
    </dgm:pt>
    <dgm:pt modelId="{6322E0B4-583C-4D22-BDC3-D439CBD3663C}" type="sibTrans" cxnId="{EC1A7772-80F8-479B-98B3-796EB97B0650}">
      <dgm:prSet/>
      <dgm:spPr/>
      <dgm:t>
        <a:bodyPr/>
        <a:lstStyle/>
        <a:p>
          <a:endParaRPr lang="zh-CN" altLang="en-US"/>
        </a:p>
      </dgm:t>
    </dgm:pt>
    <dgm:pt modelId="{299D529D-4C31-4D43-8CE1-E3A8DF1F278E}">
      <dgm:prSet phldrT="[文本]"/>
      <dgm:spPr/>
      <dgm:t>
        <a:bodyPr/>
        <a:lstStyle/>
        <a:p>
          <a:r>
            <a:rPr lang="zh-CN" altLang="en-US" dirty="0"/>
            <a:t>虚拟存储器</a:t>
          </a:r>
        </a:p>
      </dgm:t>
    </dgm:pt>
    <dgm:pt modelId="{5AD6FFA9-AAFE-4978-BF2C-A2ABAD026A98}" type="parTrans" cxnId="{822FB8F6-59FB-41E3-BD70-E1053B602B71}">
      <dgm:prSet/>
      <dgm:spPr/>
      <dgm:t>
        <a:bodyPr/>
        <a:lstStyle/>
        <a:p>
          <a:endParaRPr lang="zh-CN" altLang="en-US"/>
        </a:p>
      </dgm:t>
    </dgm:pt>
    <dgm:pt modelId="{C57E6BCF-5193-4F29-9A5C-6BCBF4EAC4EA}" type="sibTrans" cxnId="{822FB8F6-59FB-41E3-BD70-E1053B602B71}">
      <dgm:prSet/>
      <dgm:spPr/>
      <dgm:t>
        <a:bodyPr/>
        <a:lstStyle/>
        <a:p>
          <a:endParaRPr lang="zh-CN" altLang="en-US"/>
        </a:p>
      </dgm:t>
    </dgm:pt>
    <dgm:pt modelId="{25AA4982-F888-4770-9EDA-1FF6CE37AB58}">
      <dgm:prSet phldrT="[文本]"/>
      <dgm:spPr/>
      <dgm:t>
        <a:bodyPr/>
        <a:lstStyle/>
        <a:p>
          <a:r>
            <a:rPr lang="zh-CN" altLang="en-US" dirty="0"/>
            <a:t>文件存储器</a:t>
          </a:r>
        </a:p>
      </dgm:t>
    </dgm:pt>
    <dgm:pt modelId="{0563820B-3FB6-4E34-A28B-2B09A17BF360}" type="parTrans" cxnId="{3D319CB3-E99F-46B1-B5F5-1CAB02878325}">
      <dgm:prSet/>
      <dgm:spPr/>
      <dgm:t>
        <a:bodyPr/>
        <a:lstStyle/>
        <a:p>
          <a:endParaRPr lang="zh-CN" altLang="en-US"/>
        </a:p>
      </dgm:t>
    </dgm:pt>
    <dgm:pt modelId="{8104B3D1-CF94-40C2-989C-88CD133CC666}" type="sibTrans" cxnId="{3D319CB3-E99F-46B1-B5F5-1CAB02878325}">
      <dgm:prSet/>
      <dgm:spPr/>
      <dgm:t>
        <a:bodyPr/>
        <a:lstStyle/>
        <a:p>
          <a:endParaRPr lang="zh-CN" altLang="en-US"/>
        </a:p>
      </dgm:t>
    </dgm:pt>
    <dgm:pt modelId="{F5C05D48-79A7-40A5-982D-C79C1180B7CA}" type="pres">
      <dgm:prSet presAssocID="{2B68970D-B28F-4490-8AB0-4DBEC7194093}" presName="diagram" presStyleCnt="0">
        <dgm:presLayoutVars>
          <dgm:chPref val="1"/>
          <dgm:dir/>
          <dgm:animOne val="branch"/>
          <dgm:animLvl val="lvl"/>
          <dgm:resizeHandles/>
        </dgm:presLayoutVars>
      </dgm:prSet>
      <dgm:spPr/>
    </dgm:pt>
    <dgm:pt modelId="{3534ABD0-8576-4DFE-885F-38348BCFF4B2}" type="pres">
      <dgm:prSet presAssocID="{D178FFB5-16F5-444B-BEA5-52F8AF19ACB2}" presName="root" presStyleCnt="0"/>
      <dgm:spPr/>
    </dgm:pt>
    <dgm:pt modelId="{719DBE64-DA5C-485D-BE1B-CA2D7CB8A76D}" type="pres">
      <dgm:prSet presAssocID="{D178FFB5-16F5-444B-BEA5-52F8AF19ACB2}" presName="rootComposite" presStyleCnt="0"/>
      <dgm:spPr/>
    </dgm:pt>
    <dgm:pt modelId="{5418CC64-1769-4927-AF7C-590E63682558}" type="pres">
      <dgm:prSet presAssocID="{D178FFB5-16F5-444B-BEA5-52F8AF19ACB2}" presName="rootText" presStyleLbl="node1" presStyleIdx="0" presStyleCnt="1"/>
      <dgm:spPr/>
    </dgm:pt>
    <dgm:pt modelId="{27878ACA-BF52-4B49-A9A6-380307AA3C52}" type="pres">
      <dgm:prSet presAssocID="{D178FFB5-16F5-444B-BEA5-52F8AF19ACB2}" presName="rootConnector" presStyleLbl="node1" presStyleIdx="0" presStyleCnt="1"/>
      <dgm:spPr/>
    </dgm:pt>
    <dgm:pt modelId="{79F8D7E8-C58C-420E-9BF7-807175DBFF64}" type="pres">
      <dgm:prSet presAssocID="{D178FFB5-16F5-444B-BEA5-52F8AF19ACB2}" presName="childShape" presStyleCnt="0"/>
      <dgm:spPr/>
    </dgm:pt>
    <dgm:pt modelId="{9002B443-7651-4A74-9D54-AE320FDD3321}" type="pres">
      <dgm:prSet presAssocID="{5AD6FFA9-AAFE-4978-BF2C-A2ABAD026A98}" presName="Name13" presStyleLbl="parChTrans1D2" presStyleIdx="0" presStyleCnt="2"/>
      <dgm:spPr/>
    </dgm:pt>
    <dgm:pt modelId="{FD3856C5-90E6-495A-AFEE-AC9A4CF7601D}" type="pres">
      <dgm:prSet presAssocID="{299D529D-4C31-4D43-8CE1-E3A8DF1F278E}" presName="childText" presStyleLbl="bgAcc1" presStyleIdx="0" presStyleCnt="2">
        <dgm:presLayoutVars>
          <dgm:bulletEnabled val="1"/>
        </dgm:presLayoutVars>
      </dgm:prSet>
      <dgm:spPr/>
    </dgm:pt>
    <dgm:pt modelId="{45F285A3-B466-45C1-B54B-D945139CCB76}" type="pres">
      <dgm:prSet presAssocID="{0563820B-3FB6-4E34-A28B-2B09A17BF360}" presName="Name13" presStyleLbl="parChTrans1D2" presStyleIdx="1" presStyleCnt="2"/>
      <dgm:spPr/>
    </dgm:pt>
    <dgm:pt modelId="{0524E5C4-4FB0-4090-9FA2-1F94C744192D}" type="pres">
      <dgm:prSet presAssocID="{25AA4982-F888-4770-9EDA-1FF6CE37AB58}" presName="childText" presStyleLbl="bgAcc1" presStyleIdx="1" presStyleCnt="2">
        <dgm:presLayoutVars>
          <dgm:bulletEnabled val="1"/>
        </dgm:presLayoutVars>
      </dgm:prSet>
      <dgm:spPr/>
    </dgm:pt>
  </dgm:ptLst>
  <dgm:cxnLst>
    <dgm:cxn modelId="{F70C8541-C916-49DA-8642-3E498F3EDB4D}" type="presOf" srcId="{D178FFB5-16F5-444B-BEA5-52F8AF19ACB2}" destId="{5418CC64-1769-4927-AF7C-590E63682558}" srcOrd="0" destOrd="0" presId="urn:microsoft.com/office/officeart/2005/8/layout/hierarchy3"/>
    <dgm:cxn modelId="{EC1A7772-80F8-479B-98B3-796EB97B0650}" srcId="{2B68970D-B28F-4490-8AB0-4DBEC7194093}" destId="{D178FFB5-16F5-444B-BEA5-52F8AF19ACB2}" srcOrd="0" destOrd="0" parTransId="{3351B5D4-10D0-4F58-B633-77704E2A4124}" sibTransId="{6322E0B4-583C-4D22-BDC3-D439CBD3663C}"/>
    <dgm:cxn modelId="{49B7568D-8707-4731-9AC0-07979C5DC361}" type="presOf" srcId="{25AA4982-F888-4770-9EDA-1FF6CE37AB58}" destId="{0524E5C4-4FB0-4090-9FA2-1F94C744192D}" srcOrd="0" destOrd="0" presId="urn:microsoft.com/office/officeart/2005/8/layout/hierarchy3"/>
    <dgm:cxn modelId="{32C2B78F-36FA-43CE-B6C3-265D04B9C546}" type="presOf" srcId="{0563820B-3FB6-4E34-A28B-2B09A17BF360}" destId="{45F285A3-B466-45C1-B54B-D945139CCB76}" srcOrd="0" destOrd="0" presId="urn:microsoft.com/office/officeart/2005/8/layout/hierarchy3"/>
    <dgm:cxn modelId="{76A03192-9D0A-4AF3-BE42-5313EC612B4E}" type="presOf" srcId="{299D529D-4C31-4D43-8CE1-E3A8DF1F278E}" destId="{FD3856C5-90E6-495A-AFEE-AC9A4CF7601D}" srcOrd="0" destOrd="0" presId="urn:microsoft.com/office/officeart/2005/8/layout/hierarchy3"/>
    <dgm:cxn modelId="{8A40D1A4-1E19-43E1-8F86-AA01761C5418}" type="presOf" srcId="{5AD6FFA9-AAFE-4978-BF2C-A2ABAD026A98}" destId="{9002B443-7651-4A74-9D54-AE320FDD3321}" srcOrd="0" destOrd="0" presId="urn:microsoft.com/office/officeart/2005/8/layout/hierarchy3"/>
    <dgm:cxn modelId="{3D319CB3-E99F-46B1-B5F5-1CAB02878325}" srcId="{D178FFB5-16F5-444B-BEA5-52F8AF19ACB2}" destId="{25AA4982-F888-4770-9EDA-1FF6CE37AB58}" srcOrd="1" destOrd="0" parTransId="{0563820B-3FB6-4E34-A28B-2B09A17BF360}" sibTransId="{8104B3D1-CF94-40C2-989C-88CD133CC666}"/>
    <dgm:cxn modelId="{508A17D7-8289-4C21-BA38-7F3DC437BC68}" type="presOf" srcId="{2B68970D-B28F-4490-8AB0-4DBEC7194093}" destId="{F5C05D48-79A7-40A5-982D-C79C1180B7CA}" srcOrd="0" destOrd="0" presId="urn:microsoft.com/office/officeart/2005/8/layout/hierarchy3"/>
    <dgm:cxn modelId="{EC5D79E1-D2CE-4F99-9D3B-A46C7355952F}" type="presOf" srcId="{D178FFB5-16F5-444B-BEA5-52F8AF19ACB2}" destId="{27878ACA-BF52-4B49-A9A6-380307AA3C52}" srcOrd="1" destOrd="0" presId="urn:microsoft.com/office/officeart/2005/8/layout/hierarchy3"/>
    <dgm:cxn modelId="{822FB8F6-59FB-41E3-BD70-E1053B602B71}" srcId="{D178FFB5-16F5-444B-BEA5-52F8AF19ACB2}" destId="{299D529D-4C31-4D43-8CE1-E3A8DF1F278E}" srcOrd="0" destOrd="0" parTransId="{5AD6FFA9-AAFE-4978-BF2C-A2ABAD026A98}" sibTransId="{C57E6BCF-5193-4F29-9A5C-6BCBF4EAC4EA}"/>
    <dgm:cxn modelId="{B16A7D8F-9D20-4E39-B25E-3A064D091480}" type="presParOf" srcId="{F5C05D48-79A7-40A5-982D-C79C1180B7CA}" destId="{3534ABD0-8576-4DFE-885F-38348BCFF4B2}" srcOrd="0" destOrd="0" presId="urn:microsoft.com/office/officeart/2005/8/layout/hierarchy3"/>
    <dgm:cxn modelId="{88187E4B-E4CF-4C04-9614-3E078ACDD966}" type="presParOf" srcId="{3534ABD0-8576-4DFE-885F-38348BCFF4B2}" destId="{719DBE64-DA5C-485D-BE1B-CA2D7CB8A76D}" srcOrd="0" destOrd="0" presId="urn:microsoft.com/office/officeart/2005/8/layout/hierarchy3"/>
    <dgm:cxn modelId="{797990AC-80F5-4A55-8923-60923D3944BA}" type="presParOf" srcId="{719DBE64-DA5C-485D-BE1B-CA2D7CB8A76D}" destId="{5418CC64-1769-4927-AF7C-590E63682558}" srcOrd="0" destOrd="0" presId="urn:microsoft.com/office/officeart/2005/8/layout/hierarchy3"/>
    <dgm:cxn modelId="{A9A31AA8-32A7-449A-B793-505BE88B8DD1}" type="presParOf" srcId="{719DBE64-DA5C-485D-BE1B-CA2D7CB8A76D}" destId="{27878ACA-BF52-4B49-A9A6-380307AA3C52}" srcOrd="1" destOrd="0" presId="urn:microsoft.com/office/officeart/2005/8/layout/hierarchy3"/>
    <dgm:cxn modelId="{395B182D-E550-4B9E-8B98-0F7386CC461D}" type="presParOf" srcId="{3534ABD0-8576-4DFE-885F-38348BCFF4B2}" destId="{79F8D7E8-C58C-420E-9BF7-807175DBFF64}" srcOrd="1" destOrd="0" presId="urn:microsoft.com/office/officeart/2005/8/layout/hierarchy3"/>
    <dgm:cxn modelId="{1A7165DD-F29B-4E19-A8FD-536D7DAAE3D2}" type="presParOf" srcId="{79F8D7E8-C58C-420E-9BF7-807175DBFF64}" destId="{9002B443-7651-4A74-9D54-AE320FDD3321}" srcOrd="0" destOrd="0" presId="urn:microsoft.com/office/officeart/2005/8/layout/hierarchy3"/>
    <dgm:cxn modelId="{B171DA7A-1190-468B-98AD-4509B2E03638}" type="presParOf" srcId="{79F8D7E8-C58C-420E-9BF7-807175DBFF64}" destId="{FD3856C5-90E6-495A-AFEE-AC9A4CF7601D}" srcOrd="1" destOrd="0" presId="urn:microsoft.com/office/officeart/2005/8/layout/hierarchy3"/>
    <dgm:cxn modelId="{B756C854-E936-45F9-9AA9-18F9F4378D52}" type="presParOf" srcId="{79F8D7E8-C58C-420E-9BF7-807175DBFF64}" destId="{45F285A3-B466-45C1-B54B-D945139CCB76}" srcOrd="2" destOrd="0" presId="urn:microsoft.com/office/officeart/2005/8/layout/hierarchy3"/>
    <dgm:cxn modelId="{7E075FD6-7EFC-484C-92A9-470C18C8B647}" type="presParOf" srcId="{79F8D7E8-C58C-420E-9BF7-807175DBFF64}" destId="{0524E5C4-4FB0-4090-9FA2-1F94C744192D}"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68970D-B28F-4490-8AB0-4DBEC7194093}"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zh-CN" altLang="en-US"/>
        </a:p>
      </dgm:t>
    </dgm:pt>
    <dgm:pt modelId="{D178FFB5-16F5-444B-BEA5-52F8AF19ACB2}">
      <dgm:prSet phldrT="[文本]"/>
      <dgm:spPr/>
      <dgm:t>
        <a:bodyPr/>
        <a:lstStyle/>
        <a:p>
          <a:r>
            <a:rPr lang="zh-CN" altLang="en-US" dirty="0"/>
            <a:t>任务和要求</a:t>
          </a:r>
        </a:p>
      </dgm:t>
    </dgm:pt>
    <dgm:pt modelId="{3351B5D4-10D0-4F58-B633-77704E2A4124}" type="parTrans" cxnId="{EC1A7772-80F8-479B-98B3-796EB97B0650}">
      <dgm:prSet/>
      <dgm:spPr/>
      <dgm:t>
        <a:bodyPr/>
        <a:lstStyle/>
        <a:p>
          <a:endParaRPr lang="zh-CN" altLang="en-US"/>
        </a:p>
      </dgm:t>
    </dgm:pt>
    <dgm:pt modelId="{6322E0B4-583C-4D22-BDC3-D439CBD3663C}" type="sibTrans" cxnId="{EC1A7772-80F8-479B-98B3-796EB97B0650}">
      <dgm:prSet/>
      <dgm:spPr/>
      <dgm:t>
        <a:bodyPr/>
        <a:lstStyle/>
        <a:p>
          <a:endParaRPr lang="zh-CN" altLang="en-US"/>
        </a:p>
      </dgm:t>
    </dgm:pt>
    <dgm:pt modelId="{299D529D-4C31-4D43-8CE1-E3A8DF1F278E}">
      <dgm:prSet phldrT="[文本]"/>
      <dgm:spPr/>
      <dgm:t>
        <a:bodyPr/>
        <a:lstStyle/>
        <a:p>
          <a:r>
            <a:rPr lang="zh-CN" altLang="en-US" dirty="0"/>
            <a:t>有效地利用存储空间</a:t>
          </a:r>
        </a:p>
      </dgm:t>
    </dgm:pt>
    <dgm:pt modelId="{5AD6FFA9-AAFE-4978-BF2C-A2ABAD026A98}" type="parTrans" cxnId="{822FB8F6-59FB-41E3-BD70-E1053B602B71}">
      <dgm:prSet/>
      <dgm:spPr/>
      <dgm:t>
        <a:bodyPr/>
        <a:lstStyle/>
        <a:p>
          <a:endParaRPr lang="zh-CN" altLang="en-US"/>
        </a:p>
      </dgm:t>
    </dgm:pt>
    <dgm:pt modelId="{C57E6BCF-5193-4F29-9A5C-6BCBF4EAC4EA}" type="sibTrans" cxnId="{822FB8F6-59FB-41E3-BD70-E1053B602B71}">
      <dgm:prSet/>
      <dgm:spPr/>
      <dgm:t>
        <a:bodyPr/>
        <a:lstStyle/>
        <a:p>
          <a:endParaRPr lang="zh-CN" altLang="en-US"/>
        </a:p>
      </dgm:t>
    </dgm:pt>
    <dgm:pt modelId="{25AA4982-F888-4770-9EDA-1FF6CE37AB58}">
      <dgm:prSet phldrT="[文本]"/>
      <dgm:spPr/>
      <dgm:t>
        <a:bodyPr/>
        <a:lstStyle/>
        <a:p>
          <a:r>
            <a:rPr lang="zh-CN" altLang="en-US" dirty="0"/>
            <a:t>提高磁盘的</a:t>
          </a:r>
          <a:r>
            <a:rPr lang="en-US" altLang="zh-CN" dirty="0"/>
            <a:t>IO</a:t>
          </a:r>
          <a:r>
            <a:rPr lang="zh-CN" altLang="en-US" dirty="0"/>
            <a:t>速度</a:t>
          </a:r>
        </a:p>
      </dgm:t>
    </dgm:pt>
    <dgm:pt modelId="{0563820B-3FB6-4E34-A28B-2B09A17BF360}" type="parTrans" cxnId="{3D319CB3-E99F-46B1-B5F5-1CAB02878325}">
      <dgm:prSet/>
      <dgm:spPr/>
      <dgm:t>
        <a:bodyPr/>
        <a:lstStyle/>
        <a:p>
          <a:endParaRPr lang="zh-CN" altLang="en-US"/>
        </a:p>
      </dgm:t>
    </dgm:pt>
    <dgm:pt modelId="{8104B3D1-CF94-40C2-989C-88CD133CC666}" type="sibTrans" cxnId="{3D319CB3-E99F-46B1-B5F5-1CAB02878325}">
      <dgm:prSet/>
      <dgm:spPr/>
      <dgm:t>
        <a:bodyPr/>
        <a:lstStyle/>
        <a:p>
          <a:endParaRPr lang="zh-CN" altLang="en-US"/>
        </a:p>
      </dgm:t>
    </dgm:pt>
    <dgm:pt modelId="{2BE5B1AE-94DC-4E44-A010-B8CE6831BA64}">
      <dgm:prSet phldrT="[文本]"/>
      <dgm:spPr/>
      <dgm:t>
        <a:bodyPr/>
        <a:lstStyle/>
        <a:p>
          <a:r>
            <a:rPr lang="en-US" altLang="zh-CN" dirty="0"/>
            <a:t> </a:t>
          </a:r>
          <a:r>
            <a:rPr lang="zh-CN" altLang="en-US" dirty="0"/>
            <a:t>提高磁盘系统可靠性</a:t>
          </a:r>
        </a:p>
      </dgm:t>
    </dgm:pt>
    <dgm:pt modelId="{B006A105-5C4B-4FC2-8F97-DF6649DB521C}" type="parTrans" cxnId="{78D43115-1424-4070-AC95-82C2F5A21B9F}">
      <dgm:prSet/>
      <dgm:spPr/>
      <dgm:t>
        <a:bodyPr/>
        <a:lstStyle/>
        <a:p>
          <a:endParaRPr lang="zh-CN" altLang="en-US"/>
        </a:p>
      </dgm:t>
    </dgm:pt>
    <dgm:pt modelId="{80311C09-E6E8-4362-9F90-9F76660C68B2}" type="sibTrans" cxnId="{78D43115-1424-4070-AC95-82C2F5A21B9F}">
      <dgm:prSet/>
      <dgm:spPr/>
      <dgm:t>
        <a:bodyPr/>
        <a:lstStyle/>
        <a:p>
          <a:endParaRPr lang="zh-CN" altLang="en-US"/>
        </a:p>
      </dgm:t>
    </dgm:pt>
    <dgm:pt modelId="{F5C05D48-79A7-40A5-982D-C79C1180B7CA}" type="pres">
      <dgm:prSet presAssocID="{2B68970D-B28F-4490-8AB0-4DBEC7194093}" presName="diagram" presStyleCnt="0">
        <dgm:presLayoutVars>
          <dgm:chPref val="1"/>
          <dgm:dir/>
          <dgm:animOne val="branch"/>
          <dgm:animLvl val="lvl"/>
          <dgm:resizeHandles/>
        </dgm:presLayoutVars>
      </dgm:prSet>
      <dgm:spPr/>
    </dgm:pt>
    <dgm:pt modelId="{3534ABD0-8576-4DFE-885F-38348BCFF4B2}" type="pres">
      <dgm:prSet presAssocID="{D178FFB5-16F5-444B-BEA5-52F8AF19ACB2}" presName="root" presStyleCnt="0"/>
      <dgm:spPr/>
    </dgm:pt>
    <dgm:pt modelId="{719DBE64-DA5C-485D-BE1B-CA2D7CB8A76D}" type="pres">
      <dgm:prSet presAssocID="{D178FFB5-16F5-444B-BEA5-52F8AF19ACB2}" presName="rootComposite" presStyleCnt="0"/>
      <dgm:spPr/>
    </dgm:pt>
    <dgm:pt modelId="{5418CC64-1769-4927-AF7C-590E63682558}" type="pres">
      <dgm:prSet presAssocID="{D178FFB5-16F5-444B-BEA5-52F8AF19ACB2}" presName="rootText" presStyleLbl="node1" presStyleIdx="0" presStyleCnt="1"/>
      <dgm:spPr/>
    </dgm:pt>
    <dgm:pt modelId="{27878ACA-BF52-4B49-A9A6-380307AA3C52}" type="pres">
      <dgm:prSet presAssocID="{D178FFB5-16F5-444B-BEA5-52F8AF19ACB2}" presName="rootConnector" presStyleLbl="node1" presStyleIdx="0" presStyleCnt="1"/>
      <dgm:spPr/>
    </dgm:pt>
    <dgm:pt modelId="{79F8D7E8-C58C-420E-9BF7-807175DBFF64}" type="pres">
      <dgm:prSet presAssocID="{D178FFB5-16F5-444B-BEA5-52F8AF19ACB2}" presName="childShape" presStyleCnt="0"/>
      <dgm:spPr/>
    </dgm:pt>
    <dgm:pt modelId="{9002B443-7651-4A74-9D54-AE320FDD3321}" type="pres">
      <dgm:prSet presAssocID="{5AD6FFA9-AAFE-4978-BF2C-A2ABAD026A98}" presName="Name13" presStyleLbl="parChTrans1D2" presStyleIdx="0" presStyleCnt="3"/>
      <dgm:spPr/>
    </dgm:pt>
    <dgm:pt modelId="{FD3856C5-90E6-495A-AFEE-AC9A4CF7601D}" type="pres">
      <dgm:prSet presAssocID="{299D529D-4C31-4D43-8CE1-E3A8DF1F278E}" presName="childText" presStyleLbl="bgAcc1" presStyleIdx="0" presStyleCnt="3" custScaleX="233921" custScaleY="60080">
        <dgm:presLayoutVars>
          <dgm:bulletEnabled val="1"/>
        </dgm:presLayoutVars>
      </dgm:prSet>
      <dgm:spPr/>
    </dgm:pt>
    <dgm:pt modelId="{45F285A3-B466-45C1-B54B-D945139CCB76}" type="pres">
      <dgm:prSet presAssocID="{0563820B-3FB6-4E34-A28B-2B09A17BF360}" presName="Name13" presStyleLbl="parChTrans1D2" presStyleIdx="1" presStyleCnt="3"/>
      <dgm:spPr/>
    </dgm:pt>
    <dgm:pt modelId="{0524E5C4-4FB0-4090-9FA2-1F94C744192D}" type="pres">
      <dgm:prSet presAssocID="{25AA4982-F888-4770-9EDA-1FF6CE37AB58}" presName="childText" presStyleLbl="bgAcc1" presStyleIdx="1" presStyleCnt="3" custScaleX="233921" custScaleY="60080">
        <dgm:presLayoutVars>
          <dgm:bulletEnabled val="1"/>
        </dgm:presLayoutVars>
      </dgm:prSet>
      <dgm:spPr/>
    </dgm:pt>
    <dgm:pt modelId="{CC195661-13FA-4DE0-9791-8FEF4900B591}" type="pres">
      <dgm:prSet presAssocID="{B006A105-5C4B-4FC2-8F97-DF6649DB521C}" presName="Name13" presStyleLbl="parChTrans1D2" presStyleIdx="2" presStyleCnt="3"/>
      <dgm:spPr/>
    </dgm:pt>
    <dgm:pt modelId="{F31F076D-1926-4E31-A66A-424A4A9A8DB2}" type="pres">
      <dgm:prSet presAssocID="{2BE5B1AE-94DC-4E44-A010-B8CE6831BA64}" presName="childText" presStyleLbl="bgAcc1" presStyleIdx="2" presStyleCnt="3" custScaleX="233921" custScaleY="60080">
        <dgm:presLayoutVars>
          <dgm:bulletEnabled val="1"/>
        </dgm:presLayoutVars>
      </dgm:prSet>
      <dgm:spPr/>
    </dgm:pt>
  </dgm:ptLst>
  <dgm:cxnLst>
    <dgm:cxn modelId="{78D43115-1424-4070-AC95-82C2F5A21B9F}" srcId="{D178FFB5-16F5-444B-BEA5-52F8AF19ACB2}" destId="{2BE5B1AE-94DC-4E44-A010-B8CE6831BA64}" srcOrd="2" destOrd="0" parTransId="{B006A105-5C4B-4FC2-8F97-DF6649DB521C}" sibTransId="{80311C09-E6E8-4362-9F90-9F76660C68B2}"/>
    <dgm:cxn modelId="{877DA61B-9730-43BD-8A52-C7A18750A003}" type="presOf" srcId="{2BE5B1AE-94DC-4E44-A010-B8CE6831BA64}" destId="{F31F076D-1926-4E31-A66A-424A4A9A8DB2}" srcOrd="0" destOrd="0" presId="urn:microsoft.com/office/officeart/2005/8/layout/hierarchy3"/>
    <dgm:cxn modelId="{F70C8541-C916-49DA-8642-3E498F3EDB4D}" type="presOf" srcId="{D178FFB5-16F5-444B-BEA5-52F8AF19ACB2}" destId="{5418CC64-1769-4927-AF7C-590E63682558}" srcOrd="0" destOrd="0" presId="urn:microsoft.com/office/officeart/2005/8/layout/hierarchy3"/>
    <dgm:cxn modelId="{3F8AF963-D95E-439C-BD13-754893B8360B}" type="presOf" srcId="{B006A105-5C4B-4FC2-8F97-DF6649DB521C}" destId="{CC195661-13FA-4DE0-9791-8FEF4900B591}" srcOrd="0" destOrd="0" presId="urn:microsoft.com/office/officeart/2005/8/layout/hierarchy3"/>
    <dgm:cxn modelId="{EC1A7772-80F8-479B-98B3-796EB97B0650}" srcId="{2B68970D-B28F-4490-8AB0-4DBEC7194093}" destId="{D178FFB5-16F5-444B-BEA5-52F8AF19ACB2}" srcOrd="0" destOrd="0" parTransId="{3351B5D4-10D0-4F58-B633-77704E2A4124}" sibTransId="{6322E0B4-583C-4D22-BDC3-D439CBD3663C}"/>
    <dgm:cxn modelId="{49B7568D-8707-4731-9AC0-07979C5DC361}" type="presOf" srcId="{25AA4982-F888-4770-9EDA-1FF6CE37AB58}" destId="{0524E5C4-4FB0-4090-9FA2-1F94C744192D}" srcOrd="0" destOrd="0" presId="urn:microsoft.com/office/officeart/2005/8/layout/hierarchy3"/>
    <dgm:cxn modelId="{32C2B78F-36FA-43CE-B6C3-265D04B9C546}" type="presOf" srcId="{0563820B-3FB6-4E34-A28B-2B09A17BF360}" destId="{45F285A3-B466-45C1-B54B-D945139CCB76}" srcOrd="0" destOrd="0" presId="urn:microsoft.com/office/officeart/2005/8/layout/hierarchy3"/>
    <dgm:cxn modelId="{76A03192-9D0A-4AF3-BE42-5313EC612B4E}" type="presOf" srcId="{299D529D-4C31-4D43-8CE1-E3A8DF1F278E}" destId="{FD3856C5-90E6-495A-AFEE-AC9A4CF7601D}" srcOrd="0" destOrd="0" presId="urn:microsoft.com/office/officeart/2005/8/layout/hierarchy3"/>
    <dgm:cxn modelId="{8A40D1A4-1E19-43E1-8F86-AA01761C5418}" type="presOf" srcId="{5AD6FFA9-AAFE-4978-BF2C-A2ABAD026A98}" destId="{9002B443-7651-4A74-9D54-AE320FDD3321}" srcOrd="0" destOrd="0" presId="urn:microsoft.com/office/officeart/2005/8/layout/hierarchy3"/>
    <dgm:cxn modelId="{3D319CB3-E99F-46B1-B5F5-1CAB02878325}" srcId="{D178FFB5-16F5-444B-BEA5-52F8AF19ACB2}" destId="{25AA4982-F888-4770-9EDA-1FF6CE37AB58}" srcOrd="1" destOrd="0" parTransId="{0563820B-3FB6-4E34-A28B-2B09A17BF360}" sibTransId="{8104B3D1-CF94-40C2-989C-88CD133CC666}"/>
    <dgm:cxn modelId="{508A17D7-8289-4C21-BA38-7F3DC437BC68}" type="presOf" srcId="{2B68970D-B28F-4490-8AB0-4DBEC7194093}" destId="{F5C05D48-79A7-40A5-982D-C79C1180B7CA}" srcOrd="0" destOrd="0" presId="urn:microsoft.com/office/officeart/2005/8/layout/hierarchy3"/>
    <dgm:cxn modelId="{EC5D79E1-D2CE-4F99-9D3B-A46C7355952F}" type="presOf" srcId="{D178FFB5-16F5-444B-BEA5-52F8AF19ACB2}" destId="{27878ACA-BF52-4B49-A9A6-380307AA3C52}" srcOrd="1" destOrd="0" presId="urn:microsoft.com/office/officeart/2005/8/layout/hierarchy3"/>
    <dgm:cxn modelId="{822FB8F6-59FB-41E3-BD70-E1053B602B71}" srcId="{D178FFB5-16F5-444B-BEA5-52F8AF19ACB2}" destId="{299D529D-4C31-4D43-8CE1-E3A8DF1F278E}" srcOrd="0" destOrd="0" parTransId="{5AD6FFA9-AAFE-4978-BF2C-A2ABAD026A98}" sibTransId="{C57E6BCF-5193-4F29-9A5C-6BCBF4EAC4EA}"/>
    <dgm:cxn modelId="{B16A7D8F-9D20-4E39-B25E-3A064D091480}" type="presParOf" srcId="{F5C05D48-79A7-40A5-982D-C79C1180B7CA}" destId="{3534ABD0-8576-4DFE-885F-38348BCFF4B2}" srcOrd="0" destOrd="0" presId="urn:microsoft.com/office/officeart/2005/8/layout/hierarchy3"/>
    <dgm:cxn modelId="{88187E4B-E4CF-4C04-9614-3E078ACDD966}" type="presParOf" srcId="{3534ABD0-8576-4DFE-885F-38348BCFF4B2}" destId="{719DBE64-DA5C-485D-BE1B-CA2D7CB8A76D}" srcOrd="0" destOrd="0" presId="urn:microsoft.com/office/officeart/2005/8/layout/hierarchy3"/>
    <dgm:cxn modelId="{797990AC-80F5-4A55-8923-60923D3944BA}" type="presParOf" srcId="{719DBE64-DA5C-485D-BE1B-CA2D7CB8A76D}" destId="{5418CC64-1769-4927-AF7C-590E63682558}" srcOrd="0" destOrd="0" presId="urn:microsoft.com/office/officeart/2005/8/layout/hierarchy3"/>
    <dgm:cxn modelId="{A9A31AA8-32A7-449A-B793-505BE88B8DD1}" type="presParOf" srcId="{719DBE64-DA5C-485D-BE1B-CA2D7CB8A76D}" destId="{27878ACA-BF52-4B49-A9A6-380307AA3C52}" srcOrd="1" destOrd="0" presId="urn:microsoft.com/office/officeart/2005/8/layout/hierarchy3"/>
    <dgm:cxn modelId="{395B182D-E550-4B9E-8B98-0F7386CC461D}" type="presParOf" srcId="{3534ABD0-8576-4DFE-885F-38348BCFF4B2}" destId="{79F8D7E8-C58C-420E-9BF7-807175DBFF64}" srcOrd="1" destOrd="0" presId="urn:microsoft.com/office/officeart/2005/8/layout/hierarchy3"/>
    <dgm:cxn modelId="{1A7165DD-F29B-4E19-A8FD-536D7DAAE3D2}" type="presParOf" srcId="{79F8D7E8-C58C-420E-9BF7-807175DBFF64}" destId="{9002B443-7651-4A74-9D54-AE320FDD3321}" srcOrd="0" destOrd="0" presId="urn:microsoft.com/office/officeart/2005/8/layout/hierarchy3"/>
    <dgm:cxn modelId="{B171DA7A-1190-468B-98AD-4509B2E03638}" type="presParOf" srcId="{79F8D7E8-C58C-420E-9BF7-807175DBFF64}" destId="{FD3856C5-90E6-495A-AFEE-AC9A4CF7601D}" srcOrd="1" destOrd="0" presId="urn:microsoft.com/office/officeart/2005/8/layout/hierarchy3"/>
    <dgm:cxn modelId="{B756C854-E936-45F9-9AA9-18F9F4378D52}" type="presParOf" srcId="{79F8D7E8-C58C-420E-9BF7-807175DBFF64}" destId="{45F285A3-B466-45C1-B54B-D945139CCB76}" srcOrd="2" destOrd="0" presId="urn:microsoft.com/office/officeart/2005/8/layout/hierarchy3"/>
    <dgm:cxn modelId="{7E075FD6-7EFC-484C-92A9-470C18C8B647}" type="presParOf" srcId="{79F8D7E8-C58C-420E-9BF7-807175DBFF64}" destId="{0524E5C4-4FB0-4090-9FA2-1F94C744192D}" srcOrd="3" destOrd="0" presId="urn:microsoft.com/office/officeart/2005/8/layout/hierarchy3"/>
    <dgm:cxn modelId="{17599703-4F36-4076-96DA-DD48CFD66D3B}" type="presParOf" srcId="{79F8D7E8-C58C-420E-9BF7-807175DBFF64}" destId="{CC195661-13FA-4DE0-9791-8FEF4900B591}" srcOrd="4" destOrd="0" presId="urn:microsoft.com/office/officeart/2005/8/layout/hierarchy3"/>
    <dgm:cxn modelId="{1EED9B0D-C169-4BF3-AECB-C17DD5AA047C}" type="presParOf" srcId="{79F8D7E8-C58C-420E-9BF7-807175DBFF64}" destId="{F31F076D-1926-4E31-A66A-424A4A9A8DB2}" srcOrd="5" destOrd="0" presId="urn:microsoft.com/office/officeart/2005/8/layout/hierarchy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18CC64-1769-4927-AF7C-590E63682558}">
      <dsp:nvSpPr>
        <dsp:cNvPr id="0" name=""/>
        <dsp:cNvSpPr/>
      </dsp:nvSpPr>
      <dsp:spPr>
        <a:xfrm>
          <a:off x="1551805" y="186"/>
          <a:ext cx="2149443" cy="10747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zh-CN" altLang="en-US" sz="3000" kern="1200" dirty="0"/>
            <a:t>磁盘存储器</a:t>
          </a:r>
        </a:p>
      </dsp:txBody>
      <dsp:txXfrm>
        <a:off x="1583283" y="31664"/>
        <a:ext cx="2086487" cy="1011765"/>
      </dsp:txXfrm>
    </dsp:sp>
    <dsp:sp modelId="{9002B443-7651-4A74-9D54-AE320FDD3321}">
      <dsp:nvSpPr>
        <dsp:cNvPr id="0" name=""/>
        <dsp:cNvSpPr/>
      </dsp:nvSpPr>
      <dsp:spPr>
        <a:xfrm>
          <a:off x="1766750" y="1074908"/>
          <a:ext cx="214944" cy="806041"/>
        </a:xfrm>
        <a:custGeom>
          <a:avLst/>
          <a:gdLst/>
          <a:ahLst/>
          <a:cxnLst/>
          <a:rect l="0" t="0" r="0" b="0"/>
          <a:pathLst>
            <a:path>
              <a:moveTo>
                <a:pt x="0" y="0"/>
              </a:moveTo>
              <a:lnTo>
                <a:pt x="0" y="806041"/>
              </a:lnTo>
              <a:lnTo>
                <a:pt x="214944" y="8060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3856C5-90E6-495A-AFEE-AC9A4CF7601D}">
      <dsp:nvSpPr>
        <dsp:cNvPr id="0" name=""/>
        <dsp:cNvSpPr/>
      </dsp:nvSpPr>
      <dsp:spPr>
        <a:xfrm>
          <a:off x="1981694" y="1343588"/>
          <a:ext cx="1719554" cy="10747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虚拟存储器</a:t>
          </a:r>
        </a:p>
      </dsp:txBody>
      <dsp:txXfrm>
        <a:off x="2013172" y="1375066"/>
        <a:ext cx="1656598" cy="1011765"/>
      </dsp:txXfrm>
    </dsp:sp>
    <dsp:sp modelId="{45F285A3-B466-45C1-B54B-D945139CCB76}">
      <dsp:nvSpPr>
        <dsp:cNvPr id="0" name=""/>
        <dsp:cNvSpPr/>
      </dsp:nvSpPr>
      <dsp:spPr>
        <a:xfrm>
          <a:off x="1766750" y="1074908"/>
          <a:ext cx="214944" cy="2149443"/>
        </a:xfrm>
        <a:custGeom>
          <a:avLst/>
          <a:gdLst/>
          <a:ahLst/>
          <a:cxnLst/>
          <a:rect l="0" t="0" r="0" b="0"/>
          <a:pathLst>
            <a:path>
              <a:moveTo>
                <a:pt x="0" y="0"/>
              </a:moveTo>
              <a:lnTo>
                <a:pt x="0" y="2149443"/>
              </a:lnTo>
              <a:lnTo>
                <a:pt x="214944" y="21494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24E5C4-4FB0-4090-9FA2-1F94C744192D}">
      <dsp:nvSpPr>
        <dsp:cNvPr id="0" name=""/>
        <dsp:cNvSpPr/>
      </dsp:nvSpPr>
      <dsp:spPr>
        <a:xfrm>
          <a:off x="1981694" y="2686990"/>
          <a:ext cx="1719554" cy="10747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文件存储器</a:t>
          </a:r>
        </a:p>
      </dsp:txBody>
      <dsp:txXfrm>
        <a:off x="2013172" y="2718468"/>
        <a:ext cx="1656598" cy="10117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18CC64-1769-4927-AF7C-590E63682558}">
      <dsp:nvSpPr>
        <dsp:cNvPr id="0" name=""/>
        <dsp:cNvSpPr/>
      </dsp:nvSpPr>
      <dsp:spPr>
        <a:xfrm>
          <a:off x="434917" y="1642"/>
          <a:ext cx="2116098" cy="10580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zh-CN" altLang="en-US" sz="3000" kern="1200" dirty="0"/>
            <a:t>任务和要求</a:t>
          </a:r>
        </a:p>
      </dsp:txBody>
      <dsp:txXfrm>
        <a:off x="465906" y="32631"/>
        <a:ext cx="2054120" cy="996071"/>
      </dsp:txXfrm>
    </dsp:sp>
    <dsp:sp modelId="{9002B443-7651-4A74-9D54-AE320FDD3321}">
      <dsp:nvSpPr>
        <dsp:cNvPr id="0" name=""/>
        <dsp:cNvSpPr/>
      </dsp:nvSpPr>
      <dsp:spPr>
        <a:xfrm>
          <a:off x="646527" y="1059691"/>
          <a:ext cx="211609" cy="582350"/>
        </a:xfrm>
        <a:custGeom>
          <a:avLst/>
          <a:gdLst/>
          <a:ahLst/>
          <a:cxnLst/>
          <a:rect l="0" t="0" r="0" b="0"/>
          <a:pathLst>
            <a:path>
              <a:moveTo>
                <a:pt x="0" y="0"/>
              </a:moveTo>
              <a:lnTo>
                <a:pt x="0" y="582350"/>
              </a:lnTo>
              <a:lnTo>
                <a:pt x="211609" y="5823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3856C5-90E6-495A-AFEE-AC9A4CF7601D}">
      <dsp:nvSpPr>
        <dsp:cNvPr id="0" name=""/>
        <dsp:cNvSpPr/>
      </dsp:nvSpPr>
      <dsp:spPr>
        <a:xfrm>
          <a:off x="858137" y="1324203"/>
          <a:ext cx="3959999" cy="6356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zh-CN" altLang="en-US" sz="2600" kern="1200" dirty="0"/>
            <a:t>有效地利用存储空间</a:t>
          </a:r>
        </a:p>
      </dsp:txBody>
      <dsp:txXfrm>
        <a:off x="876755" y="1342821"/>
        <a:ext cx="3922763" cy="598440"/>
      </dsp:txXfrm>
    </dsp:sp>
    <dsp:sp modelId="{45F285A3-B466-45C1-B54B-D945139CCB76}">
      <dsp:nvSpPr>
        <dsp:cNvPr id="0" name=""/>
        <dsp:cNvSpPr/>
      </dsp:nvSpPr>
      <dsp:spPr>
        <a:xfrm>
          <a:off x="646527" y="1059691"/>
          <a:ext cx="211609" cy="1482538"/>
        </a:xfrm>
        <a:custGeom>
          <a:avLst/>
          <a:gdLst/>
          <a:ahLst/>
          <a:cxnLst/>
          <a:rect l="0" t="0" r="0" b="0"/>
          <a:pathLst>
            <a:path>
              <a:moveTo>
                <a:pt x="0" y="0"/>
              </a:moveTo>
              <a:lnTo>
                <a:pt x="0" y="1482538"/>
              </a:lnTo>
              <a:lnTo>
                <a:pt x="211609" y="14825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24E5C4-4FB0-4090-9FA2-1F94C744192D}">
      <dsp:nvSpPr>
        <dsp:cNvPr id="0" name=""/>
        <dsp:cNvSpPr/>
      </dsp:nvSpPr>
      <dsp:spPr>
        <a:xfrm>
          <a:off x="858137" y="2224392"/>
          <a:ext cx="3959999" cy="6356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zh-CN" altLang="en-US" sz="2600" kern="1200" dirty="0"/>
            <a:t>提高磁盘的</a:t>
          </a:r>
          <a:r>
            <a:rPr lang="en-US" altLang="zh-CN" sz="2600" kern="1200" dirty="0"/>
            <a:t>IO</a:t>
          </a:r>
          <a:r>
            <a:rPr lang="zh-CN" altLang="en-US" sz="2600" kern="1200" dirty="0"/>
            <a:t>速度</a:t>
          </a:r>
        </a:p>
      </dsp:txBody>
      <dsp:txXfrm>
        <a:off x="876755" y="2243010"/>
        <a:ext cx="3922763" cy="598440"/>
      </dsp:txXfrm>
    </dsp:sp>
    <dsp:sp modelId="{CC195661-13FA-4DE0-9791-8FEF4900B591}">
      <dsp:nvSpPr>
        <dsp:cNvPr id="0" name=""/>
        <dsp:cNvSpPr/>
      </dsp:nvSpPr>
      <dsp:spPr>
        <a:xfrm>
          <a:off x="646527" y="1059691"/>
          <a:ext cx="211609" cy="2382727"/>
        </a:xfrm>
        <a:custGeom>
          <a:avLst/>
          <a:gdLst/>
          <a:ahLst/>
          <a:cxnLst/>
          <a:rect l="0" t="0" r="0" b="0"/>
          <a:pathLst>
            <a:path>
              <a:moveTo>
                <a:pt x="0" y="0"/>
              </a:moveTo>
              <a:lnTo>
                <a:pt x="0" y="2382727"/>
              </a:lnTo>
              <a:lnTo>
                <a:pt x="211609" y="23827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1F076D-1926-4E31-A66A-424A4A9A8DB2}">
      <dsp:nvSpPr>
        <dsp:cNvPr id="0" name=""/>
        <dsp:cNvSpPr/>
      </dsp:nvSpPr>
      <dsp:spPr>
        <a:xfrm>
          <a:off x="858137" y="3124580"/>
          <a:ext cx="3959999" cy="63567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altLang="zh-CN" sz="2600" kern="1200" dirty="0"/>
            <a:t> </a:t>
          </a:r>
          <a:r>
            <a:rPr lang="zh-CN" altLang="en-US" sz="2600" kern="1200" dirty="0"/>
            <a:t>提高磁盘系统可靠性</a:t>
          </a:r>
        </a:p>
      </dsp:txBody>
      <dsp:txXfrm>
        <a:off x="876755" y="3143198"/>
        <a:ext cx="3922763" cy="5984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12.339"/>
    </inkml:context>
    <inkml:brush xml:id="br0">
      <inkml:brushProperty name="width" value="0.05" units="cm"/>
      <inkml:brushProperty name="height" value="0.05" units="cm"/>
      <inkml:brushProperty name="color" value="#0000FF"/>
    </inkml:brush>
  </inkml:definitions>
  <inkml:trace contextRef="#ctx0" brushRef="#br0">93 0 24575,'-1'19'0,"-2"-1"0,0 1 0,-1-1 0,0 0 0,-2-1 0,-14 33 0,10-27 0,2 0 0,0 0 0,-6 34 0,9-26 0,1 0 0,2 0 0,1 0 0,1 1 0,2-1 0,6 33 0,-7-58 0,1 0 0,0 0 0,0-1 0,0 1 0,1-1 0,0 1 0,0-1 0,0 0 0,1 0 0,0 0 0,0-1 0,0 1 0,0-1 0,0 0 0,1 0 0,0-1 0,0 1 0,0-1 0,0 0 0,1 0 0,-1-1 0,1 0 0,0 0 0,-1 0 0,8 1 0,13 1 0,0-1 0,0-1 0,0-1 0,42-4 0,-32 1 0,549-5 0,-568 8 0,1-2 0,-1 0 0,0-1 0,28-7 0,-39 8 0,-1-1 0,0 0 0,0 0 0,0 0 0,-1-1 0,1 0 0,-1 1 0,1-2 0,-1 1 0,0 0 0,0-1 0,0 0 0,-1 0 0,1 0 0,-1-1 0,0 1 0,0-1 0,4-9 0,30-53 0,-29 56 0,-1-1 0,0 0 0,-1-1 0,0 1 0,-1-1 0,5-20 0,-6 10 0,-1 0 0,-1 0 0,-2-34 0,0 53 0,-1 0 0,1 0 0,-1 0 0,-1 0 0,1 0 0,0 0 0,-1 1 0,0-1 0,0 0 0,0 1 0,0-1 0,-1 1 0,1 0 0,-1 0 0,0 0 0,0 0 0,0 1 0,0-1 0,0 1 0,-1 0 0,1-1 0,-1 1 0,1 1 0,-1-1 0,-5-1 0,-12-4 0,-1 0 0,0 2 0,-34-5 0,10 2 0,-306-84 0,305 82 0,0 2 0,-96-3 0,-97 19 0,147 3-1365,50-4-5461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16.393"/>
    </inkml:context>
    <inkml:brush xml:id="br0">
      <inkml:brushProperty name="width" value="0.05" units="cm"/>
      <inkml:brushProperty name="height" value="0.05" units="cm"/>
      <inkml:brushProperty name="color" value="#0000FF"/>
    </inkml:brush>
  </inkml:definitions>
  <inkml:trace contextRef="#ctx0" brushRef="#br0">18 5026 24575,'-1'0'0,"0"0"0,0 0 0,0-1 0,1 1 0,-1 0 0,0 0 0,0-1 0,1 1 0,-1 0 0,0-1 0,1 1 0,-1-1 0,0 1 0,1-1 0,-1 1 0,1-1 0,-1 0 0,0 1 0,1-1 0,0 0 0,-1 1 0,1-1 0,-1 0 0,1 0 0,0 1 0,0-1 0,-1 0 0,1 0 0,0 1 0,0-1 0,0 0 0,0 0 0,0-1 0,1-31 0,44-211 0,-36 167 0,46-264 0,68-103 0,-23 90 0,133-437 0,-148 519 0,-59 187 0,94-288 0,-6-26 0,-51 160 0,-32 132 0,96-375 0,-26 93 0,-58 237 0,-39 139 0,0-1 0,0 1 0,1 1 0,1-1 0,0 1 0,1 0 0,11-16 0,-12 21 0,0 1 0,1-1 0,0 1 0,-1 1 0,2-1 0,-1 1 0,1 0 0,0 1 0,0 0 0,0 0 0,0 1 0,11-3 0,3 0 0,0 1 0,1 1 0,0 1 0,33 0 0,94 10 0,-107-3 0,0-2 0,0-1 0,75-10 0,-49-1 0,102-3 0,73 15 0,-94 0 0,-137-2 0,64-1 0,-1 4 0,0 2 0,81 17 0,141 42 0,56 11 0,-235-51 0,149 52 0,-100-33 0,-83-23 0,-55-13 0,113 32 0,-120-31 0,0 0 0,-1 2 0,42 24 0,-58-30-59,-1 0 0,0 1-1,0-1 1,0 1-1,-1 0 1,0 0 0,0 0-1,0 1 1,0-1 0,-1 1-1,0 0 1,0 0 0,-1 0-1,1 1 1,-1-1-1,-1 0 1,1 1 0,-1-1-1,0 1 1,-1 0 0,1-1-1,-2 11 1,0 20-6767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19.722"/>
    </inkml:context>
    <inkml:brush xml:id="br0">
      <inkml:brushProperty name="width" value="0.05" units="cm"/>
      <inkml:brushProperty name="height" value="0.05" units="cm"/>
      <inkml:brushProperty name="color" value="#0000FF"/>
    </inkml:brush>
  </inkml:definitions>
  <inkml:trace contextRef="#ctx0" brushRef="#br0">0 79 24575,'3'-2'0,"0"-1"0,0 1 0,0 0 0,0 0 0,0 1 0,0-1 0,1 1 0,-1-1 0,1 1 0,-1 0 0,1 0 0,-1 0 0,1 1 0,-1-1 0,8 1 0,-4 0 0,-1 1 0,0-1 0,1 1 0,-1 0 0,0 1 0,1-1 0,-1 1 0,8 4 0,7 7 0,-2 1 0,1 1 0,-2 0 0,0 1 0,27 34 0,-28-33 0,30 38 0,14 14 0,-60-68 0,1 0 0,-1 0 0,0 1 0,0-1 0,1 0 0,-1 0 0,0 0 0,1-1 0,-1 1 0,1 0 0,0 0 0,-1-1 0,1 1 0,-1-1 0,1 1 0,0-1 0,2 0 0,-3 0 0,0 0 0,0 0 0,0-1 0,0 1 0,0-1 0,0 1 0,0-1 0,-1 1 0,1-1 0,0 0 0,0 1 0,-1-1 0,1 0 0,0 1 0,-1-1 0,1 0 0,-1 0 0,1 0 0,-1 0 0,1 0 0,-1 1 0,1-3 0,2-7 0,-1 0 0,0 0 0,0 0 0,0-18 0,-1 8 0,6-17-72,1-1 0,22-57-1,-16 52-1075,-5 11-5678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25.602"/>
    </inkml:context>
    <inkml:brush xml:id="br0">
      <inkml:brushProperty name="width" value="0.05" units="cm"/>
      <inkml:brushProperty name="height" value="0.05" units="cm"/>
      <inkml:brushProperty name="color" value="#0000FF"/>
    </inkml:brush>
  </inkml:definitions>
  <inkml:trace contextRef="#ctx0" brushRef="#br0">623 94 24575,'-23'1'0,"0"2"0,0 1 0,-40 12 0,19-4 0,2-1 0,0 2 0,1 2 0,1 2 0,1 1 0,0 2 0,-47 33 0,77-46 0,0 0 0,0 1 0,1 0 0,-1 0 0,2 1 0,-1 0 0,2 1 0,-1-1 0,1 1 0,0 0 0,1 1 0,1-1 0,-1 1 0,-3 17 0,4-12 0,1 0 0,1 1 0,0-1 0,2 0 0,0 1 0,0-1 0,2 0 0,0 0 0,8 31 0,-9-40 0,2 1 0,-1-1 0,1 0 0,0 0 0,0 0 0,1 0 0,0-1 0,0 1 0,1-1 0,0 0 0,0-1 0,0 1 0,8 5 0,-4-5 0,0 0 0,0-1 0,0-1 0,1 1 0,-1-2 0,1 1 0,0-1 0,1-1 0,15 3 0,23 0 0,-1-1 0,1-3 0,-1-2 0,92-13 0,191-61 0,-67 10 0,-260 65 0,1-1 0,0 0 0,-1-1 0,1 1 0,-1-1 0,0 0 0,1 0 0,-1 0 0,0-1 0,0 1 0,0-1 0,-1 0 0,1 0 0,-1-1 0,4-4 0,-3 3 0,-1-1 0,0 0 0,0 0 0,0 0 0,-1-1 0,0 1 0,0 0 0,-1-1 0,0 0 0,1-9 0,-1-8 0,-1-1 0,-1 0 0,0 1 0,-2-1 0,-2 1 0,0 0 0,-1 0 0,-1 1 0,-1-1 0,-2 2 0,0-1 0,-1 1 0,-25-35 0,29 46 0,0 1 0,-1 1 0,0-1 0,-1 2 0,0-1 0,0 1 0,-1 0 0,0 1 0,0 0 0,-1 1 0,-13-7 0,8 7 0,0 0 0,0 2 0,0-1 0,0 2 0,-1 0 0,1 1 0,-25 1 0,-6 3 0,0 3 0,1 2 0,0 1 0,-88 30 0,21-2-1365,67-23-5461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31.773"/>
    </inkml:context>
    <inkml:brush xml:id="br0">
      <inkml:brushProperty name="width" value="0.05" units="cm"/>
      <inkml:brushProperty name="height" value="0.05" units="cm"/>
      <inkml:brushProperty name="color" value="#0000FF"/>
    </inkml:brush>
  </inkml:definitions>
  <inkml:trace contextRef="#ctx0" brushRef="#br0">1 998 24575,'6'-11'0,"0"1"0,2 0 0,-1 0 0,1 0 0,0 1 0,13-10 0,8-11 0,4-2 0,1 2 0,70-49 0,-34 28 0,42-27 0,140-73 0,-141 86 0,168-72 0,9 25 0,-242 95 0,187-51 0,-95 31 0,-103 28 0,1 1 0,0 2 0,56-2 0,113 9 0,-79 2 0,-51-4 0,85 3 0,-151-1 0,-1 0 0,0 0 0,0 1 0,0 0 0,0 1 0,-1 0 0,1 0 0,-1 1 0,0 0 0,0 0 0,0 0 0,0 1 0,-1 0 0,1 1 0,-1-1 0,-1 1 0,1 0 0,5 8 0,7 13 0,0 1 0,-2 1 0,17 39 0,2 4 0,48 98 0,-70-141-455,-1-1 0,10 39 0,-10-26-6371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35.055"/>
    </inkml:context>
    <inkml:brush xml:id="br0">
      <inkml:brushProperty name="width" value="0.05" units="cm"/>
      <inkml:brushProperty name="height" value="0.05" units="cm"/>
      <inkml:brushProperty name="color" value="#0000FF"/>
    </inkml:brush>
  </inkml:definitions>
  <inkml:trace contextRef="#ctx0" brushRef="#br0">1 0 24575,'-1'16'0,"2"0"0,0-1 0,1 1 0,4 19 0,-4-29 0,0 0 0,0 0 0,1 0 0,0-1 0,0 1 0,0-1 0,1 0 0,-1 0 0,1 0 0,1 0 0,-1-1 0,1 1 0,6 4 0,16 8 0,1-1 0,1-1 0,0-2 0,50 16 0,-72-27 0,17 7 0,0-1 0,1-2 0,0 0 0,0-2 0,1-1 0,-1-1 0,49-2 0,-60-1 0,0-1 0,-1-1 0,1 0 0,-1 0 0,0-2 0,0 0 0,0 0 0,0-1 0,-1 0 0,0-1 0,-1-1 0,1 0 0,-1 0 0,-1-1 0,0 0 0,11-14 0,21-22-1365,-23 27-5461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41.049"/>
    </inkml:context>
    <inkml:brush xml:id="br0">
      <inkml:brushProperty name="width" value="0.05" units="cm"/>
      <inkml:brushProperty name="height" value="0.05" units="cm"/>
      <inkml:brushProperty name="color" value="#0000FF"/>
    </inkml:brush>
  </inkml:definitions>
  <inkml:trace contextRef="#ctx0" brushRef="#br0">373 152 24575,'-133'5'0,"116"-2"0,0-1 0,1 2 0,-1 0 0,1 1 0,-29 14 0,40-16 0,0 0 0,0 1 0,0 0 0,0 0 0,1 0 0,-1 0 0,1 1 0,0 0 0,1 0 0,-1 0 0,1 0 0,-6 12 0,0 5 0,-14 45 0,21-59 0,-2 6 0,0 1 0,1 0 0,1 0 0,0 0 0,1 0 0,0 0 0,2 0 0,-1 0 0,6 23 0,-4-29 0,0 0 0,1 0 0,1 0 0,-1-1 0,1 1 0,1-1 0,0 0 0,0 0 0,0-1 0,1 1 0,0-1 0,1-1 0,-1 1 0,1-1 0,0 0 0,16 9 0,31 14 0,1-4 0,99 33 0,-152-57 0,28 9 0,0-2 0,0-1 0,1-1 0,0-2 0,0-1 0,0-1 0,0-2 0,1-1 0,-1-1 0,0-2 0,0-1 0,-1-1 0,0-2 0,0-1 0,0-1 0,-1-2 0,51-28 0,-42 21 0,1 1 0,41-11 0,-72 26 0,0 1 0,-1-1 0,1-1 0,-1 0 0,10-6 0,-14 7 0,1 1 0,-2-1 0,1 0 0,0 0 0,-1 0 0,1-1 0,-1 1 0,0 0 0,0-1 0,0 0 0,-1 1 0,1-1 0,1-7 0,1-4 0,-1 0 0,-1 0 0,0 0 0,-1-1 0,-1 1 0,0 0 0,-1-1 0,-1 1 0,0 0 0,-1 0 0,0 0 0,-2 0 0,0 1 0,0-1 0,-1 1 0,-16-26 0,7 21 0,-1 0 0,-1 1 0,-1 1 0,0 0 0,-1 2 0,-41-26 0,26 20 0,-2 3 0,0 1 0,-63-20 0,91 34 0,-32-10 0,0 1 0,-1 2 0,0 1 0,-56-3 0,80 11 0,0 0 0,-1 0 0,1 2 0,-31 3 0,44-3 0,0 0 0,0 0 0,1 0 0,-1 0 0,1 0 0,-1 1 0,1 0 0,-1-1 0,1 1 0,0 0 0,0 1 0,0-1 0,0 1 0,0-1 0,0 1 0,1 0 0,-1 0 0,1 0 0,0 0 0,0 1 0,0-1 0,-2 7 0,-1 8 17,1 1 0,1-1 0,1 1 0,1 0 0,0 0 0,3 27 0,-1-17-759,-3 41 0,-4-36-6084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44.153"/>
    </inkml:context>
    <inkml:brush xml:id="br0">
      <inkml:brushProperty name="width" value="0.05" units="cm"/>
      <inkml:brushProperty name="height" value="0.05" units="cm"/>
      <inkml:brushProperty name="color" value="#0000FF"/>
    </inkml:brush>
  </inkml:definitions>
  <inkml:trace contextRef="#ctx0" brushRef="#br0">0 1229 24575,'1'-26'0,"2"1"0,0 0 0,1 0 0,2 0 0,1 0 0,0 1 0,14-28 0,10-14 0,47-73 0,90-137 0,-151 250 0,2 0 0,0 2 0,1 1 0,2 0 0,43-35 0,-29 32 0,0 0 0,2 3 0,62-30 0,26-12 0,-86 42 0,2 1 0,1 3 0,70-23 0,-72 30 0,-1 3 0,1 1 0,0 2 0,1 2 0,47 1 0,-83 4 0,0 0 0,0 0 0,-1 0 0,1 0 0,0 1 0,-1 0 0,1 0 0,-1 1 0,0 0 0,0-1 0,0 2 0,0-1 0,-1 0 0,1 1 0,-1 0 0,0 0 0,0 0 0,0 1 0,0 0 0,-1-1 0,4 7 0,4 11 0,0 1 0,-1 0 0,11 44 0,3 3 0,5-5 0,-18-43 0,0 1 0,-2 0 0,0 1 0,-2 0 0,-1 1 0,4 26 0,-4-6 0,13 47 0,-9-48 0,6 53 0,-10 203-778,-6-273 191,-1 14-6239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47.957"/>
    </inkml:context>
    <inkml:brush xml:id="br0">
      <inkml:brushProperty name="width" value="0.05" units="cm"/>
      <inkml:brushProperty name="height" value="0.05" units="cm"/>
      <inkml:brushProperty name="color" value="#0000FF"/>
    </inkml:brush>
  </inkml:definitions>
  <inkml:trace contextRef="#ctx0" brushRef="#br0">0 11 24575,'2'14'0,"0"0"0,1 0 0,0-1 0,1 1 0,0-1 0,1 0 0,7 13 0,0 1 0,75 163 0,-77-172 0,0 0 0,2-1 0,0 0 0,1-1 0,0 0 0,2-1 0,30 25 0,-41-37 0,-1-1 0,0 0 0,0 0 0,1 0 0,-1-1 0,1 1 0,0-1 0,-1 1 0,1-1 0,0-1 0,0 1 0,0 0 0,0-1 0,0 0 0,6 0 0,-8-1 0,1 1 0,-1-1 0,1 0 0,-1 0 0,0 0 0,1-1 0,-1 1 0,0 0 0,0-1 0,0 1 0,0-1 0,0 0 0,0 0 0,-1 0 0,1 0 0,0 0 0,-1 0 0,0 0 0,1 0 0,-1-1 0,0 1 0,0 0 0,0-1 0,0-3 0,19-60 0,-4-1 0,10-95 0,-22 115-52,-4 32-167,1 1 0,0 0 0,1-1 1,1 1-1,8-26 0,1 15-6607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3:57.951"/>
    </inkml:context>
    <inkml:brush xml:id="br0">
      <inkml:brushProperty name="width" value="0.05" units="cm"/>
      <inkml:brushProperty name="height" value="0.05" units="cm"/>
      <inkml:brushProperty name="color" value="#0000FF"/>
    </inkml:brush>
  </inkml:definitions>
  <inkml:trace contextRef="#ctx0" brushRef="#br0">548 246 24575,'0'0'0,"-1"-1"0,1 0 0,0 1 0,-1-1 0,1 0 0,-1 1 0,1-1 0,-1 0 0,1 1 0,-1-1 0,0 1 0,1-1 0,-1 1 0,1-1 0,-1 1 0,0-1 0,0 1 0,1 0 0,-1-1 0,0 1 0,0 0 0,1 0 0,-1 0 0,-1-1 0,-25-4 0,23 4 0,-26-2 0,0 0 0,-1 2 0,1 1 0,0 2 0,-1 1 0,1 1 0,0 1 0,1 2 0,-1 1 0,2 1 0,-41 19 0,63-25 0,0 0 0,-1 0 0,1 0 0,0 1 0,1 0 0,-1 1 0,1-1 0,-1 1 0,1 0 0,1 0 0,-1 0 0,1 1 0,0 0 0,0 0 0,1 0 0,-1 0 0,1 0 0,1 1 0,-1-1 0,1 1 0,0 0 0,1 0 0,0 0 0,0 0 0,0 0 0,1 0 0,0 0 0,0 0 0,1 0 0,0 0 0,0 0 0,0-1 0,1 1 0,0 0 0,1-1 0,-1 1 0,1-1 0,1 1 0,4 7 0,5 8 0,0-1 0,2-1 0,0 0 0,1 0 0,1-2 0,0 0 0,2-1 0,0 0 0,1-2 0,0-1 0,1 0 0,1-1 0,0-2 0,1 0 0,0-1 0,1-1 0,30 6 0,-10-6 0,-1-3 0,85 2 0,-106-8 0,0-1 0,0-2 0,-1 0 0,1-1 0,-1-1 0,0-1 0,39-16 0,63-27 0,-94 40 0,0-2 0,-1 0 0,0-2 0,-2-1 0,36-25 0,-55 33 0,0-1 0,-1 0 0,0 0 0,0-1 0,-1 0 0,0 1 0,0-2 0,-1 1 0,0-1 0,-1 1 0,1-1 0,-2 0 0,1 0 0,-1 0 0,1-19 0,0-8 0,-2-1 0,-6-58 0,5 93 0,-1-19 0,-2 0 0,-1 1 0,0 0 0,-2 0 0,0 0 0,-1 1 0,-1 0 0,-14-25 0,17 35 0,0 0 0,-1 1 0,0-1 0,-1 2 0,0-1 0,0 1 0,0 0 0,-1 0 0,0 1 0,-1 0 0,1 0 0,-1 1 0,0 0 0,0 1 0,-1 0 0,0 0 0,1 1 0,-18-3 0,12 4 0,-1 0 0,0 2 0,1 0 0,-1 0 0,0 1 0,1 1 0,-1 1 0,1 0 0,0 1 0,0 1 0,0 0 0,1 1 0,-1 1 0,1 0 0,-13 10 0,-75 38 0,65-36 0,-60 40 0,77-46 0,-2 0 0,-31 14 0,-2 0 0,5 1-1365,4-3-5461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4:00.486"/>
    </inkml:context>
    <inkml:brush xml:id="br0">
      <inkml:brushProperty name="width" value="0.05" units="cm"/>
      <inkml:brushProperty name="height" value="0.05" units="cm"/>
      <inkml:brushProperty name="color" value="#0000FF"/>
    </inkml:brush>
  </inkml:definitions>
  <inkml:trace contextRef="#ctx0" brushRef="#br0">1 1259 24575,'1'-4'0,"0"1"0,0 0 0,0 0 0,1 0 0,-1 0 0,1 1 0,0-1 0,-1 0 0,1 1 0,5-5 0,5-9 0,34-69 0,42-106 0,-3 5 0,-49 111 0,83-146 0,-104 198 0,1 0 0,2 1 0,0 0 0,1 2 0,1 0 0,43-32 0,-27 29 0,1 2 0,0 1 0,2 2 0,78-26 0,169-25 0,-171 43 0,-54 11 0,1 3 0,73-6 0,-115 17 0,0 1 0,0 1 0,1 0 0,-1 2 0,0 0 0,0 1 0,-1 1 0,1 1 0,-1 1 0,34 17 0,-10 2 0,-1 1 0,-1 2 0,44 42 0,105 116 0,-142-138 0,18 18 0,-2 4 0,106 157 0,-125-159 0,2-2 0,65 71 0,-86-107 0,-2 2 0,-1 0 0,33 67 0,41 117 0,92 352 0,-51 10 0,-113-470 0,125 416 0,-126-450 0,-6-26 0,-2 1 0,-3 1 0,-1 0 0,4 57 0,-17 172 0,-3-192 0,4-1 0,14 114 0,30 309 0,-40 4 0,-4-386 0,1-106 0,2 0 0,0 0 0,1 0 0,14 39 0,-10-33 0,0-1 0,3 34 0,-4 46 0,-7 131 0,-3-93 0,3 667 0,0-784-682,5 39-1,1-34-6143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4:03.332"/>
    </inkml:context>
    <inkml:brush xml:id="br0">
      <inkml:brushProperty name="width" value="0.05" units="cm"/>
      <inkml:brushProperty name="height" value="0.05" units="cm"/>
      <inkml:brushProperty name="color" value="#0000FF"/>
    </inkml:brush>
  </inkml:definitions>
  <inkml:trace contextRef="#ctx0" brushRef="#br0">1 1 24575,'9'6'0,"1"0"0,-1 1 0,0 0 0,-1 1 0,14 15 0,2 2 0,10 9 0,43 59 0,-24-27 0,-37-45 0,27 45 0,-34-49 0,1-1 0,0-1 0,1 0 0,22 23 0,-31-36 0,0 0 0,0 0 0,-1-1 0,1 1 0,0 0 0,0-1 0,1 0 0,-1 1 0,0-1 0,0 0 0,1 0 0,-1-1 0,1 1 0,-1 0 0,0-1 0,1 1 0,-1-1 0,1 0 0,0 0 0,-1 0 0,1 0 0,-1 0 0,1-1 0,-1 1 0,5-2 0,-3 0 0,1-1 0,-1 0 0,0 0 0,-1 0 0,1 0 0,0 0 0,-1-1 0,0 1 0,0-1 0,0 0 0,0 0 0,3-8 0,14-29-297,-2-1 0,18-66 0,-32 96-177,13-43-6352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4:31.756"/>
    </inkml:context>
    <inkml:brush xml:id="br0">
      <inkml:brushProperty name="width" value="0.05" units="cm"/>
      <inkml:brushProperty name="height" value="0.05" units="cm"/>
      <inkml:brushProperty name="color" value="#0000FF"/>
    </inkml:brush>
  </inkml:definitions>
  <inkml:trace contextRef="#ctx0" brushRef="#br0">29 1553 24575,'-1'0'0,"1"0"0,-1 0 0,0 0 0,0-1 0,0 1 0,0 0 0,1-1 0,-1 1 0,0-1 0,0 1 0,1-1 0,-1 1 0,0-1 0,1 1 0,-1-1 0,1 0 0,-1 1 0,1-1 0,-1 0 0,1 0 0,-1 1 0,1-1 0,-1 0 0,1 0 0,0 0 0,0 1 0,-1-3 0,-4-26 0,4 24 0,-2-30 0,1 0 0,1 0 0,6-47 0,24-105 0,-17 114 0,0 17 0,19-55 0,0 2 0,-9 34 0,3 1 0,3 2 0,49-91 0,-51 112 0,41-61 0,-53 93 0,0 1 0,1 0 0,1 1 0,1 1 0,0 1 0,21-16 0,-11 12 0,51-26 0,-66 39 0,0 1 0,1 0 0,0 1 0,0 1 0,0 0 0,0 0 0,15 0 0,5 2 0,-1 1 0,1 1 0,-1 1 0,0 2 0,0 2 0,0 1 0,-1 1 0,1 1 0,-2 2 0,0 2 0,0 0 0,-1 2 0,-1 1 0,-1 1 0,0 2 0,36 31 0,-25-12 0,-2 1 0,-2 2 0,46 70 0,58 121 0,-115-186 0,-3 2 0,-1 0 0,16 65 0,-23-53-18,5 88-1,-9-72-1309,-2-24-5498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4:34.578"/>
    </inkml:context>
    <inkml:brush xml:id="br0">
      <inkml:brushProperty name="width" value="0.05" units="cm"/>
      <inkml:brushProperty name="height" value="0.05" units="cm"/>
      <inkml:brushProperty name="color" value="#0000FF"/>
    </inkml:brush>
  </inkml:definitions>
  <inkml:trace contextRef="#ctx0" brushRef="#br0">0 217 24575,'1'4'0,"-1"-1"0,1 1 0,0 0 0,0-1 0,0 1 0,1-1 0,0 1 0,-1-1 0,1 0 0,0 1 0,0-1 0,4 3 0,1 5 0,25 39 0,-2 2 0,39 90 0,-63-126 0,25 56 0,-27-66 0,-1 0 0,1 0 0,0 0 0,1-1 0,-1 1 0,1-1 0,0 0 0,8 6 0,-12-10 0,1 0 0,-1 0 0,0 0 0,1-1 0,-1 1 0,1 0 0,-1-1 0,1 1 0,-1-1 0,1 1 0,-1-1 0,1 0 0,-1 0 0,1 0 0,0 0 0,-1 0 0,1 0 0,-1 0 0,1 0 0,0 0 0,1-1 0,0-1 0,-1 1 0,1 0 0,-1-1 0,0 0 0,1 1 0,-1-1 0,0 0 0,0 0 0,0 0 0,-1 0 0,3-4 0,4-7 0,-2 1 0,0-1 0,9-26 0,-13 34 0,44-157 0,-34 111 0,2 1 0,3 0 0,35-76 0,-4 39-1365,-26 50-5461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9:36.667"/>
    </inkml:context>
    <inkml:brush xml:id="br0">
      <inkml:brushProperty name="width" value="0.05" units="cm"/>
      <inkml:brushProperty name="height" value="0.05" units="cm"/>
      <inkml:brushProperty name="color" value="#0000FF"/>
    </inkml:brush>
  </inkml:definitions>
  <inkml:trace contextRef="#ctx0" brushRef="#br0">354 2145 24575,'1'0'0,"0"0"0,0-1 0,-1 1 0,1-1 0,0 1 0,-1-1 0,1 1 0,-1-1 0,1 0 0,-1 1 0,1-1 0,-1 0 0,1 1 0,-1-1 0,1 0 0,-1 0 0,0 1 0,0-1 0,1 0 0,-1 0 0,0 1 0,0-1 0,0 0 0,0 0 0,0 0 0,0-1 0,1-2 0,8-56 0,-3 1 0,-2-108 0,-4 98 0,0-47 0,-19-151 0,11 210 0,-3 2 0,-2-1 0,-3 2 0,-38-92 0,-34-45 0,79 166 0,1 1 0,1-1 0,-4-29 0,7 29 0,-2-1 0,-1 1 0,-11-27 0,-13-12 0,19 42 0,2 0 0,0-2 0,-13-44 0,14 9-341,2-1 0,3 0-1,6-89 1,-1 108-6485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9:38.554"/>
    </inkml:context>
    <inkml:brush xml:id="br0">
      <inkml:brushProperty name="width" value="0.05" units="cm"/>
      <inkml:brushProperty name="height" value="0.05" units="cm"/>
      <inkml:brushProperty name="color" value="#0000FF"/>
    </inkml:brush>
  </inkml:definitions>
  <inkml:trace contextRef="#ctx0" brushRef="#br0">117 0 24575,'0'10'0,"0"8"0,0 11 0,0 11 0,0 3 0,0-1 0,0-2 0,0-4 0,0 3 0,0 5 0,-5 4 0,-16-1 0,-6 12 0,3 0 0,5 0 0,6-4 0,5-13-8191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09:49:40.716"/>
    </inkml:context>
    <inkml:brush xml:id="br0">
      <inkml:brushProperty name="width" value="0.05" units="cm"/>
      <inkml:brushProperty name="height" value="0.05" units="cm"/>
      <inkml:brushProperty name="color" value="#0000FF"/>
    </inkml:brush>
  </inkml:definitions>
  <inkml:trace contextRef="#ctx0" brushRef="#br0">0 1 24575,'5'0'0,"16"0"0,15 9 0,12 9 0,-4 11 0,2 11 0,-8 3 0,-10-1 0,-4-2 0,-2 2 0,-4-2 0,-6-7-8191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13:01:53.849"/>
    </inkml:context>
    <inkml:brush xml:id="br0">
      <inkml:brushProperty name="width" value="0.05" units="cm"/>
      <inkml:brushProperty name="height" value="0.05" units="cm"/>
      <inkml:brushProperty name="color" value="#0000FF"/>
    </inkml:brush>
  </inkml:definitions>
  <inkml:trace contextRef="#ctx0" brushRef="#br0">388 3950 24575,'1'0'0,"-1"-1"0,1 0 0,0 0 0,0 1 0,-1-1 0,1 0 0,0 0 0,-1 0 0,1-1 0,0 1 0,-1 0 0,1 0 0,-1-1 0,1 1 0,-1 0 0,0-1 0,1 1 0,-1 0 0,0-1 0,0 1 0,1-1 0,-1 1 0,0-1 0,0 1 0,0-1 0,0-2 0,1-3 0,8-103 0,-2 0 0,-3-197 0,-4 181 0,0-89 0,-20-277 0,11 388 0,-3 2 0,-2 0 0,-3 1 0,-43-166 0,-36-86 0,86 308 0,1 0 0,2-1 0,-5-53 0,7 52 0,-1 0 0,-2 1 0,-12-51 0,-13-19 0,19 75 0,2-1 0,2-1 0,-15-82 0,15 15-341,2 0 0,4-1-1,6-163 1,-1 199-6485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13:01:53.850"/>
    </inkml:context>
    <inkml:brush xml:id="br0">
      <inkml:brushProperty name="width" value="0.05" units="cm"/>
      <inkml:brushProperty name="height" value="0.05" units="cm"/>
      <inkml:brushProperty name="color" value="#0000FF"/>
    </inkml:brush>
  </inkml:definitions>
  <inkml:trace contextRef="#ctx0" brushRef="#br0">128 0 24575,'0'18'0,"0"16"0,0 19 0,0 20 0,0 6 0,0-1 0,0-5 0,0-5 0,0 3 0,0 9 0,-5 9 0,-19-2 0,-5 21 0,3 1 0,5 1 0,7-10 0,5-22-8191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13:01:53.851"/>
    </inkml:context>
    <inkml:brush xml:id="br0">
      <inkml:brushProperty name="width" value="0.05" units="cm"/>
      <inkml:brushProperty name="height" value="0.05" units="cm"/>
      <inkml:brushProperty name="color" value="#0000FF"/>
    </inkml:brush>
  </inkml:definitions>
  <inkml:trace contextRef="#ctx0" brushRef="#br0">0 1 24575,'6'0'0,"17"0"0,16 18 0,13 15 0,-3 20 0,1 20 0,-8 6 0,-11-1 0,-6-4 0,-1 2 0,-4-1 0,-7-14-8191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05/16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extLst>
      <p:ext uri="{BB962C8B-B14F-4D97-AF65-F5344CB8AC3E}">
        <p14:creationId xmlns:p14="http://schemas.microsoft.com/office/powerpoint/2010/main" val="635491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、随机访问：定长记录，记录长度和盘块大小的关系，记录是否允许跨盘块？</a:t>
            </a:r>
            <a:endParaRPr lang="en-US" altLang="zh-CN" dirty="0"/>
          </a:p>
          <a:p>
            <a:r>
              <a:rPr lang="en-US" altLang="zh-CN" dirty="0"/>
              <a:t>2</a:t>
            </a:r>
            <a:r>
              <a:rPr lang="zh-CN" altLang="en-US" dirty="0"/>
              <a:t>、思考答案：连续分配方式。</a:t>
            </a:r>
            <a:endParaRPr lang="en-US" altLang="zh-CN" dirty="0"/>
          </a:p>
          <a:p>
            <a:r>
              <a:rPr lang="en-US" altLang="zh-CN" dirty="0"/>
              <a:t>2</a:t>
            </a:r>
            <a:r>
              <a:rPr lang="zh-CN" altLang="en-US" dirty="0"/>
              <a:t>、严格来讲，教材不够严谨，磁盘块</a:t>
            </a:r>
            <a:r>
              <a:rPr lang="en-US" altLang="zh-CN" dirty="0"/>
              <a:t>(Block)</a:t>
            </a:r>
            <a:r>
              <a:rPr lang="zh-CN" altLang="en-US" dirty="0"/>
              <a:t>和扇区</a:t>
            </a:r>
            <a:r>
              <a:rPr lang="en-US" altLang="zh-CN" dirty="0"/>
              <a:t>(Sector)</a:t>
            </a:r>
            <a:r>
              <a:rPr lang="zh-CN" altLang="en-US" dirty="0"/>
              <a:t>不是一个概念。块是操作系统软件层面最小单位，扇区是磁盘硬件（磁盘驱动器）最小读写单位，多个相邻的扇区构成一个块，大小由操作系统决定。</a:t>
            </a:r>
            <a:endParaRPr lang="en-US" altLang="zh-CN" dirty="0"/>
          </a:p>
          <a:p>
            <a:r>
              <a:rPr lang="en-US" altLang="zh-CN" dirty="0"/>
              <a:t>4</a:t>
            </a:r>
            <a:r>
              <a:rPr lang="zh-CN" altLang="en-US" dirty="0"/>
              <a:t>、</a:t>
            </a:r>
            <a:r>
              <a:rPr lang="zh-CN" altLang="en-US" b="0" i="0" dirty="0">
                <a:solidFill>
                  <a:srgbClr val="333333"/>
                </a:solidFill>
                <a:effectLst/>
                <a:highlight>
                  <a:srgbClr val="FFFFFF"/>
                </a:highlight>
                <a:latin typeface="宋体" panose="02010600030101010101" pitchFamily="2" charset="-122"/>
                <a:ea typeface="宋体" panose="02010600030101010101" pitchFamily="2" charset="-122"/>
              </a:rPr>
              <a:t>簇（</a:t>
            </a:r>
            <a:r>
              <a:rPr lang="en-US" altLang="zh-CN" b="0" i="0" dirty="0">
                <a:solidFill>
                  <a:srgbClr val="333333"/>
                </a:solidFill>
                <a:effectLst/>
                <a:highlight>
                  <a:srgbClr val="FFFFFF"/>
                </a:highlight>
                <a:latin typeface="宋体" panose="02010600030101010101" pitchFamily="2" charset="-122"/>
                <a:ea typeface="宋体" panose="02010600030101010101" pitchFamily="2" charset="-122"/>
              </a:rPr>
              <a:t>Cluster</a:t>
            </a:r>
            <a:r>
              <a:rPr lang="zh-CN" altLang="en-US" b="0" i="0" dirty="0">
                <a:solidFill>
                  <a:srgbClr val="333333"/>
                </a:solidFill>
                <a:effectLst/>
                <a:highlight>
                  <a:srgbClr val="FFFFFF"/>
                </a:highlight>
                <a:latin typeface="宋体" panose="02010600030101010101" pitchFamily="2" charset="-122"/>
                <a:ea typeface="宋体" panose="02010600030101010101" pitchFamily="2" charset="-122"/>
              </a:rPr>
              <a:t>）也是操作系统抽象出来的一个逻辑概念，与块相同。</a:t>
            </a:r>
            <a:r>
              <a:rPr lang="zh-CN" altLang="en-US" b="1" i="0" dirty="0">
                <a:solidFill>
                  <a:srgbClr val="4F4F4F"/>
                </a:solidFill>
                <a:effectLst/>
                <a:highlight>
                  <a:srgbClr val="EEF0F4"/>
                </a:highlight>
                <a:latin typeface="-apple-system"/>
              </a:rPr>
              <a:t>块与簇其实是同一个概念，只是不同文件系统下的叫法不同。</a:t>
            </a:r>
            <a:r>
              <a:rPr lang="zh-CN" altLang="en-US" b="0" i="0" dirty="0">
                <a:solidFill>
                  <a:srgbClr val="4F4F4F"/>
                </a:solidFill>
                <a:effectLst/>
                <a:highlight>
                  <a:srgbClr val="EEF0F4"/>
                </a:highlight>
                <a:latin typeface="-apple-system"/>
              </a:rPr>
              <a:t>在</a:t>
            </a:r>
            <a:r>
              <a:rPr lang="en-US" altLang="zh-CN" b="0" i="0" dirty="0">
                <a:solidFill>
                  <a:srgbClr val="4F4F4F"/>
                </a:solidFill>
                <a:effectLst/>
                <a:highlight>
                  <a:srgbClr val="EEF0F4"/>
                </a:highlight>
                <a:latin typeface="-apple-system"/>
              </a:rPr>
              <a:t>Windows</a:t>
            </a:r>
            <a:r>
              <a:rPr lang="zh-CN" altLang="en-US" b="0" i="0" dirty="0">
                <a:solidFill>
                  <a:srgbClr val="4F4F4F"/>
                </a:solidFill>
                <a:effectLst/>
                <a:highlight>
                  <a:srgbClr val="EEF0F4"/>
                </a:highlight>
                <a:latin typeface="-apple-system"/>
              </a:rPr>
              <a:t>下如</a:t>
            </a:r>
            <a:r>
              <a:rPr lang="en-US" altLang="zh-CN" b="0" i="0" dirty="0">
                <a:solidFill>
                  <a:srgbClr val="4F4F4F"/>
                </a:solidFill>
                <a:effectLst/>
                <a:highlight>
                  <a:srgbClr val="EEF0F4"/>
                </a:highlight>
                <a:latin typeface="-apple-system"/>
              </a:rPr>
              <a:t>NTFS</a:t>
            </a:r>
            <a:r>
              <a:rPr lang="zh-CN" altLang="en-US" b="0" i="0" dirty="0">
                <a:solidFill>
                  <a:srgbClr val="4F4F4F"/>
                </a:solidFill>
                <a:effectLst/>
                <a:highlight>
                  <a:srgbClr val="EEF0F4"/>
                </a:highlight>
                <a:latin typeface="-apple-system"/>
              </a:rPr>
              <a:t>等文件系统中就叫做簇（</a:t>
            </a:r>
            <a:r>
              <a:rPr lang="en-US" altLang="zh-CN" b="0" i="0" dirty="0">
                <a:solidFill>
                  <a:srgbClr val="4F4F4F"/>
                </a:solidFill>
                <a:effectLst/>
                <a:highlight>
                  <a:srgbClr val="EEF0F4"/>
                </a:highlight>
                <a:latin typeface="-apple-system"/>
              </a:rPr>
              <a:t>cluster</a:t>
            </a:r>
            <a:r>
              <a:rPr lang="zh-CN" altLang="en-US" b="0" i="0" dirty="0">
                <a:solidFill>
                  <a:srgbClr val="4F4F4F"/>
                </a:solidFill>
                <a:effectLst/>
                <a:highlight>
                  <a:srgbClr val="EEF0F4"/>
                </a:highlight>
                <a:latin typeface="-apple-system"/>
              </a:rPr>
              <a:t>），在</a:t>
            </a:r>
            <a:r>
              <a:rPr lang="en-US" altLang="zh-CN" b="0" i="0" dirty="0">
                <a:solidFill>
                  <a:srgbClr val="4F4F4F"/>
                </a:solidFill>
                <a:effectLst/>
                <a:highlight>
                  <a:srgbClr val="EEF0F4"/>
                </a:highlight>
                <a:latin typeface="-apple-system"/>
              </a:rPr>
              <a:t>Linux</a:t>
            </a:r>
            <a:r>
              <a:rPr lang="zh-CN" altLang="en-US" b="0" i="0" dirty="0">
                <a:solidFill>
                  <a:srgbClr val="4F4F4F"/>
                </a:solidFill>
                <a:effectLst/>
                <a:highlight>
                  <a:srgbClr val="EEF0F4"/>
                </a:highlight>
                <a:latin typeface="-apple-system"/>
              </a:rPr>
              <a:t>下如</a:t>
            </a:r>
            <a:r>
              <a:rPr lang="en-US" altLang="zh-CN" b="0" i="0" dirty="0">
                <a:solidFill>
                  <a:srgbClr val="4F4F4F"/>
                </a:solidFill>
                <a:effectLst/>
                <a:highlight>
                  <a:srgbClr val="EEF0F4"/>
                </a:highlight>
                <a:latin typeface="-apple-system"/>
              </a:rPr>
              <a:t>Ext4</a:t>
            </a:r>
            <a:r>
              <a:rPr lang="zh-CN" altLang="en-US" b="0" i="0" dirty="0">
                <a:solidFill>
                  <a:srgbClr val="4F4F4F"/>
                </a:solidFill>
                <a:effectLst/>
                <a:highlight>
                  <a:srgbClr val="EEF0F4"/>
                </a:highlight>
                <a:latin typeface="-apple-system"/>
              </a:rPr>
              <a:t>等文件系统中就叫做块（</a:t>
            </a:r>
            <a:r>
              <a:rPr lang="en-US" altLang="zh-CN" b="0" i="0" dirty="0">
                <a:solidFill>
                  <a:srgbClr val="4F4F4F"/>
                </a:solidFill>
                <a:effectLst/>
                <a:highlight>
                  <a:srgbClr val="EEF0F4"/>
                </a:highlight>
                <a:latin typeface="-apple-system"/>
              </a:rPr>
              <a:t>block</a:t>
            </a:r>
            <a:r>
              <a:rPr lang="zh-CN" altLang="en-US" b="0" i="0" dirty="0">
                <a:solidFill>
                  <a:srgbClr val="4F4F4F"/>
                </a:solidFill>
                <a:effectLst/>
                <a:highlight>
                  <a:srgbClr val="EEF0F4"/>
                </a:highlight>
                <a:latin typeface="-apple-system"/>
              </a:rPr>
              <a:t>）。</a:t>
            </a:r>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5</a:t>
            </a:fld>
            <a:endParaRPr lang="zh-CN" altLang="en-US"/>
          </a:p>
        </p:txBody>
      </p:sp>
    </p:spTree>
    <p:extLst>
      <p:ext uri="{BB962C8B-B14F-4D97-AF65-F5344CB8AC3E}">
        <p14:creationId xmlns:p14="http://schemas.microsoft.com/office/powerpoint/2010/main" val="2749902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050" dirty="0"/>
              <a:t>1</a:t>
            </a:r>
            <a:r>
              <a:rPr lang="zh-CN" altLang="en-US" sz="1050" dirty="0"/>
              <a:t>、思考</a:t>
            </a:r>
            <a:r>
              <a:rPr lang="en-US" altLang="zh-CN" sz="1050" dirty="0"/>
              <a:t>1</a:t>
            </a:r>
            <a:r>
              <a:rPr lang="zh-CN" altLang="en-US" sz="1050" dirty="0"/>
              <a:t>答案：指针即是磁盘盘块号。</a:t>
            </a:r>
            <a:endParaRPr lang="en-US" altLang="zh-CN" sz="1050" dirty="0"/>
          </a:p>
          <a:p>
            <a:r>
              <a:rPr lang="en-US" altLang="zh-CN" sz="1050" dirty="0"/>
              <a:t>2</a:t>
            </a:r>
            <a:r>
              <a:rPr lang="zh-CN" altLang="en-US" sz="1050" dirty="0"/>
              <a:t>、思考</a:t>
            </a:r>
            <a:r>
              <a:rPr lang="en-US" altLang="zh-CN" sz="1050" dirty="0"/>
              <a:t>2</a:t>
            </a:r>
            <a:r>
              <a:rPr lang="zh-CN" altLang="en-US" sz="1050" dirty="0"/>
              <a:t>答案：系统启动时从外存复制到内存，后续直接在内存中访问。</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7</a:t>
            </a:fld>
            <a:endParaRPr lang="zh-CN" altLang="en-US"/>
          </a:p>
        </p:txBody>
      </p:sp>
    </p:spTree>
    <p:extLst>
      <p:ext uri="{BB962C8B-B14F-4D97-AF65-F5344CB8AC3E}">
        <p14:creationId xmlns:p14="http://schemas.microsoft.com/office/powerpoint/2010/main" val="185921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10</a:t>
            </a:fld>
            <a:endParaRPr lang="zh-CN" altLang="en-US"/>
          </a:p>
        </p:txBody>
      </p:sp>
    </p:spTree>
    <p:extLst>
      <p:ext uri="{BB962C8B-B14F-4D97-AF65-F5344CB8AC3E}">
        <p14:creationId xmlns:p14="http://schemas.microsoft.com/office/powerpoint/2010/main" val="2525809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、思考</a:t>
            </a:r>
            <a:r>
              <a:rPr lang="en-US" altLang="zh-CN" dirty="0"/>
              <a:t>1</a:t>
            </a:r>
            <a:r>
              <a:rPr lang="zh-CN" altLang="en-US" dirty="0"/>
              <a:t>答案：</a:t>
            </a:r>
            <a:r>
              <a:rPr lang="en-US" altLang="zh-CN" dirty="0"/>
              <a:t>xx</a:t>
            </a:r>
            <a:r>
              <a:rPr lang="zh-CN" altLang="en-US" dirty="0"/>
              <a:t>表示</a:t>
            </a:r>
            <a:r>
              <a:rPr lang="en-US" altLang="zh-CN" dirty="0"/>
              <a:t>FAT</a:t>
            </a:r>
            <a:r>
              <a:rPr lang="zh-CN" altLang="en-US" dirty="0"/>
              <a:t>表项大小（</a:t>
            </a:r>
            <a:r>
              <a:rPr lang="en-US" altLang="zh-CN" dirty="0"/>
              <a:t>bit</a:t>
            </a:r>
            <a:r>
              <a:rPr lang="zh-CN" altLang="en-US" dirty="0"/>
              <a:t>），和盘块（或簇）大小共同决定可以管理的最大磁盘大小。</a:t>
            </a:r>
            <a:endParaRPr lang="en-US" altLang="zh-CN" dirty="0"/>
          </a:p>
          <a:p>
            <a:r>
              <a:rPr lang="en-US" altLang="zh-CN" dirty="0"/>
              <a:t>2</a:t>
            </a:r>
            <a:r>
              <a:rPr lang="zh-CN" altLang="en-US" dirty="0"/>
              <a:t>、用簇作为分配单位方便更灵活地适应磁盘大小。</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11</a:t>
            </a:fld>
            <a:endParaRPr lang="zh-CN" altLang="en-US"/>
          </a:p>
        </p:txBody>
      </p:sp>
    </p:spTree>
    <p:extLst>
      <p:ext uri="{BB962C8B-B14F-4D97-AF65-F5344CB8AC3E}">
        <p14:creationId xmlns:p14="http://schemas.microsoft.com/office/powerpoint/2010/main" val="2549826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、计算结果：</a:t>
            </a:r>
            <a:r>
              <a:rPr lang="en-US" altLang="zh-CN" dirty="0"/>
              <a:t>4K*512B=2MB</a:t>
            </a:r>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12</a:t>
            </a:fld>
            <a:endParaRPr lang="zh-CN" altLang="en-US"/>
          </a:p>
        </p:txBody>
      </p:sp>
    </p:spTree>
    <p:extLst>
      <p:ext uri="{BB962C8B-B14F-4D97-AF65-F5344CB8AC3E}">
        <p14:creationId xmlns:p14="http://schemas.microsoft.com/office/powerpoint/2010/main" val="3385472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、如</a:t>
            </a:r>
            <a:r>
              <a:rPr lang="en-US" altLang="zh-CN" dirty="0"/>
              <a:t>EXT4</a:t>
            </a:r>
            <a:r>
              <a:rPr lang="zh-CN" altLang="en-US" dirty="0"/>
              <a:t>文件系统</a:t>
            </a:r>
            <a:r>
              <a:rPr lang="en-US" altLang="zh-CN" dirty="0" err="1"/>
              <a:t>iNode</a:t>
            </a:r>
            <a:r>
              <a:rPr lang="zh-CN" altLang="en-US" dirty="0"/>
              <a:t>中的物理块管理。</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15</a:t>
            </a:fld>
            <a:endParaRPr lang="zh-CN" altLang="en-US"/>
          </a:p>
        </p:txBody>
      </p:sp>
    </p:spTree>
    <p:extLst>
      <p:ext uri="{BB962C8B-B14F-4D97-AF65-F5344CB8AC3E}">
        <p14:creationId xmlns:p14="http://schemas.microsoft.com/office/powerpoint/2010/main" val="1180742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、分配和回收都在栈底操作。</a:t>
            </a:r>
            <a:endParaRPr lang="en-US" altLang="zh-CN" dirty="0"/>
          </a:p>
          <a:p>
            <a:r>
              <a:rPr lang="en-US" altLang="zh-CN" dirty="0"/>
              <a:t>2</a:t>
            </a:r>
            <a:r>
              <a:rPr lang="zh-CN" altLang="en-US" dirty="0"/>
              <a:t>、从栈顶分配：若栈顶</a:t>
            </a:r>
            <a:r>
              <a:rPr lang="en-US" altLang="zh-CN" dirty="0"/>
              <a:t>-&gt;</a:t>
            </a:r>
            <a:r>
              <a:rPr lang="zh-CN" altLang="en-US" dirty="0"/>
              <a:t>栈底（该组中最后一个空闲块），分配完后将该块内容（下一个组信息）读入栈中。</a:t>
            </a:r>
            <a:endParaRPr lang="en-US" altLang="zh-CN" dirty="0"/>
          </a:p>
          <a:p>
            <a:r>
              <a:rPr lang="en-US" altLang="zh-CN" dirty="0"/>
              <a:t>3</a:t>
            </a:r>
            <a:r>
              <a:rPr lang="zh-CN" altLang="en-US" dirty="0"/>
              <a:t>、回收放入栈顶：若栈顶</a:t>
            </a:r>
            <a:r>
              <a:rPr lang="en-US" altLang="zh-CN" dirty="0"/>
              <a:t>100</a:t>
            </a:r>
            <a:r>
              <a:rPr lang="zh-CN" altLang="en-US" dirty="0"/>
              <a:t>（该组已满），将该组信息存入回收的块中，清空栈并将回收的块放入栈顶（生成一个新组）。</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27</a:t>
            </a:fld>
            <a:endParaRPr lang="zh-CN" altLang="en-US"/>
          </a:p>
        </p:txBody>
      </p:sp>
    </p:spTree>
    <p:extLst>
      <p:ext uri="{BB962C8B-B14F-4D97-AF65-F5344CB8AC3E}">
        <p14:creationId xmlns:p14="http://schemas.microsoft.com/office/powerpoint/2010/main" val="96196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28</a:t>
            </a:fld>
            <a:endParaRPr lang="zh-CN" altLang="en-US"/>
          </a:p>
        </p:txBody>
      </p:sp>
    </p:spTree>
    <p:extLst>
      <p:ext uri="{BB962C8B-B14F-4D97-AF65-F5344CB8AC3E}">
        <p14:creationId xmlns:p14="http://schemas.microsoft.com/office/powerpoint/2010/main" val="1762991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37</a:t>
            </a:fld>
            <a:endParaRPr lang="zh-CN" altLang="en-US"/>
          </a:p>
        </p:txBody>
      </p:sp>
    </p:spTree>
    <p:extLst>
      <p:ext uri="{BB962C8B-B14F-4D97-AF65-F5344CB8AC3E}">
        <p14:creationId xmlns:p14="http://schemas.microsoft.com/office/powerpoint/2010/main" val="1471848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t>‹#›</a:t>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t>05/16</a:t>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t>05/16</a:t>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5.xml"/><Relationship Id="rId1" Type="http://schemas.openxmlformats.org/officeDocument/2006/relationships/tags" Target="../tags/tag2.xml"/><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5.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3" Type="http://schemas.openxmlformats.org/officeDocument/2006/relationships/image" Target="../media/image25.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customXml" Target="../ink/ink19.xml"/><Relationship Id="rId21" Type="http://schemas.openxmlformats.org/officeDocument/2006/relationships/image" Target="../media/image29.png"/><Relationship Id="rId34" Type="http://schemas.openxmlformats.org/officeDocument/2006/relationships/customXml" Target="../ink/ink16.xml"/><Relationship Id="rId7" Type="http://schemas.openxmlformats.org/officeDocument/2006/relationships/image" Target="../media/image22.png"/><Relationship Id="rId12" Type="http://schemas.openxmlformats.org/officeDocument/2006/relationships/customXml" Target="../ink/ink5.xml"/><Relationship Id="rId17" Type="http://schemas.openxmlformats.org/officeDocument/2006/relationships/image" Target="../media/image27.png"/><Relationship Id="rId25" Type="http://schemas.openxmlformats.org/officeDocument/2006/relationships/image" Target="../media/image31.png"/><Relationship Id="rId33" Type="http://schemas.openxmlformats.org/officeDocument/2006/relationships/image" Target="../media/image35.png"/><Relationship Id="rId38" Type="http://schemas.openxmlformats.org/officeDocument/2006/relationships/customXml" Target="../ink/ink18.xml"/><Relationship Id="rId2" Type="http://schemas.openxmlformats.org/officeDocument/2006/relationships/notesSlide" Target="../notesSlides/notesSlide7.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33.png"/><Relationship Id="rId1" Type="http://schemas.openxmlformats.org/officeDocument/2006/relationships/slideLayout" Target="../slideLayouts/slideLayout3.xml"/><Relationship Id="rId6" Type="http://schemas.openxmlformats.org/officeDocument/2006/relationships/customXml" Target="../ink/ink2.xml"/><Relationship Id="rId11" Type="http://schemas.openxmlformats.org/officeDocument/2006/relationships/image" Target="../media/image24.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37.png"/><Relationship Id="rId40" Type="http://schemas.openxmlformats.org/officeDocument/2006/relationships/customXml" Target="../ink/ink20.xml"/><Relationship Id="rId5" Type="http://schemas.openxmlformats.org/officeDocument/2006/relationships/image" Target="../media/image21.png"/><Relationship Id="rId15" Type="http://schemas.openxmlformats.org/officeDocument/2006/relationships/image" Target="../media/image26.png"/><Relationship Id="rId23" Type="http://schemas.openxmlformats.org/officeDocument/2006/relationships/image" Target="../media/image30.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28.png"/><Relationship Id="rId31" Type="http://schemas.openxmlformats.org/officeDocument/2006/relationships/image" Target="../media/image34.png"/><Relationship Id="rId4" Type="http://schemas.openxmlformats.org/officeDocument/2006/relationships/customXml" Target="../ink/ink1.xml"/><Relationship Id="rId9" Type="http://schemas.openxmlformats.org/officeDocument/2006/relationships/image" Target="../media/image23.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32.png"/><Relationship Id="rId30" Type="http://schemas.openxmlformats.org/officeDocument/2006/relationships/customXml" Target="../ink/ink14.xml"/><Relationship Id="rId35" Type="http://schemas.openxmlformats.org/officeDocument/2006/relationships/image" Target="../media/image36.png"/><Relationship Id="rId8" Type="http://schemas.openxmlformats.org/officeDocument/2006/relationships/customXml" Target="../ink/ink3.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5.png"/><Relationship Id="rId2" Type="http://schemas.openxmlformats.org/officeDocument/2006/relationships/slideLayout" Target="../slideLayouts/slideLayout5.xml"/><Relationship Id="rId1" Type="http://schemas.openxmlformats.org/officeDocument/2006/relationships/tags" Target="../tags/tag6.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5.xml"/><Relationship Id="rId1" Type="http://schemas.openxmlformats.org/officeDocument/2006/relationships/tags" Target="../tags/tag8.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3.png"/><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image" Target="../media/image41.jpeg"/><Relationship Id="rId5" Type="http://schemas.openxmlformats.org/officeDocument/2006/relationships/image" Target="../media/image38.jpeg"/><Relationship Id="rId4" Type="http://schemas.openxmlformats.org/officeDocument/2006/relationships/image" Target="../media/image42.jpeg"/></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3.xml"/><Relationship Id="rId1" Type="http://schemas.openxmlformats.org/officeDocument/2006/relationships/tags" Target="../tags/tag10.xml"/><Relationship Id="rId5" Type="http://schemas.openxmlformats.org/officeDocument/2006/relationships/image" Target="../media/image41.jpeg"/><Relationship Id="rId4" Type="http://schemas.openxmlformats.org/officeDocument/2006/relationships/image" Target="../media/image38.jpeg"/></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3.xml"/><Relationship Id="rId1" Type="http://schemas.openxmlformats.org/officeDocument/2006/relationships/tags" Target="../tags/tag11.xml"/><Relationship Id="rId5" Type="http://schemas.openxmlformats.org/officeDocument/2006/relationships/image" Target="../media/image41.jpeg"/><Relationship Id="rId4" Type="http://schemas.openxmlformats.org/officeDocument/2006/relationships/image" Target="../media/image38.jpe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5.xml"/><Relationship Id="rId1" Type="http://schemas.openxmlformats.org/officeDocument/2006/relationships/tags" Target="../tags/tag12.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5.xml"/><Relationship Id="rId1" Type="http://schemas.openxmlformats.org/officeDocument/2006/relationships/tags" Target="../tags/tag14.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5.xml"/><Relationship Id="rId1" Type="http://schemas.openxmlformats.org/officeDocument/2006/relationships/tags" Target="../tags/tag15.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rPr>
              <a:t>内容导航：</a:t>
            </a:r>
          </a:p>
        </p:txBody>
      </p:sp>
      <p:sp>
        <p:nvSpPr>
          <p:cNvPr id="22" name="矩形 21"/>
          <p:cNvSpPr/>
          <p:nvPr/>
        </p:nvSpPr>
        <p:spPr>
          <a:xfrm>
            <a:off x="1696469" y="1476238"/>
            <a:ext cx="4500146" cy="461665"/>
          </a:xfrm>
          <a:prstGeom prst="rect">
            <a:avLst/>
          </a:prstGeom>
        </p:spPr>
        <p:txBody>
          <a:bodyPr wrap="square">
            <a:spAutoFit/>
          </a:bodyPr>
          <a:lstStyle/>
          <a:p>
            <a:r>
              <a:rPr lang="en-US" altLang="zh-CN" sz="2400" dirty="0">
                <a:latin typeface="+mj-ea"/>
              </a:rPr>
              <a:t>8.1 </a:t>
            </a:r>
            <a:r>
              <a:rPr lang="zh-CN" altLang="en-US" sz="2400" dirty="0">
                <a:latin typeface="+mj-ea"/>
              </a:rPr>
              <a:t>外存的组织方式</a:t>
            </a:r>
          </a:p>
        </p:txBody>
      </p:sp>
      <p:sp>
        <p:nvSpPr>
          <p:cNvPr id="27" name="矩形 26"/>
          <p:cNvSpPr/>
          <p:nvPr/>
        </p:nvSpPr>
        <p:spPr>
          <a:xfrm>
            <a:off x="1696469" y="2104988"/>
            <a:ext cx="5478772" cy="461665"/>
          </a:xfrm>
          <a:prstGeom prst="rect">
            <a:avLst/>
          </a:prstGeom>
        </p:spPr>
        <p:txBody>
          <a:bodyPr wrap="square">
            <a:spAutoFit/>
          </a:bodyPr>
          <a:lstStyle/>
          <a:p>
            <a:r>
              <a:rPr lang="en-US" altLang="zh-CN" sz="2400" dirty="0">
                <a:latin typeface="+mj-ea"/>
              </a:rPr>
              <a:t>8.2 </a:t>
            </a:r>
            <a:r>
              <a:rPr lang="zh-CN" altLang="en-US" sz="2400" dirty="0">
                <a:latin typeface="+mj-ea"/>
              </a:rPr>
              <a:t>文件存储空间的管理</a:t>
            </a:r>
          </a:p>
        </p:txBody>
      </p:sp>
      <p:sp>
        <p:nvSpPr>
          <p:cNvPr id="28" name="矩形 27"/>
          <p:cNvSpPr/>
          <p:nvPr/>
        </p:nvSpPr>
        <p:spPr>
          <a:xfrm>
            <a:off x="1696468" y="2733738"/>
            <a:ext cx="4769645" cy="461665"/>
          </a:xfrm>
          <a:prstGeom prst="rect">
            <a:avLst/>
          </a:prstGeom>
        </p:spPr>
        <p:txBody>
          <a:bodyPr wrap="square">
            <a:spAutoFit/>
          </a:bodyPr>
          <a:lstStyle/>
          <a:p>
            <a:r>
              <a:rPr lang="en-US" altLang="zh-CN" sz="2400" dirty="0">
                <a:latin typeface="+mj-ea"/>
              </a:rPr>
              <a:t>8.3 </a:t>
            </a:r>
            <a:r>
              <a:rPr lang="zh-CN" altLang="en-US" sz="2400" dirty="0">
                <a:latin typeface="+mj-ea"/>
              </a:rPr>
              <a:t>提高磁盘</a:t>
            </a:r>
            <a:r>
              <a:rPr lang="en-US" altLang="zh-CN" sz="2400" dirty="0">
                <a:latin typeface="+mj-ea"/>
              </a:rPr>
              <a:t>I/O</a:t>
            </a:r>
            <a:r>
              <a:rPr lang="zh-CN" altLang="en-US" sz="2400" dirty="0">
                <a:latin typeface="+mj-ea"/>
              </a:rPr>
              <a:t>速度的途径</a:t>
            </a:r>
          </a:p>
        </p:txBody>
      </p:sp>
      <p:sp>
        <p:nvSpPr>
          <p:cNvPr id="29" name="矩形 28"/>
          <p:cNvSpPr/>
          <p:nvPr/>
        </p:nvSpPr>
        <p:spPr>
          <a:xfrm>
            <a:off x="1696468" y="3362488"/>
            <a:ext cx="4620355" cy="461665"/>
          </a:xfrm>
          <a:prstGeom prst="rect">
            <a:avLst/>
          </a:prstGeom>
        </p:spPr>
        <p:txBody>
          <a:bodyPr wrap="square">
            <a:spAutoFit/>
          </a:bodyPr>
          <a:lstStyle/>
          <a:p>
            <a:r>
              <a:rPr lang="en-US" altLang="zh-CN" sz="2400" dirty="0">
                <a:latin typeface="+mj-ea"/>
              </a:rPr>
              <a:t>8.4 </a:t>
            </a:r>
            <a:r>
              <a:rPr lang="zh-CN" altLang="en-US" sz="2400" dirty="0">
                <a:latin typeface="+mj-ea"/>
              </a:rPr>
              <a:t>提高磁盘可靠性的技术</a:t>
            </a:r>
          </a:p>
        </p:txBody>
      </p:sp>
      <p:sp>
        <p:nvSpPr>
          <p:cNvPr id="3" name="矩形 2"/>
          <p:cNvSpPr/>
          <p:nvPr/>
        </p:nvSpPr>
        <p:spPr>
          <a:xfrm>
            <a:off x="6466113" y="2386337"/>
            <a:ext cx="5191691" cy="646331"/>
          </a:xfrm>
          <a:prstGeom prst="rect">
            <a:avLst/>
          </a:prstGeom>
        </p:spPr>
        <p:txBody>
          <a:bodyPr wrap="square">
            <a:spAutoFit/>
          </a:bodyPr>
          <a:lstStyle/>
          <a:p>
            <a:r>
              <a:rPr lang="zh-CN" altLang="en-US" sz="3600" dirty="0">
                <a:solidFill>
                  <a:srgbClr val="000000"/>
                </a:solidFill>
              </a:rPr>
              <a:t>第</a:t>
            </a:r>
            <a:r>
              <a:rPr lang="en-US" altLang="zh-CN" sz="3600" dirty="0">
                <a:solidFill>
                  <a:srgbClr val="000000"/>
                </a:solidFill>
              </a:rPr>
              <a:t>8</a:t>
            </a:r>
            <a:r>
              <a:rPr lang="zh-CN" altLang="en-US" sz="3600" dirty="0">
                <a:solidFill>
                  <a:srgbClr val="000000"/>
                </a:solidFill>
              </a:rPr>
              <a:t>章    磁盘存储器管理</a:t>
            </a:r>
            <a:endParaRPr lang="zh-CN" altLang="en-US" sz="3600" dirty="0"/>
          </a:p>
        </p:txBody>
      </p:sp>
      <p:cxnSp>
        <p:nvCxnSpPr>
          <p:cNvPr id="5" name="直接连接符 4"/>
          <p:cNvCxnSpPr/>
          <p:nvPr/>
        </p:nvCxnSpPr>
        <p:spPr>
          <a:xfrm>
            <a:off x="6640497" y="3190471"/>
            <a:ext cx="4906625"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1439228"/>
            <a:ext cx="527050" cy="527050"/>
          </a:xfrm>
          <a:prstGeom prst="rect">
            <a:avLst/>
          </a:prstGeom>
          <a:ln>
            <a:noFill/>
          </a:ln>
          <a:effectLst>
            <a:softEdge rad="0"/>
          </a:effectLst>
        </p:spPr>
      </p:pic>
      <p:pic>
        <p:nvPicPr>
          <p:cNvPr id="42" name="图片 4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065936"/>
            <a:ext cx="527050" cy="527050"/>
          </a:xfrm>
          <a:prstGeom prst="rect">
            <a:avLst/>
          </a:prstGeom>
          <a:ln>
            <a:noFill/>
          </a:ln>
          <a:effectLst>
            <a:softEdge rad="0"/>
          </a:effectLst>
        </p:spPr>
      </p:pic>
      <p:pic>
        <p:nvPicPr>
          <p:cNvPr id="43" name="图片 4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2692644"/>
            <a:ext cx="527050" cy="527050"/>
          </a:xfrm>
          <a:prstGeom prst="rect">
            <a:avLst/>
          </a:prstGeom>
          <a:ln>
            <a:noFill/>
          </a:ln>
          <a:effectLst>
            <a:softEdge rad="0"/>
          </a:effectLst>
        </p:spPr>
      </p:pic>
      <p:pic>
        <p:nvPicPr>
          <p:cNvPr id="44" name="图片 4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8" y="3319352"/>
            <a:ext cx="527050" cy="527050"/>
          </a:xfrm>
          <a:prstGeom prst="rect">
            <a:avLst/>
          </a:prstGeom>
          <a:ln>
            <a:noFill/>
          </a:ln>
          <a:effectLst>
            <a:softEdge rad="0"/>
          </a:effectLst>
        </p:spPr>
      </p:pic>
      <p:sp>
        <p:nvSpPr>
          <p:cNvPr id="33" name="矩形 32"/>
          <p:cNvSpPr/>
          <p:nvPr/>
        </p:nvSpPr>
        <p:spPr>
          <a:xfrm>
            <a:off x="1696468" y="4619988"/>
            <a:ext cx="4219140" cy="461665"/>
          </a:xfrm>
          <a:prstGeom prst="rect">
            <a:avLst/>
          </a:prstGeom>
        </p:spPr>
        <p:txBody>
          <a:bodyPr wrap="square">
            <a:spAutoFit/>
          </a:bodyPr>
          <a:lstStyle/>
          <a:p>
            <a:r>
              <a:rPr lang="en-US" altLang="zh-CN" sz="2400" dirty="0">
                <a:solidFill>
                  <a:schemeClr val="bg1">
                    <a:lumMod val="65000"/>
                  </a:schemeClr>
                </a:solidFill>
                <a:latin typeface="+mj-ea"/>
              </a:rPr>
              <a:t>8.6 </a:t>
            </a:r>
            <a:r>
              <a:rPr lang="zh-CN" altLang="en-US" sz="2400" dirty="0">
                <a:solidFill>
                  <a:schemeClr val="bg1">
                    <a:lumMod val="65000"/>
                  </a:schemeClr>
                </a:solidFill>
                <a:latin typeface="+mj-ea"/>
              </a:rPr>
              <a:t>存储新技术</a:t>
            </a:r>
          </a:p>
        </p:txBody>
      </p:sp>
      <p:pic>
        <p:nvPicPr>
          <p:cNvPr id="34" name="图片 3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7" y="4572770"/>
            <a:ext cx="527050" cy="527050"/>
          </a:xfrm>
          <a:prstGeom prst="rect">
            <a:avLst/>
          </a:prstGeom>
          <a:ln>
            <a:noFill/>
          </a:ln>
          <a:effectLst>
            <a:softEdge rad="0"/>
          </a:effectLst>
        </p:spPr>
      </p:pic>
      <p:sp>
        <p:nvSpPr>
          <p:cNvPr id="35" name="矩形 34"/>
          <p:cNvSpPr/>
          <p:nvPr/>
        </p:nvSpPr>
        <p:spPr>
          <a:xfrm>
            <a:off x="1696467" y="3991238"/>
            <a:ext cx="4219140" cy="461665"/>
          </a:xfrm>
          <a:prstGeom prst="rect">
            <a:avLst/>
          </a:prstGeom>
        </p:spPr>
        <p:txBody>
          <a:bodyPr wrap="square">
            <a:spAutoFit/>
          </a:bodyPr>
          <a:lstStyle/>
          <a:p>
            <a:r>
              <a:rPr lang="en-US" altLang="zh-CN" sz="2400" dirty="0">
                <a:latin typeface="+mj-ea"/>
              </a:rPr>
              <a:t>8.5 </a:t>
            </a:r>
            <a:r>
              <a:rPr lang="zh-CN" altLang="en-US" sz="2400" dirty="0">
                <a:latin typeface="+mj-ea"/>
              </a:rPr>
              <a:t>数据一致性控制</a:t>
            </a:r>
          </a:p>
        </p:txBody>
      </p:sp>
      <p:pic>
        <p:nvPicPr>
          <p:cNvPr id="36" name="图片 3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169416" y="3946060"/>
            <a:ext cx="527050" cy="527050"/>
          </a:xfrm>
          <a:prstGeom prst="rect">
            <a:avLst/>
          </a:prstGeom>
          <a:ln>
            <a:noFill/>
          </a:ln>
          <a:effectLst>
            <a:softEdge rad="0"/>
          </a:effectLst>
        </p:spPr>
      </p:pic>
      <p:pic>
        <p:nvPicPr>
          <p:cNvPr id="2" name="图片 1">
            <a:extLst>
              <a:ext uri="{FF2B5EF4-FFF2-40B4-BE49-F238E27FC236}">
                <a16:creationId xmlns:a16="http://schemas.microsoft.com/office/drawing/2014/main" id="{35DA74ED-D893-869F-7AE2-4FFD00003282}"/>
              </a:ext>
            </a:extLst>
          </p:cNvPr>
          <p:cNvPicPr>
            <a:picLocks noChangeAspect="1"/>
          </p:cNvPicPr>
          <p:nvPr/>
        </p:nvPicPr>
        <p:blipFill>
          <a:blip r:embed="rId3"/>
          <a:stretch>
            <a:fillRect/>
          </a:stretch>
        </p:blipFill>
        <p:spPr>
          <a:xfrm>
            <a:off x="5601811" y="3282475"/>
            <a:ext cx="6400800" cy="2752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9章 知识导图"/>
          <p:cNvPicPr>
            <a:picLocks noChangeAspect="1"/>
          </p:cNvPicPr>
          <p:nvPr/>
        </p:nvPicPr>
        <p:blipFill>
          <a:blip r:embed="rId3"/>
          <a:srcRect b="1580"/>
          <a:stretch>
            <a:fillRect/>
          </a:stretch>
        </p:blipFill>
        <p:spPr>
          <a:xfrm>
            <a:off x="4864735" y="828675"/>
            <a:ext cx="6333490" cy="467677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8</a:t>
            </a:r>
            <a:r>
              <a:rPr lang="zh-CN" altLang="en-US" sz="2800" b="1" dirty="0">
                <a:solidFill>
                  <a:schemeClr val="bg1"/>
                </a:solidFill>
              </a:rPr>
              <a:t>章知识导图</a:t>
            </a: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3" name="表格 2">
            <a:extLst>
              <a:ext uri="{FF2B5EF4-FFF2-40B4-BE49-F238E27FC236}">
                <a16:creationId xmlns:a16="http://schemas.microsoft.com/office/drawing/2014/main" id="{96FCA763-9EC3-1718-76EF-7B771D35C3BE}"/>
              </a:ext>
            </a:extLst>
          </p:cNvPr>
          <p:cNvGraphicFramePr/>
          <p:nvPr>
            <p:custDataLst>
              <p:tags r:id="rId1"/>
            </p:custDataLst>
            <p:extLst>
              <p:ext uri="{D42A27DB-BD31-4B8C-83A1-F6EECF244321}">
                <p14:modId xmlns:p14="http://schemas.microsoft.com/office/powerpoint/2010/main" val="4149677075"/>
              </p:ext>
            </p:ext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extLst>
                    <a:ext uri="{9D8B030D-6E8A-4147-A177-3AD203B41FA5}">
                      <a16:colId xmlns:a16="http://schemas.microsoft.com/office/drawing/2014/main" val="20000"/>
                    </a:ext>
                  </a:extLst>
                </a:gridCol>
                <a:gridCol w="2952924">
                  <a:extLst>
                    <a:ext uri="{9D8B030D-6E8A-4147-A177-3AD203B41FA5}">
                      <a16:colId xmlns:a16="http://schemas.microsoft.com/office/drawing/2014/main" val="20001"/>
                    </a:ext>
                  </a:extLst>
                </a:gridCol>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extLst>
                  <a:ext uri="{0D108BD9-81ED-4DB2-BD59-A6C34878D82A}">
                    <a16:rowId xmlns:a16="http://schemas.microsoft.com/office/drawing/2014/main" val="10000"/>
                  </a:ext>
                </a:extLst>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1"/>
                  </a:ext>
                </a:extLst>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2"/>
                  </a:ext>
                </a:extLst>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存储器管理</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3"/>
                  </a:ext>
                </a:extLst>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虚拟存储器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4"/>
                  </a:ext>
                </a:extLst>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输入输出系统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5"/>
                  </a:ext>
                </a:extLst>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微软雅黑 (正文)"/>
                          <a:ea typeface="+mn-ea"/>
                          <a:cs typeface="+mn-cs"/>
                        </a:rPr>
                        <a:t>  第7章</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71755" indent="0" algn="l" defTabSz="914400" rtl="0" eaLnBrk="1" latinLnBrk="0" hangingPunct="1">
                        <a:lnSpc>
                          <a:spcPct val="100000"/>
                        </a:lnSpc>
                        <a:spcBef>
                          <a:spcPts val="300"/>
                        </a:spcBef>
                        <a:spcAft>
                          <a:spcPts val="300"/>
                        </a:spcAft>
                        <a:buNone/>
                      </a:pPr>
                      <a:r>
                        <a:rPr lang="zh-CN" altLang="en-US" sz="2000" kern="1200" dirty="0">
                          <a:solidFill>
                            <a:schemeClr val="tx1"/>
                          </a:solidFill>
                          <a:latin typeface="微软雅黑 (正文)"/>
                          <a:ea typeface="+mn-ea"/>
                          <a:cs typeface="+mn-cs"/>
                        </a:rPr>
                        <a:t>文件管理</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extLst>
                  <a:ext uri="{0D108BD9-81ED-4DB2-BD59-A6C34878D82A}">
                    <a16:rowId xmlns:a16="http://schemas.microsoft.com/office/drawing/2014/main" val="10006"/>
                  </a:ext>
                </a:extLst>
              </a:tr>
              <a:tr h="399121">
                <a:tc>
                  <a:txBody>
                    <a:bodyPr/>
                    <a:lstStyle/>
                    <a:p>
                      <a:pPr marL="71755" indent="0" algn="ctr">
                        <a:lnSpc>
                          <a:spcPct val="100000"/>
                        </a:lnSpc>
                        <a:spcBef>
                          <a:spcPts val="300"/>
                        </a:spcBef>
                        <a:spcAft>
                          <a:spcPts val="300"/>
                        </a:spcAft>
                        <a:buNone/>
                      </a:pPr>
                      <a:r>
                        <a:rPr lang="en-US" sz="2000" b="1" kern="1200" dirty="0">
                          <a:solidFill>
                            <a:schemeClr val="bg1"/>
                          </a:solidFill>
                          <a:latin typeface="微软雅黑 (正文)"/>
                          <a:ea typeface="+mn-ea"/>
                          <a:cs typeface="+mn-cs"/>
                        </a:rPr>
                        <a:t>第8章</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altLang="zh-CN" sz="2000" b="1" kern="1200" dirty="0" err="1">
                          <a:solidFill>
                            <a:schemeClr val="bg1"/>
                          </a:solidFill>
                          <a:latin typeface="微软雅黑 (正文)"/>
                          <a:ea typeface="+mn-ea"/>
                          <a:cs typeface="+mn-cs"/>
                        </a:rPr>
                        <a:t>磁盘存储器管理</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extLst>
                  <a:ext uri="{0D108BD9-81ED-4DB2-BD59-A6C34878D82A}">
                    <a16:rowId xmlns:a16="http://schemas.microsoft.com/office/drawing/2014/main" val="10007"/>
                  </a:ext>
                </a:extLst>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zh-CN" altLang="en-US" sz="2000" dirty="0">
                          <a:latin typeface="微软雅黑 (正文)"/>
                        </a:rPr>
                        <a:t>操作系统接口</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8"/>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第10章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多处理机操作系统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9"/>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第11章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marR="0" lvl="0" indent="0" algn="l" defTabSz="914400" rtl="0" eaLnBrk="1" fontAlgn="auto" latinLnBrk="0" hangingPunct="1">
                        <a:lnSpc>
                          <a:spcPct val="100000"/>
                        </a:lnSpc>
                        <a:spcBef>
                          <a:spcPts val="300"/>
                        </a:spcBef>
                        <a:spcAft>
                          <a:spcPts val="300"/>
                        </a:spcAft>
                        <a:buClrTx/>
                        <a:buSzTx/>
                        <a:buFontTx/>
                        <a:buNone/>
                        <a:tabLst/>
                        <a:defRPr/>
                      </a:pPr>
                      <a:r>
                        <a:rPr lang="zh-CN" altLang="en-US" sz="2000" dirty="0">
                          <a:solidFill>
                            <a:schemeClr val="bg1">
                              <a:lumMod val="75000"/>
                            </a:schemeClr>
                          </a:solidFill>
                          <a:latin typeface="微软雅黑 (正文)"/>
                        </a:rPr>
                        <a:t>多媒体操作系统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0"/>
                  </a:ext>
                </a:extLst>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第12章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保护和安全</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1"/>
                  </a:ext>
                </a:extLst>
              </a:tr>
            </a:tbl>
          </a:graphicData>
        </a:graphic>
      </p:graphicFrame>
      <p:pic>
        <p:nvPicPr>
          <p:cNvPr id="4" name="图形 9" descr="触控屏 纯色填充">
            <a:extLst>
              <a:ext uri="{FF2B5EF4-FFF2-40B4-BE49-F238E27FC236}">
                <a16:creationId xmlns:a16="http://schemas.microsoft.com/office/drawing/2014/main" id="{7B21EC99-2D24-BBA0-1FF2-C4A5F82ED14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46577" y="1333373"/>
            <a:ext cx="4318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D83B0C45-13AD-5981-C763-940DE1DA9559}"/>
              </a:ext>
            </a:extLst>
          </p:cNvPr>
          <p:cNvSpPr txBox="1"/>
          <p:nvPr/>
        </p:nvSpPr>
        <p:spPr>
          <a:xfrm>
            <a:off x="4864735" y="5433220"/>
            <a:ext cx="7031989" cy="1200329"/>
          </a:xfrm>
          <a:prstGeom prst="rect">
            <a:avLst/>
          </a:prstGeom>
          <a:noFill/>
        </p:spPr>
        <p:txBody>
          <a:bodyPr wrap="square" rtlCol="0">
            <a:spAutoFit/>
          </a:bodyPr>
          <a:lstStyle/>
          <a:p>
            <a:pPr algn="just">
              <a:lnSpc>
                <a:spcPct val="150000"/>
              </a:lnSpc>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重点：文件物理结构的连续分配、链接分配和索引分配；位示图法和成组链接法；文件系统的数据一致性。</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难点：链接分配和索引分配；位示图法和成组链接法。</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磁盘存储器的管理</a:t>
            </a:r>
          </a:p>
        </p:txBody>
      </p:sp>
      <p:graphicFrame>
        <p:nvGraphicFramePr>
          <p:cNvPr id="2" name="图示 1">
            <a:extLst>
              <a:ext uri="{FF2B5EF4-FFF2-40B4-BE49-F238E27FC236}">
                <a16:creationId xmlns:a16="http://schemas.microsoft.com/office/drawing/2014/main" id="{BD298EFC-DF2E-8F48-19D7-B080B8454CA5}"/>
              </a:ext>
            </a:extLst>
          </p:cNvPr>
          <p:cNvGraphicFramePr/>
          <p:nvPr>
            <p:extLst>
              <p:ext uri="{D42A27DB-BD31-4B8C-83A1-F6EECF244321}">
                <p14:modId xmlns:p14="http://schemas.microsoft.com/office/powerpoint/2010/main" val="3305321335"/>
              </p:ext>
            </p:extLst>
          </p:nvPr>
        </p:nvGraphicFramePr>
        <p:xfrm>
          <a:off x="-620764" y="1423050"/>
          <a:ext cx="5253055" cy="37618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图示 2">
            <a:extLst>
              <a:ext uri="{FF2B5EF4-FFF2-40B4-BE49-F238E27FC236}">
                <a16:creationId xmlns:a16="http://schemas.microsoft.com/office/drawing/2014/main" id="{7E66FF81-55F0-8A14-00FF-5348DB593BFF}"/>
              </a:ext>
            </a:extLst>
          </p:cNvPr>
          <p:cNvGraphicFramePr/>
          <p:nvPr>
            <p:extLst>
              <p:ext uri="{D42A27DB-BD31-4B8C-83A1-F6EECF244321}">
                <p14:modId xmlns:p14="http://schemas.microsoft.com/office/powerpoint/2010/main" val="585757973"/>
              </p:ext>
            </p:extLst>
          </p:nvPr>
        </p:nvGraphicFramePr>
        <p:xfrm>
          <a:off x="5659989" y="1423049"/>
          <a:ext cx="5253055" cy="37618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a:t>
            </a:r>
            <a:r>
              <a:rPr lang="zh-CN" altLang="en-US" sz="2800" b="1" dirty="0">
                <a:solidFill>
                  <a:schemeClr val="bg1"/>
                </a:solidFill>
              </a:rPr>
              <a:t> 外存的组织方式</a:t>
            </a:r>
          </a:p>
        </p:txBody>
      </p:sp>
      <p:sp>
        <p:nvSpPr>
          <p:cNvPr id="4" name="文本框 3"/>
          <p:cNvSpPr txBox="1"/>
          <p:nvPr/>
        </p:nvSpPr>
        <p:spPr>
          <a:xfrm>
            <a:off x="1496960" y="1585520"/>
            <a:ext cx="7200554" cy="477054"/>
          </a:xfrm>
          <a:prstGeom prst="rect">
            <a:avLst/>
          </a:prstGeom>
          <a:noFill/>
        </p:spPr>
        <p:txBody>
          <a:bodyPr wrap="square" rtlCol="0">
            <a:spAutoFit/>
          </a:bodyPr>
          <a:lstStyle/>
          <a:p>
            <a:r>
              <a:rPr lang="zh-CN" altLang="en-US" sz="2500" dirty="0"/>
              <a:t>文件的物理结构直接与</a:t>
            </a:r>
            <a:r>
              <a:rPr lang="zh-CN" altLang="en-US" sz="2500" dirty="0">
                <a:solidFill>
                  <a:srgbClr val="0000FF"/>
                </a:solidFill>
              </a:rPr>
              <a:t>外存的组织方式</a:t>
            </a:r>
            <a:r>
              <a:rPr lang="zh-CN" altLang="en-US" sz="2500" dirty="0"/>
              <a:t>有关。</a:t>
            </a:r>
          </a:p>
        </p:txBody>
      </p:sp>
      <p:sp>
        <p:nvSpPr>
          <p:cNvPr id="9" name="文本框 8"/>
          <p:cNvSpPr txBox="1"/>
          <p:nvPr/>
        </p:nvSpPr>
        <p:spPr>
          <a:xfrm>
            <a:off x="1496960" y="5745140"/>
            <a:ext cx="6706041" cy="477054"/>
          </a:xfrm>
          <a:prstGeom prst="rect">
            <a:avLst/>
          </a:prstGeom>
          <a:noFill/>
        </p:spPr>
        <p:txBody>
          <a:bodyPr wrap="square" rtlCol="0">
            <a:spAutoFit/>
          </a:bodyPr>
          <a:lstStyle/>
          <a:p>
            <a:r>
              <a:rPr lang="zh-CN" altLang="en-US" sz="2500" dirty="0"/>
              <a:t>现代</a:t>
            </a:r>
            <a:r>
              <a:rPr lang="en-US" altLang="zh-CN" sz="2500" dirty="0"/>
              <a:t>OS</a:t>
            </a:r>
            <a:r>
              <a:rPr lang="zh-CN" altLang="en-US" sz="2500" dirty="0"/>
              <a:t>，可能会采用多种类型的外存组织方式。</a:t>
            </a: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69054" y="1566973"/>
            <a:ext cx="527050" cy="527050"/>
          </a:xfrm>
          <a:prstGeom prst="rect">
            <a:avLst/>
          </a:prstGeom>
          <a:ln>
            <a:noFill/>
          </a:ln>
          <a:effectLst>
            <a:softEdge rad="0"/>
          </a:effectLst>
        </p:spPr>
      </p:pic>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69054" y="2580619"/>
            <a:ext cx="527050" cy="527050"/>
          </a:xfrm>
          <a:prstGeom prst="rect">
            <a:avLst/>
          </a:prstGeom>
          <a:ln>
            <a:noFill/>
          </a:ln>
          <a:effectLst>
            <a:softEdge rad="0"/>
          </a:effectLst>
        </p:spPr>
      </p:pic>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69054" y="5666272"/>
            <a:ext cx="527050" cy="527050"/>
          </a:xfrm>
          <a:prstGeom prst="rect">
            <a:avLst/>
          </a:prstGeom>
          <a:ln>
            <a:noFill/>
          </a:ln>
          <a:effectLst>
            <a:softEdge rad="0"/>
          </a:effectLst>
        </p:spPr>
      </p:pic>
      <p:sp>
        <p:nvSpPr>
          <p:cNvPr id="10" name="文本框 9"/>
          <p:cNvSpPr txBox="1"/>
          <p:nvPr/>
        </p:nvSpPr>
        <p:spPr>
          <a:xfrm>
            <a:off x="1496960" y="2627720"/>
            <a:ext cx="7200554" cy="477054"/>
          </a:xfrm>
          <a:prstGeom prst="rect">
            <a:avLst/>
          </a:prstGeom>
          <a:noFill/>
        </p:spPr>
        <p:txBody>
          <a:bodyPr wrap="square" rtlCol="0">
            <a:spAutoFit/>
          </a:bodyPr>
          <a:lstStyle/>
          <a:p>
            <a:r>
              <a:rPr lang="zh-CN" altLang="en-US" sz="2500" dirty="0"/>
              <a:t>不同的外存组织方式，将形成不同的文件物理结构。</a:t>
            </a:r>
          </a:p>
        </p:txBody>
      </p:sp>
      <p:sp>
        <p:nvSpPr>
          <p:cNvPr id="11" name="íşļîḓé"/>
          <p:cNvSpPr/>
          <p:nvPr/>
        </p:nvSpPr>
        <p:spPr bwMode="auto">
          <a:xfrm>
            <a:off x="1496960" y="3104773"/>
            <a:ext cx="9558967" cy="1541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u="sng" dirty="0">
                <a:solidFill>
                  <a:srgbClr val="0000FF"/>
                </a:solidFill>
              </a:rPr>
              <a:t>连续组织方式</a:t>
            </a:r>
            <a:r>
              <a:rPr lang="zh-CN" altLang="en-US" sz="2400" dirty="0"/>
              <a:t>：形成的文件物理结构是</a:t>
            </a:r>
            <a:r>
              <a:rPr lang="zh-CN" altLang="en-US" sz="2400" u="sng" dirty="0">
                <a:solidFill>
                  <a:srgbClr val="0000FF"/>
                </a:solidFill>
              </a:rPr>
              <a:t>顺序式文件结构（连续）</a:t>
            </a:r>
            <a:r>
              <a:rPr lang="zh-CN" altLang="en-US" sz="2400" dirty="0"/>
              <a:t>。</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u="sng" dirty="0">
                <a:solidFill>
                  <a:srgbClr val="0000FF"/>
                </a:solidFill>
              </a:rPr>
              <a:t>链接组织方式</a:t>
            </a:r>
            <a:r>
              <a:rPr lang="zh-CN" altLang="en-US" sz="2400" dirty="0"/>
              <a:t>：形成的文件物理结构是</a:t>
            </a:r>
            <a:r>
              <a:rPr lang="zh-CN" altLang="en-US" sz="2400" u="sng" dirty="0">
                <a:solidFill>
                  <a:srgbClr val="0000FF"/>
                </a:solidFill>
              </a:rPr>
              <a:t>链接式文件结构（不连续，串联文件）</a:t>
            </a:r>
            <a:r>
              <a:rPr lang="zh-CN" altLang="en-US" sz="2400" dirty="0"/>
              <a:t>。</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u="sng" dirty="0">
                <a:solidFill>
                  <a:srgbClr val="0000FF"/>
                </a:solidFill>
              </a:rPr>
              <a:t>索引组织方式</a:t>
            </a:r>
            <a:r>
              <a:rPr lang="zh-CN" altLang="en-US" sz="2400" dirty="0"/>
              <a:t>：形成的文件物理结构是</a:t>
            </a:r>
            <a:r>
              <a:rPr lang="zh-CN" altLang="en-US" sz="2400" u="sng" dirty="0">
                <a:solidFill>
                  <a:srgbClr val="0000FF"/>
                </a:solidFill>
              </a:rPr>
              <a:t>索引式文件结构（</a:t>
            </a:r>
            <a:r>
              <a:rPr lang="zh-CN" altLang="en-US" sz="2400" u="sng" dirty="0">
                <a:solidFill>
                  <a:srgbClr val="FF0000"/>
                </a:solidFill>
              </a:rPr>
              <a:t>注意：</a:t>
            </a:r>
            <a:r>
              <a:rPr lang="zh-CN" altLang="en-US" sz="2400" u="sng" dirty="0">
                <a:solidFill>
                  <a:srgbClr val="0000FF"/>
                </a:solidFill>
              </a:rPr>
              <a:t>索引与链接的差别）</a:t>
            </a:r>
            <a:r>
              <a:rPr lang="zh-CN" altLang="en-US" sz="2400" dirty="0"/>
              <a:t>。</a:t>
            </a:r>
          </a:p>
        </p:txBody>
      </p:sp>
    </p:spTree>
    <p:extLst>
      <p:ext uri="{BB962C8B-B14F-4D97-AF65-F5344CB8AC3E}">
        <p14:creationId xmlns:p14="http://schemas.microsoft.com/office/powerpoint/2010/main" val="184081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8.1.1</a:t>
            </a:r>
            <a:r>
              <a:rPr lang="zh-CN" altLang="en-US" sz="2800" b="1" dirty="0">
                <a:solidFill>
                  <a:schemeClr val="bg1"/>
                </a:solidFill>
              </a:rPr>
              <a:t>连续组织方式</a:t>
            </a:r>
          </a:p>
        </p:txBody>
      </p:sp>
      <p:sp>
        <p:nvSpPr>
          <p:cNvPr id="14" name="文本框 13"/>
          <p:cNvSpPr txBox="1"/>
          <p:nvPr/>
        </p:nvSpPr>
        <p:spPr>
          <a:xfrm>
            <a:off x="822256" y="1274802"/>
            <a:ext cx="7841097" cy="477054"/>
          </a:xfrm>
          <a:prstGeom prst="rect">
            <a:avLst/>
          </a:prstGeom>
          <a:noFill/>
        </p:spPr>
        <p:txBody>
          <a:bodyPr wrap="square" rtlCol="0">
            <a:spAutoFit/>
          </a:bodyPr>
          <a:lstStyle/>
          <a:p>
            <a:r>
              <a:rPr lang="zh-CN" altLang="en-US" sz="2500" dirty="0"/>
              <a:t>为每个文件分配一组相邻接（连续）的</a:t>
            </a:r>
            <a:r>
              <a:rPr lang="zh-CN" altLang="en-US" sz="2500" dirty="0">
                <a:solidFill>
                  <a:srgbClr val="0000FF"/>
                </a:solidFill>
              </a:rPr>
              <a:t>磁盘块（</a:t>
            </a:r>
            <a:r>
              <a:rPr lang="en-US" altLang="zh-CN" sz="2500" dirty="0">
                <a:solidFill>
                  <a:srgbClr val="0000FF"/>
                </a:solidFill>
              </a:rPr>
              <a:t>Block)</a:t>
            </a:r>
            <a:r>
              <a:rPr lang="zh-CN" altLang="en-US" sz="2500" dirty="0"/>
              <a:t>。</a:t>
            </a:r>
          </a:p>
        </p:txBody>
      </p:sp>
      <p:sp>
        <p:nvSpPr>
          <p:cNvPr id="15" name="矩形: 圆角 14"/>
          <p:cNvSpPr/>
          <p:nvPr/>
        </p:nvSpPr>
        <p:spPr>
          <a:xfrm>
            <a:off x="861681" y="2890402"/>
            <a:ext cx="3843483"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优点：</a:t>
            </a:r>
          </a:p>
        </p:txBody>
      </p:sp>
      <p:sp>
        <p:nvSpPr>
          <p:cNvPr id="17" name="矩形: 圆角 16"/>
          <p:cNvSpPr/>
          <p:nvPr/>
        </p:nvSpPr>
        <p:spPr>
          <a:xfrm>
            <a:off x="6021745" y="2890402"/>
            <a:ext cx="502420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缺点：</a:t>
            </a:r>
          </a:p>
        </p:txBody>
      </p:sp>
      <p:sp>
        <p:nvSpPr>
          <p:cNvPr id="18" name="内容占位符 2"/>
          <p:cNvSpPr txBox="1"/>
          <p:nvPr/>
        </p:nvSpPr>
        <p:spPr>
          <a:xfrm>
            <a:off x="6021745" y="3612986"/>
            <a:ext cx="5024207" cy="32283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要求分配连续的存储空间，会产生许多</a:t>
            </a:r>
            <a:r>
              <a:rPr lang="zh-CN" altLang="en-US" sz="2000" dirty="0">
                <a:solidFill>
                  <a:srgbClr val="0000FF"/>
                </a:solidFill>
              </a:rPr>
              <a:t>外碎片</a:t>
            </a:r>
            <a:r>
              <a:rPr lang="zh-CN" altLang="en-US" sz="2000" dirty="0"/>
              <a:t>，因此外存空间利用率低（</a:t>
            </a:r>
            <a:r>
              <a:rPr lang="zh-CN" altLang="en-US" sz="2000" dirty="0">
                <a:solidFill>
                  <a:srgbClr val="FF0000"/>
                </a:solidFill>
              </a:rPr>
              <a:t>思考</a:t>
            </a:r>
            <a:r>
              <a:rPr lang="zh-CN" altLang="en-US" sz="2000" dirty="0">
                <a:solidFill>
                  <a:srgbClr val="0000FF"/>
                </a:solidFill>
              </a:rPr>
              <a:t>：可如何解决？</a:t>
            </a:r>
            <a:r>
              <a:rPr lang="zh-CN" altLang="en-US" sz="2000" dirty="0"/>
              <a:t>）。</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必须事先知道文件的长度。</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solidFill>
                  <a:srgbClr val="0000FF"/>
                </a:solidFill>
              </a:rPr>
              <a:t>不能（吗？）</a:t>
            </a:r>
            <a:r>
              <a:rPr lang="zh-CN" altLang="en-US" sz="2000" dirty="0"/>
              <a:t>灵活地删除和插入记录。</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文件不能动态增长。</a:t>
            </a:r>
          </a:p>
        </p:txBody>
      </p:sp>
      <p:sp>
        <p:nvSpPr>
          <p:cNvPr id="22" name="内容占位符 2"/>
          <p:cNvSpPr txBox="1"/>
          <p:nvPr/>
        </p:nvSpPr>
        <p:spPr>
          <a:xfrm>
            <a:off x="822257" y="3612986"/>
            <a:ext cx="4140360" cy="28619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顺序访问容易 － 仅需要起始块号和长度。</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顺序访问速度快：是几种外存组织方式中最快的一种。</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支持随机访问：对定长记录。</a:t>
            </a:r>
          </a:p>
        </p:txBody>
      </p:sp>
      <p:sp>
        <p:nvSpPr>
          <p:cNvPr id="2" name="文本框 1">
            <a:extLst>
              <a:ext uri="{FF2B5EF4-FFF2-40B4-BE49-F238E27FC236}">
                <a16:creationId xmlns:a16="http://schemas.microsoft.com/office/drawing/2014/main" id="{42399123-6A06-4416-6488-A9CCE14E27F2}"/>
              </a:ext>
            </a:extLst>
          </p:cNvPr>
          <p:cNvSpPr txBox="1"/>
          <p:nvPr/>
        </p:nvSpPr>
        <p:spPr>
          <a:xfrm>
            <a:off x="822256" y="1722510"/>
            <a:ext cx="4314093" cy="1015663"/>
          </a:xfrm>
          <a:prstGeom prst="rect">
            <a:avLst/>
          </a:prstGeom>
          <a:noFill/>
        </p:spPr>
        <p:txBody>
          <a:bodyPr wrap="square" rtlCol="0">
            <a:spAutoFit/>
          </a:bodyPr>
          <a:lstStyle/>
          <a:p>
            <a:r>
              <a:rPr lang="zh-CN" altLang="en-US" sz="2000" dirty="0">
                <a:solidFill>
                  <a:srgbClr val="FF0000"/>
                </a:solidFill>
              </a:rPr>
              <a:t>思考</a:t>
            </a:r>
            <a:r>
              <a:rPr lang="zh-CN" altLang="en-US" sz="2000" dirty="0">
                <a:solidFill>
                  <a:srgbClr val="0000FF"/>
                </a:solidFill>
              </a:rPr>
              <a:t>：</a:t>
            </a:r>
            <a:endParaRPr lang="en-US" altLang="zh-CN" sz="2000" dirty="0">
              <a:solidFill>
                <a:srgbClr val="0000FF"/>
              </a:solidFill>
            </a:endParaRPr>
          </a:p>
          <a:p>
            <a:r>
              <a:rPr lang="zh-CN" altLang="en-US" sz="2000" dirty="0">
                <a:solidFill>
                  <a:srgbClr val="0000FF"/>
                </a:solidFill>
              </a:rPr>
              <a:t>和存储器管理中的哪种分配方式相同？</a:t>
            </a:r>
            <a:endParaRPr lang="en-US" altLang="zh-CN" sz="2000" dirty="0">
              <a:solidFill>
                <a:srgbClr val="0000FF"/>
              </a:solidFill>
            </a:endParaRPr>
          </a:p>
          <a:p>
            <a:r>
              <a:rPr lang="zh-CN" altLang="en-US" sz="2000" dirty="0">
                <a:solidFill>
                  <a:srgbClr val="0000FF"/>
                </a:solidFill>
              </a:rPr>
              <a:t>（文件</a:t>
            </a:r>
            <a:r>
              <a:rPr lang="en-US" altLang="zh-CN" sz="2000" dirty="0">
                <a:solidFill>
                  <a:srgbClr val="0000FF"/>
                </a:solidFill>
              </a:rPr>
              <a:t>vs</a:t>
            </a:r>
            <a:r>
              <a:rPr lang="zh-CN" altLang="en-US" sz="2000" dirty="0">
                <a:solidFill>
                  <a:srgbClr val="0000FF"/>
                </a:solidFill>
              </a:rPr>
              <a:t>进程，磁盘</a:t>
            </a:r>
            <a:r>
              <a:rPr lang="en-US" altLang="zh-CN" sz="2000" dirty="0">
                <a:solidFill>
                  <a:srgbClr val="0000FF"/>
                </a:solidFill>
              </a:rPr>
              <a:t>vs</a:t>
            </a:r>
            <a:r>
              <a:rPr lang="zh-CN" altLang="en-US" sz="2000" dirty="0">
                <a:solidFill>
                  <a:srgbClr val="0000FF"/>
                </a:solidFill>
              </a:rPr>
              <a:t>内存）</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连续组织方式示例</a:t>
            </a:r>
          </a:p>
        </p:txBody>
      </p:sp>
      <p:pic>
        <p:nvPicPr>
          <p:cNvPr id="14" name="Picture 4"/>
          <p:cNvPicPr>
            <a:picLocks noChangeAspect="1" noChangeArrowheads="1"/>
          </p:cNvPicPr>
          <p:nvPr/>
        </p:nvPicPr>
        <p:blipFill>
          <a:blip r:embed="rId2">
            <a:extLst>
              <a:ext uri="{28A0092B-C50C-407E-A947-70E740481C1C}">
                <a14:useLocalDpi xmlns:a14="http://schemas.microsoft.com/office/drawing/2010/main" val="0"/>
              </a:ext>
            </a:extLst>
          </a:blip>
          <a:srcRect l="13196" t="580" r="12967" b="887"/>
          <a:stretch>
            <a:fillRect/>
          </a:stretch>
        </p:blipFill>
        <p:spPr bwMode="auto">
          <a:xfrm>
            <a:off x="3185656" y="1117334"/>
            <a:ext cx="5070577" cy="5073921"/>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8.1.2 </a:t>
            </a:r>
            <a:r>
              <a:rPr lang="zh-CN" altLang="en-US" sz="2800" b="1" dirty="0">
                <a:solidFill>
                  <a:schemeClr val="bg1"/>
                </a:solidFill>
              </a:rPr>
              <a:t>链接组织方式</a:t>
            </a:r>
          </a:p>
        </p:txBody>
      </p:sp>
      <p:sp>
        <p:nvSpPr>
          <p:cNvPr id="14" name="文本框 13"/>
          <p:cNvSpPr txBox="1"/>
          <p:nvPr/>
        </p:nvSpPr>
        <p:spPr>
          <a:xfrm>
            <a:off x="822256" y="1274802"/>
            <a:ext cx="10416873" cy="996107"/>
          </a:xfrm>
          <a:prstGeom prst="rect">
            <a:avLst/>
          </a:prstGeom>
          <a:noFill/>
        </p:spPr>
        <p:txBody>
          <a:bodyPr wrap="square" rtlCol="0">
            <a:spAutoFit/>
          </a:bodyPr>
          <a:lstStyle/>
          <a:p>
            <a:pPr>
              <a:lnSpc>
                <a:spcPct val="123000"/>
              </a:lnSpc>
            </a:pPr>
            <a:r>
              <a:rPr lang="zh-CN" altLang="en-US" sz="2500" dirty="0"/>
              <a:t>为文件分配不连续（离散）的盘块，通过链接指针将同属于一个文件的所有盘块链接在一起，所形成的物理文件称为</a:t>
            </a:r>
            <a:r>
              <a:rPr lang="zh-CN" altLang="en-US" sz="2500" u="sng" dirty="0">
                <a:solidFill>
                  <a:srgbClr val="0000FF"/>
                </a:solidFill>
              </a:rPr>
              <a:t>链接文件。</a:t>
            </a:r>
          </a:p>
        </p:txBody>
      </p:sp>
      <p:sp>
        <p:nvSpPr>
          <p:cNvPr id="15" name="矩形: 圆角 14"/>
          <p:cNvSpPr/>
          <p:nvPr/>
        </p:nvSpPr>
        <p:spPr>
          <a:xfrm>
            <a:off x="861680" y="2608142"/>
            <a:ext cx="3843483"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优点：</a:t>
            </a:r>
          </a:p>
        </p:txBody>
      </p:sp>
      <p:sp>
        <p:nvSpPr>
          <p:cNvPr id="16" name="矩形: 圆角 15"/>
          <p:cNvSpPr/>
          <p:nvPr/>
        </p:nvSpPr>
        <p:spPr>
          <a:xfrm>
            <a:off x="6021744" y="2608142"/>
            <a:ext cx="502420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链接方式</a:t>
            </a:r>
          </a:p>
        </p:txBody>
      </p:sp>
      <p:sp>
        <p:nvSpPr>
          <p:cNvPr id="17" name="内容占位符 2"/>
          <p:cNvSpPr txBox="1"/>
          <p:nvPr/>
        </p:nvSpPr>
        <p:spPr>
          <a:xfrm>
            <a:off x="6021744" y="3330725"/>
            <a:ext cx="5024207" cy="29315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solidFill>
                  <a:srgbClr val="0000FF"/>
                </a:solidFill>
              </a:rPr>
              <a:t>隐式</a:t>
            </a:r>
            <a:r>
              <a:rPr lang="zh-CN" altLang="en-US" sz="2000" dirty="0"/>
              <a:t>链接：指针（</a:t>
            </a:r>
            <a:r>
              <a:rPr lang="zh-CN" altLang="en-US" sz="2000" dirty="0">
                <a:solidFill>
                  <a:srgbClr val="FF0000"/>
                </a:solidFill>
              </a:rPr>
              <a:t>思考</a:t>
            </a:r>
            <a:r>
              <a:rPr lang="en-US" altLang="zh-CN" sz="2000" dirty="0">
                <a:solidFill>
                  <a:srgbClr val="FF0000"/>
                </a:solidFill>
              </a:rPr>
              <a:t>1</a:t>
            </a:r>
            <a:r>
              <a:rPr lang="zh-CN" altLang="en-US" sz="2000" dirty="0">
                <a:solidFill>
                  <a:srgbClr val="FF0000"/>
                </a:solidFill>
              </a:rPr>
              <a:t>：</a:t>
            </a:r>
            <a:r>
              <a:rPr lang="zh-CN" altLang="en-US" sz="2000" dirty="0">
                <a:solidFill>
                  <a:srgbClr val="0000FF"/>
                </a:solidFill>
              </a:rPr>
              <a:t>此处指针是什么？</a:t>
            </a:r>
            <a:r>
              <a:rPr lang="zh-CN" altLang="en-US" sz="2000" dirty="0"/>
              <a:t>）存放在每个盘块中，只适合于顺序访问。</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solidFill>
                  <a:srgbClr val="0000FF"/>
                </a:solidFill>
              </a:rPr>
              <a:t>显式</a:t>
            </a:r>
            <a:r>
              <a:rPr lang="zh-CN" altLang="en-US" sz="2000" dirty="0"/>
              <a:t>链接：指针显式地存放在</a:t>
            </a:r>
            <a:r>
              <a:rPr lang="zh-CN" altLang="en-US" sz="2000" dirty="0">
                <a:solidFill>
                  <a:srgbClr val="0000FF"/>
                </a:solidFill>
              </a:rPr>
              <a:t>内存（</a:t>
            </a:r>
            <a:r>
              <a:rPr lang="zh-CN" altLang="en-US" sz="2000" dirty="0">
                <a:solidFill>
                  <a:srgbClr val="FF0000"/>
                </a:solidFill>
              </a:rPr>
              <a:t>思考</a:t>
            </a:r>
            <a:r>
              <a:rPr lang="en-US" altLang="zh-CN" sz="2000" dirty="0">
                <a:solidFill>
                  <a:srgbClr val="FF0000"/>
                </a:solidFill>
              </a:rPr>
              <a:t>2</a:t>
            </a:r>
            <a:r>
              <a:rPr lang="zh-CN" altLang="en-US" sz="2000" dirty="0">
                <a:solidFill>
                  <a:srgbClr val="FF0000"/>
                </a:solidFill>
              </a:rPr>
              <a:t>：</a:t>
            </a:r>
            <a:r>
              <a:rPr lang="zh-CN" altLang="en-US" sz="2000" dirty="0">
                <a:solidFill>
                  <a:srgbClr val="0000FF"/>
                </a:solidFill>
              </a:rPr>
              <a:t>外存有吗？）</a:t>
            </a:r>
            <a:r>
              <a:rPr lang="zh-CN" altLang="en-US" sz="2000" dirty="0"/>
              <a:t>的链接表（如文件分配表</a:t>
            </a:r>
            <a:r>
              <a:rPr lang="en-US" altLang="zh-CN" sz="2000" dirty="0"/>
              <a:t>FAT</a:t>
            </a:r>
            <a:r>
              <a:rPr lang="zh-CN" altLang="en-US" sz="2000" dirty="0"/>
              <a:t>）中。（</a:t>
            </a:r>
            <a:r>
              <a:rPr lang="zh-CN" altLang="en-US" sz="2000" dirty="0">
                <a:solidFill>
                  <a:srgbClr val="FF0000"/>
                </a:solidFill>
              </a:rPr>
              <a:t>注意：</a:t>
            </a:r>
            <a:r>
              <a:rPr lang="zh-CN" altLang="en-US" sz="2000" dirty="0">
                <a:solidFill>
                  <a:srgbClr val="0000FF"/>
                </a:solidFill>
              </a:rPr>
              <a:t>与索引方式的区别</a:t>
            </a:r>
            <a:r>
              <a:rPr lang="zh-CN" altLang="en-US" sz="2000" dirty="0"/>
              <a:t>）</a:t>
            </a:r>
          </a:p>
        </p:txBody>
      </p:sp>
      <p:sp>
        <p:nvSpPr>
          <p:cNvPr id="18" name="内容占位符 2"/>
          <p:cNvSpPr txBox="1"/>
          <p:nvPr/>
        </p:nvSpPr>
        <p:spPr>
          <a:xfrm>
            <a:off x="822256" y="3330726"/>
            <a:ext cx="4140360" cy="28619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消除了磁盘的外碎片，提高了外存的利用率。</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对插入、删除和修改记录都非常容易。</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文件可动态增长。</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隐式链接示例</a:t>
            </a:r>
          </a:p>
        </p:txBody>
      </p:sp>
      <p:pic>
        <p:nvPicPr>
          <p:cNvPr id="14" name="Picture 6"/>
          <p:cNvPicPr>
            <a:picLocks noChangeAspect="1" noChangeArrowheads="1"/>
          </p:cNvPicPr>
          <p:nvPr/>
        </p:nvPicPr>
        <p:blipFill>
          <a:blip r:embed="rId2">
            <a:extLst>
              <a:ext uri="{28A0092B-C50C-407E-A947-70E740481C1C}">
                <a14:useLocalDpi xmlns:a14="http://schemas.microsoft.com/office/drawing/2010/main" val="0"/>
              </a:ext>
            </a:extLst>
          </a:blip>
          <a:srcRect l="14516" t="638" r="14516" b="975"/>
          <a:stretch>
            <a:fillRect/>
          </a:stretch>
        </p:blipFill>
        <p:spPr>
          <a:xfrm>
            <a:off x="2451785" y="1172076"/>
            <a:ext cx="6354864" cy="4956335"/>
          </a:xfrm>
          <a:prstGeom prst="rect">
            <a:avLst/>
          </a:prstGeom>
          <a:noFill/>
          <a:ln w="38100" cmpd="dbl">
            <a:solidFill>
              <a:srgbClr val="CC6600"/>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7557EAE4-A748-E765-A57E-CF20E8BE5E42}"/>
              </a:ext>
            </a:extLst>
          </p:cNvPr>
          <p:cNvSpPr txBox="1"/>
          <p:nvPr/>
        </p:nvSpPr>
        <p:spPr>
          <a:xfrm>
            <a:off x="91441" y="3109124"/>
            <a:ext cx="2286000" cy="2554545"/>
          </a:xfrm>
          <a:prstGeom prst="rect">
            <a:avLst/>
          </a:prstGeom>
          <a:noFill/>
        </p:spPr>
        <p:txBody>
          <a:bodyPr wrap="square" rtlCol="0">
            <a:spAutoFit/>
          </a:bodyPr>
          <a:lstStyle/>
          <a:p>
            <a:r>
              <a:rPr lang="zh-CN" altLang="en-US" sz="2000" dirty="0">
                <a:solidFill>
                  <a:srgbClr val="FF0000"/>
                </a:solidFill>
              </a:rPr>
              <a:t>问题</a:t>
            </a:r>
            <a:r>
              <a:rPr lang="zh-CN" altLang="en-US" sz="2000" dirty="0">
                <a:solidFill>
                  <a:srgbClr val="0000FF"/>
                </a:solidFill>
              </a:rPr>
              <a:t>：</a:t>
            </a:r>
            <a:endParaRPr lang="en-US" altLang="zh-CN" sz="2000" dirty="0">
              <a:solidFill>
                <a:srgbClr val="0000FF"/>
              </a:solidFill>
            </a:endParaRPr>
          </a:p>
          <a:p>
            <a:r>
              <a:rPr lang="en-US" altLang="zh-CN" sz="2000" dirty="0">
                <a:solidFill>
                  <a:srgbClr val="0000FF"/>
                </a:solidFill>
              </a:rPr>
              <a:t>1</a:t>
            </a:r>
            <a:r>
              <a:rPr lang="zh-CN" altLang="en-US" sz="2000" dirty="0">
                <a:solidFill>
                  <a:srgbClr val="0000FF"/>
                </a:solidFill>
              </a:rPr>
              <a:t>、请发现图中的错误？如何改正？</a:t>
            </a:r>
            <a:endParaRPr lang="en-US" altLang="zh-CN" sz="2000" dirty="0">
              <a:solidFill>
                <a:srgbClr val="0000FF"/>
              </a:solidFill>
            </a:endParaRPr>
          </a:p>
          <a:p>
            <a:r>
              <a:rPr lang="en-US" altLang="zh-CN" sz="2000" dirty="0">
                <a:solidFill>
                  <a:srgbClr val="0000FF"/>
                </a:solidFill>
              </a:rPr>
              <a:t>2</a:t>
            </a:r>
            <a:r>
              <a:rPr lang="zh-CN" altLang="en-US" sz="2000" dirty="0">
                <a:solidFill>
                  <a:srgbClr val="0000FF"/>
                </a:solidFill>
              </a:rPr>
              <a:t>、按图中的链接，</a:t>
            </a:r>
            <a:r>
              <a:rPr lang="en-US" altLang="zh-CN" sz="2000" dirty="0">
                <a:solidFill>
                  <a:srgbClr val="0000FF"/>
                </a:solidFill>
              </a:rPr>
              <a:t>jeep</a:t>
            </a:r>
            <a:r>
              <a:rPr lang="zh-CN" altLang="en-US" sz="2000" dirty="0">
                <a:solidFill>
                  <a:srgbClr val="0000FF"/>
                </a:solidFill>
              </a:rPr>
              <a:t>文件占用多少磁盘块？</a:t>
            </a:r>
            <a:endParaRPr lang="en-US" altLang="zh-CN" sz="2000" dirty="0">
              <a:solidFill>
                <a:srgbClr val="0000FF"/>
              </a:solidFill>
            </a:endParaRPr>
          </a:p>
          <a:p>
            <a:r>
              <a:rPr lang="en-US" altLang="zh-CN" sz="2000" dirty="0">
                <a:solidFill>
                  <a:srgbClr val="0000FF"/>
                </a:solidFill>
              </a:rPr>
              <a:t>3</a:t>
            </a:r>
            <a:r>
              <a:rPr lang="zh-CN" altLang="en-US" sz="2000" dirty="0">
                <a:solidFill>
                  <a:srgbClr val="0000FF"/>
                </a:solidFill>
              </a:rPr>
              <a:t>、从这个错误中能想到什么应用？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503114" cy="523220"/>
          </a:xfrm>
          <a:prstGeom prst="rect">
            <a:avLst/>
          </a:prstGeom>
        </p:spPr>
        <p:txBody>
          <a:bodyPr wrap="square">
            <a:spAutoFit/>
          </a:bodyPr>
          <a:lstStyle/>
          <a:p>
            <a:r>
              <a:rPr lang="zh-CN" altLang="en-US" sz="2800" b="1" dirty="0">
                <a:solidFill>
                  <a:schemeClr val="bg1"/>
                </a:solidFill>
              </a:rPr>
              <a:t>显式链接示例：</a:t>
            </a:r>
            <a:r>
              <a:rPr lang="en-US" altLang="zh-CN" sz="2800" b="1" dirty="0">
                <a:solidFill>
                  <a:schemeClr val="bg1"/>
                </a:solidFill>
              </a:rPr>
              <a:t>FAT</a:t>
            </a:r>
            <a:r>
              <a:rPr lang="zh-CN" altLang="en-US" sz="2800" b="1" dirty="0">
                <a:solidFill>
                  <a:schemeClr val="bg1"/>
                </a:solidFill>
              </a:rPr>
              <a:t>（</a:t>
            </a:r>
            <a:r>
              <a:rPr lang="en-US" altLang="zh-CN" sz="2800" b="1" dirty="0">
                <a:solidFill>
                  <a:schemeClr val="bg1"/>
                </a:solidFill>
              </a:rPr>
              <a:t>File Allocation Table)</a:t>
            </a:r>
            <a:endParaRPr lang="zh-CN" altLang="en-US" sz="2800" b="1" dirty="0">
              <a:solidFill>
                <a:schemeClr val="bg1"/>
              </a:solidFill>
            </a:endParaRP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l="7327" t="587" r="7326" b="896"/>
          <a:stretch>
            <a:fillRect/>
          </a:stretch>
        </p:blipFill>
        <p:spPr bwMode="auto">
          <a:xfrm>
            <a:off x="590412" y="1720755"/>
            <a:ext cx="6048927" cy="3927198"/>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a:extLst>
              <a:ext uri="{FF2B5EF4-FFF2-40B4-BE49-F238E27FC236}">
                <a16:creationId xmlns:a16="http://schemas.microsoft.com/office/drawing/2014/main" id="{387AFBB3-B322-316C-8D98-F0CB7C4B3503}"/>
              </a:ext>
            </a:extLst>
          </p:cNvPr>
          <p:cNvSpPr txBox="1"/>
          <p:nvPr/>
        </p:nvSpPr>
        <p:spPr>
          <a:xfrm>
            <a:off x="6907695" y="4642563"/>
            <a:ext cx="5062008" cy="1631216"/>
          </a:xfrm>
          <a:prstGeom prst="rect">
            <a:avLst/>
          </a:prstGeom>
          <a:noFill/>
        </p:spPr>
        <p:txBody>
          <a:bodyPr wrap="square" rtlCol="0">
            <a:spAutoFit/>
          </a:bodyPr>
          <a:lstStyle/>
          <a:p>
            <a:r>
              <a:rPr lang="zh-CN" altLang="en-US" sz="2000" dirty="0">
                <a:solidFill>
                  <a:srgbClr val="FF0000"/>
                </a:solidFill>
              </a:rPr>
              <a:t>思考</a:t>
            </a:r>
            <a:r>
              <a:rPr lang="zh-CN" altLang="en-US" sz="2000" dirty="0">
                <a:solidFill>
                  <a:srgbClr val="0000FF"/>
                </a:solidFill>
              </a:rPr>
              <a:t>：</a:t>
            </a:r>
            <a:endParaRPr lang="en-US" altLang="zh-CN" sz="2000" dirty="0">
              <a:solidFill>
                <a:srgbClr val="0000FF"/>
              </a:solidFill>
            </a:endParaRPr>
          </a:p>
          <a:p>
            <a:r>
              <a:rPr lang="en-US" altLang="zh-CN" sz="2000" dirty="0">
                <a:solidFill>
                  <a:srgbClr val="0000FF"/>
                </a:solidFill>
              </a:rPr>
              <a:t>1</a:t>
            </a:r>
            <a:r>
              <a:rPr lang="zh-CN" altLang="en-US" sz="2000" dirty="0">
                <a:solidFill>
                  <a:srgbClr val="0000FF"/>
                </a:solidFill>
              </a:rPr>
              <a:t>、</a:t>
            </a:r>
            <a:r>
              <a:rPr lang="en-US" altLang="zh-CN" sz="2000" dirty="0">
                <a:solidFill>
                  <a:srgbClr val="0000FF"/>
                </a:solidFill>
              </a:rPr>
              <a:t>FAT</a:t>
            </a:r>
            <a:r>
              <a:rPr lang="zh-CN" altLang="en-US" sz="2000" dirty="0">
                <a:solidFill>
                  <a:srgbClr val="0000FF"/>
                </a:solidFill>
              </a:rPr>
              <a:t>表是针对每个文件还是整个磁盘（分区），为什么？</a:t>
            </a:r>
            <a:endParaRPr lang="en-US" altLang="zh-CN" sz="2000" dirty="0">
              <a:solidFill>
                <a:srgbClr val="0000FF"/>
              </a:solidFill>
            </a:endParaRPr>
          </a:p>
          <a:p>
            <a:r>
              <a:rPr lang="en-US" altLang="zh-CN" sz="2000" dirty="0">
                <a:solidFill>
                  <a:srgbClr val="0000FF"/>
                </a:solidFill>
              </a:rPr>
              <a:t>2</a:t>
            </a:r>
            <a:r>
              <a:rPr lang="zh-CN" altLang="en-US" sz="2000" dirty="0">
                <a:solidFill>
                  <a:srgbClr val="0000FF"/>
                </a:solidFill>
              </a:rPr>
              <a:t>、</a:t>
            </a:r>
            <a:r>
              <a:rPr lang="en-US" altLang="zh-CN" sz="2000" dirty="0">
                <a:solidFill>
                  <a:srgbClr val="0000FF"/>
                </a:solidFill>
              </a:rPr>
              <a:t>FAT</a:t>
            </a:r>
            <a:r>
              <a:rPr lang="zh-CN" altLang="en-US" sz="2000" dirty="0">
                <a:solidFill>
                  <a:srgbClr val="0000FF"/>
                </a:solidFill>
              </a:rPr>
              <a:t>表有多少项？需要占用多少存储空间？</a:t>
            </a:r>
          </a:p>
        </p:txBody>
      </p:sp>
      <p:sp>
        <p:nvSpPr>
          <p:cNvPr id="5" name="内容占位符 2">
            <a:extLst>
              <a:ext uri="{FF2B5EF4-FFF2-40B4-BE49-F238E27FC236}">
                <a16:creationId xmlns:a16="http://schemas.microsoft.com/office/drawing/2014/main" id="{2061BC08-AD98-C126-7D06-22CE9CF33C92}"/>
              </a:ext>
            </a:extLst>
          </p:cNvPr>
          <p:cNvSpPr txBox="1"/>
          <p:nvPr/>
        </p:nvSpPr>
        <p:spPr>
          <a:xfrm>
            <a:off x="6907696" y="1429648"/>
            <a:ext cx="5062008" cy="30628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en-US" altLang="zh-CN" sz="2000" dirty="0"/>
              <a:t>FAT</a:t>
            </a:r>
            <a:r>
              <a:rPr lang="zh-CN" altLang="en-US" sz="2000" dirty="0"/>
              <a:t>表是一个线性表，每个盘块在</a:t>
            </a:r>
            <a:r>
              <a:rPr lang="en-US" altLang="zh-CN" sz="2000" dirty="0"/>
              <a:t>FAT</a:t>
            </a:r>
            <a:r>
              <a:rPr lang="zh-CN" altLang="en-US" sz="2000" dirty="0"/>
              <a:t>表中占用一项。</a:t>
            </a:r>
          </a:p>
          <a:p>
            <a:pPr marL="342265" lvl="1" indent="-533400">
              <a:lnSpc>
                <a:spcPct val="132000"/>
              </a:lnSpc>
              <a:spcBef>
                <a:spcPts val="370"/>
              </a:spcBef>
              <a:buClr>
                <a:srgbClr val="E71101"/>
              </a:buClr>
              <a:buSzPct val="100000"/>
              <a:buFont typeface="Wingdings" panose="05000000000000000000" pitchFamily="2" charset="2"/>
              <a:buChar char="n"/>
              <a:defRPr/>
            </a:pPr>
            <a:r>
              <a:rPr lang="en-US" altLang="zh-CN" sz="2000" dirty="0"/>
              <a:t>FAT</a:t>
            </a:r>
            <a:r>
              <a:rPr lang="zh-CN" altLang="en-US" sz="2000" dirty="0"/>
              <a:t>表项的值表示下一个盘块号。</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若值为</a:t>
            </a:r>
            <a:r>
              <a:rPr lang="en-US" altLang="zh-CN" sz="2000" dirty="0"/>
              <a:t>0</a:t>
            </a:r>
            <a:r>
              <a:rPr lang="zh-CN" altLang="en-US" sz="2000" dirty="0"/>
              <a:t>表示空闲，</a:t>
            </a:r>
            <a:r>
              <a:rPr lang="en-US" altLang="zh-CN" sz="2000" dirty="0"/>
              <a:t>-1</a:t>
            </a:r>
            <a:r>
              <a:rPr lang="zh-CN" altLang="en-US" sz="2000" dirty="0"/>
              <a:t>表示该文件的最后一项。</a:t>
            </a:r>
            <a:endParaRPr lang="en-US" altLang="zh-CN" sz="2000" dirty="0"/>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000" dirty="0"/>
              <a:t>文件的第一盘块号记录在</a:t>
            </a:r>
            <a:r>
              <a:rPr lang="zh-CN" altLang="en-US" sz="2000" dirty="0">
                <a:solidFill>
                  <a:srgbClr val="0000FF"/>
                </a:solidFill>
              </a:rPr>
              <a:t>文件目录项（相当于</a:t>
            </a:r>
            <a:r>
              <a:rPr lang="en-US" altLang="zh-CN" sz="2000" dirty="0">
                <a:solidFill>
                  <a:srgbClr val="0000FF"/>
                </a:solidFill>
              </a:rPr>
              <a:t>FCB)</a:t>
            </a:r>
            <a:r>
              <a:rPr lang="zh-CN" altLang="en-US" sz="2000" dirty="0"/>
              <a:t>中。</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1</a:t>
            </a:r>
            <a:r>
              <a:rPr lang="zh-CN" altLang="en-US" sz="2800" b="1" dirty="0">
                <a:solidFill>
                  <a:schemeClr val="bg1"/>
                </a:solidFill>
              </a:rPr>
              <a:t>）</a:t>
            </a:r>
          </a:p>
        </p:txBody>
      </p:sp>
      <p:sp>
        <p:nvSpPr>
          <p:cNvPr id="5" name="文本框 4"/>
          <p:cNvSpPr txBox="1"/>
          <p:nvPr/>
        </p:nvSpPr>
        <p:spPr>
          <a:xfrm>
            <a:off x="822256" y="1274802"/>
            <a:ext cx="10416873" cy="522900"/>
          </a:xfrm>
          <a:prstGeom prst="rect">
            <a:avLst/>
          </a:prstGeom>
          <a:noFill/>
        </p:spPr>
        <p:txBody>
          <a:bodyPr wrap="square" rtlCol="0">
            <a:spAutoFit/>
          </a:bodyPr>
          <a:lstStyle/>
          <a:p>
            <a:pPr>
              <a:lnSpc>
                <a:spcPct val="123000"/>
              </a:lnSpc>
            </a:pPr>
            <a:r>
              <a:rPr lang="en-US" altLang="zh-CN" sz="2500" dirty="0">
                <a:solidFill>
                  <a:srgbClr val="FF0000"/>
                </a:solidFill>
              </a:rPr>
              <a:t>FAT</a:t>
            </a:r>
            <a:r>
              <a:rPr lang="zh-CN" altLang="en-US" sz="2500" dirty="0">
                <a:solidFill>
                  <a:srgbClr val="FF0000"/>
                </a:solidFill>
              </a:rPr>
              <a:t>文件系统</a:t>
            </a:r>
            <a:r>
              <a:rPr lang="zh-CN" altLang="en-US" sz="2500" dirty="0"/>
              <a:t>是</a:t>
            </a:r>
            <a:r>
              <a:rPr lang="zh-CN" altLang="en-US" sz="2500" dirty="0">
                <a:solidFill>
                  <a:srgbClr val="0000FF"/>
                </a:solidFill>
              </a:rPr>
              <a:t>微软最早在</a:t>
            </a:r>
            <a:r>
              <a:rPr lang="en-US" altLang="zh-CN" sz="2500" dirty="0">
                <a:solidFill>
                  <a:srgbClr val="0000FF"/>
                </a:solidFill>
              </a:rPr>
              <a:t>MS-DOS</a:t>
            </a:r>
            <a:r>
              <a:rPr lang="zh-CN" altLang="en-US" sz="2500" dirty="0">
                <a:solidFill>
                  <a:srgbClr val="0000FF"/>
                </a:solidFill>
              </a:rPr>
              <a:t>开始使用的文件系统。</a:t>
            </a:r>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949" y="3036493"/>
            <a:ext cx="8626545" cy="1725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a:extLst>
              <a:ext uri="{FF2B5EF4-FFF2-40B4-BE49-F238E27FC236}">
                <a16:creationId xmlns:a16="http://schemas.microsoft.com/office/drawing/2014/main" id="{DDF20DF7-D3B3-FCC1-7C8B-792B3E97BBF2}"/>
              </a:ext>
            </a:extLst>
          </p:cNvPr>
          <p:cNvSpPr txBox="1"/>
          <p:nvPr/>
        </p:nvSpPr>
        <p:spPr>
          <a:xfrm>
            <a:off x="1250757" y="5333190"/>
            <a:ext cx="9215147" cy="400110"/>
          </a:xfrm>
          <a:prstGeom prst="rect">
            <a:avLst/>
          </a:prstGeom>
          <a:noFill/>
        </p:spPr>
        <p:txBody>
          <a:bodyPr wrap="square" rtlCol="0">
            <a:spAutoFit/>
          </a:bodyPr>
          <a:lstStyle/>
          <a:p>
            <a:r>
              <a:rPr lang="zh-CN" altLang="en-US" sz="2000" dirty="0">
                <a:solidFill>
                  <a:srgbClr val="FF0000"/>
                </a:solidFill>
              </a:rPr>
              <a:t>注意</a:t>
            </a:r>
            <a:r>
              <a:rPr lang="zh-CN" altLang="en-US" sz="2000" dirty="0">
                <a:solidFill>
                  <a:srgbClr val="0000FF"/>
                </a:solidFill>
              </a:rPr>
              <a:t>：</a:t>
            </a:r>
            <a:r>
              <a:rPr lang="en-US" altLang="zh-CN" sz="2000" dirty="0">
                <a:solidFill>
                  <a:srgbClr val="0000FF"/>
                </a:solidFill>
              </a:rPr>
              <a:t>FAT</a:t>
            </a:r>
            <a:r>
              <a:rPr lang="zh-CN" altLang="en-US" sz="2000" dirty="0">
                <a:solidFill>
                  <a:srgbClr val="0000FF"/>
                </a:solidFill>
              </a:rPr>
              <a:t>文件系统 与 </a:t>
            </a:r>
            <a:r>
              <a:rPr lang="en-US" altLang="zh-CN" sz="2000" dirty="0">
                <a:solidFill>
                  <a:srgbClr val="0000FF"/>
                </a:solidFill>
              </a:rPr>
              <a:t>FAT</a:t>
            </a:r>
            <a:r>
              <a:rPr lang="zh-CN" altLang="en-US" sz="2000" dirty="0">
                <a:solidFill>
                  <a:srgbClr val="0000FF"/>
                </a:solidFill>
              </a:rPr>
              <a:t>表 的区别与联系。</a:t>
            </a:r>
          </a:p>
        </p:txBody>
      </p:sp>
      <p:sp>
        <p:nvSpPr>
          <p:cNvPr id="3" name="矩形: 圆角 2">
            <a:extLst>
              <a:ext uri="{FF2B5EF4-FFF2-40B4-BE49-F238E27FC236}">
                <a16:creationId xmlns:a16="http://schemas.microsoft.com/office/drawing/2014/main" id="{6EDE688C-D216-21A1-3A24-76047654EAC9}"/>
              </a:ext>
            </a:extLst>
          </p:cNvPr>
          <p:cNvSpPr/>
          <p:nvPr/>
        </p:nvSpPr>
        <p:spPr>
          <a:xfrm>
            <a:off x="863941" y="1950550"/>
            <a:ext cx="402611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123000"/>
              </a:lnSpc>
            </a:pPr>
            <a:r>
              <a:rPr lang="en-US" altLang="zh-CN" sz="2400" dirty="0"/>
              <a:t>FAT</a:t>
            </a:r>
            <a:r>
              <a:rPr lang="zh-CN" altLang="en-US" sz="2400" dirty="0"/>
              <a:t>（</a:t>
            </a:r>
            <a:r>
              <a:rPr lang="en-US" altLang="zh-CN" sz="2400" dirty="0"/>
              <a:t>File Allocation Table</a:t>
            </a:r>
            <a:r>
              <a:rPr lang="zh-CN" altLang="en-US" sz="24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2</a:t>
            </a:r>
            <a:r>
              <a:rPr lang="zh-CN" altLang="en-US" sz="2800" b="1" dirty="0">
                <a:solidFill>
                  <a:schemeClr val="bg1"/>
                </a:solidFill>
              </a:rPr>
              <a:t>）</a:t>
            </a:r>
          </a:p>
        </p:txBody>
      </p:sp>
      <p:sp>
        <p:nvSpPr>
          <p:cNvPr id="5" name="文本框 4"/>
          <p:cNvSpPr txBox="1"/>
          <p:nvPr/>
        </p:nvSpPr>
        <p:spPr>
          <a:xfrm>
            <a:off x="822256" y="1274802"/>
            <a:ext cx="10416873" cy="522900"/>
          </a:xfrm>
          <a:prstGeom prst="rect">
            <a:avLst/>
          </a:prstGeom>
          <a:noFill/>
        </p:spPr>
        <p:txBody>
          <a:bodyPr wrap="square" rtlCol="0">
            <a:spAutoFit/>
          </a:bodyPr>
          <a:lstStyle/>
          <a:p>
            <a:pPr>
              <a:lnSpc>
                <a:spcPct val="123000"/>
              </a:lnSpc>
            </a:pPr>
            <a:r>
              <a:rPr lang="en-US" altLang="zh-CN" sz="2500" dirty="0">
                <a:solidFill>
                  <a:srgbClr val="FF0000"/>
                </a:solidFill>
              </a:rPr>
              <a:t>FAT</a:t>
            </a:r>
            <a:r>
              <a:rPr lang="zh-CN" altLang="en-US" sz="2500" dirty="0">
                <a:solidFill>
                  <a:srgbClr val="FF0000"/>
                </a:solidFill>
              </a:rPr>
              <a:t>文件系统</a:t>
            </a:r>
            <a:r>
              <a:rPr lang="zh-CN" altLang="en-US" sz="2500" dirty="0"/>
              <a:t>是</a:t>
            </a:r>
            <a:r>
              <a:rPr lang="zh-CN" altLang="en-US" sz="2500" dirty="0">
                <a:solidFill>
                  <a:srgbClr val="0000FF"/>
                </a:solidFill>
              </a:rPr>
              <a:t>微软最早在</a:t>
            </a:r>
            <a:r>
              <a:rPr lang="en-US" altLang="zh-CN" sz="2500" dirty="0">
                <a:solidFill>
                  <a:srgbClr val="0000FF"/>
                </a:solidFill>
              </a:rPr>
              <a:t>MS-DOS</a:t>
            </a:r>
            <a:r>
              <a:rPr lang="zh-CN" altLang="en-US" sz="2500" dirty="0">
                <a:solidFill>
                  <a:srgbClr val="0000FF"/>
                </a:solidFill>
              </a:rPr>
              <a:t>开始使用的文件系统。</a:t>
            </a:r>
          </a:p>
        </p:txBody>
      </p:sp>
      <p:sp>
        <p:nvSpPr>
          <p:cNvPr id="7" name="内容占位符 2"/>
          <p:cNvSpPr txBox="1"/>
          <p:nvPr/>
        </p:nvSpPr>
        <p:spPr>
          <a:xfrm>
            <a:off x="822255" y="2935591"/>
            <a:ext cx="1984953" cy="67121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FAT12</a:t>
            </a:r>
          </a:p>
        </p:txBody>
      </p:sp>
      <p:sp>
        <p:nvSpPr>
          <p:cNvPr id="9" name="内容占位符 2"/>
          <p:cNvSpPr txBox="1"/>
          <p:nvPr/>
        </p:nvSpPr>
        <p:spPr>
          <a:xfrm>
            <a:off x="3085944" y="2935590"/>
            <a:ext cx="1984953" cy="67121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FAT16</a:t>
            </a:r>
          </a:p>
        </p:txBody>
      </p:sp>
      <p:sp>
        <p:nvSpPr>
          <p:cNvPr id="10" name="内容占位符 2"/>
          <p:cNvSpPr txBox="1"/>
          <p:nvPr/>
        </p:nvSpPr>
        <p:spPr>
          <a:xfrm>
            <a:off x="5302815" y="2933731"/>
            <a:ext cx="1661748" cy="59798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FAT32</a:t>
            </a:r>
          </a:p>
        </p:txBody>
      </p:sp>
      <p:sp>
        <p:nvSpPr>
          <p:cNvPr id="11" name="内容占位符 2"/>
          <p:cNvSpPr txBox="1"/>
          <p:nvPr/>
        </p:nvSpPr>
        <p:spPr>
          <a:xfrm>
            <a:off x="7341657" y="2935590"/>
            <a:ext cx="2936199" cy="5229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da-DK" altLang="zh-CN" sz="2400" dirty="0"/>
              <a:t>FAT64</a:t>
            </a:r>
            <a:r>
              <a:rPr lang="zh-CN" altLang="da-DK" sz="2400" dirty="0"/>
              <a:t>（</a:t>
            </a:r>
            <a:r>
              <a:rPr lang="da-DK" altLang="zh-CN" sz="2400" dirty="0"/>
              <a:t>exFAT</a:t>
            </a:r>
            <a:r>
              <a:rPr lang="zh-CN" altLang="da-DK" sz="2400" dirty="0"/>
              <a:t>）</a:t>
            </a:r>
          </a:p>
        </p:txBody>
      </p:sp>
      <p:sp>
        <p:nvSpPr>
          <p:cNvPr id="2" name="文本框 1">
            <a:extLst>
              <a:ext uri="{FF2B5EF4-FFF2-40B4-BE49-F238E27FC236}">
                <a16:creationId xmlns:a16="http://schemas.microsoft.com/office/drawing/2014/main" id="{DDF20DF7-D3B3-FCC1-7C8B-792B3E97BBF2}"/>
              </a:ext>
            </a:extLst>
          </p:cNvPr>
          <p:cNvSpPr txBox="1"/>
          <p:nvPr/>
        </p:nvSpPr>
        <p:spPr>
          <a:xfrm>
            <a:off x="1250757" y="5272230"/>
            <a:ext cx="9215147" cy="1015663"/>
          </a:xfrm>
          <a:prstGeom prst="rect">
            <a:avLst/>
          </a:prstGeom>
          <a:noFill/>
        </p:spPr>
        <p:txBody>
          <a:bodyPr wrap="square" rtlCol="0">
            <a:spAutoFit/>
          </a:bodyPr>
          <a:lstStyle/>
          <a:p>
            <a:r>
              <a:rPr lang="zh-CN" altLang="en-US" sz="2000" dirty="0">
                <a:solidFill>
                  <a:srgbClr val="FF0000"/>
                </a:solidFill>
              </a:rPr>
              <a:t>扩展思考</a:t>
            </a:r>
            <a:r>
              <a:rPr lang="zh-CN" altLang="en-US" sz="2000" dirty="0">
                <a:solidFill>
                  <a:srgbClr val="0000FF"/>
                </a:solidFill>
              </a:rPr>
              <a:t>：关于</a:t>
            </a:r>
            <a:r>
              <a:rPr lang="en-US" altLang="zh-CN" sz="2000" dirty="0">
                <a:solidFill>
                  <a:srgbClr val="0000FF"/>
                </a:solidFill>
              </a:rPr>
              <a:t>FAT</a:t>
            </a:r>
            <a:r>
              <a:rPr lang="zh-CN" altLang="en-US" sz="2000" dirty="0">
                <a:solidFill>
                  <a:srgbClr val="0000FF"/>
                </a:solidFill>
              </a:rPr>
              <a:t>表大小与分区大小的关系</a:t>
            </a:r>
            <a:endParaRPr lang="en-US" altLang="zh-CN" sz="2000" dirty="0">
              <a:solidFill>
                <a:srgbClr val="0000FF"/>
              </a:solidFill>
            </a:endParaRPr>
          </a:p>
          <a:p>
            <a:r>
              <a:rPr lang="en-US" altLang="zh-CN" sz="2000" dirty="0">
                <a:solidFill>
                  <a:srgbClr val="0000FF"/>
                </a:solidFill>
              </a:rPr>
              <a:t>1</a:t>
            </a:r>
            <a:r>
              <a:rPr lang="zh-CN" altLang="en-US" sz="2000" dirty="0">
                <a:solidFill>
                  <a:srgbClr val="0000FF"/>
                </a:solidFill>
              </a:rPr>
              <a:t>、</a:t>
            </a:r>
            <a:r>
              <a:rPr lang="en-US" altLang="zh-CN" sz="2000" dirty="0" err="1">
                <a:solidFill>
                  <a:srgbClr val="0000FF"/>
                </a:solidFill>
              </a:rPr>
              <a:t>FATxx</a:t>
            </a:r>
            <a:r>
              <a:rPr lang="zh-CN" altLang="en-US" sz="2000" dirty="0">
                <a:solidFill>
                  <a:srgbClr val="0000FF"/>
                </a:solidFill>
              </a:rPr>
              <a:t>中的</a:t>
            </a:r>
            <a:r>
              <a:rPr lang="en-US" altLang="zh-CN" sz="2000" dirty="0">
                <a:solidFill>
                  <a:srgbClr val="0000FF"/>
                </a:solidFill>
              </a:rPr>
              <a:t>xx</a:t>
            </a:r>
            <a:r>
              <a:rPr lang="zh-CN" altLang="en-US" sz="2000" dirty="0">
                <a:solidFill>
                  <a:srgbClr val="0000FF"/>
                </a:solidFill>
              </a:rPr>
              <a:t>是什么意思？与文件系统能管理的最大磁盘大小有什么关系？</a:t>
            </a:r>
            <a:endParaRPr lang="en-US" altLang="zh-CN" sz="2000" dirty="0">
              <a:solidFill>
                <a:srgbClr val="0000FF"/>
              </a:solidFill>
            </a:endParaRPr>
          </a:p>
          <a:p>
            <a:r>
              <a:rPr lang="en-US" altLang="zh-CN" sz="2000" dirty="0">
                <a:solidFill>
                  <a:srgbClr val="0000FF"/>
                </a:solidFill>
              </a:rPr>
              <a:t>2</a:t>
            </a:r>
            <a:r>
              <a:rPr lang="zh-CN" altLang="en-US" sz="2000" dirty="0">
                <a:solidFill>
                  <a:srgbClr val="0000FF"/>
                </a:solidFill>
              </a:rPr>
              <a:t>、大磁盘能用小</a:t>
            </a:r>
            <a:r>
              <a:rPr lang="en-US" altLang="zh-CN" sz="2000" dirty="0">
                <a:solidFill>
                  <a:srgbClr val="0000FF"/>
                </a:solidFill>
              </a:rPr>
              <a:t>FAT</a:t>
            </a:r>
            <a:r>
              <a:rPr lang="zh-CN" altLang="en-US" sz="2000" dirty="0">
                <a:solidFill>
                  <a:srgbClr val="0000FF"/>
                </a:solidFill>
              </a:rPr>
              <a:t>吗？小磁盘使用大</a:t>
            </a:r>
            <a:r>
              <a:rPr lang="en-US" altLang="zh-CN" sz="2000" dirty="0">
                <a:solidFill>
                  <a:srgbClr val="0000FF"/>
                </a:solidFill>
              </a:rPr>
              <a:t>FAT</a:t>
            </a:r>
            <a:r>
              <a:rPr lang="zh-CN" altLang="en-US" sz="2000" dirty="0">
                <a:solidFill>
                  <a:srgbClr val="0000FF"/>
                </a:solidFill>
              </a:rPr>
              <a:t>好吗？</a:t>
            </a:r>
          </a:p>
        </p:txBody>
      </p:sp>
      <p:sp>
        <p:nvSpPr>
          <p:cNvPr id="3" name="矩形: 圆角 2">
            <a:extLst>
              <a:ext uri="{FF2B5EF4-FFF2-40B4-BE49-F238E27FC236}">
                <a16:creationId xmlns:a16="http://schemas.microsoft.com/office/drawing/2014/main" id="{6EDE688C-D216-21A1-3A24-76047654EAC9}"/>
              </a:ext>
            </a:extLst>
          </p:cNvPr>
          <p:cNvSpPr/>
          <p:nvPr/>
        </p:nvSpPr>
        <p:spPr>
          <a:xfrm>
            <a:off x="863941" y="1950550"/>
            <a:ext cx="2222003"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123000"/>
              </a:lnSpc>
            </a:pPr>
            <a:r>
              <a:rPr lang="en-US" altLang="zh-CN" sz="2400" dirty="0"/>
              <a:t>FAT</a:t>
            </a:r>
            <a:r>
              <a:rPr lang="zh-CN" altLang="en-US" sz="2400" dirty="0"/>
              <a:t>文件</a:t>
            </a:r>
            <a:r>
              <a:rPr lang="zh-CN" altLang="en-US" sz="2400" b="1" dirty="0"/>
              <a:t>系统</a:t>
            </a:r>
          </a:p>
        </p:txBody>
      </p:sp>
      <p:pic>
        <p:nvPicPr>
          <p:cNvPr id="4" name="Picture 4">
            <a:extLst>
              <a:ext uri="{FF2B5EF4-FFF2-40B4-BE49-F238E27FC236}">
                <a16:creationId xmlns:a16="http://schemas.microsoft.com/office/drawing/2014/main" id="{3E69387C-450B-4440-ECE5-E39303E7BD9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6134" y="3541877"/>
            <a:ext cx="10623611" cy="16971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a:extLst>
              <a:ext uri="{FF2B5EF4-FFF2-40B4-BE49-F238E27FC236}">
                <a16:creationId xmlns:a16="http://schemas.microsoft.com/office/drawing/2014/main" id="{7AF9539B-82CD-DFA1-3CE2-AA024A0D2A9C}"/>
              </a:ext>
            </a:extLst>
          </p:cNvPr>
          <p:cNvSpPr/>
          <p:nvPr/>
        </p:nvSpPr>
        <p:spPr>
          <a:xfrm>
            <a:off x="3048690" y="3563388"/>
            <a:ext cx="3861787" cy="106825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内容占位符 2">
            <a:extLst>
              <a:ext uri="{FF2B5EF4-FFF2-40B4-BE49-F238E27FC236}">
                <a16:creationId xmlns:a16="http://schemas.microsoft.com/office/drawing/2014/main" id="{FC8FB6BE-17F3-7617-2F77-E84BC1584A15}"/>
              </a:ext>
            </a:extLst>
          </p:cNvPr>
          <p:cNvSpPr txBox="1"/>
          <p:nvPr/>
        </p:nvSpPr>
        <p:spPr>
          <a:xfrm>
            <a:off x="3170611" y="1834252"/>
            <a:ext cx="5170749" cy="89878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indent="-285750">
              <a:lnSpc>
                <a:spcPct val="132000"/>
              </a:lnSpc>
              <a:spcBef>
                <a:spcPts val="370"/>
              </a:spcBef>
              <a:buClr>
                <a:srgbClr val="E71101"/>
              </a:buClr>
              <a:buSzPct val="100000"/>
              <a:buFont typeface="Wingdings" panose="05000000000000000000" pitchFamily="2" charset="2"/>
              <a:buChar char="Ø"/>
              <a:defRPr/>
            </a:pPr>
            <a:r>
              <a:rPr lang="en-US" altLang="zh-CN" sz="1800" dirty="0">
                <a:solidFill>
                  <a:srgbClr val="0000FF"/>
                </a:solidFill>
              </a:rPr>
              <a:t>FAT</a:t>
            </a:r>
            <a:r>
              <a:rPr lang="zh-CN" altLang="en-US" sz="1800" dirty="0">
                <a:solidFill>
                  <a:srgbClr val="0000FF"/>
                </a:solidFill>
              </a:rPr>
              <a:t>表</a:t>
            </a:r>
            <a:r>
              <a:rPr lang="zh-CN" altLang="en-US" sz="1800" dirty="0"/>
              <a:t>是文件系统中重要的数据管理。</a:t>
            </a:r>
            <a:endParaRPr lang="en-US" altLang="zh-CN" sz="1800" dirty="0"/>
          </a:p>
          <a:p>
            <a:pPr marL="285750" lvl="1" indent="-285750">
              <a:lnSpc>
                <a:spcPct val="132000"/>
              </a:lnSpc>
              <a:spcBef>
                <a:spcPts val="370"/>
              </a:spcBef>
              <a:buClr>
                <a:srgbClr val="E71101"/>
              </a:buClr>
              <a:buSzPct val="100000"/>
              <a:buFont typeface="Wingdings" panose="05000000000000000000" pitchFamily="2" charset="2"/>
              <a:buChar char="Ø"/>
              <a:defRPr/>
            </a:pPr>
            <a:r>
              <a:rPr lang="zh-CN" altLang="en-US" sz="1800" dirty="0"/>
              <a:t>每个分区有</a:t>
            </a:r>
            <a:r>
              <a:rPr lang="zh-CN" altLang="en-US" sz="1800" dirty="0">
                <a:solidFill>
                  <a:srgbClr val="0000FF"/>
                </a:solidFill>
              </a:rPr>
              <a:t>两张相同的</a:t>
            </a:r>
            <a:r>
              <a:rPr lang="en-US" altLang="zh-CN" sz="1800" dirty="0">
                <a:solidFill>
                  <a:srgbClr val="0000FF"/>
                </a:solidFill>
              </a:rPr>
              <a:t>FAT</a:t>
            </a:r>
            <a:r>
              <a:rPr lang="zh-CN" altLang="en-US" sz="1800" dirty="0">
                <a:solidFill>
                  <a:srgbClr val="0000FF"/>
                </a:solidFill>
              </a:rPr>
              <a:t>表</a:t>
            </a:r>
            <a:r>
              <a:rPr lang="zh-CN" altLang="en-US" sz="1800" dirty="0"/>
              <a:t>，</a:t>
            </a:r>
            <a:r>
              <a:rPr lang="en-US" altLang="zh-CN" sz="1800" dirty="0"/>
              <a:t>FAT1</a:t>
            </a:r>
            <a:r>
              <a:rPr lang="zh-CN" altLang="en-US" sz="1800" dirty="0"/>
              <a:t>和</a:t>
            </a:r>
            <a:r>
              <a:rPr lang="en-US" altLang="zh-CN" sz="1800" dirty="0"/>
              <a:t>FAT2</a:t>
            </a:r>
            <a:r>
              <a:rPr lang="zh-CN" altLang="en-US" sz="1800" dirty="0"/>
              <a:t>。</a:t>
            </a:r>
            <a:endParaRPr lang="da-DK" altLang="zh-CN" sz="1800" dirty="0"/>
          </a:p>
        </p:txBody>
      </p:sp>
    </p:spTree>
    <p:extLst>
      <p:ext uri="{BB962C8B-B14F-4D97-AF65-F5344CB8AC3E}">
        <p14:creationId xmlns:p14="http://schemas.microsoft.com/office/powerpoint/2010/main" val="3445943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3</a:t>
            </a:r>
            <a:r>
              <a:rPr lang="zh-CN" altLang="en-US" sz="2800" b="1" dirty="0">
                <a:solidFill>
                  <a:schemeClr val="bg1"/>
                </a:solidFill>
              </a:rPr>
              <a:t>）</a:t>
            </a:r>
          </a:p>
        </p:txBody>
      </p:sp>
      <p:sp>
        <p:nvSpPr>
          <p:cNvPr id="5" name="文本框 4"/>
          <p:cNvSpPr txBox="1"/>
          <p:nvPr/>
        </p:nvSpPr>
        <p:spPr>
          <a:xfrm>
            <a:off x="822256" y="1498322"/>
            <a:ext cx="10416873" cy="522900"/>
          </a:xfrm>
          <a:prstGeom prst="rect">
            <a:avLst/>
          </a:prstGeom>
          <a:noFill/>
        </p:spPr>
        <p:txBody>
          <a:bodyPr wrap="square" rtlCol="0">
            <a:spAutoFit/>
          </a:bodyPr>
          <a:lstStyle/>
          <a:p>
            <a:pPr>
              <a:lnSpc>
                <a:spcPct val="123000"/>
              </a:lnSpc>
            </a:pPr>
            <a:r>
              <a:rPr lang="zh-CN" altLang="en-US" sz="2500" dirty="0"/>
              <a:t>若以</a:t>
            </a:r>
            <a:r>
              <a:rPr lang="zh-CN" altLang="en-US" sz="2500" dirty="0">
                <a:solidFill>
                  <a:srgbClr val="0000FF"/>
                </a:solidFill>
              </a:rPr>
              <a:t>扇区</a:t>
            </a:r>
            <a:r>
              <a:rPr lang="en-US" altLang="zh-CN" sz="2500" dirty="0">
                <a:solidFill>
                  <a:srgbClr val="0000FF"/>
                </a:solidFill>
              </a:rPr>
              <a:t>(Sector)</a:t>
            </a:r>
            <a:r>
              <a:rPr lang="zh-CN" altLang="en-US" sz="2500" dirty="0"/>
              <a:t>为单位组织</a:t>
            </a:r>
            <a:r>
              <a:rPr lang="en-US" altLang="zh-CN" sz="2500" dirty="0">
                <a:solidFill>
                  <a:srgbClr val="0000FF"/>
                </a:solidFill>
              </a:rPr>
              <a:t>FAT</a:t>
            </a:r>
            <a:r>
              <a:rPr lang="zh-CN" altLang="en-US" sz="2500" dirty="0">
                <a:solidFill>
                  <a:srgbClr val="0000FF"/>
                </a:solidFill>
              </a:rPr>
              <a:t>文件系统。</a:t>
            </a:r>
          </a:p>
        </p:txBody>
      </p:sp>
      <p:sp>
        <p:nvSpPr>
          <p:cNvPr id="7" name="内容占位符 2"/>
          <p:cNvSpPr txBox="1"/>
          <p:nvPr/>
        </p:nvSpPr>
        <p:spPr>
          <a:xfrm>
            <a:off x="822255" y="2008902"/>
            <a:ext cx="10547489" cy="11117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Ø"/>
              <a:defRPr/>
            </a:pPr>
            <a:r>
              <a:rPr lang="en-US" altLang="zh-CN" sz="2400" dirty="0"/>
              <a:t>FAT</a:t>
            </a:r>
            <a:r>
              <a:rPr lang="zh-CN" altLang="en-US" sz="2400" dirty="0"/>
              <a:t>表以扇区为基本分配单位。</a:t>
            </a:r>
            <a:endParaRPr lang="en-US" altLang="zh-CN" sz="2400" dirty="0"/>
          </a:p>
          <a:p>
            <a:pPr marL="342265" lvl="1" indent="-533400">
              <a:lnSpc>
                <a:spcPct val="132000"/>
              </a:lnSpc>
              <a:spcBef>
                <a:spcPts val="370"/>
              </a:spcBef>
              <a:buClr>
                <a:srgbClr val="E71101"/>
              </a:buClr>
              <a:buSzPct val="100000"/>
              <a:buFont typeface="Wingdings" panose="05000000000000000000" pitchFamily="2" charset="2"/>
              <a:buChar char="Ø"/>
              <a:defRPr/>
            </a:pPr>
            <a:r>
              <a:rPr lang="zh-CN" altLang="en-US" sz="2400" dirty="0"/>
              <a:t>例如，对</a:t>
            </a:r>
            <a:r>
              <a:rPr lang="en-US" altLang="zh-CN" sz="2400" dirty="0"/>
              <a:t>1.2MB</a:t>
            </a:r>
            <a:r>
              <a:rPr lang="zh-CN" altLang="en-US" sz="2400" dirty="0"/>
              <a:t>的软盘，若</a:t>
            </a:r>
            <a:r>
              <a:rPr lang="zh-CN" altLang="en-US" sz="2400" dirty="0">
                <a:solidFill>
                  <a:srgbClr val="0000FF"/>
                </a:solidFill>
              </a:rPr>
              <a:t>每个扇区大小为</a:t>
            </a:r>
            <a:r>
              <a:rPr lang="en-US" altLang="zh-CN" sz="2400" dirty="0">
                <a:solidFill>
                  <a:srgbClr val="0000FF"/>
                </a:solidFill>
              </a:rPr>
              <a:t>512B</a:t>
            </a:r>
            <a:r>
              <a:rPr lang="zh-CN" altLang="en-US" sz="2400" dirty="0">
                <a:solidFill>
                  <a:srgbClr val="0000FF"/>
                </a:solidFill>
              </a:rPr>
              <a:t>，使用</a:t>
            </a:r>
            <a:r>
              <a:rPr lang="en-US" altLang="zh-CN" sz="2400" dirty="0">
                <a:solidFill>
                  <a:srgbClr val="0000FF"/>
                </a:solidFill>
              </a:rPr>
              <a:t>FAT12</a:t>
            </a:r>
            <a:r>
              <a:rPr lang="zh-CN" altLang="en-US" sz="2400" dirty="0">
                <a:solidFill>
                  <a:srgbClr val="0000FF"/>
                </a:solidFill>
              </a:rPr>
              <a:t>：</a:t>
            </a:r>
            <a:endParaRPr lang="da-DK" altLang="zh-CN" sz="2400" dirty="0"/>
          </a:p>
        </p:txBody>
      </p:sp>
      <p:sp>
        <p:nvSpPr>
          <p:cNvPr id="9" name="内容占位符 2"/>
          <p:cNvSpPr txBox="1"/>
          <p:nvPr/>
        </p:nvSpPr>
        <p:spPr>
          <a:xfrm>
            <a:off x="1366872" y="3203013"/>
            <a:ext cx="6030624" cy="17456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en-US" altLang="zh-CN" sz="2400" dirty="0"/>
              <a:t>FAT</a:t>
            </a:r>
            <a:r>
              <a:rPr lang="zh-CN" altLang="en-US" sz="2400" dirty="0"/>
              <a:t>需要</a:t>
            </a:r>
            <a:r>
              <a:rPr lang="en-US" altLang="zh-CN" sz="2400" dirty="0"/>
              <a:t>2.4K</a:t>
            </a:r>
            <a:r>
              <a:rPr lang="zh-CN" altLang="en-US" sz="2400" dirty="0"/>
              <a:t>个表项（</a:t>
            </a:r>
            <a:r>
              <a:rPr lang="en-US" altLang="zh-CN" sz="2400" dirty="0"/>
              <a:t>1.2MB/512B</a:t>
            </a:r>
            <a:r>
              <a:rPr lang="zh-CN" altLang="en-US" sz="2400" dirty="0"/>
              <a:t>）。</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每个</a:t>
            </a:r>
            <a:r>
              <a:rPr lang="en-US" altLang="zh-CN" sz="2400" dirty="0"/>
              <a:t>FAT</a:t>
            </a:r>
            <a:r>
              <a:rPr lang="zh-CN" altLang="en-US" sz="2400" dirty="0"/>
              <a:t>表项占</a:t>
            </a:r>
            <a:r>
              <a:rPr lang="en-US" altLang="zh-CN" sz="2400" dirty="0"/>
              <a:t>12b</a:t>
            </a:r>
            <a:r>
              <a:rPr lang="zh-CN" altLang="en-US" sz="2400" dirty="0"/>
              <a:t>（</a:t>
            </a:r>
            <a:r>
              <a:rPr lang="en-US" altLang="zh-CN" sz="2400" dirty="0"/>
              <a:t>1.5B</a:t>
            </a:r>
            <a:r>
              <a:rPr lang="zh-CN" altLang="en-US" sz="2400" dirty="0"/>
              <a:t>）。</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因此</a:t>
            </a:r>
            <a:r>
              <a:rPr lang="en-US" altLang="zh-CN" sz="2400" dirty="0"/>
              <a:t>FAT</a:t>
            </a:r>
            <a:r>
              <a:rPr lang="zh-CN" altLang="en-US" sz="2400" dirty="0"/>
              <a:t>表占用</a:t>
            </a:r>
            <a:r>
              <a:rPr lang="en-US" altLang="zh-CN" sz="2400" dirty="0"/>
              <a:t>3.6KB(2.4K*1.5B)</a:t>
            </a:r>
            <a:r>
              <a:rPr lang="zh-CN" altLang="en-US" sz="2400" dirty="0"/>
              <a:t>。</a:t>
            </a:r>
            <a:endParaRPr lang="en-US" altLang="zh-CN" sz="2400" dirty="0"/>
          </a:p>
        </p:txBody>
      </p:sp>
      <p:pic>
        <p:nvPicPr>
          <p:cNvPr id="12" name="图片 21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23760" y="3120686"/>
            <a:ext cx="4339741" cy="3473892"/>
          </a:xfrm>
          <a:prstGeom prst="rect">
            <a:avLst/>
          </a:prstGeom>
          <a:noFill/>
          <a:ln>
            <a:noFill/>
          </a:ln>
        </p:spPr>
      </p:pic>
      <p:sp>
        <p:nvSpPr>
          <p:cNvPr id="2" name="文本框 1">
            <a:extLst>
              <a:ext uri="{FF2B5EF4-FFF2-40B4-BE49-F238E27FC236}">
                <a16:creationId xmlns:a16="http://schemas.microsoft.com/office/drawing/2014/main" id="{0DF68AE8-7400-FC86-07CD-D7830014708A}"/>
              </a:ext>
            </a:extLst>
          </p:cNvPr>
          <p:cNvSpPr txBox="1"/>
          <p:nvPr/>
        </p:nvSpPr>
        <p:spPr>
          <a:xfrm>
            <a:off x="1108517" y="5263802"/>
            <a:ext cx="9215147" cy="400110"/>
          </a:xfrm>
          <a:prstGeom prst="rect">
            <a:avLst/>
          </a:prstGeom>
          <a:noFill/>
        </p:spPr>
        <p:txBody>
          <a:bodyPr wrap="square" rtlCol="0">
            <a:spAutoFit/>
          </a:bodyPr>
          <a:lstStyle/>
          <a:p>
            <a:r>
              <a:rPr lang="zh-CN" altLang="en-US" sz="2000" dirty="0">
                <a:solidFill>
                  <a:srgbClr val="FF0000"/>
                </a:solidFill>
              </a:rPr>
              <a:t>请计算</a:t>
            </a:r>
            <a:r>
              <a:rPr lang="zh-CN" altLang="en-US" sz="2000" dirty="0">
                <a:solidFill>
                  <a:srgbClr val="0000FF"/>
                </a:solidFill>
              </a:rPr>
              <a:t>：上述</a:t>
            </a:r>
            <a:r>
              <a:rPr lang="en-US" altLang="zh-CN" sz="2000" dirty="0">
                <a:solidFill>
                  <a:srgbClr val="0000FF"/>
                </a:solidFill>
              </a:rPr>
              <a:t>FAT12</a:t>
            </a:r>
            <a:r>
              <a:rPr lang="zh-CN" altLang="en-US" sz="2000" dirty="0">
                <a:solidFill>
                  <a:srgbClr val="0000FF"/>
                </a:solidFill>
              </a:rPr>
              <a:t>文件系统最大能管理多大的分区？</a:t>
            </a:r>
          </a:p>
        </p:txBody>
      </p:sp>
      <p:sp>
        <p:nvSpPr>
          <p:cNvPr id="3" name="矩形: 圆角 2">
            <a:extLst>
              <a:ext uri="{FF2B5EF4-FFF2-40B4-BE49-F238E27FC236}">
                <a16:creationId xmlns:a16="http://schemas.microsoft.com/office/drawing/2014/main" id="{C2A00808-A564-4AF0-60E4-3DC18863D669}"/>
              </a:ext>
            </a:extLst>
          </p:cNvPr>
          <p:cNvSpPr/>
          <p:nvPr/>
        </p:nvSpPr>
        <p:spPr>
          <a:xfrm>
            <a:off x="914741" y="908910"/>
            <a:ext cx="2671739"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123000"/>
              </a:lnSpc>
            </a:pPr>
            <a:r>
              <a:rPr lang="en-US" altLang="zh-CN" sz="2400" dirty="0"/>
              <a:t>FAT</a:t>
            </a:r>
            <a:r>
              <a:rPr lang="zh-CN" altLang="en-US" sz="2400" dirty="0"/>
              <a:t>文件</a:t>
            </a:r>
            <a:r>
              <a:rPr lang="zh-CN" altLang="en-US" sz="2400" b="1" dirty="0"/>
              <a:t>系统容量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a:t>
            </a:r>
            <a:r>
              <a:rPr lang="zh-CN" altLang="en-US" sz="2800" b="1" dirty="0">
                <a:solidFill>
                  <a:schemeClr val="bg1"/>
                </a:solidFill>
              </a:rPr>
              <a:t>文件系统（</a:t>
            </a:r>
            <a:r>
              <a:rPr lang="en-US" altLang="zh-CN" sz="2800" b="1" dirty="0">
                <a:solidFill>
                  <a:schemeClr val="bg1"/>
                </a:solidFill>
              </a:rPr>
              <a:t>4</a:t>
            </a:r>
            <a:r>
              <a:rPr lang="zh-CN" altLang="en-US" sz="2800" b="1" dirty="0">
                <a:solidFill>
                  <a:schemeClr val="bg1"/>
                </a:solidFill>
              </a:rPr>
              <a:t>）</a:t>
            </a:r>
          </a:p>
        </p:txBody>
      </p:sp>
      <p:sp>
        <p:nvSpPr>
          <p:cNvPr id="5" name="文本框 4"/>
          <p:cNvSpPr txBox="1"/>
          <p:nvPr/>
        </p:nvSpPr>
        <p:spPr>
          <a:xfrm>
            <a:off x="822256" y="1518642"/>
            <a:ext cx="10416873" cy="522900"/>
          </a:xfrm>
          <a:prstGeom prst="rect">
            <a:avLst/>
          </a:prstGeom>
          <a:noFill/>
        </p:spPr>
        <p:txBody>
          <a:bodyPr wrap="square" rtlCol="0">
            <a:spAutoFit/>
          </a:bodyPr>
          <a:lstStyle/>
          <a:p>
            <a:pPr>
              <a:lnSpc>
                <a:spcPct val="123000"/>
              </a:lnSpc>
            </a:pPr>
            <a:r>
              <a:rPr lang="zh-CN" altLang="en-US" sz="2500" dirty="0"/>
              <a:t>以</a:t>
            </a:r>
            <a:r>
              <a:rPr lang="zh-CN" altLang="en-US" sz="2500" dirty="0">
                <a:solidFill>
                  <a:srgbClr val="0000FF"/>
                </a:solidFill>
              </a:rPr>
              <a:t>簇</a:t>
            </a:r>
            <a:r>
              <a:rPr lang="en-US" altLang="zh-CN" sz="2500" dirty="0">
                <a:solidFill>
                  <a:srgbClr val="0000FF"/>
                </a:solidFill>
              </a:rPr>
              <a:t>(Cluster)</a:t>
            </a:r>
            <a:r>
              <a:rPr lang="zh-CN" altLang="en-US" sz="2500" dirty="0"/>
              <a:t>为单位的</a:t>
            </a:r>
            <a:r>
              <a:rPr lang="en-US" altLang="zh-CN" sz="2500" dirty="0">
                <a:solidFill>
                  <a:srgbClr val="0000FF"/>
                </a:solidFill>
              </a:rPr>
              <a:t>FAT</a:t>
            </a:r>
            <a:r>
              <a:rPr lang="zh-CN" altLang="en-US" sz="2500" dirty="0">
                <a:solidFill>
                  <a:srgbClr val="0000FF"/>
                </a:solidFill>
              </a:rPr>
              <a:t>文件系统</a:t>
            </a:r>
            <a:r>
              <a:rPr lang="zh-CN" altLang="en-US" sz="2500" dirty="0"/>
              <a:t>。</a:t>
            </a:r>
          </a:p>
        </p:txBody>
      </p:sp>
      <p:sp>
        <p:nvSpPr>
          <p:cNvPr id="7" name="内容占位符 2"/>
          <p:cNvSpPr txBox="1"/>
          <p:nvPr/>
        </p:nvSpPr>
        <p:spPr>
          <a:xfrm>
            <a:off x="822255" y="2029223"/>
            <a:ext cx="10973505" cy="55564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000" dirty="0">
                <a:solidFill>
                  <a:srgbClr val="0000FF"/>
                </a:solidFill>
              </a:rPr>
              <a:t>簇是一组相邻的盘块（扇区）</a:t>
            </a:r>
            <a:r>
              <a:rPr lang="zh-CN" altLang="en-US" sz="2000" dirty="0"/>
              <a:t>，在</a:t>
            </a:r>
            <a:r>
              <a:rPr lang="en-US" altLang="zh-CN" sz="2000" dirty="0"/>
              <a:t>FAT</a:t>
            </a:r>
            <a:r>
              <a:rPr lang="zh-CN" altLang="en-US" sz="2000" dirty="0"/>
              <a:t>中被视作一个虚拟扇区。</a:t>
            </a:r>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000" dirty="0"/>
              <a:t>簇的大小一般是</a:t>
            </a:r>
            <a:r>
              <a:rPr lang="en-US" altLang="zh-CN" sz="2000" dirty="0"/>
              <a:t>2</a:t>
            </a:r>
            <a:r>
              <a:rPr lang="en-US" altLang="zh-CN" sz="2000" baseline="30000" dirty="0"/>
              <a:t>n</a:t>
            </a:r>
            <a:r>
              <a:rPr lang="zh-CN" altLang="en-US" sz="2000" dirty="0"/>
              <a:t>个扇区</a:t>
            </a:r>
            <a:r>
              <a:rPr lang="en-US" altLang="zh-CN" sz="2000" dirty="0"/>
              <a:t>(n=1,2,4,8,…)</a:t>
            </a:r>
            <a:r>
              <a:rPr lang="zh-CN" altLang="en-US" sz="2000" dirty="0"/>
              <a:t>。</a:t>
            </a:r>
            <a:endParaRPr lang="en-US" altLang="zh-CN" sz="2000" dirty="0"/>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000" dirty="0"/>
              <a:t>一个簇应包含扇区的数量与磁盘容量大小直接相关（</a:t>
            </a:r>
            <a:r>
              <a:rPr lang="zh-CN" altLang="en-US" sz="2000" dirty="0">
                <a:solidFill>
                  <a:srgbClr val="0000FF"/>
                </a:solidFill>
              </a:rPr>
              <a:t>灵活适应磁盘大小</a:t>
            </a:r>
            <a:r>
              <a:rPr lang="zh-CN" altLang="en-US" sz="2000" dirty="0"/>
              <a:t>）。</a:t>
            </a:r>
            <a:endParaRPr lang="en-US" altLang="zh-CN" sz="2000" dirty="0"/>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000" dirty="0"/>
              <a:t>如：</a:t>
            </a:r>
            <a:r>
              <a:rPr lang="en-US" altLang="zh-CN" sz="2000" dirty="0"/>
              <a:t>FAT12</a:t>
            </a:r>
            <a:r>
              <a:rPr lang="zh-CN" altLang="en-US" sz="2000" dirty="0"/>
              <a:t>支持一个簇有</a:t>
            </a:r>
            <a:r>
              <a:rPr lang="en-US" altLang="zh-CN" sz="2000" dirty="0"/>
              <a:t>8</a:t>
            </a:r>
            <a:r>
              <a:rPr lang="zh-CN" altLang="en-US" sz="2000" dirty="0"/>
              <a:t>个扇区，则最大可以管理的分区空间为</a:t>
            </a:r>
            <a:r>
              <a:rPr lang="en-US" altLang="zh-CN" sz="2000" dirty="0">
                <a:solidFill>
                  <a:srgbClr val="0000FF"/>
                </a:solidFill>
              </a:rPr>
              <a:t>16MB</a:t>
            </a:r>
            <a:r>
              <a:rPr lang="en-US" altLang="zh-CN" sz="2000" dirty="0"/>
              <a:t>(512*8*2</a:t>
            </a:r>
            <a:r>
              <a:rPr lang="en-US" altLang="zh-CN" sz="2000" baseline="30000" dirty="0"/>
              <a:t>12</a:t>
            </a:r>
            <a:r>
              <a:rPr lang="en-US" altLang="zh-CN" sz="2000" dirty="0"/>
              <a:t>)</a:t>
            </a:r>
            <a:r>
              <a:rPr lang="zh-CN" altLang="en-US" sz="2000" dirty="0"/>
              <a:t>。</a:t>
            </a:r>
            <a:endParaRPr lang="en-US" altLang="zh-CN" sz="2000" dirty="0"/>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000" dirty="0">
                <a:solidFill>
                  <a:srgbClr val="0000FF"/>
                </a:solidFill>
              </a:rPr>
              <a:t>优点</a:t>
            </a:r>
            <a:r>
              <a:rPr lang="zh-CN" altLang="en-US" sz="2000" dirty="0"/>
              <a:t>：</a:t>
            </a:r>
          </a:p>
          <a:p>
            <a:pPr marL="799465" lvl="2" indent="-533400">
              <a:lnSpc>
                <a:spcPct val="123000"/>
              </a:lnSpc>
              <a:spcBef>
                <a:spcPts val="370"/>
              </a:spcBef>
              <a:buClr>
                <a:srgbClr val="E71101"/>
              </a:buClr>
              <a:buSzPct val="100000"/>
              <a:buFont typeface="Wingdings" panose="05000000000000000000" pitchFamily="2" charset="2"/>
              <a:buChar char="p"/>
              <a:defRPr/>
            </a:pPr>
            <a:r>
              <a:rPr lang="zh-CN" altLang="en-US" sz="2000" dirty="0"/>
              <a:t>可以减少</a:t>
            </a:r>
            <a:r>
              <a:rPr lang="en-US" altLang="zh-CN" sz="2000" dirty="0"/>
              <a:t>FAT</a:t>
            </a:r>
            <a:r>
              <a:rPr lang="zh-CN" altLang="en-US" sz="2000" dirty="0"/>
              <a:t>中的项数，使</a:t>
            </a:r>
            <a:r>
              <a:rPr lang="en-US" altLang="zh-CN" sz="2000" dirty="0"/>
              <a:t>FAT</a:t>
            </a:r>
            <a:r>
              <a:rPr lang="zh-CN" altLang="en-US" sz="2000" dirty="0"/>
              <a:t>占用更少的存储空间，并且可以减少访问</a:t>
            </a:r>
            <a:r>
              <a:rPr lang="en-US" altLang="zh-CN" sz="2000" dirty="0"/>
              <a:t>FAT</a:t>
            </a:r>
            <a:r>
              <a:rPr lang="zh-CN" altLang="en-US" sz="2000" dirty="0"/>
              <a:t>的存取开销。</a:t>
            </a:r>
          </a:p>
          <a:p>
            <a:pPr marL="342265" lvl="1" indent="-533400">
              <a:lnSpc>
                <a:spcPct val="123000"/>
              </a:lnSpc>
              <a:spcBef>
                <a:spcPts val="370"/>
              </a:spcBef>
              <a:buClr>
                <a:srgbClr val="E71101"/>
              </a:buClr>
              <a:buSzPct val="100000"/>
              <a:buFont typeface="Wingdings" panose="05000000000000000000" pitchFamily="2" charset="2"/>
              <a:buChar char="Ø"/>
              <a:defRPr/>
            </a:pPr>
            <a:r>
              <a:rPr lang="zh-CN" altLang="en-US" sz="2000" dirty="0">
                <a:solidFill>
                  <a:srgbClr val="0000FF"/>
                </a:solidFill>
              </a:rPr>
              <a:t>缺点</a:t>
            </a:r>
            <a:r>
              <a:rPr lang="zh-CN" altLang="en-US" sz="2000" dirty="0"/>
              <a:t>：</a:t>
            </a:r>
          </a:p>
          <a:p>
            <a:pPr marL="799465" lvl="2" indent="-533400">
              <a:lnSpc>
                <a:spcPct val="123000"/>
              </a:lnSpc>
              <a:spcBef>
                <a:spcPts val="370"/>
              </a:spcBef>
              <a:buClr>
                <a:srgbClr val="E71101"/>
              </a:buClr>
              <a:buSzPct val="100000"/>
              <a:buFont typeface="Wingdings" panose="05000000000000000000" pitchFamily="2" charset="2"/>
              <a:buChar char="p"/>
              <a:defRPr/>
            </a:pPr>
            <a:r>
              <a:rPr lang="zh-CN" altLang="en-US" sz="2000" dirty="0"/>
              <a:t>簇的大小越大，簇内碎片越大。</a:t>
            </a:r>
          </a:p>
        </p:txBody>
      </p:sp>
      <p:sp>
        <p:nvSpPr>
          <p:cNvPr id="2" name="文本框 1">
            <a:extLst>
              <a:ext uri="{FF2B5EF4-FFF2-40B4-BE49-F238E27FC236}">
                <a16:creationId xmlns:a16="http://schemas.microsoft.com/office/drawing/2014/main" id="{76CC6C34-B02B-6731-00EA-727361AF2C15}"/>
              </a:ext>
            </a:extLst>
          </p:cNvPr>
          <p:cNvSpPr txBox="1"/>
          <p:nvPr/>
        </p:nvSpPr>
        <p:spPr>
          <a:xfrm>
            <a:off x="5822322" y="5179567"/>
            <a:ext cx="5766704" cy="1015663"/>
          </a:xfrm>
          <a:prstGeom prst="rect">
            <a:avLst/>
          </a:prstGeom>
          <a:noFill/>
        </p:spPr>
        <p:txBody>
          <a:bodyPr wrap="square" rtlCol="0">
            <a:spAutoFit/>
          </a:bodyPr>
          <a:lstStyle/>
          <a:p>
            <a:r>
              <a:rPr lang="zh-CN" altLang="en-US" sz="2000" dirty="0">
                <a:solidFill>
                  <a:srgbClr val="FF0000"/>
                </a:solidFill>
              </a:rPr>
              <a:t>思考</a:t>
            </a:r>
            <a:r>
              <a:rPr lang="zh-CN" altLang="en-US" sz="2000" dirty="0">
                <a:solidFill>
                  <a:srgbClr val="0000FF"/>
                </a:solidFill>
              </a:rPr>
              <a:t>：</a:t>
            </a:r>
            <a:endParaRPr lang="en-US" altLang="zh-CN" sz="2000" dirty="0">
              <a:solidFill>
                <a:srgbClr val="0000FF"/>
              </a:solidFill>
            </a:endParaRPr>
          </a:p>
          <a:p>
            <a:r>
              <a:rPr lang="en-US" altLang="zh-CN" sz="2000" dirty="0">
                <a:solidFill>
                  <a:srgbClr val="0000FF"/>
                </a:solidFill>
              </a:rPr>
              <a:t>1</a:t>
            </a:r>
            <a:r>
              <a:rPr lang="zh-CN" altLang="en-US" sz="2000" dirty="0">
                <a:solidFill>
                  <a:srgbClr val="0000FF"/>
                </a:solidFill>
              </a:rPr>
              <a:t>、为什么要引入簇，而不是直接增大扇区大小？</a:t>
            </a:r>
            <a:endParaRPr lang="en-US" altLang="zh-CN" sz="2000" dirty="0">
              <a:solidFill>
                <a:srgbClr val="0000FF"/>
              </a:solidFill>
            </a:endParaRPr>
          </a:p>
          <a:p>
            <a:r>
              <a:rPr lang="en-US" altLang="zh-CN" sz="2000" dirty="0">
                <a:solidFill>
                  <a:srgbClr val="0000FF"/>
                </a:solidFill>
              </a:rPr>
              <a:t>2</a:t>
            </a:r>
            <a:r>
              <a:rPr lang="zh-CN" altLang="en-US" sz="2000" dirty="0">
                <a:solidFill>
                  <a:srgbClr val="0000FF"/>
                </a:solidFill>
              </a:rPr>
              <a:t>、簇大和簇小各有什么影响？为什么？</a:t>
            </a:r>
          </a:p>
        </p:txBody>
      </p:sp>
      <p:sp>
        <p:nvSpPr>
          <p:cNvPr id="3" name="矩形: 圆角 2">
            <a:extLst>
              <a:ext uri="{FF2B5EF4-FFF2-40B4-BE49-F238E27FC236}">
                <a16:creationId xmlns:a16="http://schemas.microsoft.com/office/drawing/2014/main" id="{38A8DCDF-EA85-3C9A-063A-CAC6F87DF06D}"/>
              </a:ext>
            </a:extLst>
          </p:cNvPr>
          <p:cNvSpPr/>
          <p:nvPr/>
        </p:nvSpPr>
        <p:spPr>
          <a:xfrm>
            <a:off x="914741" y="908910"/>
            <a:ext cx="2671739"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123000"/>
              </a:lnSpc>
            </a:pPr>
            <a:r>
              <a:rPr lang="en-US" altLang="zh-CN" sz="2400" dirty="0"/>
              <a:t>FAT</a:t>
            </a:r>
            <a:r>
              <a:rPr lang="zh-CN" altLang="en-US" sz="2400" dirty="0"/>
              <a:t>文件</a:t>
            </a:r>
            <a:r>
              <a:rPr lang="zh-CN" altLang="en-US" sz="2400" b="1" dirty="0"/>
              <a:t>系统容量</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FAT 32</a:t>
            </a:r>
            <a:endParaRPr lang="zh-CN" altLang="en-US" sz="2800" b="1" dirty="0">
              <a:solidFill>
                <a:schemeClr val="bg1"/>
              </a:solidFill>
            </a:endParaRPr>
          </a:p>
        </p:txBody>
      </p:sp>
      <p:sp>
        <p:nvSpPr>
          <p:cNvPr id="5" name="文本框 4"/>
          <p:cNvSpPr txBox="1"/>
          <p:nvPr/>
        </p:nvSpPr>
        <p:spPr>
          <a:xfrm>
            <a:off x="1571348" y="1557013"/>
            <a:ext cx="9747680" cy="2242409"/>
          </a:xfrm>
          <a:prstGeom prst="rect">
            <a:avLst/>
          </a:prstGeom>
          <a:noFill/>
        </p:spPr>
        <p:txBody>
          <a:bodyPr wrap="square" rtlCol="0">
            <a:spAutoFit/>
          </a:bodyPr>
          <a:lstStyle/>
          <a:p>
            <a:pPr>
              <a:lnSpc>
                <a:spcPct val="150000"/>
              </a:lnSpc>
              <a:defRPr/>
            </a:pPr>
            <a:r>
              <a:rPr lang="zh-CN" altLang="en-US" sz="2400" dirty="0">
                <a:sym typeface="Wingdings" panose="05000000000000000000" pitchFamily="2" charset="2"/>
              </a:rPr>
              <a:t>每个簇</a:t>
            </a:r>
            <a:r>
              <a:rPr lang="en-US" altLang="zh-CN" sz="2400" dirty="0">
                <a:sym typeface="Wingdings" panose="05000000000000000000" pitchFamily="2" charset="2"/>
              </a:rPr>
              <a:t>(</a:t>
            </a:r>
            <a:r>
              <a:rPr lang="zh-CN" altLang="en-US" sz="2400" dirty="0">
                <a:sym typeface="Wingdings" panose="05000000000000000000" pitchFamily="2" charset="2"/>
              </a:rPr>
              <a:t>块</a:t>
            </a:r>
            <a:r>
              <a:rPr lang="en-US" altLang="zh-CN" sz="2400" dirty="0">
                <a:sym typeface="Wingdings" panose="05000000000000000000" pitchFamily="2" charset="2"/>
              </a:rPr>
              <a:t>)</a:t>
            </a:r>
            <a:r>
              <a:rPr lang="zh-CN" altLang="en-US" sz="2400" dirty="0">
                <a:sym typeface="Wingdings" panose="05000000000000000000" pitchFamily="2" charset="2"/>
              </a:rPr>
              <a:t>固定为</a:t>
            </a:r>
            <a:r>
              <a:rPr lang="en-US" altLang="zh-CN" sz="2400" dirty="0">
                <a:sym typeface="Wingdings" panose="05000000000000000000" pitchFamily="2" charset="2"/>
              </a:rPr>
              <a:t>4KB~32KB</a:t>
            </a:r>
            <a:r>
              <a:rPr lang="zh-CN" altLang="en-US" sz="2400" dirty="0">
                <a:sym typeface="Wingdings" panose="05000000000000000000" pitchFamily="2" charset="2"/>
              </a:rPr>
              <a:t>（最多</a:t>
            </a:r>
            <a:r>
              <a:rPr lang="en-US" altLang="zh-CN" sz="2400" dirty="0">
                <a:sym typeface="Wingdings" panose="05000000000000000000" pitchFamily="2" charset="2"/>
              </a:rPr>
              <a:t>64</a:t>
            </a:r>
            <a:r>
              <a:rPr lang="zh-CN" altLang="en-US" sz="2400" dirty="0">
                <a:sym typeface="Wingdings" panose="05000000000000000000" pitchFamily="2" charset="2"/>
              </a:rPr>
              <a:t>扇区）；</a:t>
            </a:r>
            <a:endParaRPr lang="en-US" altLang="zh-CN" sz="2400" dirty="0">
              <a:sym typeface="Wingdings" panose="05000000000000000000" pitchFamily="2" charset="2"/>
            </a:endParaRPr>
          </a:p>
          <a:p>
            <a:pPr>
              <a:lnSpc>
                <a:spcPct val="150000"/>
              </a:lnSpc>
              <a:defRPr/>
            </a:pPr>
            <a:r>
              <a:rPr lang="en-US" altLang="zh-CN" sz="2400" dirty="0">
                <a:sym typeface="Wingdings" panose="05000000000000000000" pitchFamily="2" charset="2"/>
              </a:rPr>
              <a:t>FAT</a:t>
            </a:r>
            <a:r>
              <a:rPr lang="zh-CN" altLang="en-US" sz="2400" dirty="0">
                <a:sym typeface="Wingdings" panose="05000000000000000000" pitchFamily="2" charset="2"/>
              </a:rPr>
              <a:t>表的表项占据</a:t>
            </a:r>
            <a:r>
              <a:rPr lang="en-US" altLang="zh-CN" sz="2400" dirty="0">
                <a:sym typeface="Wingdings" panose="05000000000000000000" pitchFamily="2" charset="2"/>
              </a:rPr>
              <a:t>32</a:t>
            </a:r>
            <a:r>
              <a:rPr lang="zh-CN" altLang="en-US" sz="2400" dirty="0">
                <a:sym typeface="Wingdings" panose="05000000000000000000" pitchFamily="2" charset="2"/>
              </a:rPr>
              <a:t>位，</a:t>
            </a:r>
            <a:r>
              <a:rPr lang="en-US" altLang="zh-CN" sz="2400" dirty="0">
                <a:sym typeface="Wingdings" panose="05000000000000000000" pitchFamily="2" charset="2"/>
              </a:rPr>
              <a:t>FAT</a:t>
            </a:r>
            <a:r>
              <a:rPr lang="zh-CN" altLang="en-US" sz="2400" dirty="0">
                <a:sym typeface="Wingdings" panose="05000000000000000000" pitchFamily="2" charset="2"/>
              </a:rPr>
              <a:t>表最大表项数</a:t>
            </a:r>
            <a:r>
              <a:rPr lang="en-US" altLang="zh-CN" sz="2400" dirty="0">
                <a:sym typeface="Wingdings" panose="05000000000000000000" pitchFamily="2" charset="2"/>
              </a:rPr>
              <a:t>2</a:t>
            </a:r>
            <a:r>
              <a:rPr lang="en-US" altLang="zh-CN" sz="2400" baseline="30000" dirty="0">
                <a:sym typeface="Wingdings" panose="05000000000000000000" pitchFamily="2" charset="2"/>
              </a:rPr>
              <a:t>32</a:t>
            </a:r>
            <a:r>
              <a:rPr lang="zh-CN" altLang="en-US" sz="2400" dirty="0">
                <a:sym typeface="Wingdings" panose="05000000000000000000" pitchFamily="2" charset="2"/>
              </a:rPr>
              <a:t>项（</a:t>
            </a:r>
            <a:r>
              <a:rPr lang="zh-CN" altLang="en-US" sz="2400" dirty="0">
                <a:solidFill>
                  <a:srgbClr val="0000FF"/>
                </a:solidFill>
                <a:sym typeface="Wingdings" panose="05000000000000000000" pitchFamily="2" charset="2"/>
              </a:rPr>
              <a:t>运行比</a:t>
            </a:r>
            <a:r>
              <a:rPr lang="en-US" altLang="zh-CN" sz="2400" dirty="0">
                <a:solidFill>
                  <a:srgbClr val="0000FF"/>
                </a:solidFill>
                <a:sym typeface="Wingdings" panose="05000000000000000000" pitchFamily="2" charset="2"/>
              </a:rPr>
              <a:t>FAT16</a:t>
            </a:r>
            <a:r>
              <a:rPr lang="zh-CN" altLang="en-US" sz="2400" dirty="0">
                <a:solidFill>
                  <a:srgbClr val="0000FF"/>
                </a:solidFill>
                <a:sym typeface="Wingdings" panose="05000000000000000000" pitchFamily="2" charset="2"/>
              </a:rPr>
              <a:t>慢</a:t>
            </a:r>
            <a:r>
              <a:rPr lang="zh-CN" altLang="en-US" sz="2400" dirty="0">
                <a:sym typeface="Wingdings" panose="05000000000000000000" pitchFamily="2" charset="2"/>
              </a:rPr>
              <a:t>）</a:t>
            </a:r>
            <a:r>
              <a:rPr lang="en-US" altLang="zh-CN" sz="2400" dirty="0">
                <a:sym typeface="Wingdings" panose="05000000000000000000" pitchFamily="2" charset="2"/>
              </a:rPr>
              <a:t>;</a:t>
            </a:r>
          </a:p>
          <a:p>
            <a:pPr>
              <a:lnSpc>
                <a:spcPct val="150000"/>
              </a:lnSpc>
              <a:defRPr/>
            </a:pPr>
            <a:r>
              <a:rPr lang="zh-CN" altLang="en-US" sz="2400" dirty="0">
                <a:sym typeface="Wingdings" panose="05000000000000000000" pitchFamily="2" charset="2"/>
              </a:rPr>
              <a:t>单个文件不能大于</a:t>
            </a:r>
            <a:r>
              <a:rPr lang="en-US" altLang="zh-CN" sz="2400" dirty="0"/>
              <a:t>4G</a:t>
            </a:r>
            <a:r>
              <a:rPr lang="zh-CN" altLang="en-US" sz="2400" dirty="0"/>
              <a:t>（</a:t>
            </a:r>
            <a:r>
              <a:rPr lang="en-US" altLang="zh-CN" sz="2400" dirty="0"/>
              <a:t>FCB</a:t>
            </a:r>
            <a:r>
              <a:rPr lang="zh-CN" altLang="en-US" sz="2400" dirty="0"/>
              <a:t>中文件长度</a:t>
            </a:r>
            <a:r>
              <a:rPr lang="en-US" altLang="zh-CN" sz="2400" dirty="0"/>
              <a:t>32</a:t>
            </a:r>
            <a:r>
              <a:rPr lang="zh-CN" altLang="en-US" sz="2400" dirty="0"/>
              <a:t>位）</a:t>
            </a:r>
            <a:r>
              <a:rPr lang="en-US" altLang="zh-CN" sz="2400" dirty="0"/>
              <a:t>;</a:t>
            </a:r>
            <a:endParaRPr lang="en-US" altLang="zh-CN" sz="2400" dirty="0">
              <a:sym typeface="Wingdings" panose="05000000000000000000" pitchFamily="2" charset="2"/>
            </a:endParaRPr>
          </a:p>
          <a:p>
            <a:pPr>
              <a:lnSpc>
                <a:spcPct val="150000"/>
              </a:lnSpc>
              <a:defRPr/>
            </a:pPr>
            <a:r>
              <a:rPr lang="en-US" altLang="zh-CN" sz="2400" dirty="0">
                <a:sym typeface="Wingdings" panose="05000000000000000000" pitchFamily="2" charset="2"/>
              </a:rPr>
              <a:t>FAT32</a:t>
            </a:r>
            <a:r>
              <a:rPr lang="zh-CN" altLang="en-US" sz="2400" dirty="0">
                <a:sym typeface="Wingdings" panose="05000000000000000000" pitchFamily="2" charset="2"/>
              </a:rPr>
              <a:t>管理的</a:t>
            </a:r>
            <a:r>
              <a:rPr lang="zh-CN" altLang="en-US" sz="2400" dirty="0">
                <a:solidFill>
                  <a:srgbClr val="0000FF"/>
                </a:solidFill>
                <a:sym typeface="Wingdings" panose="05000000000000000000" pitchFamily="2" charset="2"/>
              </a:rPr>
              <a:t>单个最大磁盘空间</a:t>
            </a:r>
            <a:r>
              <a:rPr lang="zh-CN" altLang="en-US" sz="2400" dirty="0">
                <a:sym typeface="Wingdings" panose="05000000000000000000" pitchFamily="2" charset="2"/>
              </a:rPr>
              <a:t>：</a:t>
            </a:r>
            <a:r>
              <a:rPr lang="en-US" altLang="zh-CN" sz="2400" dirty="0">
                <a:solidFill>
                  <a:srgbClr val="0000FF"/>
                </a:solidFill>
                <a:sym typeface="Wingdings" panose="05000000000000000000" pitchFamily="2" charset="2"/>
              </a:rPr>
              <a:t>512B * 2</a:t>
            </a:r>
            <a:r>
              <a:rPr lang="en-US" altLang="zh-CN" sz="2400" baseline="30000" dirty="0">
                <a:solidFill>
                  <a:srgbClr val="0000FF"/>
                </a:solidFill>
                <a:sym typeface="Wingdings" panose="05000000000000000000" pitchFamily="2" charset="2"/>
              </a:rPr>
              <a:t>32 </a:t>
            </a:r>
            <a:r>
              <a:rPr lang="en-US" altLang="zh-CN" sz="2400" dirty="0">
                <a:solidFill>
                  <a:srgbClr val="0000FF"/>
                </a:solidFill>
                <a:sym typeface="Wingdings" panose="05000000000000000000" pitchFamily="2" charset="2"/>
              </a:rPr>
              <a:t>= 2TB(</a:t>
            </a:r>
            <a:r>
              <a:rPr lang="en-US" altLang="zh-CN" sz="2400" dirty="0">
                <a:solidFill>
                  <a:srgbClr val="FF0000"/>
                </a:solidFill>
                <a:sym typeface="Wingdings" panose="05000000000000000000" pitchFamily="2" charset="2"/>
              </a:rPr>
              <a:t>Why?</a:t>
            </a:r>
            <a:r>
              <a:rPr lang="en-US" altLang="zh-CN" sz="2400" dirty="0">
                <a:solidFill>
                  <a:srgbClr val="0000FF"/>
                </a:solidFill>
                <a:sym typeface="Wingdings" panose="05000000000000000000" pitchFamily="2" charset="2"/>
              </a:rPr>
              <a:t>)</a:t>
            </a:r>
            <a:r>
              <a:rPr lang="zh-CN" altLang="en-US" sz="2400" dirty="0">
                <a:sym typeface="Wingdings" panose="05000000000000000000" pitchFamily="2" charset="2"/>
              </a:rPr>
              <a:t>。</a:t>
            </a:r>
            <a:endParaRPr lang="en-US" altLang="zh-CN" sz="2400" dirty="0">
              <a:sym typeface="Wingdings" panose="05000000000000000000" pitchFamily="2" charset="2"/>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1622998"/>
            <a:ext cx="527050" cy="527050"/>
          </a:xfrm>
          <a:prstGeom prst="rect">
            <a:avLst/>
          </a:prstGeom>
          <a:ln>
            <a:noFill/>
          </a:ln>
          <a:effectLst>
            <a:softEdge rad="0"/>
          </a:effectLst>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2193571"/>
            <a:ext cx="527050" cy="527050"/>
          </a:xfrm>
          <a:prstGeom prst="rect">
            <a:avLst/>
          </a:prstGeom>
          <a:ln>
            <a:noFill/>
          </a:ln>
          <a:effectLst>
            <a:softEdge rad="0"/>
          </a:effectLst>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2764144"/>
            <a:ext cx="527050" cy="527050"/>
          </a:xfrm>
          <a:prstGeom prst="rect">
            <a:avLst/>
          </a:prstGeom>
          <a:ln>
            <a:noFill/>
          </a:ln>
          <a:effectLst>
            <a:softEdge rad="0"/>
          </a:effectLst>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872972" y="3312112"/>
            <a:ext cx="527050" cy="527050"/>
          </a:xfrm>
          <a:prstGeom prst="rect">
            <a:avLst/>
          </a:prstGeom>
          <a:ln>
            <a:noFill/>
          </a:ln>
          <a:effectLst>
            <a:softEdge rad="0"/>
          </a:effectLst>
        </p:spPr>
      </p:pic>
      <p:sp>
        <p:nvSpPr>
          <p:cNvPr id="4" name="矩形: 圆角 3">
            <a:extLst>
              <a:ext uri="{FF2B5EF4-FFF2-40B4-BE49-F238E27FC236}">
                <a16:creationId xmlns:a16="http://schemas.microsoft.com/office/drawing/2014/main" id="{F2A21F04-FA98-8496-1247-3676E2E55A8A}"/>
              </a:ext>
            </a:extLst>
          </p:cNvPr>
          <p:cNvSpPr/>
          <p:nvPr/>
        </p:nvSpPr>
        <p:spPr>
          <a:xfrm>
            <a:off x="914741" y="908910"/>
            <a:ext cx="2671739"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123000"/>
              </a:lnSpc>
            </a:pPr>
            <a:r>
              <a:rPr lang="en-US" altLang="zh-CN" sz="2400" dirty="0"/>
              <a:t>FAT</a:t>
            </a:r>
            <a:r>
              <a:rPr lang="zh-CN" altLang="en-US" sz="2400" dirty="0"/>
              <a:t>文件</a:t>
            </a:r>
            <a:r>
              <a:rPr lang="zh-CN" altLang="en-US" sz="2400" b="1" dirty="0"/>
              <a:t>系统容量</a:t>
            </a:r>
          </a:p>
        </p:txBody>
      </p:sp>
      <p:graphicFrame>
        <p:nvGraphicFramePr>
          <p:cNvPr id="7" name="表格 6">
            <a:extLst>
              <a:ext uri="{FF2B5EF4-FFF2-40B4-BE49-F238E27FC236}">
                <a16:creationId xmlns:a16="http://schemas.microsoft.com/office/drawing/2014/main" id="{211B6A5A-8F73-F1F7-793C-EE8FAB44AC01}"/>
              </a:ext>
            </a:extLst>
          </p:cNvPr>
          <p:cNvGraphicFramePr>
            <a:graphicFrameLocks noGrp="1"/>
          </p:cNvGraphicFramePr>
          <p:nvPr>
            <p:extLst>
              <p:ext uri="{D42A27DB-BD31-4B8C-83A1-F6EECF244321}">
                <p14:modId xmlns:p14="http://schemas.microsoft.com/office/powerpoint/2010/main" val="987847684"/>
              </p:ext>
            </p:extLst>
          </p:nvPr>
        </p:nvGraphicFramePr>
        <p:xfrm>
          <a:off x="1869440" y="3799422"/>
          <a:ext cx="6116320" cy="29260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446187717"/>
                    </a:ext>
                  </a:extLst>
                </a:gridCol>
                <a:gridCol w="1412240">
                  <a:extLst>
                    <a:ext uri="{9D8B030D-6E8A-4147-A177-3AD203B41FA5}">
                      <a16:colId xmlns:a16="http://schemas.microsoft.com/office/drawing/2014/main" val="688351014"/>
                    </a:ext>
                  </a:extLst>
                </a:gridCol>
                <a:gridCol w="1529080">
                  <a:extLst>
                    <a:ext uri="{9D8B030D-6E8A-4147-A177-3AD203B41FA5}">
                      <a16:colId xmlns:a16="http://schemas.microsoft.com/office/drawing/2014/main" val="3848784696"/>
                    </a:ext>
                  </a:extLst>
                </a:gridCol>
                <a:gridCol w="1529080">
                  <a:extLst>
                    <a:ext uri="{9D8B030D-6E8A-4147-A177-3AD203B41FA5}">
                      <a16:colId xmlns:a16="http://schemas.microsoft.com/office/drawing/2014/main" val="3756522953"/>
                    </a:ext>
                  </a:extLst>
                </a:gridCol>
              </a:tblGrid>
              <a:tr h="349302">
                <a:tc>
                  <a:txBody>
                    <a:bodyPr/>
                    <a:lstStyle/>
                    <a:p>
                      <a:r>
                        <a:rPr lang="zh-CN" altLang="en-US" dirty="0"/>
                        <a:t>簇（块）大小</a:t>
                      </a:r>
                    </a:p>
                  </a:txBody>
                  <a:tcPr/>
                </a:tc>
                <a:tc>
                  <a:txBody>
                    <a:bodyPr/>
                    <a:lstStyle/>
                    <a:p>
                      <a:r>
                        <a:rPr lang="en-US" altLang="zh-CN" dirty="0"/>
                        <a:t>FAT12</a:t>
                      </a:r>
                      <a:endParaRPr lang="zh-CN" altLang="en-US" dirty="0"/>
                    </a:p>
                  </a:txBody>
                  <a:tcPr/>
                </a:tc>
                <a:tc>
                  <a:txBody>
                    <a:bodyPr/>
                    <a:lstStyle/>
                    <a:p>
                      <a:r>
                        <a:rPr lang="en-US" altLang="zh-CN" dirty="0"/>
                        <a:t>FAT16</a:t>
                      </a:r>
                      <a:endParaRPr lang="zh-CN" altLang="en-US" dirty="0"/>
                    </a:p>
                  </a:txBody>
                  <a:tcPr/>
                </a:tc>
                <a:tc>
                  <a:txBody>
                    <a:bodyPr/>
                    <a:lstStyle/>
                    <a:p>
                      <a:r>
                        <a:rPr lang="en-US" altLang="zh-CN" dirty="0"/>
                        <a:t>FAT32</a:t>
                      </a:r>
                      <a:endParaRPr lang="zh-CN" altLang="en-US" dirty="0"/>
                    </a:p>
                  </a:txBody>
                  <a:tcPr/>
                </a:tc>
                <a:extLst>
                  <a:ext uri="{0D108BD9-81ED-4DB2-BD59-A6C34878D82A}">
                    <a16:rowId xmlns:a16="http://schemas.microsoft.com/office/drawing/2014/main" val="2593164575"/>
                  </a:ext>
                </a:extLst>
              </a:tr>
              <a:tr h="349302">
                <a:tc>
                  <a:txBody>
                    <a:bodyPr/>
                    <a:lstStyle/>
                    <a:p>
                      <a:r>
                        <a:rPr lang="en-US" altLang="zh-CN" dirty="0"/>
                        <a:t>0.5KB</a:t>
                      </a:r>
                      <a:endParaRPr lang="zh-CN" altLang="en-US" dirty="0"/>
                    </a:p>
                  </a:txBody>
                  <a:tcPr/>
                </a:tc>
                <a:tc>
                  <a:txBody>
                    <a:bodyPr/>
                    <a:lstStyle/>
                    <a:p>
                      <a:r>
                        <a:rPr lang="en-US" altLang="zh-CN" dirty="0"/>
                        <a:t>2MB</a:t>
                      </a:r>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551600760"/>
                  </a:ext>
                </a:extLst>
              </a:tr>
              <a:tr h="349302">
                <a:tc>
                  <a:txBody>
                    <a:bodyPr/>
                    <a:lstStyle/>
                    <a:p>
                      <a:r>
                        <a:rPr lang="en-US" altLang="zh-CN" dirty="0"/>
                        <a:t>1KB</a:t>
                      </a:r>
                      <a:endParaRPr lang="zh-CN" altLang="en-US" dirty="0"/>
                    </a:p>
                  </a:txBody>
                  <a:tcPr/>
                </a:tc>
                <a:tc>
                  <a:txBody>
                    <a:bodyPr/>
                    <a:lstStyle/>
                    <a:p>
                      <a:r>
                        <a:rPr lang="en-US" altLang="zh-CN" dirty="0"/>
                        <a:t>4MB</a:t>
                      </a:r>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382370493"/>
                  </a:ext>
                </a:extLst>
              </a:tr>
              <a:tr h="349302">
                <a:tc>
                  <a:txBody>
                    <a:bodyPr/>
                    <a:lstStyle/>
                    <a:p>
                      <a:r>
                        <a:rPr lang="en-US" altLang="zh-CN" dirty="0"/>
                        <a:t>2KB</a:t>
                      </a:r>
                      <a:endParaRPr lang="zh-CN" altLang="en-US" dirty="0"/>
                    </a:p>
                  </a:txBody>
                  <a:tcPr/>
                </a:tc>
                <a:tc>
                  <a:txBody>
                    <a:bodyPr/>
                    <a:lstStyle/>
                    <a:p>
                      <a:r>
                        <a:rPr lang="en-US" altLang="zh-CN" dirty="0"/>
                        <a:t>8MB</a:t>
                      </a:r>
                      <a:endParaRPr lang="zh-CN" altLang="en-US" dirty="0"/>
                    </a:p>
                  </a:txBody>
                  <a:tcPr/>
                </a:tc>
                <a:tc>
                  <a:txBody>
                    <a:bodyPr/>
                    <a:lstStyle/>
                    <a:p>
                      <a:r>
                        <a:rPr lang="en-US" altLang="zh-CN" dirty="0"/>
                        <a:t>128MB</a:t>
                      </a:r>
                      <a:endParaRPr lang="zh-CN" altLang="en-US" dirty="0"/>
                    </a:p>
                  </a:txBody>
                  <a:tcPr/>
                </a:tc>
                <a:tc>
                  <a:txBody>
                    <a:bodyPr/>
                    <a:lstStyle/>
                    <a:p>
                      <a:endParaRPr lang="zh-CN" altLang="en-US"/>
                    </a:p>
                  </a:txBody>
                  <a:tcPr/>
                </a:tc>
                <a:extLst>
                  <a:ext uri="{0D108BD9-81ED-4DB2-BD59-A6C34878D82A}">
                    <a16:rowId xmlns:a16="http://schemas.microsoft.com/office/drawing/2014/main" val="3867157672"/>
                  </a:ext>
                </a:extLst>
              </a:tr>
              <a:tr h="349302">
                <a:tc>
                  <a:txBody>
                    <a:bodyPr/>
                    <a:lstStyle/>
                    <a:p>
                      <a:r>
                        <a:rPr lang="en-US" altLang="zh-CN" dirty="0"/>
                        <a:t>4KB</a:t>
                      </a:r>
                      <a:endParaRPr lang="zh-CN" altLang="en-US" dirty="0"/>
                    </a:p>
                  </a:txBody>
                  <a:tcPr/>
                </a:tc>
                <a:tc>
                  <a:txBody>
                    <a:bodyPr/>
                    <a:lstStyle/>
                    <a:p>
                      <a:r>
                        <a:rPr lang="en-US" altLang="zh-CN" dirty="0"/>
                        <a:t>16MB</a:t>
                      </a:r>
                      <a:endParaRPr lang="zh-CN" altLang="en-US" dirty="0"/>
                    </a:p>
                  </a:txBody>
                  <a:tcPr/>
                </a:tc>
                <a:tc>
                  <a:txBody>
                    <a:bodyPr/>
                    <a:lstStyle/>
                    <a:p>
                      <a:r>
                        <a:rPr lang="en-US" altLang="zh-CN" dirty="0"/>
                        <a:t>256MB</a:t>
                      </a:r>
                      <a:endParaRPr lang="zh-CN" altLang="en-US" dirty="0"/>
                    </a:p>
                  </a:txBody>
                  <a:tcPr/>
                </a:tc>
                <a:tc>
                  <a:txBody>
                    <a:bodyPr/>
                    <a:lstStyle/>
                    <a:p>
                      <a:r>
                        <a:rPr lang="en-US" altLang="zh-CN" dirty="0"/>
                        <a:t>1TB</a:t>
                      </a:r>
                      <a:endParaRPr lang="zh-CN" altLang="en-US" dirty="0"/>
                    </a:p>
                  </a:txBody>
                  <a:tcPr/>
                </a:tc>
                <a:extLst>
                  <a:ext uri="{0D108BD9-81ED-4DB2-BD59-A6C34878D82A}">
                    <a16:rowId xmlns:a16="http://schemas.microsoft.com/office/drawing/2014/main" val="3091359520"/>
                  </a:ext>
                </a:extLst>
              </a:tr>
              <a:tr h="349302">
                <a:tc>
                  <a:txBody>
                    <a:bodyPr/>
                    <a:lstStyle/>
                    <a:p>
                      <a:r>
                        <a:rPr lang="en-US" altLang="zh-CN" dirty="0"/>
                        <a:t>8KB</a:t>
                      </a:r>
                      <a:endParaRPr lang="zh-CN" altLang="en-US" dirty="0"/>
                    </a:p>
                  </a:txBody>
                  <a:tcPr/>
                </a:tc>
                <a:tc>
                  <a:txBody>
                    <a:bodyPr/>
                    <a:lstStyle/>
                    <a:p>
                      <a:endParaRPr lang="zh-CN" altLang="en-US"/>
                    </a:p>
                  </a:txBody>
                  <a:tcPr/>
                </a:tc>
                <a:tc>
                  <a:txBody>
                    <a:bodyPr/>
                    <a:lstStyle/>
                    <a:p>
                      <a:r>
                        <a:rPr lang="en-US" altLang="zh-CN" dirty="0"/>
                        <a:t>512MB</a:t>
                      </a:r>
                      <a:endParaRPr lang="zh-CN" altLang="en-US" dirty="0"/>
                    </a:p>
                  </a:txBody>
                  <a:tcPr/>
                </a:tc>
                <a:tc>
                  <a:txBody>
                    <a:bodyPr/>
                    <a:lstStyle/>
                    <a:p>
                      <a:r>
                        <a:rPr lang="en-US" altLang="zh-CN" dirty="0">
                          <a:solidFill>
                            <a:srgbClr val="0000FF"/>
                          </a:solidFill>
                        </a:rPr>
                        <a:t>2TB</a:t>
                      </a:r>
                      <a:endParaRPr lang="zh-CN" altLang="en-US" dirty="0">
                        <a:solidFill>
                          <a:srgbClr val="0000FF"/>
                        </a:solidFill>
                      </a:endParaRPr>
                    </a:p>
                  </a:txBody>
                  <a:tcPr/>
                </a:tc>
                <a:extLst>
                  <a:ext uri="{0D108BD9-81ED-4DB2-BD59-A6C34878D82A}">
                    <a16:rowId xmlns:a16="http://schemas.microsoft.com/office/drawing/2014/main" val="2320700897"/>
                  </a:ext>
                </a:extLst>
              </a:tr>
              <a:tr h="349302">
                <a:tc>
                  <a:txBody>
                    <a:bodyPr/>
                    <a:lstStyle/>
                    <a:p>
                      <a:r>
                        <a:rPr lang="en-US" altLang="zh-CN" dirty="0"/>
                        <a:t>16KB</a:t>
                      </a:r>
                      <a:endParaRPr lang="zh-CN" altLang="en-US" dirty="0"/>
                    </a:p>
                  </a:txBody>
                  <a:tcPr/>
                </a:tc>
                <a:tc>
                  <a:txBody>
                    <a:bodyPr/>
                    <a:lstStyle/>
                    <a:p>
                      <a:endParaRPr lang="zh-CN" altLang="en-US"/>
                    </a:p>
                  </a:txBody>
                  <a:tcPr/>
                </a:tc>
                <a:tc>
                  <a:txBody>
                    <a:bodyPr/>
                    <a:lstStyle/>
                    <a:p>
                      <a:r>
                        <a:rPr lang="en-US" altLang="zh-CN" dirty="0"/>
                        <a:t>1GB</a:t>
                      </a:r>
                      <a:endParaRPr lang="zh-CN" altLang="en-US" dirty="0"/>
                    </a:p>
                  </a:txBody>
                  <a:tcPr/>
                </a:tc>
                <a:tc>
                  <a:txBody>
                    <a:bodyPr/>
                    <a:lstStyle/>
                    <a:p>
                      <a:r>
                        <a:rPr lang="en-US" altLang="zh-CN" dirty="0">
                          <a:solidFill>
                            <a:srgbClr val="0000FF"/>
                          </a:solidFill>
                        </a:rPr>
                        <a:t>2TB</a:t>
                      </a:r>
                      <a:endParaRPr lang="zh-CN" altLang="en-US" dirty="0">
                        <a:solidFill>
                          <a:srgbClr val="0000FF"/>
                        </a:solidFill>
                      </a:endParaRPr>
                    </a:p>
                  </a:txBody>
                  <a:tcPr/>
                </a:tc>
                <a:extLst>
                  <a:ext uri="{0D108BD9-81ED-4DB2-BD59-A6C34878D82A}">
                    <a16:rowId xmlns:a16="http://schemas.microsoft.com/office/drawing/2014/main" val="2591171299"/>
                  </a:ext>
                </a:extLst>
              </a:tr>
              <a:tr h="349302">
                <a:tc>
                  <a:txBody>
                    <a:bodyPr/>
                    <a:lstStyle/>
                    <a:p>
                      <a:r>
                        <a:rPr lang="en-US" altLang="zh-CN" dirty="0"/>
                        <a:t>32KB</a:t>
                      </a:r>
                      <a:endParaRPr lang="zh-CN" altLang="en-US" dirty="0"/>
                    </a:p>
                  </a:txBody>
                  <a:tcPr/>
                </a:tc>
                <a:tc>
                  <a:txBody>
                    <a:bodyPr/>
                    <a:lstStyle/>
                    <a:p>
                      <a:endParaRPr lang="zh-CN" altLang="en-US" dirty="0"/>
                    </a:p>
                  </a:txBody>
                  <a:tcPr/>
                </a:tc>
                <a:tc>
                  <a:txBody>
                    <a:bodyPr/>
                    <a:lstStyle/>
                    <a:p>
                      <a:r>
                        <a:rPr lang="en-US" altLang="zh-CN" dirty="0"/>
                        <a:t>2GB</a:t>
                      </a:r>
                      <a:endParaRPr lang="zh-CN" altLang="en-US" dirty="0"/>
                    </a:p>
                  </a:txBody>
                  <a:tcPr/>
                </a:tc>
                <a:tc>
                  <a:txBody>
                    <a:bodyPr/>
                    <a:lstStyle/>
                    <a:p>
                      <a:r>
                        <a:rPr lang="en-US" altLang="zh-CN" dirty="0">
                          <a:solidFill>
                            <a:srgbClr val="0000FF"/>
                          </a:solidFill>
                        </a:rPr>
                        <a:t>2TB</a:t>
                      </a:r>
                      <a:endParaRPr lang="zh-CN" altLang="en-US" dirty="0">
                        <a:solidFill>
                          <a:srgbClr val="0000FF"/>
                        </a:solidFill>
                      </a:endParaRPr>
                    </a:p>
                  </a:txBody>
                  <a:tcPr/>
                </a:tc>
                <a:extLst>
                  <a:ext uri="{0D108BD9-81ED-4DB2-BD59-A6C34878D82A}">
                    <a16:rowId xmlns:a16="http://schemas.microsoft.com/office/drawing/2014/main" val="285332224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8.1.3</a:t>
            </a:r>
            <a:r>
              <a:rPr lang="zh-CN" altLang="en-US" sz="2800" b="1" dirty="0">
                <a:solidFill>
                  <a:schemeClr val="bg1"/>
                </a:solidFill>
              </a:rPr>
              <a:t>索引组织方式</a:t>
            </a:r>
          </a:p>
        </p:txBody>
      </p:sp>
      <p:grpSp>
        <p:nvGrpSpPr>
          <p:cNvPr id="23" name="iṡļiḓe"/>
          <p:cNvGrpSpPr/>
          <p:nvPr/>
        </p:nvGrpSpPr>
        <p:grpSpPr>
          <a:xfrm>
            <a:off x="669925" y="1318451"/>
            <a:ext cx="8821602" cy="1068227"/>
            <a:chOff x="660400" y="1787149"/>
            <a:chExt cx="8821602" cy="1068227"/>
          </a:xfrm>
        </p:grpSpPr>
        <p:grpSp>
          <p:nvGrpSpPr>
            <p:cNvPr id="25" name="iSḻíḓè"/>
            <p:cNvGrpSpPr/>
            <p:nvPr/>
          </p:nvGrpSpPr>
          <p:grpSpPr>
            <a:xfrm>
              <a:off x="1296567" y="1835355"/>
              <a:ext cx="8185435" cy="1020021"/>
              <a:chOff x="1296567" y="1835355"/>
              <a:chExt cx="10323883" cy="1020021"/>
            </a:xfrm>
          </p:grpSpPr>
          <p:sp>
            <p:nvSpPr>
              <p:cNvPr id="33" name="îṧľîḋé"/>
              <p:cNvSpPr txBox="1"/>
              <p:nvPr/>
            </p:nvSpPr>
            <p:spPr>
              <a:xfrm>
                <a:off x="1296567" y="1835355"/>
                <a:ext cx="2989871"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链接方式的缺点</a:t>
                </a:r>
              </a:p>
            </p:txBody>
          </p:sp>
          <p:sp>
            <p:nvSpPr>
              <p:cNvPr id="37" name="íşļîḓé"/>
              <p:cNvSpPr/>
              <p:nvPr/>
            </p:nvSpPr>
            <p:spPr bwMode="auto">
              <a:xfrm>
                <a:off x="1296567" y="2234688"/>
                <a:ext cx="4813594" cy="6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不能支持高效的</a:t>
                </a:r>
                <a:r>
                  <a:rPr lang="zh-CN" altLang="en-US" sz="2200" dirty="0">
                    <a:solidFill>
                      <a:srgbClr val="0000FF"/>
                    </a:solidFill>
                  </a:rPr>
                  <a:t>直接存取</a:t>
                </a:r>
              </a:p>
            </p:txBody>
          </p:sp>
          <p:sp>
            <p:nvSpPr>
              <p:cNvPr id="82" name="íşļîḓé"/>
              <p:cNvSpPr/>
              <p:nvPr/>
            </p:nvSpPr>
            <p:spPr bwMode="auto">
              <a:xfrm>
                <a:off x="6413578" y="2233257"/>
                <a:ext cx="52068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en-US" altLang="zh-CN" sz="2200" dirty="0"/>
                  <a:t>FAT</a:t>
                </a:r>
                <a:r>
                  <a:rPr lang="zh-CN" altLang="en-US" sz="2200" dirty="0"/>
                  <a:t>表需占用较大的内存空间（需装入整个磁盘的</a:t>
                </a:r>
                <a:r>
                  <a:rPr lang="en-US" altLang="zh-CN" sz="2200" dirty="0"/>
                  <a:t>FAT</a:t>
                </a:r>
                <a:r>
                  <a:rPr lang="zh-CN" altLang="en-US" sz="2200" dirty="0"/>
                  <a:t>表）</a:t>
                </a:r>
              </a:p>
            </p:txBody>
          </p:sp>
        </p:grpSp>
        <p:grpSp>
          <p:nvGrpSpPr>
            <p:cNvPr id="30" name="ïS1íḋé"/>
            <p:cNvGrpSpPr/>
            <p:nvPr/>
          </p:nvGrpSpPr>
          <p:grpSpPr>
            <a:xfrm>
              <a:off x="660400" y="1787149"/>
              <a:ext cx="497734" cy="497734"/>
              <a:chOff x="660400" y="1787149"/>
              <a:chExt cx="497734" cy="497734"/>
            </a:xfrm>
          </p:grpSpPr>
          <p:sp>
            <p:nvSpPr>
              <p:cNvPr id="31"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32"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38" name="iṡļiḓe"/>
          <p:cNvGrpSpPr/>
          <p:nvPr/>
        </p:nvGrpSpPr>
        <p:grpSpPr>
          <a:xfrm>
            <a:off x="651735" y="3054465"/>
            <a:ext cx="9128621" cy="497734"/>
            <a:chOff x="660400" y="1787149"/>
            <a:chExt cx="9128621" cy="497734"/>
          </a:xfrm>
        </p:grpSpPr>
        <p:sp>
          <p:nvSpPr>
            <p:cNvPr id="43" name="îṧľîḋé"/>
            <p:cNvSpPr txBox="1"/>
            <p:nvPr/>
          </p:nvSpPr>
          <p:spPr>
            <a:xfrm>
              <a:off x="1296567" y="1835355"/>
              <a:ext cx="849245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solidFill>
                    <a:srgbClr val="0000FF"/>
                  </a:solidFill>
                </a:rPr>
                <a:t>索引方式</a:t>
              </a:r>
              <a:r>
                <a:rPr lang="zh-CN" altLang="en-US" sz="2400" dirty="0"/>
                <a:t>：把所有的磁盘块号放在一个索引块</a:t>
              </a:r>
              <a:r>
                <a:rPr lang="en-US" altLang="zh-CN" sz="2400" dirty="0"/>
                <a:t>(</a:t>
              </a:r>
              <a:r>
                <a:rPr lang="zh-CN" altLang="en-US" sz="2400" dirty="0"/>
                <a:t>表</a:t>
              </a:r>
              <a:r>
                <a:rPr lang="en-US" altLang="zh-CN" sz="2400" dirty="0"/>
                <a:t>)</a:t>
              </a:r>
              <a:r>
                <a:rPr lang="zh-CN" altLang="en-US" sz="2400" dirty="0"/>
                <a:t>中。</a:t>
              </a:r>
            </a:p>
          </p:txBody>
        </p:sp>
        <p:grpSp>
          <p:nvGrpSpPr>
            <p:cNvPr id="40" name="ïS1íḋé"/>
            <p:cNvGrpSpPr/>
            <p:nvPr/>
          </p:nvGrpSpPr>
          <p:grpSpPr>
            <a:xfrm>
              <a:off x="660400" y="1787149"/>
              <a:ext cx="497734" cy="497734"/>
              <a:chOff x="660400" y="1787149"/>
              <a:chExt cx="497734" cy="497734"/>
            </a:xfrm>
          </p:grpSpPr>
          <p:sp>
            <p:nvSpPr>
              <p:cNvPr id="41"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42"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67" name="iṡļiḓe"/>
          <p:cNvGrpSpPr/>
          <p:nvPr/>
        </p:nvGrpSpPr>
        <p:grpSpPr>
          <a:xfrm>
            <a:off x="641863" y="3703187"/>
            <a:ext cx="9848025" cy="1065725"/>
            <a:chOff x="660400" y="1787149"/>
            <a:chExt cx="9848025" cy="1065725"/>
          </a:xfrm>
        </p:grpSpPr>
        <p:grpSp>
          <p:nvGrpSpPr>
            <p:cNvPr id="68" name="iSḻíḓè"/>
            <p:cNvGrpSpPr/>
            <p:nvPr/>
          </p:nvGrpSpPr>
          <p:grpSpPr>
            <a:xfrm>
              <a:off x="1296567" y="1835355"/>
              <a:ext cx="9211858" cy="1017519"/>
              <a:chOff x="1296567" y="1835355"/>
              <a:chExt cx="11618458" cy="1017519"/>
            </a:xfrm>
          </p:grpSpPr>
          <p:sp>
            <p:nvSpPr>
              <p:cNvPr id="72" name="îṧľîḋé"/>
              <p:cNvSpPr txBox="1"/>
              <p:nvPr/>
            </p:nvSpPr>
            <p:spPr>
              <a:xfrm>
                <a:off x="1296567" y="1835355"/>
                <a:ext cx="2989871"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优点：</a:t>
                </a:r>
              </a:p>
            </p:txBody>
          </p:sp>
          <p:sp>
            <p:nvSpPr>
              <p:cNvPr id="73" name="íşļîḓé"/>
              <p:cNvSpPr/>
              <p:nvPr/>
            </p:nvSpPr>
            <p:spPr bwMode="auto">
              <a:xfrm>
                <a:off x="1296568" y="2234688"/>
                <a:ext cx="2989869" cy="618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支持随机访问</a:t>
                </a:r>
              </a:p>
            </p:txBody>
          </p:sp>
          <p:sp>
            <p:nvSpPr>
              <p:cNvPr id="81" name="íşļîḓé"/>
              <p:cNvSpPr/>
              <p:nvPr/>
            </p:nvSpPr>
            <p:spPr bwMode="auto">
              <a:xfrm>
                <a:off x="4461036" y="2224778"/>
                <a:ext cx="8453989" cy="57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离散存储没有外碎片，但</a:t>
                </a:r>
                <a:r>
                  <a:rPr lang="zh-CN" altLang="en-US" sz="2200" dirty="0">
                    <a:solidFill>
                      <a:srgbClr val="0000FF"/>
                    </a:solidFill>
                  </a:rPr>
                  <a:t>索引块</a:t>
                </a:r>
                <a:r>
                  <a:rPr lang="zh-CN" altLang="en-US" sz="2200" dirty="0"/>
                  <a:t>的开销较重（特别是小文件）。</a:t>
                </a:r>
              </a:p>
            </p:txBody>
          </p:sp>
        </p:grpSp>
        <p:grpSp>
          <p:nvGrpSpPr>
            <p:cNvPr id="69" name="ïS1íḋé"/>
            <p:cNvGrpSpPr/>
            <p:nvPr/>
          </p:nvGrpSpPr>
          <p:grpSpPr>
            <a:xfrm>
              <a:off x="660400" y="1787149"/>
              <a:ext cx="497734" cy="497734"/>
              <a:chOff x="660400" y="1787149"/>
              <a:chExt cx="497734" cy="497734"/>
            </a:xfrm>
          </p:grpSpPr>
          <p:sp>
            <p:nvSpPr>
              <p:cNvPr id="70"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71"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4" name="iṡļiḓe"/>
          <p:cNvGrpSpPr/>
          <p:nvPr/>
        </p:nvGrpSpPr>
        <p:grpSpPr>
          <a:xfrm>
            <a:off x="645886" y="4689066"/>
            <a:ext cx="5568228" cy="1395185"/>
            <a:chOff x="660400" y="1787149"/>
            <a:chExt cx="5568228" cy="1395185"/>
          </a:xfrm>
        </p:grpSpPr>
        <p:grpSp>
          <p:nvGrpSpPr>
            <p:cNvPr id="75" name="iSḻíḓè"/>
            <p:cNvGrpSpPr/>
            <p:nvPr/>
          </p:nvGrpSpPr>
          <p:grpSpPr>
            <a:xfrm>
              <a:off x="1296567" y="1835355"/>
              <a:ext cx="4932061" cy="1346979"/>
              <a:chOff x="1296567" y="1835355"/>
              <a:chExt cx="6220564" cy="1346979"/>
            </a:xfrm>
          </p:grpSpPr>
          <p:sp>
            <p:nvSpPr>
              <p:cNvPr id="79" name="îṧľîḋé"/>
              <p:cNvSpPr txBox="1"/>
              <p:nvPr/>
            </p:nvSpPr>
            <p:spPr>
              <a:xfrm>
                <a:off x="1296567" y="1835355"/>
                <a:ext cx="2989871"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缺点：</a:t>
                </a:r>
              </a:p>
            </p:txBody>
          </p:sp>
          <p:sp>
            <p:nvSpPr>
              <p:cNvPr id="80" name="íşļîḓé"/>
              <p:cNvSpPr/>
              <p:nvPr/>
            </p:nvSpPr>
            <p:spPr bwMode="auto">
              <a:xfrm>
                <a:off x="1296567" y="2234688"/>
                <a:ext cx="6220564" cy="94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需要索引表</a:t>
                </a:r>
                <a:r>
                  <a:rPr lang="en-US" altLang="zh-CN" sz="2200" dirty="0"/>
                  <a:t>(</a:t>
                </a:r>
                <a:r>
                  <a:rPr lang="zh-CN" altLang="en-US" sz="2200" dirty="0"/>
                  <a:t>占用索引块）。</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对小文件，其索引块的利用率低。</a:t>
                </a:r>
              </a:p>
            </p:txBody>
          </p:sp>
        </p:grpSp>
        <p:grpSp>
          <p:nvGrpSpPr>
            <p:cNvPr id="76" name="ïS1íḋé"/>
            <p:cNvGrpSpPr/>
            <p:nvPr/>
          </p:nvGrpSpPr>
          <p:grpSpPr>
            <a:xfrm>
              <a:off x="660400" y="1787149"/>
              <a:ext cx="497734" cy="497734"/>
              <a:chOff x="660400" y="1787149"/>
              <a:chExt cx="497734" cy="497734"/>
            </a:xfrm>
          </p:grpSpPr>
          <p:sp>
            <p:nvSpPr>
              <p:cNvPr id="77" name="islîḋe"/>
              <p:cNvSpPr/>
              <p:nvPr/>
            </p:nvSpPr>
            <p:spPr>
              <a:xfrm>
                <a:off x="660400" y="1787149"/>
                <a:ext cx="497734" cy="49773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78" name="îŝlîďe"/>
              <p:cNvSpPr/>
              <p:nvPr/>
            </p:nvSpPr>
            <p:spPr>
              <a:xfrm>
                <a:off x="779848" y="1918584"/>
                <a:ext cx="258838" cy="2348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1.</a:t>
            </a:r>
            <a:r>
              <a:rPr lang="zh-CN" altLang="en-US" sz="2800" b="1" dirty="0">
                <a:solidFill>
                  <a:schemeClr val="bg1"/>
                </a:solidFill>
              </a:rPr>
              <a:t>单级索引组织方式</a:t>
            </a:r>
          </a:p>
        </p:txBody>
      </p:sp>
      <p:pic>
        <p:nvPicPr>
          <p:cNvPr id="34" name="Picture 4"/>
          <p:cNvPicPr>
            <a:picLocks noChangeAspect="1" noChangeArrowheads="1"/>
          </p:cNvPicPr>
          <p:nvPr/>
        </p:nvPicPr>
        <p:blipFill>
          <a:blip r:embed="rId2">
            <a:extLst>
              <a:ext uri="{28A0092B-C50C-407E-A947-70E740481C1C}">
                <a14:useLocalDpi xmlns:a14="http://schemas.microsoft.com/office/drawing/2010/main" val="0"/>
              </a:ext>
            </a:extLst>
          </a:blip>
          <a:srcRect l="7759" t="682" r="8002" b="1366"/>
          <a:stretch>
            <a:fillRect/>
          </a:stretch>
        </p:blipFill>
        <p:spPr>
          <a:xfrm>
            <a:off x="1949589" y="1120251"/>
            <a:ext cx="7691561" cy="5031346"/>
          </a:xfrm>
          <a:prstGeom prst="rect">
            <a:avLst/>
          </a:prstGeom>
          <a:noFill/>
          <a:ln w="38100" cmpd="dbl">
            <a:solidFill>
              <a:srgbClr val="CC6600"/>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2.</a:t>
            </a:r>
            <a:r>
              <a:rPr lang="zh-CN" altLang="en-US" sz="2800" b="1" dirty="0">
                <a:solidFill>
                  <a:schemeClr val="bg1"/>
                </a:solidFill>
              </a:rPr>
              <a:t>多级索引组织方式</a:t>
            </a:r>
          </a:p>
        </p:txBody>
      </p:sp>
      <p:pic>
        <p:nvPicPr>
          <p:cNvPr id="4" name="图片 3"/>
          <p:cNvPicPr>
            <a:picLocks noChangeAspect="1"/>
          </p:cNvPicPr>
          <p:nvPr/>
        </p:nvPicPr>
        <p:blipFill>
          <a:blip r:embed="rId2">
            <a:clrChange>
              <a:clrFrom>
                <a:srgbClr val="FFFFFF"/>
              </a:clrFrom>
              <a:clrTo>
                <a:srgbClr val="FFFFFF">
                  <a:alpha val="0"/>
                </a:srgbClr>
              </a:clrTo>
            </a:clrChange>
          </a:blip>
          <a:stretch>
            <a:fillRect/>
          </a:stretch>
        </p:blipFill>
        <p:spPr>
          <a:xfrm>
            <a:off x="3170936" y="1098889"/>
            <a:ext cx="5049785" cy="5154301"/>
          </a:xfrm>
          <a:prstGeom prst="rect">
            <a:avLst/>
          </a:prstGeom>
        </p:spPr>
      </p:pic>
      <p:sp>
        <p:nvSpPr>
          <p:cNvPr id="2" name="文本框 1">
            <a:extLst>
              <a:ext uri="{FF2B5EF4-FFF2-40B4-BE49-F238E27FC236}">
                <a16:creationId xmlns:a16="http://schemas.microsoft.com/office/drawing/2014/main" id="{C99C2F6D-C03D-3F2E-BC99-922A1A117353}"/>
              </a:ext>
            </a:extLst>
          </p:cNvPr>
          <p:cNvSpPr txBox="1"/>
          <p:nvPr/>
        </p:nvSpPr>
        <p:spPr>
          <a:xfrm>
            <a:off x="4349496" y="5968710"/>
            <a:ext cx="2198038" cy="369332"/>
          </a:xfrm>
          <a:prstGeom prst="rect">
            <a:avLst/>
          </a:prstGeom>
          <a:noFill/>
        </p:spPr>
        <p:txBody>
          <a:bodyPr wrap="none" rtlCol="0">
            <a:spAutoFit/>
          </a:bodyPr>
          <a:lstStyle/>
          <a:p>
            <a:r>
              <a:rPr lang="zh-CN" altLang="en-US" dirty="0"/>
              <a:t>图</a:t>
            </a:r>
            <a:r>
              <a:rPr lang="en-US" altLang="zh-CN" dirty="0"/>
              <a:t>8-7 </a:t>
            </a:r>
            <a:r>
              <a:rPr lang="zh-CN" altLang="en-US" dirty="0"/>
              <a:t>两级索引分配</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3.</a:t>
            </a:r>
            <a:r>
              <a:rPr lang="zh-CN" altLang="en-US" sz="2800" b="1" dirty="0">
                <a:solidFill>
                  <a:schemeClr val="bg1"/>
                </a:solidFill>
              </a:rPr>
              <a:t>增量式（混合）索引方式</a:t>
            </a:r>
            <a:r>
              <a:rPr lang="en-US" altLang="zh-CN" sz="2800" b="1" dirty="0">
                <a:solidFill>
                  <a:schemeClr val="bg1"/>
                </a:solidFill>
              </a:rPr>
              <a:t>(UNIX </a:t>
            </a:r>
            <a:r>
              <a:rPr lang="en-US" altLang="zh-CN" sz="2800" b="1" dirty="0" err="1">
                <a:solidFill>
                  <a:schemeClr val="bg1"/>
                </a:solidFill>
              </a:rPr>
              <a:t>iNode</a:t>
            </a:r>
            <a:r>
              <a:rPr lang="en-US" altLang="zh-CN" sz="2800" b="1" dirty="0">
                <a:solidFill>
                  <a:schemeClr val="bg1"/>
                </a:solidFill>
              </a:rPr>
              <a:t>)</a:t>
            </a:r>
            <a:endParaRPr lang="zh-CN" altLang="en-US" sz="2800" b="1" dirty="0">
              <a:solidFill>
                <a:schemeClr val="bg1"/>
              </a:solidFill>
            </a:endParaRPr>
          </a:p>
        </p:txBody>
      </p:sp>
      <p:pic>
        <p:nvPicPr>
          <p:cNvPr id="14" name="Picture 4"/>
          <p:cNvPicPr>
            <a:picLocks noChangeAspect="1" noChangeArrowheads="1"/>
          </p:cNvPicPr>
          <p:nvPr/>
        </p:nvPicPr>
        <p:blipFill>
          <a:blip r:embed="rId2">
            <a:extLst>
              <a:ext uri="{28A0092B-C50C-407E-A947-70E740481C1C}">
                <a14:useLocalDpi xmlns:a14="http://schemas.microsoft.com/office/drawing/2010/main" val="0"/>
              </a:ext>
            </a:extLst>
          </a:blip>
          <a:srcRect l="4486" t="948" r="4706" b="948"/>
          <a:stretch>
            <a:fillRect/>
          </a:stretch>
        </p:blipFill>
        <p:spPr bwMode="auto">
          <a:xfrm>
            <a:off x="1831760" y="1125243"/>
            <a:ext cx="8279906" cy="503232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3.</a:t>
            </a:r>
            <a:r>
              <a:rPr lang="zh-CN" altLang="en-US" sz="2800" b="1" dirty="0">
                <a:solidFill>
                  <a:schemeClr val="bg1"/>
                </a:solidFill>
              </a:rPr>
              <a:t>增量式（混合）索引组织方式</a:t>
            </a:r>
          </a:p>
        </p:txBody>
      </p:sp>
      <p:grpSp>
        <p:nvGrpSpPr>
          <p:cNvPr id="5"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13128" y="1197344"/>
            <a:ext cx="11165744" cy="5460904"/>
            <a:chOff x="516303" y="1929384"/>
            <a:chExt cx="11165744" cy="5460904"/>
          </a:xfrm>
        </p:grpSpPr>
        <p:sp>
          <p:nvSpPr>
            <p:cNvPr id="6"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7"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8"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1" name="isľîdê"/>
            <p:cNvSpPr txBox="1"/>
            <p:nvPr/>
          </p:nvSpPr>
          <p:spPr>
            <a:xfrm>
              <a:off x="516303" y="4160181"/>
              <a:ext cx="2558641" cy="3034799"/>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200" dirty="0"/>
                <a:t>对于</a:t>
              </a:r>
              <a:r>
                <a:rPr lang="zh-CN" altLang="en-US" sz="2200" dirty="0">
                  <a:solidFill>
                    <a:srgbClr val="0000FF"/>
                  </a:solidFill>
                </a:rPr>
                <a:t>小文件</a:t>
              </a:r>
              <a:r>
                <a:rPr lang="zh-CN" altLang="en-US" sz="2200" dirty="0"/>
                <a:t>（如大小为</a:t>
              </a:r>
              <a:r>
                <a:rPr lang="en-US" altLang="zh-CN" sz="2200" dirty="0"/>
                <a:t>1KB-10KB</a:t>
              </a:r>
              <a:r>
                <a:rPr lang="zh-CN" altLang="en-US" sz="2200" dirty="0"/>
                <a:t>或</a:t>
              </a:r>
              <a:r>
                <a:rPr lang="en-US" altLang="zh-CN" sz="2200" dirty="0"/>
                <a:t>4KB-40KB</a:t>
              </a:r>
              <a:r>
                <a:rPr lang="zh-CN" altLang="en-US" sz="2200" dirty="0"/>
                <a:t>）</a:t>
              </a:r>
            </a:p>
            <a:p>
              <a:pPr marL="342900" lvl="1" indent="-342900">
                <a:lnSpc>
                  <a:spcPct val="120000"/>
                </a:lnSpc>
                <a:buClr>
                  <a:srgbClr val="FFC000"/>
                </a:buClr>
                <a:buFont typeface="Wingdings" panose="05000000000000000000" pitchFamily="2" charset="2"/>
                <a:buChar char="Ø"/>
              </a:pPr>
              <a:r>
                <a:rPr lang="zh-CN" altLang="en-US" sz="2200" dirty="0"/>
                <a:t>可直接寻址（直接从</a:t>
              </a:r>
              <a:r>
                <a:rPr lang="en-US" altLang="zh-CN" sz="2200" dirty="0"/>
                <a:t>FCB</a:t>
              </a:r>
              <a:r>
                <a:rPr lang="zh-CN" altLang="en-US" sz="2200" dirty="0"/>
                <a:t>获得文件的盘块地址）</a:t>
              </a:r>
            </a:p>
          </p:txBody>
        </p:sp>
        <p:sp>
          <p:nvSpPr>
            <p:cNvPr id="12"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a:t>
              </a:r>
              <a:endParaRPr lang="zh-CN" altLang="en-US" sz="3200" b="1" i="1" dirty="0">
                <a:solidFill>
                  <a:schemeClr val="bg1"/>
                </a:solidFill>
              </a:endParaRPr>
            </a:p>
          </p:txBody>
        </p:sp>
        <p:sp>
          <p:nvSpPr>
            <p:cNvPr id="13"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4" name="í$lîdé"/>
            <p:cNvSpPr txBox="1"/>
            <p:nvPr/>
          </p:nvSpPr>
          <p:spPr>
            <a:xfrm>
              <a:off x="7522529" y="2605404"/>
              <a:ext cx="943925"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000</a:t>
              </a:r>
              <a:endParaRPr lang="zh-CN" altLang="en-US" sz="3200" b="1" i="1" dirty="0">
                <a:solidFill>
                  <a:schemeClr val="bg1"/>
                </a:solidFill>
              </a:endParaRPr>
            </a:p>
          </p:txBody>
        </p:sp>
        <p:sp>
          <p:nvSpPr>
            <p:cNvPr id="15"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6" name="isľîdê"/>
            <p:cNvSpPr txBox="1"/>
            <p:nvPr/>
          </p:nvSpPr>
          <p:spPr>
            <a:xfrm>
              <a:off x="3243282" y="4193772"/>
              <a:ext cx="2606348" cy="2681612"/>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200" dirty="0"/>
                <a:t>对于</a:t>
              </a:r>
              <a:r>
                <a:rPr lang="zh-CN" altLang="en-US" sz="2200" dirty="0">
                  <a:solidFill>
                    <a:srgbClr val="0000FF"/>
                  </a:solidFill>
                </a:rPr>
                <a:t>中文件</a:t>
              </a:r>
              <a:r>
                <a:rPr lang="zh-CN" altLang="en-US" sz="2200" dirty="0"/>
                <a:t>（如大小为</a:t>
              </a:r>
              <a:r>
                <a:rPr lang="en-US" altLang="zh-CN" sz="2200" dirty="0"/>
                <a:t>11KB-256KB</a:t>
              </a:r>
              <a:r>
                <a:rPr lang="zh-CN" altLang="en-US" sz="2200" dirty="0"/>
                <a:t>或</a:t>
              </a:r>
              <a:r>
                <a:rPr lang="en-US" altLang="zh-CN" sz="2200" dirty="0"/>
                <a:t>5KB-4MB</a:t>
              </a:r>
              <a:r>
                <a:rPr lang="zh-CN" altLang="en-US" sz="2200" dirty="0"/>
                <a:t>）</a:t>
              </a:r>
            </a:p>
            <a:p>
              <a:pPr marL="342900" lvl="1" indent="-342900">
                <a:lnSpc>
                  <a:spcPct val="120000"/>
                </a:lnSpc>
                <a:buClr>
                  <a:srgbClr val="FFC000"/>
                </a:buClr>
                <a:buFont typeface="Wingdings" panose="05000000000000000000" pitchFamily="2" charset="2"/>
                <a:buChar char="Ø"/>
              </a:pPr>
              <a:r>
                <a:rPr lang="zh-CN" altLang="en-US" sz="2200" dirty="0"/>
                <a:t>可一次间址（从</a:t>
              </a:r>
              <a:r>
                <a:rPr lang="en-US" altLang="zh-CN" sz="2200" dirty="0"/>
                <a:t>FCB</a:t>
              </a:r>
              <a:r>
                <a:rPr lang="zh-CN" altLang="en-US" sz="2200" dirty="0"/>
                <a:t>中找到该文件的索引表）</a:t>
              </a:r>
            </a:p>
          </p:txBody>
        </p:sp>
        <p:sp>
          <p:nvSpPr>
            <p:cNvPr id="17" name="isľîdê"/>
            <p:cNvSpPr txBox="1"/>
            <p:nvPr/>
          </p:nvSpPr>
          <p:spPr>
            <a:xfrm>
              <a:off x="6165124" y="4193772"/>
              <a:ext cx="2447789" cy="2270544"/>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200" dirty="0"/>
                <a:t>对于</a:t>
              </a:r>
              <a:r>
                <a:rPr lang="zh-CN" altLang="en-US" sz="2200" dirty="0">
                  <a:solidFill>
                    <a:srgbClr val="0000FF"/>
                  </a:solidFill>
                </a:rPr>
                <a:t>大型和特大型文件</a:t>
              </a:r>
            </a:p>
            <a:p>
              <a:pPr marL="342900" lvl="1" indent="-342900">
                <a:lnSpc>
                  <a:spcPct val="120000"/>
                </a:lnSpc>
                <a:buClr>
                  <a:srgbClr val="FFC000"/>
                </a:buClr>
                <a:buFont typeface="Wingdings" panose="05000000000000000000" pitchFamily="2" charset="2"/>
                <a:buChar char="Ø"/>
              </a:pPr>
              <a:r>
                <a:rPr lang="zh-CN" altLang="en-US" sz="2200" dirty="0"/>
                <a:t>可二次或三次间址（两级或三级索引组织方式）</a:t>
              </a:r>
            </a:p>
          </p:txBody>
        </p:sp>
        <p:sp>
          <p:nvSpPr>
            <p:cNvPr id="18" name="isľîdê"/>
            <p:cNvSpPr txBox="1"/>
            <p:nvPr/>
          </p:nvSpPr>
          <p:spPr>
            <a:xfrm>
              <a:off x="8928407" y="4179586"/>
              <a:ext cx="2753640" cy="3210702"/>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200" dirty="0">
                  <a:solidFill>
                    <a:srgbClr val="0000FF"/>
                  </a:solidFill>
                </a:rPr>
                <a:t>增量式索引组织方式</a:t>
              </a:r>
              <a:r>
                <a:rPr lang="zh-CN" altLang="en-US" sz="2200" dirty="0"/>
                <a:t>（混合索引组织方式）</a:t>
              </a:r>
            </a:p>
            <a:p>
              <a:pPr marL="342900" lvl="1" indent="-342900">
                <a:lnSpc>
                  <a:spcPct val="120000"/>
                </a:lnSpc>
                <a:buClr>
                  <a:srgbClr val="FFC000"/>
                </a:buClr>
                <a:buFont typeface="Wingdings" panose="05000000000000000000" pitchFamily="2" charset="2"/>
                <a:buChar char="Ø"/>
              </a:pPr>
              <a:r>
                <a:rPr lang="zh-CN" altLang="en-US" sz="2200" dirty="0"/>
                <a:t>既采用直接寻址方式，又采用单级和多级索引组织方式（间接寻址方式）</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9章 知识导图"/>
          <p:cNvPicPr>
            <a:picLocks noChangeAspect="1"/>
          </p:cNvPicPr>
          <p:nvPr/>
        </p:nvPicPr>
        <p:blipFill>
          <a:blip r:embed="rId3"/>
          <a:srcRect b="1580"/>
          <a:stretch>
            <a:fillRect/>
          </a:stretch>
        </p:blipFill>
        <p:spPr>
          <a:xfrm>
            <a:off x="4864735" y="828675"/>
            <a:ext cx="6333490" cy="59734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8</a:t>
            </a:r>
            <a:r>
              <a:rPr lang="zh-CN" altLang="en-US" sz="2800" b="1" dirty="0">
                <a:solidFill>
                  <a:schemeClr val="bg1"/>
                </a:solidFill>
              </a:rPr>
              <a:t>章知识导图</a:t>
            </a: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3" name="表格 2">
            <a:extLst>
              <a:ext uri="{FF2B5EF4-FFF2-40B4-BE49-F238E27FC236}">
                <a16:creationId xmlns:a16="http://schemas.microsoft.com/office/drawing/2014/main" id="{96FCA763-9EC3-1718-76EF-7B771D35C3BE}"/>
              </a:ext>
            </a:extLst>
          </p:cNvPr>
          <p:cNvGraphicFramePr/>
          <p:nvPr>
            <p:custDataLst>
              <p:tags r:id="rId1"/>
            </p:custDataLst>
            <p:extLst>
              <p:ext uri="{D42A27DB-BD31-4B8C-83A1-F6EECF244321}">
                <p14:modId xmlns:p14="http://schemas.microsoft.com/office/powerpoint/2010/main" val="580848333"/>
              </p:ext>
            </p:ext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extLst>
                    <a:ext uri="{9D8B030D-6E8A-4147-A177-3AD203B41FA5}">
                      <a16:colId xmlns:a16="http://schemas.microsoft.com/office/drawing/2014/main" val="20000"/>
                    </a:ext>
                  </a:extLst>
                </a:gridCol>
                <a:gridCol w="2952924">
                  <a:extLst>
                    <a:ext uri="{9D8B030D-6E8A-4147-A177-3AD203B41FA5}">
                      <a16:colId xmlns:a16="http://schemas.microsoft.com/office/drawing/2014/main" val="20001"/>
                    </a:ext>
                  </a:extLst>
                </a:gridCol>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extLst>
                  <a:ext uri="{0D108BD9-81ED-4DB2-BD59-A6C34878D82A}">
                    <a16:rowId xmlns:a16="http://schemas.microsoft.com/office/drawing/2014/main" val="10000"/>
                  </a:ext>
                </a:extLst>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1"/>
                  </a:ext>
                </a:extLst>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2"/>
                  </a:ext>
                </a:extLst>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存储器管理</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3"/>
                  </a:ext>
                </a:extLst>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虚拟存储器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4"/>
                  </a:ext>
                </a:extLst>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输入输出系统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5"/>
                  </a:ext>
                </a:extLst>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微软雅黑 (正文)"/>
                          <a:ea typeface="+mn-ea"/>
                          <a:cs typeface="+mn-cs"/>
                        </a:rPr>
                        <a:t>  第7章</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71755" indent="0" algn="l" defTabSz="914400" rtl="0" eaLnBrk="1" latinLnBrk="0" hangingPunct="1">
                        <a:lnSpc>
                          <a:spcPct val="100000"/>
                        </a:lnSpc>
                        <a:spcBef>
                          <a:spcPts val="300"/>
                        </a:spcBef>
                        <a:spcAft>
                          <a:spcPts val="300"/>
                        </a:spcAft>
                        <a:buNone/>
                      </a:pPr>
                      <a:r>
                        <a:rPr lang="zh-CN" altLang="en-US" sz="2000" kern="1200" dirty="0">
                          <a:solidFill>
                            <a:schemeClr val="tx1"/>
                          </a:solidFill>
                          <a:latin typeface="微软雅黑 (正文)"/>
                          <a:ea typeface="+mn-ea"/>
                          <a:cs typeface="+mn-cs"/>
                        </a:rPr>
                        <a:t>文件管理</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extLst>
                  <a:ext uri="{0D108BD9-81ED-4DB2-BD59-A6C34878D82A}">
                    <a16:rowId xmlns:a16="http://schemas.microsoft.com/office/drawing/2014/main" val="10006"/>
                  </a:ext>
                </a:extLst>
              </a:tr>
              <a:tr h="399121">
                <a:tc>
                  <a:txBody>
                    <a:bodyPr/>
                    <a:lstStyle/>
                    <a:p>
                      <a:pPr marL="71755" indent="0" algn="ctr">
                        <a:lnSpc>
                          <a:spcPct val="100000"/>
                        </a:lnSpc>
                        <a:spcBef>
                          <a:spcPts val="300"/>
                        </a:spcBef>
                        <a:spcAft>
                          <a:spcPts val="300"/>
                        </a:spcAft>
                        <a:buNone/>
                      </a:pPr>
                      <a:r>
                        <a:rPr lang="en-US" sz="2000" b="1" kern="1200" dirty="0">
                          <a:solidFill>
                            <a:schemeClr val="bg1"/>
                          </a:solidFill>
                          <a:latin typeface="微软雅黑 (正文)"/>
                          <a:ea typeface="+mn-ea"/>
                          <a:cs typeface="+mn-cs"/>
                        </a:rPr>
                        <a:t>第8章</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altLang="zh-CN" sz="2000" b="1" kern="1200" dirty="0" err="1">
                          <a:solidFill>
                            <a:schemeClr val="bg1"/>
                          </a:solidFill>
                          <a:latin typeface="微软雅黑 (正文)"/>
                          <a:ea typeface="+mn-ea"/>
                          <a:cs typeface="+mn-cs"/>
                        </a:rPr>
                        <a:t>磁盘存储器管理</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extLst>
                  <a:ext uri="{0D108BD9-81ED-4DB2-BD59-A6C34878D82A}">
                    <a16:rowId xmlns:a16="http://schemas.microsoft.com/office/drawing/2014/main" val="10007"/>
                  </a:ext>
                </a:extLst>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zh-CN" altLang="en-US" sz="2000" dirty="0">
                          <a:latin typeface="微软雅黑 (正文)"/>
                        </a:rPr>
                        <a:t>操作系统接口</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8"/>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第10章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多处理机操作系统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9"/>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第11章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marR="0" lvl="0" indent="0" algn="l" defTabSz="914400" rtl="0" eaLnBrk="1" fontAlgn="auto" latinLnBrk="0" hangingPunct="1">
                        <a:lnSpc>
                          <a:spcPct val="100000"/>
                        </a:lnSpc>
                        <a:spcBef>
                          <a:spcPts val="300"/>
                        </a:spcBef>
                        <a:spcAft>
                          <a:spcPts val="300"/>
                        </a:spcAft>
                        <a:buClrTx/>
                        <a:buSzTx/>
                        <a:buFontTx/>
                        <a:buNone/>
                        <a:tabLst/>
                        <a:defRPr/>
                      </a:pPr>
                      <a:r>
                        <a:rPr lang="zh-CN" altLang="en-US" sz="2000" dirty="0">
                          <a:solidFill>
                            <a:schemeClr val="bg1">
                              <a:lumMod val="75000"/>
                            </a:schemeClr>
                          </a:solidFill>
                          <a:latin typeface="微软雅黑 (正文)"/>
                        </a:rPr>
                        <a:t>多媒体操作系统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0"/>
                  </a:ext>
                </a:extLst>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第12章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保护和安全</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1"/>
                  </a:ext>
                </a:extLst>
              </a:tr>
            </a:tbl>
          </a:graphicData>
        </a:graphic>
      </p:graphicFrame>
      <p:pic>
        <p:nvPicPr>
          <p:cNvPr id="5" name="图形 10" descr="徽章勾号 1 纯色填充">
            <a:extLst>
              <a:ext uri="{FF2B5EF4-FFF2-40B4-BE49-F238E27FC236}">
                <a16:creationId xmlns:a16="http://schemas.microsoft.com/office/drawing/2014/main" id="{5DC12883-DF25-6A9F-3EBB-BB77E2A6779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78661" y="1341358"/>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形 9" descr="触控屏 纯色填充">
            <a:extLst>
              <a:ext uri="{FF2B5EF4-FFF2-40B4-BE49-F238E27FC236}">
                <a16:creationId xmlns:a16="http://schemas.microsoft.com/office/drawing/2014/main" id="{CACD8802-77D9-104E-9C03-B822BE5C832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58137" y="2821806"/>
            <a:ext cx="4318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234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 </a:t>
            </a:r>
            <a:r>
              <a:rPr lang="zh-CN" altLang="en-US" sz="2800" b="1" dirty="0">
                <a:solidFill>
                  <a:schemeClr val="bg1"/>
                </a:solidFill>
              </a:rPr>
              <a:t>文件存储空间管理</a:t>
            </a:r>
          </a:p>
        </p:txBody>
      </p:sp>
      <p:sp>
        <p:nvSpPr>
          <p:cNvPr id="4" name="íšḻíḑê"/>
          <p:cNvSpPr/>
          <p:nvPr/>
        </p:nvSpPr>
        <p:spPr>
          <a:xfrm>
            <a:off x="669925" y="1340152"/>
            <a:ext cx="7927445" cy="405747"/>
          </a:xfrm>
          <a:prstGeom prst="rect">
            <a:avLst/>
          </a:prstGeom>
          <a:noFill/>
          <a:ln>
            <a:noFill/>
          </a:ln>
        </p:spPr>
        <p:txBody>
          <a:bodyPr wrap="square" lIns="91440" tIns="45720" rIns="91440" bIns="45720" anchor="ctr" anchorCtr="0">
            <a:noAutofit/>
          </a:bodyPr>
          <a:lstStyle/>
          <a:p>
            <a:pPr marL="457200" indent="-457200">
              <a:buClr>
                <a:srgbClr val="FFC000"/>
              </a:buClr>
              <a:buFont typeface="Wingdings" panose="05000000000000000000" pitchFamily="2" charset="2"/>
              <a:buChar char="p"/>
            </a:pPr>
            <a:r>
              <a:rPr lang="zh-CN" altLang="en-US" sz="2600" dirty="0"/>
              <a:t>文件存储空间的</a:t>
            </a:r>
            <a:r>
              <a:rPr lang="zh-CN" altLang="en-US" sz="2600" dirty="0">
                <a:solidFill>
                  <a:srgbClr val="0000FF"/>
                </a:solidFill>
              </a:rPr>
              <a:t>基本分配单位</a:t>
            </a:r>
            <a:r>
              <a:rPr lang="zh-CN" altLang="en-US" sz="2600" dirty="0"/>
              <a:t>是</a:t>
            </a:r>
            <a:r>
              <a:rPr lang="zh-CN" altLang="en-US" sz="2600" u="sng" dirty="0">
                <a:solidFill>
                  <a:srgbClr val="0000FF"/>
                </a:solidFill>
              </a:rPr>
              <a:t>盘块</a:t>
            </a:r>
            <a:r>
              <a:rPr lang="zh-CN" altLang="en-US" sz="2600" dirty="0"/>
              <a:t>（</a:t>
            </a:r>
            <a:r>
              <a:rPr lang="en-US" altLang="zh-CN" sz="2600" dirty="0"/>
              <a:t>block</a:t>
            </a:r>
            <a:r>
              <a:rPr lang="zh-CN" altLang="en-US" sz="2600" dirty="0"/>
              <a:t>）</a:t>
            </a:r>
            <a:endParaRPr lang="en-US" altLang="zh-CN" sz="2600" dirty="0"/>
          </a:p>
        </p:txBody>
      </p:sp>
      <p:sp>
        <p:nvSpPr>
          <p:cNvPr id="9" name="文本框 8"/>
          <p:cNvSpPr txBox="1"/>
          <p:nvPr/>
        </p:nvSpPr>
        <p:spPr>
          <a:xfrm>
            <a:off x="669925" y="1855741"/>
            <a:ext cx="6720396" cy="461665"/>
          </a:xfrm>
          <a:prstGeom prst="rect">
            <a:avLst/>
          </a:prstGeom>
          <a:noFill/>
        </p:spPr>
        <p:txBody>
          <a:bodyPr wrap="square">
            <a:spAutoFit/>
          </a:bodyPr>
          <a:lstStyle/>
          <a:p>
            <a:pPr marL="342900" indent="-342900">
              <a:buClr>
                <a:srgbClr val="FFC000"/>
              </a:buClr>
              <a:buFont typeface="Wingdings" panose="05000000000000000000" pitchFamily="2" charset="2"/>
              <a:buChar char="p"/>
              <a:defRPr/>
            </a:pPr>
            <a:r>
              <a:rPr lang="zh-CN" altLang="en-US" sz="2400" dirty="0"/>
              <a:t> 常用的管理方法</a:t>
            </a:r>
          </a:p>
        </p:txBody>
      </p:sp>
      <p:grpSp>
        <p:nvGrpSpPr>
          <p:cNvPr id="10"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93027" y="2644405"/>
            <a:ext cx="11165744" cy="2990354"/>
            <a:chOff x="516303" y="1929384"/>
            <a:chExt cx="11165744" cy="2990354"/>
          </a:xfrm>
        </p:grpSpPr>
        <p:sp>
          <p:nvSpPr>
            <p:cNvPr id="11"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2"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3"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5"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6"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7" name="isľîdê"/>
            <p:cNvSpPr txBox="1"/>
            <p:nvPr/>
          </p:nvSpPr>
          <p:spPr>
            <a:xfrm>
              <a:off x="516303" y="4160181"/>
              <a:ext cx="2558641" cy="523221"/>
            </a:xfrm>
            <a:prstGeom prst="rect">
              <a:avLst/>
            </a:prstGeom>
            <a:noFill/>
            <a:ln>
              <a:noFill/>
            </a:ln>
          </p:spPr>
          <p:txBody>
            <a:bodyPr wrap="square" lIns="91440" tIns="45720" rIns="91440" bIns="45720" anchor="t" anchorCtr="0">
              <a:noAutofit/>
            </a:bodyPr>
            <a:lstStyle/>
            <a:p>
              <a:pPr lvl="1"/>
              <a:r>
                <a:rPr lang="zh-CN" altLang="en-US" sz="2400" dirty="0"/>
                <a:t>空闲区表法</a:t>
              </a:r>
              <a:endParaRPr lang="en-US" altLang="zh-CN" sz="2400" dirty="0"/>
            </a:p>
          </p:txBody>
        </p:sp>
        <p:sp>
          <p:nvSpPr>
            <p:cNvPr id="18"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3" name="isľîdê"/>
            <p:cNvSpPr txBox="1"/>
            <p:nvPr/>
          </p:nvSpPr>
          <p:spPr>
            <a:xfrm>
              <a:off x="3316860" y="4160181"/>
              <a:ext cx="2606348" cy="537612"/>
            </a:xfrm>
            <a:prstGeom prst="rect">
              <a:avLst/>
            </a:prstGeom>
            <a:noFill/>
            <a:ln>
              <a:noFill/>
            </a:ln>
          </p:spPr>
          <p:txBody>
            <a:bodyPr wrap="square" lIns="91440" tIns="45720" rIns="91440" bIns="45720" anchor="t" anchorCtr="0">
              <a:noAutofit/>
            </a:bodyPr>
            <a:lstStyle/>
            <a:p>
              <a:pPr marL="0" lvl="1" algn="ctr">
                <a:lnSpc>
                  <a:spcPct val="120000"/>
                </a:lnSpc>
                <a:buClr>
                  <a:srgbClr val="FFC000"/>
                </a:buClr>
              </a:pPr>
              <a:r>
                <a:rPr lang="zh-CN" altLang="en-US" sz="2400" dirty="0"/>
                <a:t>空闲链表法</a:t>
              </a:r>
            </a:p>
          </p:txBody>
        </p:sp>
        <p:sp>
          <p:nvSpPr>
            <p:cNvPr id="24" name="isľîdê"/>
            <p:cNvSpPr txBox="1"/>
            <p:nvPr/>
          </p:nvSpPr>
          <p:spPr>
            <a:xfrm>
              <a:off x="6165124" y="4193772"/>
              <a:ext cx="2447789" cy="489630"/>
            </a:xfrm>
            <a:prstGeom prst="rect">
              <a:avLst/>
            </a:prstGeom>
            <a:noFill/>
            <a:ln>
              <a:noFill/>
            </a:ln>
          </p:spPr>
          <p:txBody>
            <a:bodyPr wrap="square" lIns="91440" tIns="45720" rIns="91440" bIns="45720" anchor="t" anchorCtr="0">
              <a:noAutofit/>
            </a:bodyPr>
            <a:lstStyle/>
            <a:p>
              <a:pPr marL="0" lvl="1" algn="ctr">
                <a:lnSpc>
                  <a:spcPct val="120000"/>
                </a:lnSpc>
                <a:buClr>
                  <a:srgbClr val="FFC000"/>
                </a:buClr>
              </a:pPr>
              <a:r>
                <a:rPr lang="zh-CN" altLang="en-US" sz="2400" dirty="0"/>
                <a:t>位示图法</a:t>
              </a:r>
            </a:p>
          </p:txBody>
        </p:sp>
        <p:sp>
          <p:nvSpPr>
            <p:cNvPr id="25" name="isľîdê"/>
            <p:cNvSpPr txBox="1"/>
            <p:nvPr/>
          </p:nvSpPr>
          <p:spPr>
            <a:xfrm>
              <a:off x="8928407" y="4179586"/>
              <a:ext cx="2753640" cy="740152"/>
            </a:xfrm>
            <a:prstGeom prst="rect">
              <a:avLst/>
            </a:prstGeom>
            <a:noFill/>
            <a:ln>
              <a:noFill/>
            </a:ln>
          </p:spPr>
          <p:txBody>
            <a:bodyPr wrap="square" lIns="91440" tIns="45720" rIns="91440" bIns="45720" anchor="t" anchorCtr="0">
              <a:noAutofit/>
            </a:bodyPr>
            <a:lstStyle/>
            <a:p>
              <a:pPr marL="0" lvl="1" algn="ctr">
                <a:lnSpc>
                  <a:spcPct val="120000"/>
                </a:lnSpc>
                <a:buClr>
                  <a:srgbClr val="FFC000"/>
                </a:buClr>
              </a:pPr>
              <a:r>
                <a:rPr lang="zh-CN" altLang="en-US" sz="2400" dirty="0"/>
                <a:t>成组链接法</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8.2.1 </a:t>
            </a:r>
            <a:r>
              <a:rPr lang="zh-CN" altLang="en-US" sz="2800" b="1" dirty="0">
                <a:solidFill>
                  <a:schemeClr val="bg1"/>
                </a:solidFill>
              </a:rPr>
              <a:t>空闲区表法</a:t>
            </a:r>
          </a:p>
        </p:txBody>
      </p:sp>
      <p:sp>
        <p:nvSpPr>
          <p:cNvPr id="4" name="íšḻíḑê"/>
          <p:cNvSpPr/>
          <p:nvPr/>
        </p:nvSpPr>
        <p:spPr>
          <a:xfrm>
            <a:off x="669925" y="1340152"/>
            <a:ext cx="10845800" cy="405747"/>
          </a:xfrm>
          <a:prstGeom prst="rect">
            <a:avLst/>
          </a:prstGeom>
          <a:noFill/>
          <a:ln>
            <a:noFill/>
          </a:ln>
        </p:spPr>
        <p:txBody>
          <a:bodyPr wrap="square" lIns="91440" tIns="45720" rIns="91440" bIns="45720" anchor="ctr" anchorCtr="0">
            <a:noAutofit/>
          </a:bodyPr>
          <a:lstStyle/>
          <a:p>
            <a:pPr marL="457200" indent="-457200">
              <a:buClr>
                <a:srgbClr val="FFC000"/>
              </a:buClr>
              <a:buFont typeface="Wingdings" panose="05000000000000000000" pitchFamily="2" charset="2"/>
              <a:buChar char="p"/>
            </a:pPr>
            <a:r>
              <a:rPr lang="zh-CN" altLang="en-US" sz="2600" dirty="0"/>
              <a:t>系统为外存上所有空闲区建立一张空闲表，属于连续分配方式</a:t>
            </a:r>
          </a:p>
        </p:txBody>
      </p:sp>
      <p:sp>
        <p:nvSpPr>
          <p:cNvPr id="9" name="文本框 8"/>
          <p:cNvSpPr txBox="1"/>
          <p:nvPr/>
        </p:nvSpPr>
        <p:spPr>
          <a:xfrm>
            <a:off x="669925" y="1855741"/>
            <a:ext cx="6720396" cy="461665"/>
          </a:xfrm>
          <a:prstGeom prst="rect">
            <a:avLst/>
          </a:prstGeom>
          <a:noFill/>
        </p:spPr>
        <p:txBody>
          <a:bodyPr wrap="square">
            <a:spAutoFit/>
          </a:bodyPr>
          <a:lstStyle/>
          <a:p>
            <a:pPr marL="342900" indent="-342900">
              <a:buClr>
                <a:srgbClr val="FFC000"/>
              </a:buClr>
              <a:buFont typeface="Wingdings" panose="05000000000000000000" pitchFamily="2" charset="2"/>
              <a:buChar char="p"/>
              <a:defRPr/>
            </a:pPr>
            <a:r>
              <a:rPr lang="zh-CN" altLang="en-US" sz="2400" dirty="0"/>
              <a:t>分配与回收</a:t>
            </a:r>
          </a:p>
        </p:txBody>
      </p:sp>
      <p:sp>
        <p:nvSpPr>
          <p:cNvPr id="26" name="内容占位符 2"/>
          <p:cNvSpPr txBox="1"/>
          <p:nvPr/>
        </p:nvSpPr>
        <p:spPr>
          <a:xfrm>
            <a:off x="1126528" y="2427248"/>
            <a:ext cx="10165867" cy="7065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分配</a:t>
            </a:r>
            <a:r>
              <a:rPr lang="zh-CN" altLang="en-US" sz="2400" dirty="0"/>
              <a:t>类似于内存的分区动态分配，如首次适应算法和最佳适应算法等</a:t>
            </a:r>
          </a:p>
        </p:txBody>
      </p:sp>
      <p:sp>
        <p:nvSpPr>
          <p:cNvPr id="28" name="内容占位符 2"/>
          <p:cNvSpPr txBox="1"/>
          <p:nvPr/>
        </p:nvSpPr>
        <p:spPr>
          <a:xfrm>
            <a:off x="1126528" y="3056199"/>
            <a:ext cx="4978348" cy="7065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回收</a:t>
            </a:r>
            <a:r>
              <a:rPr lang="zh-CN" altLang="en-US" sz="2400" dirty="0"/>
              <a:t>时，也类似于内存回收方法</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3913351"/>
            <a:ext cx="9866842" cy="1973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空闲链表法</a:t>
            </a:r>
          </a:p>
        </p:txBody>
      </p:sp>
      <p:sp>
        <p:nvSpPr>
          <p:cNvPr id="13" name="内容占位符 2"/>
          <p:cNvSpPr txBox="1"/>
          <p:nvPr/>
        </p:nvSpPr>
        <p:spPr>
          <a:xfrm>
            <a:off x="810702" y="1861374"/>
            <a:ext cx="3644623" cy="9773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以盘块为单位链接起来</a:t>
            </a:r>
          </a:p>
          <a:p>
            <a:pPr>
              <a:buClr>
                <a:srgbClr val="FF0000"/>
              </a:buClr>
              <a:buFont typeface="Wingdings" panose="05000000000000000000" pitchFamily="2" charset="2"/>
              <a:buChar char="Ø"/>
            </a:pPr>
            <a:r>
              <a:rPr lang="zh-CN" altLang="en-US" sz="2400" dirty="0"/>
              <a:t>优点：分配和回收简单</a:t>
            </a:r>
          </a:p>
        </p:txBody>
      </p:sp>
      <p:sp>
        <p:nvSpPr>
          <p:cNvPr id="35" name="内容占位符 2"/>
          <p:cNvSpPr txBox="1"/>
          <p:nvPr/>
        </p:nvSpPr>
        <p:spPr>
          <a:xfrm>
            <a:off x="810702" y="3568960"/>
            <a:ext cx="5666994" cy="3245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3000"/>
              </a:lnSpc>
              <a:spcBef>
                <a:spcPts val="600"/>
              </a:spcBef>
              <a:buClr>
                <a:srgbClr val="FF0000"/>
              </a:buClr>
              <a:buFont typeface="Wingdings" panose="05000000000000000000" pitchFamily="2" charset="2"/>
              <a:buChar char="Ø"/>
            </a:pPr>
            <a:r>
              <a:rPr lang="zh-CN" altLang="en-US" sz="2400" dirty="0"/>
              <a:t>将所有空闲盘区（每个盘区可包含若干个盘块）链接起来</a:t>
            </a:r>
          </a:p>
          <a:p>
            <a:pPr>
              <a:lnSpc>
                <a:spcPct val="123000"/>
              </a:lnSpc>
              <a:spcBef>
                <a:spcPts val="600"/>
              </a:spcBef>
              <a:buClr>
                <a:srgbClr val="FF0000"/>
              </a:buClr>
              <a:buFont typeface="Wingdings" panose="05000000000000000000" pitchFamily="2" charset="2"/>
              <a:buChar char="Ø"/>
            </a:pPr>
            <a:r>
              <a:rPr lang="zh-CN" altLang="en-US" sz="2400" dirty="0"/>
              <a:t>分配盘区的方法与内存分区的动态分配方法类似</a:t>
            </a:r>
          </a:p>
          <a:p>
            <a:pPr>
              <a:lnSpc>
                <a:spcPct val="123000"/>
              </a:lnSpc>
              <a:spcBef>
                <a:spcPts val="600"/>
              </a:spcBef>
              <a:buClr>
                <a:srgbClr val="FF0000"/>
              </a:buClr>
              <a:buFont typeface="Wingdings" panose="05000000000000000000" pitchFamily="2" charset="2"/>
              <a:buChar char="Ø"/>
            </a:pPr>
            <a:r>
              <a:rPr lang="zh-CN" altLang="en-US" sz="2400" dirty="0"/>
              <a:t>优点：效率较高</a:t>
            </a:r>
          </a:p>
          <a:p>
            <a:pPr>
              <a:lnSpc>
                <a:spcPct val="123000"/>
              </a:lnSpc>
              <a:spcBef>
                <a:spcPts val="600"/>
              </a:spcBef>
              <a:buClr>
                <a:srgbClr val="FF0000"/>
              </a:buClr>
              <a:buFont typeface="Wingdings" panose="05000000000000000000" pitchFamily="2" charset="2"/>
              <a:buChar char="Ø"/>
            </a:pPr>
            <a:r>
              <a:rPr lang="zh-CN" altLang="en-US" sz="2400" dirty="0"/>
              <a:t>缺点：分配和回收比较复杂</a:t>
            </a:r>
          </a:p>
        </p:txBody>
      </p:sp>
      <p:sp>
        <p:nvSpPr>
          <p:cNvPr id="36" name="矩形: 圆角 35"/>
          <p:cNvSpPr/>
          <p:nvPr/>
        </p:nvSpPr>
        <p:spPr>
          <a:xfrm>
            <a:off x="810702" y="1092055"/>
            <a:ext cx="195025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空闲</a:t>
            </a:r>
            <a:r>
              <a:rPr lang="zh-CN" altLang="en-US" sz="2400" dirty="0">
                <a:solidFill>
                  <a:srgbClr val="FF0000"/>
                </a:solidFill>
              </a:rPr>
              <a:t>盘块</a:t>
            </a:r>
            <a:r>
              <a:rPr lang="zh-CN" altLang="en-US" sz="2400" dirty="0"/>
              <a:t>链</a:t>
            </a:r>
          </a:p>
        </p:txBody>
      </p:sp>
      <p:sp>
        <p:nvSpPr>
          <p:cNvPr id="37" name="矩形: 圆角 36"/>
          <p:cNvSpPr/>
          <p:nvPr/>
        </p:nvSpPr>
        <p:spPr>
          <a:xfrm>
            <a:off x="817074" y="2895300"/>
            <a:ext cx="195025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zh-CN" altLang="en-US" sz="2400" dirty="0"/>
              <a:t>空闲</a:t>
            </a:r>
            <a:r>
              <a:rPr lang="zh-CN" altLang="en-US" sz="2400" dirty="0">
                <a:solidFill>
                  <a:srgbClr val="FF0000"/>
                </a:solidFill>
              </a:rPr>
              <a:t>盘区</a:t>
            </a:r>
            <a:r>
              <a:rPr lang="zh-CN" altLang="en-US" sz="2400" dirty="0"/>
              <a:t>链</a:t>
            </a:r>
          </a:p>
        </p:txBody>
      </p:sp>
      <p:sp>
        <p:nvSpPr>
          <p:cNvPr id="38" name="内容占位符 2"/>
          <p:cNvSpPr txBox="1"/>
          <p:nvPr/>
        </p:nvSpPr>
        <p:spPr>
          <a:xfrm>
            <a:off x="4455325" y="2315482"/>
            <a:ext cx="2620178"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 typeface="Wingdings" panose="05000000000000000000" pitchFamily="2" charset="2"/>
              <a:buChar char="Ø"/>
            </a:pPr>
            <a:r>
              <a:rPr lang="zh-CN" altLang="en-US" sz="2400" dirty="0"/>
              <a:t>缺点：效率较低</a:t>
            </a:r>
          </a:p>
        </p:txBody>
      </p:sp>
      <p:pic>
        <p:nvPicPr>
          <p:cNvPr id="39" name="Picture 4"/>
          <p:cNvPicPr>
            <a:picLocks noChangeAspect="1" noChangeArrowheads="1"/>
          </p:cNvPicPr>
          <p:nvPr/>
        </p:nvPicPr>
        <p:blipFill>
          <a:blip r:embed="rId2">
            <a:extLst>
              <a:ext uri="{28A0092B-C50C-407E-A947-70E740481C1C}">
                <a14:useLocalDpi xmlns:a14="http://schemas.microsoft.com/office/drawing/2010/main" val="0"/>
              </a:ext>
            </a:extLst>
          </a:blip>
          <a:srcRect l="18443" t="648" r="18672" b="1299"/>
          <a:stretch>
            <a:fillRect/>
          </a:stretch>
        </p:blipFill>
        <p:spPr bwMode="auto">
          <a:xfrm>
            <a:off x="7459154" y="1207468"/>
            <a:ext cx="4250208" cy="4970546"/>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8.2.2 </a:t>
            </a:r>
            <a:r>
              <a:rPr lang="zh-CN" altLang="en-US" sz="2800" b="1" dirty="0">
                <a:solidFill>
                  <a:schemeClr val="bg1"/>
                </a:solidFill>
              </a:rPr>
              <a:t>位示图法</a:t>
            </a:r>
          </a:p>
        </p:txBody>
      </p:sp>
      <p:sp>
        <p:nvSpPr>
          <p:cNvPr id="225" name="íšḻíḑê"/>
          <p:cNvSpPr/>
          <p:nvPr/>
        </p:nvSpPr>
        <p:spPr>
          <a:xfrm>
            <a:off x="740983" y="1080226"/>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位示图</a:t>
            </a:r>
          </a:p>
        </p:txBody>
      </p:sp>
      <p:sp>
        <p:nvSpPr>
          <p:cNvPr id="15" name="内容占位符 2"/>
          <p:cNvSpPr txBox="1"/>
          <p:nvPr/>
        </p:nvSpPr>
        <p:spPr>
          <a:xfrm>
            <a:off x="306361" y="1530882"/>
            <a:ext cx="10506640" cy="27303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3000"/>
              </a:lnSpc>
              <a:spcBef>
                <a:spcPts val="0"/>
              </a:spcBef>
              <a:buClr>
                <a:srgbClr val="FF0000"/>
              </a:buClr>
              <a:buFont typeface="Wingdings" panose="05000000000000000000" pitchFamily="2" charset="2"/>
              <a:buChar char="Ø"/>
            </a:pPr>
            <a:r>
              <a:rPr lang="zh-CN" altLang="en-US" sz="2400" dirty="0">
                <a:sym typeface="Wingdings" panose="05000000000000000000" pitchFamily="2" charset="2"/>
              </a:rPr>
              <a:t>利用二进制的一位来表示磁盘中一个盘块的使用情况</a:t>
            </a:r>
            <a:endParaRPr lang="en-US" altLang="zh-CN" sz="2400" dirty="0">
              <a:sym typeface="Wingdings" panose="05000000000000000000" pitchFamily="2" charset="2"/>
            </a:endParaRPr>
          </a:p>
          <a:p>
            <a:pPr lvl="2">
              <a:lnSpc>
                <a:spcPct val="123000"/>
              </a:lnSpc>
              <a:spcBef>
                <a:spcPts val="0"/>
              </a:spcBef>
              <a:buClr>
                <a:srgbClr val="FF0000"/>
              </a:buClr>
              <a:buFont typeface="Wingdings" panose="05000000000000000000" pitchFamily="2" charset="2"/>
              <a:buChar char="p"/>
            </a:pPr>
            <a:r>
              <a:rPr lang="zh-CN" altLang="en-US" sz="2400" dirty="0">
                <a:sym typeface="Wingdings" panose="05000000000000000000" pitchFamily="2" charset="2"/>
              </a:rPr>
              <a:t>当值为</a:t>
            </a:r>
            <a:r>
              <a:rPr lang="en-US" altLang="zh-CN" sz="2400" dirty="0">
                <a:sym typeface="Wingdings" panose="05000000000000000000" pitchFamily="2" charset="2"/>
              </a:rPr>
              <a:t>0</a:t>
            </a:r>
            <a:r>
              <a:rPr lang="zh-CN" altLang="en-US" sz="2400" dirty="0">
                <a:sym typeface="Wingdings" panose="05000000000000000000" pitchFamily="2" charset="2"/>
              </a:rPr>
              <a:t>时，表示对应的盘块空闲</a:t>
            </a:r>
            <a:endParaRPr lang="en-US" altLang="zh-CN" sz="2400" dirty="0">
              <a:sym typeface="Wingdings" panose="05000000000000000000" pitchFamily="2" charset="2"/>
            </a:endParaRPr>
          </a:p>
          <a:p>
            <a:pPr lvl="2">
              <a:lnSpc>
                <a:spcPct val="123000"/>
              </a:lnSpc>
              <a:spcBef>
                <a:spcPts val="0"/>
              </a:spcBef>
              <a:buClr>
                <a:srgbClr val="FF0000"/>
              </a:buClr>
              <a:buFont typeface="Wingdings" panose="05000000000000000000" pitchFamily="2" charset="2"/>
              <a:buChar char="p"/>
            </a:pPr>
            <a:r>
              <a:rPr lang="zh-CN" altLang="en-US" sz="2400" dirty="0">
                <a:sym typeface="Wingdings" panose="05000000000000000000" pitchFamily="2" charset="2"/>
              </a:rPr>
              <a:t>当值为</a:t>
            </a:r>
            <a:r>
              <a:rPr lang="en-US" altLang="zh-CN" sz="2400" dirty="0">
                <a:sym typeface="Wingdings" panose="05000000000000000000" pitchFamily="2" charset="2"/>
              </a:rPr>
              <a:t>1</a:t>
            </a:r>
            <a:r>
              <a:rPr lang="zh-CN" altLang="en-US" sz="2400" dirty="0">
                <a:sym typeface="Wingdings" panose="05000000000000000000" pitchFamily="2" charset="2"/>
              </a:rPr>
              <a:t>时，表示已分配</a:t>
            </a:r>
          </a:p>
          <a:p>
            <a:pPr lvl="1">
              <a:lnSpc>
                <a:spcPct val="123000"/>
              </a:lnSpc>
              <a:spcBef>
                <a:spcPts val="0"/>
              </a:spcBef>
              <a:buClr>
                <a:srgbClr val="FF0000"/>
              </a:buClr>
              <a:buFont typeface="Wingdings" panose="05000000000000000000" pitchFamily="2" charset="2"/>
              <a:buChar char="Ø"/>
            </a:pPr>
            <a:r>
              <a:rPr lang="zh-CN" altLang="en-US" sz="2400" dirty="0">
                <a:solidFill>
                  <a:srgbClr val="0000FF"/>
                </a:solidFill>
                <a:sym typeface="Wingdings" panose="05000000000000000000" pitchFamily="2" charset="2"/>
              </a:rPr>
              <a:t>磁盘上的所有盘块都有一个二进制位与之对应，这样，由所有盘块所对应的位构成一个集合</a:t>
            </a:r>
            <a:r>
              <a:rPr lang="zh-CN" altLang="en-US" sz="2400" dirty="0">
                <a:sym typeface="Wingdings" panose="05000000000000000000" pitchFamily="2" charset="2"/>
              </a:rPr>
              <a:t>，称为</a:t>
            </a:r>
            <a:r>
              <a:rPr lang="zh-CN" altLang="en-US" sz="2400" dirty="0">
                <a:solidFill>
                  <a:srgbClr val="FF0000"/>
                </a:solidFill>
                <a:sym typeface="Wingdings" panose="05000000000000000000" pitchFamily="2" charset="2"/>
              </a:rPr>
              <a:t>位示图。</a:t>
            </a:r>
          </a:p>
        </p:txBody>
      </p:sp>
      <p:pic>
        <p:nvPicPr>
          <p:cNvPr id="16" name="图片 15"/>
          <p:cNvPicPr>
            <a:picLocks noChangeAspect="1"/>
          </p:cNvPicPr>
          <p:nvPr/>
        </p:nvPicPr>
        <p:blipFill>
          <a:blip r:embed="rId2">
            <a:clrChange>
              <a:clrFrom>
                <a:srgbClr val="FFFFFF"/>
              </a:clrFrom>
              <a:clrTo>
                <a:srgbClr val="FFFFFF">
                  <a:alpha val="0"/>
                </a:srgbClr>
              </a:clrTo>
            </a:clrChange>
          </a:blip>
          <a:stretch>
            <a:fillRect/>
          </a:stretch>
        </p:blipFill>
        <p:spPr>
          <a:xfrm>
            <a:off x="946706" y="3888941"/>
            <a:ext cx="10298588" cy="2325427"/>
          </a:xfrm>
          <a:prstGeom prst="rect">
            <a:avLst/>
          </a:prstGeom>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盘块的分配和回收</a:t>
            </a:r>
          </a:p>
        </p:txBody>
      </p:sp>
      <p:sp>
        <p:nvSpPr>
          <p:cNvPr id="40" name="ïşľîďè"/>
          <p:cNvSpPr/>
          <p:nvPr/>
        </p:nvSpPr>
        <p:spPr>
          <a:xfrm>
            <a:off x="-788524" y="1134122"/>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42" name="í$1iďè"/>
          <p:cNvGrpSpPr/>
          <p:nvPr/>
        </p:nvGrpSpPr>
        <p:grpSpPr>
          <a:xfrm>
            <a:off x="3348471" y="1198508"/>
            <a:ext cx="8618628" cy="2680737"/>
            <a:chOff x="4136995" y="1408046"/>
            <a:chExt cx="8618628" cy="2680737"/>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4" name="ïSḻiḍé"/>
            <p:cNvSpPr txBox="1"/>
            <p:nvPr/>
          </p:nvSpPr>
          <p:spPr>
            <a:xfrm>
              <a:off x="4882718" y="1408046"/>
              <a:ext cx="7872905" cy="268073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dirty="0"/>
                <a:t>盘块的分配</a:t>
              </a:r>
              <a:endParaRPr lang="en-US" altLang="zh-CN" sz="2400" dirty="0"/>
            </a:p>
            <a:p>
              <a:pPr marL="0" marR="0" lvl="1" indent="-228600" algn="l" defTabSz="914400" rtl="0" eaLnBrk="1" fontAlgn="base" latinLnBrk="0" hangingPunct="1">
                <a:lnSpc>
                  <a:spcPct val="123000"/>
                </a:lnSpc>
                <a:spcBef>
                  <a:spcPts val="375"/>
                </a:spcBef>
                <a:spcAft>
                  <a:spcPct val="0"/>
                </a:spcAft>
                <a:buClr>
                  <a:srgbClr val="9B2D1F"/>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顺序扫描位示图，从中找出一个或一组其值为</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0</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的二进制位</a:t>
              </a:r>
            </a:p>
            <a:p>
              <a:pPr marL="0" marR="0" lvl="1" indent="-228600" algn="l" defTabSz="914400" rtl="0" eaLnBrk="1" fontAlgn="base" latinLnBrk="0" hangingPunct="1">
                <a:lnSpc>
                  <a:spcPct val="123000"/>
                </a:lnSpc>
                <a:spcBef>
                  <a:spcPts val="375"/>
                </a:spcBef>
                <a:spcAft>
                  <a:spcPct val="0"/>
                </a:spcAft>
                <a:buClr>
                  <a:srgbClr val="9B2D1F"/>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将所找到的一个或一组二进制位，转换成与之相应的盘块号。假定   </a:t>
              </a:r>
              <a:b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b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   </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找到的其值为</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0</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的二进制位，位于位示图的第</a:t>
              </a:r>
              <a:r>
                <a:rPr kumimoji="0" lang="en-US" altLang="zh-CN" sz="2000" b="0" i="0" u="none" strike="noStrike" kern="1200" cap="none" spc="0" normalizeH="0" baseline="0" noProof="0" dirty="0" err="1">
                  <a:ln>
                    <a:noFill/>
                  </a:ln>
                  <a:solidFill>
                    <a:prstClr val="black"/>
                  </a:solidFill>
                  <a:effectLst/>
                  <a:uLnTx/>
                  <a:uFillTx/>
                  <a:latin typeface="+mn-ea"/>
                  <a:cs typeface="+mn-cs"/>
                  <a:sym typeface="Wingdings" panose="05000000000000000000" pitchFamily="2" charset="2"/>
                </a:rPr>
                <a:t>i</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行、第</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j</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列，则其相应   </a:t>
              </a:r>
              <a:b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b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   </a:t>
              </a: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的盘块号为：</a:t>
              </a:r>
              <a:r>
                <a:rPr kumimoji="0" lang="en-US" altLang="zh-CN" sz="2000" b="1"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b = n(i-1) + j  </a:t>
              </a:r>
              <a:r>
                <a:rPr kumimoji="0" lang="en-US" altLang="zh-CN" sz="160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a:t>
              </a:r>
              <a:r>
                <a:rPr kumimoji="0" lang="zh-CN" altLang="en-US" sz="160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注意：</a:t>
              </a:r>
              <a:r>
                <a:rPr kumimoji="0" lang="en-US" altLang="zh-CN" sz="1600" i="0" u="none" strike="noStrike" kern="1200" cap="none" spc="0" normalizeH="0" baseline="0" noProof="0" dirty="0" err="1">
                  <a:ln>
                    <a:noFill/>
                  </a:ln>
                  <a:solidFill>
                    <a:srgbClr val="0000FF"/>
                  </a:solidFill>
                  <a:effectLst/>
                  <a:uLnTx/>
                  <a:uFillTx/>
                  <a:latin typeface="+mn-ea"/>
                  <a:cs typeface="+mn-cs"/>
                  <a:sym typeface="Wingdings" panose="05000000000000000000" pitchFamily="2" charset="2"/>
                </a:rPr>
                <a:t>b,i,j</a:t>
              </a:r>
              <a:r>
                <a:rPr kumimoji="0" lang="zh-CN" altLang="en-US" sz="160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取值均从</a:t>
              </a:r>
              <a:r>
                <a:rPr kumimoji="0" lang="en-US" altLang="zh-CN" sz="160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1</a:t>
              </a:r>
              <a:r>
                <a:rPr kumimoji="0" lang="zh-CN" altLang="en-US" sz="160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开始）</a:t>
              </a:r>
              <a:endParaRPr kumimoji="0" lang="en-US" altLang="zh-CN" sz="160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endParaRPr>
            </a:p>
            <a:p>
              <a:pPr marL="0" marR="0" lvl="1" indent="-228600" algn="l" defTabSz="914400" rtl="0" eaLnBrk="1" fontAlgn="base" latinLnBrk="0" hangingPunct="1">
                <a:lnSpc>
                  <a:spcPct val="123000"/>
                </a:lnSpc>
                <a:spcBef>
                  <a:spcPts val="375"/>
                </a:spcBef>
                <a:spcAft>
                  <a:spcPct val="0"/>
                </a:spcAft>
                <a:buClr>
                  <a:srgbClr val="9B2D1F"/>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修改位示图，令</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map[</a:t>
              </a:r>
              <a:r>
                <a:rPr kumimoji="0" lang="en-US" altLang="zh-CN" sz="2000" b="0" i="0" u="none" strike="noStrike" kern="1200" cap="none" spc="0" normalizeH="0" baseline="0" noProof="0" dirty="0" err="1">
                  <a:ln>
                    <a:noFill/>
                  </a:ln>
                  <a:solidFill>
                    <a:prstClr val="black"/>
                  </a:solidFill>
                  <a:effectLst/>
                  <a:uLnTx/>
                  <a:uFillTx/>
                  <a:latin typeface="+mn-ea"/>
                  <a:cs typeface="+mn-cs"/>
                  <a:sym typeface="Wingdings" panose="05000000000000000000" pitchFamily="2" charset="2"/>
                </a:rPr>
                <a:t>i,j</a:t>
              </a:r>
              <a:r>
                <a:rPr kumimoji="0" lang="en-US" altLang="zh-CN" sz="2000" b="0" i="0" u="none" strike="noStrike" kern="1200" cap="none" spc="0" normalizeH="0" baseline="0" noProof="0" dirty="0">
                  <a:ln>
                    <a:noFill/>
                  </a:ln>
                  <a:solidFill>
                    <a:prstClr val="black"/>
                  </a:solidFill>
                  <a:effectLst/>
                  <a:uLnTx/>
                  <a:uFillTx/>
                  <a:latin typeface="+mn-ea"/>
                  <a:cs typeface="+mn-cs"/>
                  <a:sym typeface="Wingdings" panose="05000000000000000000" pitchFamily="2" charset="2"/>
                </a:rPr>
                <a:t>]=1 </a:t>
              </a:r>
              <a:r>
                <a:rPr kumimoji="0" lang="zh-CN" altLang="en-US" sz="1600"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（注意：</a:t>
              </a:r>
              <a:r>
                <a:rPr kumimoji="0" lang="en-US" altLang="zh-CN" sz="1600" b="0" i="0" u="none" strike="noStrike" kern="1200" cap="none" spc="0" normalizeH="0" baseline="0" noProof="0" dirty="0" err="1">
                  <a:ln>
                    <a:noFill/>
                  </a:ln>
                  <a:solidFill>
                    <a:srgbClr val="0000FF"/>
                  </a:solidFill>
                  <a:effectLst/>
                  <a:uLnTx/>
                  <a:uFillTx/>
                  <a:latin typeface="+mn-ea"/>
                  <a:cs typeface="+mn-cs"/>
                  <a:sym typeface="Wingdings" panose="05000000000000000000" pitchFamily="2" charset="2"/>
                </a:rPr>
                <a:t>i,j</a:t>
              </a:r>
              <a:r>
                <a:rPr kumimoji="0" lang="zh-CN" altLang="en-US" sz="1600"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从</a:t>
              </a:r>
              <a:r>
                <a:rPr kumimoji="0" lang="en-US" altLang="zh-CN" sz="1600"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1</a:t>
              </a:r>
              <a:r>
                <a:rPr kumimoji="0" lang="zh-CN" altLang="en-US" sz="1600"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取值，等效于</a:t>
              </a:r>
              <a:r>
                <a:rPr kumimoji="0" lang="en-US" altLang="zh-CN" sz="1600"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rPr>
                <a:t>map[i-1][j-1])</a:t>
              </a:r>
              <a:endParaRPr kumimoji="0" lang="en-US" altLang="zh-CN" sz="2000" b="0" i="0" u="none" strike="noStrike" kern="1200" cap="none" spc="0" normalizeH="0" baseline="0" noProof="0" dirty="0">
                <a:ln>
                  <a:noFill/>
                </a:ln>
                <a:solidFill>
                  <a:srgbClr val="0000FF"/>
                </a:solidFill>
                <a:effectLst/>
                <a:uLnTx/>
                <a:uFillTx/>
                <a:latin typeface="+mn-ea"/>
                <a:cs typeface="+mn-cs"/>
                <a:sym typeface="Wingdings" panose="05000000000000000000" pitchFamily="2" charset="2"/>
              </a:endParaRPr>
            </a:p>
            <a:p>
              <a:pPr>
                <a:defRPr/>
              </a:pPr>
              <a:endParaRPr lang="zh-CN" altLang="en-US" sz="2400" dirty="0"/>
            </a:p>
          </p:txBody>
        </p:sp>
      </p:grpSp>
      <p:grpSp>
        <p:nvGrpSpPr>
          <p:cNvPr id="48" name="ïSlíḍê"/>
          <p:cNvGrpSpPr/>
          <p:nvPr/>
        </p:nvGrpSpPr>
        <p:grpSpPr>
          <a:xfrm>
            <a:off x="3348471" y="3914564"/>
            <a:ext cx="8378931" cy="1311067"/>
            <a:chOff x="4136995" y="4714289"/>
            <a:chExt cx="8378931"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50"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ts val="375"/>
                </a:spcBef>
                <a:defRPr/>
              </a:pPr>
              <a:r>
                <a:rPr lang="zh-CN" altLang="en-US" sz="2400" dirty="0"/>
                <a:t>盘块的回收</a:t>
              </a:r>
              <a:endParaRPr lang="en-US" altLang="zh-CN" sz="2400" dirty="0"/>
            </a:p>
            <a:p>
              <a:pPr marL="342900" indent="-342900">
                <a:lnSpc>
                  <a:spcPct val="120000"/>
                </a:lnSpc>
                <a:spcBef>
                  <a:spcPts val="375"/>
                </a:spcBef>
                <a:buClr>
                  <a:srgbClr val="C00000"/>
                </a:buClr>
                <a:buFont typeface="Wingdings" panose="05000000000000000000" pitchFamily="2" charset="2"/>
                <a:buChar char="Ø"/>
                <a:defRPr/>
              </a:pPr>
              <a:r>
                <a:rPr lang="zh-CN" altLang="en-US" sz="2200" dirty="0"/>
                <a:t>将回收盘块的盘块号</a:t>
              </a:r>
              <a:r>
                <a:rPr lang="en-US" altLang="zh-CN" sz="2200" dirty="0"/>
                <a:t>b</a:t>
              </a:r>
              <a:r>
                <a:rPr lang="zh-CN" altLang="en-US" sz="2200" dirty="0"/>
                <a:t>转换成位示图中的行号和列号：</a:t>
              </a:r>
            </a:p>
            <a:p>
              <a:pPr marL="800100" lvl="1" indent="-342900">
                <a:lnSpc>
                  <a:spcPct val="120000"/>
                </a:lnSpc>
                <a:spcBef>
                  <a:spcPts val="375"/>
                </a:spcBef>
                <a:buClr>
                  <a:srgbClr val="C00000"/>
                </a:buClr>
                <a:buFont typeface="Wingdings" panose="05000000000000000000" pitchFamily="2" charset="2"/>
                <a:buChar char="l"/>
                <a:defRPr/>
              </a:pPr>
              <a:r>
                <a:rPr lang="en-US" altLang="zh-CN" sz="2200" dirty="0" err="1">
                  <a:solidFill>
                    <a:srgbClr val="0000FF"/>
                  </a:solidFill>
                </a:rPr>
                <a:t>i</a:t>
              </a:r>
              <a:r>
                <a:rPr lang="en-US" altLang="zh-CN" sz="2200" dirty="0">
                  <a:solidFill>
                    <a:srgbClr val="0000FF"/>
                  </a:solidFill>
                </a:rPr>
                <a:t>=(b-1)div n+1   j=(b-1)mod n+1</a:t>
              </a:r>
            </a:p>
            <a:p>
              <a:pPr marL="342900" indent="-342900">
                <a:lnSpc>
                  <a:spcPct val="120000"/>
                </a:lnSpc>
                <a:spcBef>
                  <a:spcPts val="375"/>
                </a:spcBef>
                <a:buClr>
                  <a:srgbClr val="C00000"/>
                </a:buClr>
                <a:buFont typeface="Wingdings" panose="05000000000000000000" pitchFamily="2" charset="2"/>
                <a:buChar char="Ø"/>
                <a:defRPr/>
              </a:pPr>
              <a:r>
                <a:rPr lang="zh-CN" altLang="en-US" sz="2200" dirty="0"/>
                <a:t>修改位示图，令</a:t>
              </a:r>
              <a:r>
                <a:rPr lang="en-US" altLang="zh-CN" sz="2200" dirty="0"/>
                <a:t>map[</a:t>
              </a:r>
              <a:r>
                <a:rPr lang="en-US" altLang="zh-CN" sz="2200" dirty="0" err="1"/>
                <a:t>i,j</a:t>
              </a:r>
              <a:r>
                <a:rPr lang="en-US" altLang="zh-CN" sz="2200" dirty="0"/>
                <a:t>]=0</a:t>
              </a:r>
            </a:p>
          </p:txBody>
        </p:sp>
      </p:grpSp>
      <p:sp>
        <p:nvSpPr>
          <p:cNvPr id="2" name="文本框 1">
            <a:extLst>
              <a:ext uri="{FF2B5EF4-FFF2-40B4-BE49-F238E27FC236}">
                <a16:creationId xmlns:a16="http://schemas.microsoft.com/office/drawing/2014/main" id="{DDB08EA3-5F7F-7225-68B4-C38C147768FF}"/>
              </a:ext>
            </a:extLst>
          </p:cNvPr>
          <p:cNvSpPr txBox="1"/>
          <p:nvPr/>
        </p:nvSpPr>
        <p:spPr>
          <a:xfrm>
            <a:off x="8743896" y="5578212"/>
            <a:ext cx="2983506" cy="400110"/>
          </a:xfrm>
          <a:prstGeom prst="rect">
            <a:avLst/>
          </a:prstGeom>
          <a:noFill/>
        </p:spPr>
        <p:txBody>
          <a:bodyPr wrap="square" rtlCol="0">
            <a:spAutoFit/>
          </a:bodyPr>
          <a:lstStyle/>
          <a:p>
            <a:r>
              <a:rPr lang="zh-CN" altLang="en-US" sz="2000" dirty="0">
                <a:solidFill>
                  <a:srgbClr val="FF0000"/>
                </a:solidFill>
              </a:rPr>
              <a:t>思考</a:t>
            </a:r>
            <a:r>
              <a:rPr lang="zh-CN" altLang="en-US" sz="2000" dirty="0">
                <a:solidFill>
                  <a:srgbClr val="0000FF"/>
                </a:solidFill>
              </a:rPr>
              <a:t>：优缺点？</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8.2.3 </a:t>
            </a:r>
            <a:r>
              <a:rPr lang="zh-CN" altLang="en-US" sz="2800" b="1" dirty="0">
                <a:solidFill>
                  <a:schemeClr val="bg1"/>
                </a:solidFill>
              </a:rPr>
              <a:t>成组链接法</a:t>
            </a:r>
          </a:p>
        </p:txBody>
      </p:sp>
      <p:sp>
        <p:nvSpPr>
          <p:cNvPr id="6" name="íšḻíḑê"/>
          <p:cNvSpPr/>
          <p:nvPr/>
        </p:nvSpPr>
        <p:spPr>
          <a:xfrm>
            <a:off x="1522219" y="1399822"/>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空闲盘块的</a:t>
            </a:r>
            <a:r>
              <a:rPr lang="zh-CN" altLang="en-US" sz="2400" dirty="0">
                <a:solidFill>
                  <a:srgbClr val="0000FF"/>
                </a:solidFill>
              </a:rPr>
              <a:t>组织</a:t>
            </a:r>
          </a:p>
        </p:txBody>
      </p:sp>
      <p:sp>
        <p:nvSpPr>
          <p:cNvPr id="7" name="内容占位符 2"/>
          <p:cNvSpPr txBox="1"/>
          <p:nvPr/>
        </p:nvSpPr>
        <p:spPr>
          <a:xfrm>
            <a:off x="1522219" y="1891080"/>
            <a:ext cx="10286385" cy="32456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3000"/>
              </a:lnSpc>
              <a:spcBef>
                <a:spcPts val="600"/>
              </a:spcBef>
              <a:buClr>
                <a:srgbClr val="FF0000"/>
              </a:buClr>
              <a:buFont typeface="Wingdings" panose="05000000000000000000" pitchFamily="2" charset="2"/>
              <a:buChar char="Ø"/>
            </a:pPr>
            <a:r>
              <a:rPr lang="zh-CN" altLang="en-US" sz="2400" dirty="0"/>
              <a:t>文件区中的所有空闲盘块，被分成若干个组。</a:t>
            </a:r>
          </a:p>
          <a:p>
            <a:pPr>
              <a:lnSpc>
                <a:spcPct val="123000"/>
              </a:lnSpc>
              <a:spcBef>
                <a:spcPts val="600"/>
              </a:spcBef>
              <a:buClr>
                <a:srgbClr val="FF0000"/>
              </a:buClr>
              <a:buFont typeface="Wingdings" panose="05000000000000000000" pitchFamily="2" charset="2"/>
              <a:buChar char="Ø"/>
            </a:pPr>
            <a:r>
              <a:rPr lang="zh-CN" altLang="en-US" sz="2400" dirty="0"/>
              <a:t>将每一组含有的盘块总数</a:t>
            </a:r>
            <a:r>
              <a:rPr lang="en-US" altLang="zh-CN" sz="2400" dirty="0">
                <a:solidFill>
                  <a:srgbClr val="0000FF"/>
                </a:solidFill>
              </a:rPr>
              <a:t>N</a:t>
            </a:r>
            <a:r>
              <a:rPr lang="zh-CN" altLang="en-US" sz="2400" dirty="0"/>
              <a:t>和该组所有的盘块号，记入其</a:t>
            </a:r>
            <a:r>
              <a:rPr lang="zh-CN" altLang="en-US" sz="2400" dirty="0">
                <a:solidFill>
                  <a:srgbClr val="0000FF"/>
                </a:solidFill>
              </a:rPr>
              <a:t>前一组的第一个盘块</a:t>
            </a:r>
            <a:r>
              <a:rPr lang="zh-CN" altLang="en-US" sz="2400" dirty="0"/>
              <a:t>的</a:t>
            </a:r>
            <a:r>
              <a:rPr lang="en-US" altLang="zh-CN" sz="2400" dirty="0" err="1"/>
              <a:t>S.free</a:t>
            </a:r>
            <a:r>
              <a:rPr lang="en-US" altLang="zh-CN" sz="2400" dirty="0"/>
              <a:t>(0)~</a:t>
            </a:r>
            <a:r>
              <a:rPr lang="en-US" altLang="zh-CN" sz="2400" dirty="0" err="1"/>
              <a:t>S.free</a:t>
            </a:r>
            <a:r>
              <a:rPr lang="en-US" altLang="zh-CN" sz="2400" dirty="0"/>
              <a:t>(99)</a:t>
            </a:r>
            <a:r>
              <a:rPr lang="zh-CN" altLang="en-US" sz="2400" dirty="0"/>
              <a:t>中。</a:t>
            </a:r>
          </a:p>
          <a:p>
            <a:pPr>
              <a:lnSpc>
                <a:spcPct val="123000"/>
              </a:lnSpc>
              <a:spcBef>
                <a:spcPts val="600"/>
              </a:spcBef>
              <a:buClr>
                <a:srgbClr val="FF0000"/>
              </a:buClr>
              <a:buFont typeface="Wingdings" panose="05000000000000000000" pitchFamily="2" charset="2"/>
              <a:buChar char="Ø"/>
            </a:pPr>
            <a:r>
              <a:rPr lang="zh-CN" altLang="en-US" sz="2400" dirty="0"/>
              <a:t>将</a:t>
            </a:r>
            <a:r>
              <a:rPr lang="zh-CN" altLang="en-US" sz="2400" dirty="0">
                <a:solidFill>
                  <a:srgbClr val="0000FF"/>
                </a:solidFill>
              </a:rPr>
              <a:t>第一组</a:t>
            </a:r>
            <a:r>
              <a:rPr lang="zh-CN" altLang="en-US" sz="2400" dirty="0"/>
              <a:t>的盘块总数</a:t>
            </a:r>
            <a:r>
              <a:rPr lang="en-US" altLang="zh-CN" sz="2400" dirty="0">
                <a:solidFill>
                  <a:srgbClr val="0000FF"/>
                </a:solidFill>
              </a:rPr>
              <a:t>N</a:t>
            </a:r>
            <a:r>
              <a:rPr lang="zh-CN" altLang="en-US" sz="2400" dirty="0"/>
              <a:t>和所有的盘块号，记入</a:t>
            </a:r>
            <a:r>
              <a:rPr lang="zh-CN" altLang="en-US" sz="2400" dirty="0">
                <a:solidFill>
                  <a:srgbClr val="0000FF"/>
                </a:solidFill>
              </a:rPr>
              <a:t>空闲盘块号栈</a:t>
            </a:r>
            <a:r>
              <a:rPr lang="zh-CN" altLang="en-US" sz="2400" dirty="0"/>
              <a:t>中，作为当前可供分配的空闲盘块号。</a:t>
            </a:r>
          </a:p>
          <a:p>
            <a:pPr>
              <a:lnSpc>
                <a:spcPct val="123000"/>
              </a:lnSpc>
              <a:spcBef>
                <a:spcPts val="600"/>
              </a:spcBef>
              <a:buClr>
                <a:srgbClr val="FF0000"/>
              </a:buClr>
              <a:buFont typeface="Wingdings" panose="05000000000000000000" pitchFamily="2" charset="2"/>
              <a:buChar char="Ø"/>
            </a:pPr>
            <a:r>
              <a:rPr lang="zh-CN" altLang="en-US" sz="2400" dirty="0"/>
              <a:t>最末一组只有</a:t>
            </a:r>
            <a:r>
              <a:rPr lang="en-US" altLang="zh-CN" sz="2400" dirty="0"/>
              <a:t>99</a:t>
            </a:r>
            <a:r>
              <a:rPr lang="zh-CN" altLang="en-US" sz="2400" dirty="0"/>
              <a:t>个盘块。</a:t>
            </a:r>
          </a:p>
        </p:txBody>
      </p:sp>
      <p:sp>
        <p:nvSpPr>
          <p:cNvPr id="8" name="íšḻíḑê"/>
          <p:cNvSpPr/>
          <p:nvPr/>
        </p:nvSpPr>
        <p:spPr>
          <a:xfrm>
            <a:off x="1610995" y="5675240"/>
            <a:ext cx="7927445" cy="405747"/>
          </a:xfrm>
          <a:prstGeom prst="rect">
            <a:avLst/>
          </a:prstGeom>
          <a:noFill/>
          <a:ln>
            <a:noFill/>
          </a:ln>
        </p:spPr>
        <p:txBody>
          <a:bodyPr wrap="square" lIns="91440" tIns="45720" rIns="91440" bIns="45720" anchor="ctr" anchorCtr="0">
            <a:noAutofit/>
          </a:bodyPr>
          <a:lstStyle/>
          <a:p>
            <a:pPr>
              <a:defRPr/>
            </a:pPr>
            <a:r>
              <a:rPr lang="zh-CN" altLang="en-US" sz="2400" dirty="0"/>
              <a:t>空闲盘块的分配与回收</a:t>
            </a:r>
          </a:p>
        </p:txBody>
      </p:sp>
      <p:sp>
        <p:nvSpPr>
          <p:cNvPr id="9" name="îSļiḓè"/>
          <p:cNvSpPr/>
          <p:nvPr/>
        </p:nvSpPr>
        <p:spPr>
          <a:xfrm>
            <a:off x="744166" y="1263213"/>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0" name="îşļiḓè"/>
          <p:cNvSpPr/>
          <p:nvPr/>
        </p:nvSpPr>
        <p:spPr>
          <a:xfrm>
            <a:off x="744166" y="5526352"/>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11" name="îṡḷíďe"/>
          <p:cNvSpPr/>
          <p:nvPr/>
        </p:nvSpPr>
        <p:spPr>
          <a:xfrm>
            <a:off x="934421" y="1459351"/>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12" name="íSlíḋe"/>
          <p:cNvSpPr/>
          <p:nvPr/>
        </p:nvSpPr>
        <p:spPr>
          <a:xfrm>
            <a:off x="934420" y="574836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
        <p:nvSpPr>
          <p:cNvPr id="3" name="íSlíḋe">
            <a:extLst>
              <a:ext uri="{FF2B5EF4-FFF2-40B4-BE49-F238E27FC236}">
                <a16:creationId xmlns:a16="http://schemas.microsoft.com/office/drawing/2014/main" id="{FA69F3B5-9559-CCD9-136A-3667329FA0DC}"/>
              </a:ext>
            </a:extLst>
          </p:cNvPr>
          <p:cNvSpPr/>
          <p:nvPr/>
        </p:nvSpPr>
        <p:spPr>
          <a:xfrm>
            <a:off x="934420" y="576785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成组链接法示例</a:t>
            </a:r>
          </a:p>
        </p:txBody>
      </p:sp>
      <p:pic>
        <p:nvPicPr>
          <p:cNvPr id="13" name="图片 12"/>
          <p:cNvPicPr>
            <a:picLocks noChangeAspect="1"/>
          </p:cNvPicPr>
          <p:nvPr/>
        </p:nvPicPr>
        <p:blipFill>
          <a:blip r:embed="rId3"/>
          <a:stretch>
            <a:fillRect/>
          </a:stretch>
        </p:blipFill>
        <p:spPr>
          <a:xfrm>
            <a:off x="593169" y="1264920"/>
            <a:ext cx="8449046" cy="4211320"/>
          </a:xfrm>
          <a:prstGeom prst="rect">
            <a:avLst/>
          </a:prstGeom>
        </p:spPr>
      </p:pic>
      <p:sp>
        <p:nvSpPr>
          <p:cNvPr id="4" name="文本框 3">
            <a:extLst>
              <a:ext uri="{FF2B5EF4-FFF2-40B4-BE49-F238E27FC236}">
                <a16:creationId xmlns:a16="http://schemas.microsoft.com/office/drawing/2014/main" id="{4C1B0C23-5111-B7E4-187F-33EA828D5775}"/>
              </a:ext>
            </a:extLst>
          </p:cNvPr>
          <p:cNvSpPr txBox="1"/>
          <p:nvPr/>
        </p:nvSpPr>
        <p:spPr>
          <a:xfrm>
            <a:off x="8412480" y="1264920"/>
            <a:ext cx="3544061" cy="1938992"/>
          </a:xfrm>
          <a:prstGeom prst="rect">
            <a:avLst/>
          </a:prstGeom>
          <a:noFill/>
        </p:spPr>
        <p:txBody>
          <a:bodyPr wrap="square" rtlCol="0">
            <a:spAutoFit/>
          </a:bodyPr>
          <a:lstStyle/>
          <a:p>
            <a:r>
              <a:rPr lang="zh-CN" altLang="en-US" sz="2000" dirty="0">
                <a:solidFill>
                  <a:srgbClr val="FF0000"/>
                </a:solidFill>
              </a:rPr>
              <a:t>注意：</a:t>
            </a:r>
            <a:endParaRPr lang="en-US" altLang="zh-CN" sz="2000" dirty="0">
              <a:solidFill>
                <a:srgbClr val="FF0000"/>
              </a:solidFill>
            </a:endParaRPr>
          </a:p>
          <a:p>
            <a:r>
              <a:rPr lang="en-US" altLang="zh-CN" sz="2000" dirty="0">
                <a:solidFill>
                  <a:srgbClr val="0000FF"/>
                </a:solidFill>
              </a:rPr>
              <a:t>1</a:t>
            </a:r>
            <a:r>
              <a:rPr lang="zh-CN" altLang="en-US" sz="2000" dirty="0">
                <a:solidFill>
                  <a:srgbClr val="0000FF"/>
                </a:solidFill>
              </a:rPr>
              <a:t>、成组链接体现在哪？</a:t>
            </a:r>
            <a:endParaRPr lang="en-US" altLang="zh-CN" sz="2000" dirty="0">
              <a:solidFill>
                <a:srgbClr val="0000FF"/>
              </a:solidFill>
            </a:endParaRPr>
          </a:p>
          <a:p>
            <a:r>
              <a:rPr lang="en-US" altLang="zh-CN" sz="2000" dirty="0">
                <a:solidFill>
                  <a:srgbClr val="0000FF"/>
                </a:solidFill>
              </a:rPr>
              <a:t>2</a:t>
            </a:r>
            <a:r>
              <a:rPr lang="zh-CN" altLang="en-US" sz="2000" dirty="0">
                <a:solidFill>
                  <a:srgbClr val="0000FF"/>
                </a:solidFill>
              </a:rPr>
              <a:t>、如何从栈底分配空闲块？若空如何处理？</a:t>
            </a:r>
            <a:endParaRPr lang="en-US" altLang="zh-CN" sz="2000" dirty="0">
              <a:solidFill>
                <a:srgbClr val="0000FF"/>
              </a:solidFill>
            </a:endParaRPr>
          </a:p>
          <a:p>
            <a:r>
              <a:rPr lang="en-US" altLang="zh-CN" sz="2000" dirty="0">
                <a:solidFill>
                  <a:srgbClr val="0000FF"/>
                </a:solidFill>
              </a:rPr>
              <a:t>3</a:t>
            </a:r>
            <a:r>
              <a:rPr lang="zh-CN" altLang="en-US" sz="2000" dirty="0">
                <a:solidFill>
                  <a:srgbClr val="0000FF"/>
                </a:solidFill>
              </a:rPr>
              <a:t>、如何将回收的空闲块放入栈顶？若满如何处理？</a:t>
            </a:r>
            <a:endParaRPr lang="en-US" altLang="zh-CN" sz="2000" dirty="0">
              <a:solidFill>
                <a:srgbClr val="0000FF"/>
              </a:solidFill>
            </a:endParaRPr>
          </a:p>
        </p:txBody>
      </p:sp>
      <p:sp>
        <p:nvSpPr>
          <p:cNvPr id="2" name="标注: 线形 1">
            <a:extLst>
              <a:ext uri="{FF2B5EF4-FFF2-40B4-BE49-F238E27FC236}">
                <a16:creationId xmlns:a16="http://schemas.microsoft.com/office/drawing/2014/main" id="{9A3E9456-F793-A819-7987-6366B05A1A39}"/>
              </a:ext>
            </a:extLst>
          </p:cNvPr>
          <p:cNvSpPr/>
          <p:nvPr/>
        </p:nvSpPr>
        <p:spPr>
          <a:xfrm>
            <a:off x="76756" y="3031192"/>
            <a:ext cx="593169" cy="172720"/>
          </a:xfrm>
          <a:prstGeom prst="borderCallout1">
            <a:avLst>
              <a:gd name="adj1" fmla="val 95221"/>
              <a:gd name="adj2" fmla="val 97381"/>
              <a:gd name="adj3" fmla="val 6618"/>
              <a:gd name="adj4" fmla="val 15139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FF0000"/>
                </a:solidFill>
              </a:rPr>
              <a:t>栈底</a:t>
            </a:r>
          </a:p>
        </p:txBody>
      </p:sp>
      <p:sp>
        <p:nvSpPr>
          <p:cNvPr id="3" name="标注: 线形 2">
            <a:extLst>
              <a:ext uri="{FF2B5EF4-FFF2-40B4-BE49-F238E27FC236}">
                <a16:creationId xmlns:a16="http://schemas.microsoft.com/office/drawing/2014/main" id="{C2C166D5-DA10-2F43-8137-EF11C9CFFB42}"/>
              </a:ext>
            </a:extLst>
          </p:cNvPr>
          <p:cNvSpPr/>
          <p:nvPr/>
        </p:nvSpPr>
        <p:spPr>
          <a:xfrm>
            <a:off x="76756" y="4167356"/>
            <a:ext cx="593169" cy="172720"/>
          </a:xfrm>
          <a:prstGeom prst="borderCallout1">
            <a:avLst>
              <a:gd name="adj1" fmla="val 95221"/>
              <a:gd name="adj2" fmla="val 97381"/>
              <a:gd name="adj3" fmla="val 12501"/>
              <a:gd name="adj4" fmla="val 13768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FF0000"/>
                </a:solidFill>
              </a:rPr>
              <a:t>栈顶</a:t>
            </a:r>
          </a:p>
        </p:txBody>
      </p:sp>
      <p:grpSp>
        <p:nvGrpSpPr>
          <p:cNvPr id="10" name="组合 9">
            <a:extLst>
              <a:ext uri="{FF2B5EF4-FFF2-40B4-BE49-F238E27FC236}">
                <a16:creationId xmlns:a16="http://schemas.microsoft.com/office/drawing/2014/main" id="{82401DF3-77A2-744F-A669-DD46EA231531}"/>
              </a:ext>
            </a:extLst>
          </p:cNvPr>
          <p:cNvGrpSpPr/>
          <p:nvPr/>
        </p:nvGrpSpPr>
        <p:grpSpPr>
          <a:xfrm>
            <a:off x="3054656" y="1217628"/>
            <a:ext cx="914400" cy="4744784"/>
            <a:chOff x="3054656" y="1217628"/>
            <a:chExt cx="914400" cy="4744784"/>
          </a:xfrm>
        </p:grpSpPr>
        <p:sp>
          <p:nvSpPr>
            <p:cNvPr id="8" name="矩形 7">
              <a:extLst>
                <a:ext uri="{FF2B5EF4-FFF2-40B4-BE49-F238E27FC236}">
                  <a16:creationId xmlns:a16="http://schemas.microsoft.com/office/drawing/2014/main" id="{557B14DE-8BB6-B7E5-4BC4-28F4B6EAF222}"/>
                </a:ext>
              </a:extLst>
            </p:cNvPr>
            <p:cNvSpPr/>
            <p:nvPr/>
          </p:nvSpPr>
          <p:spPr>
            <a:xfrm>
              <a:off x="3054656" y="1217628"/>
              <a:ext cx="914400" cy="4375452"/>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E6AFA13-AB06-6F70-AF6D-C3E894126D22}"/>
                </a:ext>
              </a:extLst>
            </p:cNvPr>
            <p:cNvSpPr txBox="1"/>
            <p:nvPr/>
          </p:nvSpPr>
          <p:spPr>
            <a:xfrm>
              <a:off x="3054656" y="5593080"/>
              <a:ext cx="877163" cy="369332"/>
            </a:xfrm>
            <a:prstGeom prst="rect">
              <a:avLst/>
            </a:prstGeom>
            <a:noFill/>
          </p:spPr>
          <p:txBody>
            <a:bodyPr wrap="none" rtlCol="0">
              <a:spAutoFit/>
            </a:bodyPr>
            <a:lstStyle/>
            <a:p>
              <a:r>
                <a:rPr lang="zh-CN" altLang="en-US" dirty="0">
                  <a:solidFill>
                    <a:srgbClr val="FF0000"/>
                  </a:solidFill>
                </a:rPr>
                <a:t>第一组</a:t>
              </a:r>
            </a:p>
          </p:txBody>
        </p:sp>
      </p:grpSp>
      <p:grpSp>
        <p:nvGrpSpPr>
          <p:cNvPr id="11" name="组合 10">
            <a:extLst>
              <a:ext uri="{FF2B5EF4-FFF2-40B4-BE49-F238E27FC236}">
                <a16:creationId xmlns:a16="http://schemas.microsoft.com/office/drawing/2014/main" id="{E307CD2B-EFD8-FF82-7088-94E3497C1D83}"/>
              </a:ext>
            </a:extLst>
          </p:cNvPr>
          <p:cNvGrpSpPr/>
          <p:nvPr/>
        </p:nvGrpSpPr>
        <p:grpSpPr>
          <a:xfrm>
            <a:off x="4594417" y="1201868"/>
            <a:ext cx="914400" cy="4744784"/>
            <a:chOff x="3054656" y="1217628"/>
            <a:chExt cx="914400" cy="4744784"/>
          </a:xfrm>
        </p:grpSpPr>
        <p:sp>
          <p:nvSpPr>
            <p:cNvPr id="12" name="矩形 11">
              <a:extLst>
                <a:ext uri="{FF2B5EF4-FFF2-40B4-BE49-F238E27FC236}">
                  <a16:creationId xmlns:a16="http://schemas.microsoft.com/office/drawing/2014/main" id="{F4462D06-3228-24A9-B118-66C2B0796E50}"/>
                </a:ext>
              </a:extLst>
            </p:cNvPr>
            <p:cNvSpPr/>
            <p:nvPr/>
          </p:nvSpPr>
          <p:spPr>
            <a:xfrm>
              <a:off x="3054656" y="1217628"/>
              <a:ext cx="914400" cy="4375452"/>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9FF61D61-1AE7-A7F8-6091-626D95B99FE3}"/>
                </a:ext>
              </a:extLst>
            </p:cNvPr>
            <p:cNvSpPr txBox="1"/>
            <p:nvPr/>
          </p:nvSpPr>
          <p:spPr>
            <a:xfrm>
              <a:off x="3054656" y="5593080"/>
              <a:ext cx="877163" cy="369332"/>
            </a:xfrm>
            <a:prstGeom prst="rect">
              <a:avLst/>
            </a:prstGeom>
            <a:noFill/>
          </p:spPr>
          <p:txBody>
            <a:bodyPr wrap="none" rtlCol="0">
              <a:spAutoFit/>
            </a:bodyPr>
            <a:lstStyle/>
            <a:p>
              <a:r>
                <a:rPr lang="zh-CN" altLang="en-US" dirty="0">
                  <a:solidFill>
                    <a:srgbClr val="FF0000"/>
                  </a:solidFill>
                </a:rPr>
                <a:t>第二组</a:t>
              </a:r>
            </a:p>
          </p:txBody>
        </p:sp>
      </p:grpSp>
      <p:grpSp>
        <p:nvGrpSpPr>
          <p:cNvPr id="15" name="组合 14">
            <a:extLst>
              <a:ext uri="{FF2B5EF4-FFF2-40B4-BE49-F238E27FC236}">
                <a16:creationId xmlns:a16="http://schemas.microsoft.com/office/drawing/2014/main" id="{39838690-0053-F8FB-12A5-5AC3514A9EDA}"/>
              </a:ext>
            </a:extLst>
          </p:cNvPr>
          <p:cNvGrpSpPr/>
          <p:nvPr/>
        </p:nvGrpSpPr>
        <p:grpSpPr>
          <a:xfrm>
            <a:off x="6517803" y="1191358"/>
            <a:ext cx="914400" cy="4744784"/>
            <a:chOff x="3054656" y="1217628"/>
            <a:chExt cx="914400" cy="4744784"/>
          </a:xfrm>
        </p:grpSpPr>
        <p:sp>
          <p:nvSpPr>
            <p:cNvPr id="16" name="矩形 15">
              <a:extLst>
                <a:ext uri="{FF2B5EF4-FFF2-40B4-BE49-F238E27FC236}">
                  <a16:creationId xmlns:a16="http://schemas.microsoft.com/office/drawing/2014/main" id="{154F306A-F3A1-F62F-88B8-92AE1CD8BB21}"/>
                </a:ext>
              </a:extLst>
            </p:cNvPr>
            <p:cNvSpPr/>
            <p:nvPr/>
          </p:nvSpPr>
          <p:spPr>
            <a:xfrm>
              <a:off x="3054656" y="1217628"/>
              <a:ext cx="914400" cy="4375452"/>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59F40C9-16E2-3D07-A548-FBADB7726630}"/>
                </a:ext>
              </a:extLst>
            </p:cNvPr>
            <p:cNvSpPr txBox="1"/>
            <p:nvPr/>
          </p:nvSpPr>
          <p:spPr>
            <a:xfrm>
              <a:off x="3054656" y="5593080"/>
              <a:ext cx="800219" cy="369332"/>
            </a:xfrm>
            <a:prstGeom prst="rect">
              <a:avLst/>
            </a:prstGeom>
            <a:noFill/>
          </p:spPr>
          <p:txBody>
            <a:bodyPr wrap="none" rtlCol="0">
              <a:spAutoFit/>
            </a:bodyPr>
            <a:lstStyle/>
            <a:p>
              <a:r>
                <a:rPr lang="zh-CN" altLang="en-US" dirty="0">
                  <a:solidFill>
                    <a:srgbClr val="FF0000"/>
                  </a:solidFill>
                </a:rPr>
                <a:t>第</a:t>
              </a:r>
              <a:r>
                <a:rPr lang="en-US" altLang="zh-CN" dirty="0">
                  <a:solidFill>
                    <a:srgbClr val="FF0000"/>
                  </a:solidFill>
                </a:rPr>
                <a:t>K</a:t>
              </a:r>
              <a:r>
                <a:rPr lang="zh-CN" altLang="en-US" dirty="0">
                  <a:solidFill>
                    <a:srgbClr val="FF0000"/>
                  </a:solidFill>
                </a:rPr>
                <a:t>组</a:t>
              </a:r>
            </a:p>
          </p:txBody>
        </p:sp>
      </p:grpSp>
      <p:grpSp>
        <p:nvGrpSpPr>
          <p:cNvPr id="18" name="组合 17">
            <a:extLst>
              <a:ext uri="{FF2B5EF4-FFF2-40B4-BE49-F238E27FC236}">
                <a16:creationId xmlns:a16="http://schemas.microsoft.com/office/drawing/2014/main" id="{C8608293-8BC8-8DC7-FD1B-EEB4BEECDB48}"/>
              </a:ext>
            </a:extLst>
          </p:cNvPr>
          <p:cNvGrpSpPr/>
          <p:nvPr/>
        </p:nvGrpSpPr>
        <p:grpSpPr>
          <a:xfrm>
            <a:off x="8020775" y="3429000"/>
            <a:ext cx="1107996" cy="2517650"/>
            <a:chOff x="2991596" y="3444762"/>
            <a:chExt cx="1107996" cy="2517650"/>
          </a:xfrm>
        </p:grpSpPr>
        <p:sp>
          <p:nvSpPr>
            <p:cNvPr id="19" name="矩形 18">
              <a:extLst>
                <a:ext uri="{FF2B5EF4-FFF2-40B4-BE49-F238E27FC236}">
                  <a16:creationId xmlns:a16="http://schemas.microsoft.com/office/drawing/2014/main" id="{F4278E09-507B-45ED-34C1-98358DFF1D21}"/>
                </a:ext>
              </a:extLst>
            </p:cNvPr>
            <p:cNvSpPr/>
            <p:nvPr/>
          </p:nvSpPr>
          <p:spPr>
            <a:xfrm>
              <a:off x="3054656" y="3444762"/>
              <a:ext cx="914400" cy="2148318"/>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1A002EF4-74C6-FD34-F4A5-1E90A4400407}"/>
                </a:ext>
              </a:extLst>
            </p:cNvPr>
            <p:cNvSpPr txBox="1"/>
            <p:nvPr/>
          </p:nvSpPr>
          <p:spPr>
            <a:xfrm>
              <a:off x="2991596" y="5593080"/>
              <a:ext cx="1107996" cy="369332"/>
            </a:xfrm>
            <a:prstGeom prst="rect">
              <a:avLst/>
            </a:prstGeom>
            <a:noFill/>
          </p:spPr>
          <p:txBody>
            <a:bodyPr wrap="none" rtlCol="0">
              <a:spAutoFit/>
            </a:bodyPr>
            <a:lstStyle/>
            <a:p>
              <a:r>
                <a:rPr lang="zh-CN" altLang="en-US" dirty="0">
                  <a:solidFill>
                    <a:srgbClr val="FF0000"/>
                  </a:solidFill>
                </a:rPr>
                <a:t>最后一组</a:t>
              </a:r>
            </a:p>
          </p:txBody>
        </p:sp>
      </p:grpSp>
      <mc:AlternateContent xmlns:mc="http://schemas.openxmlformats.org/markup-compatibility/2006">
        <mc:Choice xmlns:p14="http://schemas.microsoft.com/office/powerpoint/2010/main" Requires="p14">
          <p:contentPart p14:bwMode="auto" r:id="rId4">
            <p14:nvContentPartPr>
              <p14:cNvPr id="22" name="墨迹 21">
                <a:extLst>
                  <a:ext uri="{FF2B5EF4-FFF2-40B4-BE49-F238E27FC236}">
                    <a16:creationId xmlns:a16="http://schemas.microsoft.com/office/drawing/2014/main" id="{B2CB44A5-C330-3B9F-DEF1-E7463E969067}"/>
                  </a:ext>
                </a:extLst>
              </p14:cNvPr>
              <p14:cNvContentPartPr/>
              <p14:nvPr/>
            </p14:nvContentPartPr>
            <p14:xfrm>
              <a:off x="1342941" y="2711607"/>
              <a:ext cx="434520" cy="235800"/>
            </p14:xfrm>
          </p:contentPart>
        </mc:Choice>
        <mc:Fallback>
          <p:pic>
            <p:nvPicPr>
              <p:cNvPr id="22" name="墨迹 21">
                <a:extLst>
                  <a:ext uri="{FF2B5EF4-FFF2-40B4-BE49-F238E27FC236}">
                    <a16:creationId xmlns:a16="http://schemas.microsoft.com/office/drawing/2014/main" id="{B2CB44A5-C330-3B9F-DEF1-E7463E969067}"/>
                  </a:ext>
                </a:extLst>
              </p:cNvPr>
              <p:cNvPicPr/>
              <p:nvPr/>
            </p:nvPicPr>
            <p:blipFill>
              <a:blip r:embed="rId5"/>
              <a:stretch>
                <a:fillRect/>
              </a:stretch>
            </p:blipFill>
            <p:spPr>
              <a:xfrm>
                <a:off x="1333941" y="2702607"/>
                <a:ext cx="45216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3" name="墨迹 22">
                <a:extLst>
                  <a:ext uri="{FF2B5EF4-FFF2-40B4-BE49-F238E27FC236}">
                    <a16:creationId xmlns:a16="http://schemas.microsoft.com/office/drawing/2014/main" id="{95B2DD33-5107-F2E1-EFB6-458D0888CCE0}"/>
                  </a:ext>
                </a:extLst>
              </p14:cNvPr>
              <p14:cNvContentPartPr/>
              <p14:nvPr/>
            </p14:nvContentPartPr>
            <p14:xfrm>
              <a:off x="1601421" y="923127"/>
              <a:ext cx="1684080" cy="1809720"/>
            </p14:xfrm>
          </p:contentPart>
        </mc:Choice>
        <mc:Fallback>
          <p:pic>
            <p:nvPicPr>
              <p:cNvPr id="23" name="墨迹 22">
                <a:extLst>
                  <a:ext uri="{FF2B5EF4-FFF2-40B4-BE49-F238E27FC236}">
                    <a16:creationId xmlns:a16="http://schemas.microsoft.com/office/drawing/2014/main" id="{95B2DD33-5107-F2E1-EFB6-458D0888CCE0}"/>
                  </a:ext>
                </a:extLst>
              </p:cNvPr>
              <p:cNvPicPr/>
              <p:nvPr/>
            </p:nvPicPr>
            <p:blipFill>
              <a:blip r:embed="rId7"/>
              <a:stretch>
                <a:fillRect/>
              </a:stretch>
            </p:blipFill>
            <p:spPr>
              <a:xfrm>
                <a:off x="1592781" y="914127"/>
                <a:ext cx="1701720" cy="1827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4" name="墨迹 23">
                <a:extLst>
                  <a:ext uri="{FF2B5EF4-FFF2-40B4-BE49-F238E27FC236}">
                    <a16:creationId xmlns:a16="http://schemas.microsoft.com/office/drawing/2014/main" id="{08D36562-5195-52EC-B5DB-984D4D385D90}"/>
                  </a:ext>
                </a:extLst>
              </p14:cNvPr>
              <p14:cNvContentPartPr/>
              <p14:nvPr/>
            </p14:nvContentPartPr>
            <p14:xfrm>
              <a:off x="3163461" y="1064247"/>
              <a:ext cx="186480" cy="126000"/>
            </p14:xfrm>
          </p:contentPart>
        </mc:Choice>
        <mc:Fallback>
          <p:pic>
            <p:nvPicPr>
              <p:cNvPr id="24" name="墨迹 23">
                <a:extLst>
                  <a:ext uri="{FF2B5EF4-FFF2-40B4-BE49-F238E27FC236}">
                    <a16:creationId xmlns:a16="http://schemas.microsoft.com/office/drawing/2014/main" id="{08D36562-5195-52EC-B5DB-984D4D385D90}"/>
                  </a:ext>
                </a:extLst>
              </p:cNvPr>
              <p:cNvPicPr/>
              <p:nvPr/>
            </p:nvPicPr>
            <p:blipFill>
              <a:blip r:embed="rId9"/>
              <a:stretch>
                <a:fillRect/>
              </a:stretch>
            </p:blipFill>
            <p:spPr>
              <a:xfrm>
                <a:off x="3154461" y="1055247"/>
                <a:ext cx="2041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5" name="墨迹 24">
                <a:extLst>
                  <a:ext uri="{FF2B5EF4-FFF2-40B4-BE49-F238E27FC236}">
                    <a16:creationId xmlns:a16="http://schemas.microsoft.com/office/drawing/2014/main" id="{E9A61A43-1F3A-5434-7A72-810F3A7FA21A}"/>
                  </a:ext>
                </a:extLst>
              </p14:cNvPr>
              <p14:cNvContentPartPr/>
              <p14:nvPr/>
            </p14:nvContentPartPr>
            <p14:xfrm>
              <a:off x="3359301" y="1237767"/>
              <a:ext cx="436680" cy="279000"/>
            </p14:xfrm>
          </p:contentPart>
        </mc:Choice>
        <mc:Fallback>
          <p:pic>
            <p:nvPicPr>
              <p:cNvPr id="25" name="墨迹 24">
                <a:extLst>
                  <a:ext uri="{FF2B5EF4-FFF2-40B4-BE49-F238E27FC236}">
                    <a16:creationId xmlns:a16="http://schemas.microsoft.com/office/drawing/2014/main" id="{E9A61A43-1F3A-5434-7A72-810F3A7FA21A}"/>
                  </a:ext>
                </a:extLst>
              </p:cNvPr>
              <p:cNvPicPr/>
              <p:nvPr/>
            </p:nvPicPr>
            <p:blipFill>
              <a:blip r:embed="rId11"/>
              <a:stretch>
                <a:fillRect/>
              </a:stretch>
            </p:blipFill>
            <p:spPr>
              <a:xfrm>
                <a:off x="3350661" y="1229127"/>
                <a:ext cx="45432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6" name="墨迹 25">
                <a:extLst>
                  <a:ext uri="{FF2B5EF4-FFF2-40B4-BE49-F238E27FC236}">
                    <a16:creationId xmlns:a16="http://schemas.microsoft.com/office/drawing/2014/main" id="{E3C66194-DA06-FB52-634A-E8419BFFC60D}"/>
                  </a:ext>
                </a:extLst>
              </p14:cNvPr>
              <p14:cNvContentPartPr/>
              <p14:nvPr/>
            </p14:nvContentPartPr>
            <p14:xfrm>
              <a:off x="3752061" y="954447"/>
              <a:ext cx="1066320" cy="359280"/>
            </p14:xfrm>
          </p:contentPart>
        </mc:Choice>
        <mc:Fallback>
          <p:pic>
            <p:nvPicPr>
              <p:cNvPr id="26" name="墨迹 25">
                <a:extLst>
                  <a:ext uri="{FF2B5EF4-FFF2-40B4-BE49-F238E27FC236}">
                    <a16:creationId xmlns:a16="http://schemas.microsoft.com/office/drawing/2014/main" id="{E3C66194-DA06-FB52-634A-E8419BFFC60D}"/>
                  </a:ext>
                </a:extLst>
              </p:cNvPr>
              <p:cNvPicPr/>
              <p:nvPr/>
            </p:nvPicPr>
            <p:blipFill>
              <a:blip r:embed="rId13"/>
              <a:stretch>
                <a:fillRect/>
              </a:stretch>
            </p:blipFill>
            <p:spPr>
              <a:xfrm>
                <a:off x="3743421" y="945807"/>
                <a:ext cx="1083960" cy="3769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7" name="墨迹 26">
                <a:extLst>
                  <a:ext uri="{FF2B5EF4-FFF2-40B4-BE49-F238E27FC236}">
                    <a16:creationId xmlns:a16="http://schemas.microsoft.com/office/drawing/2014/main" id="{CFD452EE-24FE-1087-0712-36C7D0E6DA18}"/>
                  </a:ext>
                </a:extLst>
              </p14:cNvPr>
              <p14:cNvContentPartPr/>
              <p14:nvPr/>
            </p14:nvContentPartPr>
            <p14:xfrm>
              <a:off x="4666101" y="1050927"/>
              <a:ext cx="285120" cy="110520"/>
            </p14:xfrm>
          </p:contentPart>
        </mc:Choice>
        <mc:Fallback>
          <p:pic>
            <p:nvPicPr>
              <p:cNvPr id="27" name="墨迹 26">
                <a:extLst>
                  <a:ext uri="{FF2B5EF4-FFF2-40B4-BE49-F238E27FC236}">
                    <a16:creationId xmlns:a16="http://schemas.microsoft.com/office/drawing/2014/main" id="{CFD452EE-24FE-1087-0712-36C7D0E6DA18}"/>
                  </a:ext>
                </a:extLst>
              </p:cNvPr>
              <p:cNvPicPr/>
              <p:nvPr/>
            </p:nvPicPr>
            <p:blipFill>
              <a:blip r:embed="rId15"/>
              <a:stretch>
                <a:fillRect/>
              </a:stretch>
            </p:blipFill>
            <p:spPr>
              <a:xfrm>
                <a:off x="4657101" y="1041927"/>
                <a:ext cx="30276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8" name="墨迹 27">
                <a:extLst>
                  <a:ext uri="{FF2B5EF4-FFF2-40B4-BE49-F238E27FC236}">
                    <a16:creationId xmlns:a16="http://schemas.microsoft.com/office/drawing/2014/main" id="{73ED34B7-7FB3-242B-34B6-7DB59C44E0DF}"/>
                  </a:ext>
                </a:extLst>
              </p14:cNvPr>
              <p14:cNvContentPartPr/>
              <p14:nvPr/>
            </p14:nvContentPartPr>
            <p14:xfrm>
              <a:off x="4847181" y="1259007"/>
              <a:ext cx="442800" cy="296640"/>
            </p14:xfrm>
          </p:contentPart>
        </mc:Choice>
        <mc:Fallback>
          <p:pic>
            <p:nvPicPr>
              <p:cNvPr id="28" name="墨迹 27">
                <a:extLst>
                  <a:ext uri="{FF2B5EF4-FFF2-40B4-BE49-F238E27FC236}">
                    <a16:creationId xmlns:a16="http://schemas.microsoft.com/office/drawing/2014/main" id="{73ED34B7-7FB3-242B-34B6-7DB59C44E0DF}"/>
                  </a:ext>
                </a:extLst>
              </p:cNvPr>
              <p:cNvPicPr/>
              <p:nvPr/>
            </p:nvPicPr>
            <p:blipFill>
              <a:blip r:embed="rId17"/>
              <a:stretch>
                <a:fillRect/>
              </a:stretch>
            </p:blipFill>
            <p:spPr>
              <a:xfrm>
                <a:off x="4838181" y="1250007"/>
                <a:ext cx="460440" cy="3142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9" name="墨迹 28">
                <a:extLst>
                  <a:ext uri="{FF2B5EF4-FFF2-40B4-BE49-F238E27FC236}">
                    <a16:creationId xmlns:a16="http://schemas.microsoft.com/office/drawing/2014/main" id="{DBD0C506-5164-8E4F-2576-0C530E15CD69}"/>
                  </a:ext>
                </a:extLst>
              </p14:cNvPr>
              <p14:cNvContentPartPr/>
              <p14:nvPr/>
            </p14:nvContentPartPr>
            <p14:xfrm>
              <a:off x="5086941" y="797487"/>
              <a:ext cx="610560" cy="442440"/>
            </p14:xfrm>
          </p:contentPart>
        </mc:Choice>
        <mc:Fallback>
          <p:pic>
            <p:nvPicPr>
              <p:cNvPr id="29" name="墨迹 28">
                <a:extLst>
                  <a:ext uri="{FF2B5EF4-FFF2-40B4-BE49-F238E27FC236}">
                    <a16:creationId xmlns:a16="http://schemas.microsoft.com/office/drawing/2014/main" id="{DBD0C506-5164-8E4F-2576-0C530E15CD69}"/>
                  </a:ext>
                </a:extLst>
              </p:cNvPr>
              <p:cNvPicPr/>
              <p:nvPr/>
            </p:nvPicPr>
            <p:blipFill>
              <a:blip r:embed="rId19"/>
              <a:stretch>
                <a:fillRect/>
              </a:stretch>
            </p:blipFill>
            <p:spPr>
              <a:xfrm>
                <a:off x="5077941" y="788487"/>
                <a:ext cx="628200" cy="4600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0" name="墨迹 29">
                <a:extLst>
                  <a:ext uri="{FF2B5EF4-FFF2-40B4-BE49-F238E27FC236}">
                    <a16:creationId xmlns:a16="http://schemas.microsoft.com/office/drawing/2014/main" id="{BC1FB5F1-F7D7-9C9B-EE27-A2C012786E23}"/>
                  </a:ext>
                </a:extLst>
              </p14:cNvPr>
              <p14:cNvContentPartPr/>
              <p14:nvPr/>
            </p14:nvContentPartPr>
            <p14:xfrm>
              <a:off x="5601741" y="1077927"/>
              <a:ext cx="169200" cy="189360"/>
            </p14:xfrm>
          </p:contentPart>
        </mc:Choice>
        <mc:Fallback>
          <p:pic>
            <p:nvPicPr>
              <p:cNvPr id="30" name="墨迹 29">
                <a:extLst>
                  <a:ext uri="{FF2B5EF4-FFF2-40B4-BE49-F238E27FC236}">
                    <a16:creationId xmlns:a16="http://schemas.microsoft.com/office/drawing/2014/main" id="{BC1FB5F1-F7D7-9C9B-EE27-A2C012786E23}"/>
                  </a:ext>
                </a:extLst>
              </p:cNvPr>
              <p:cNvPicPr/>
              <p:nvPr/>
            </p:nvPicPr>
            <p:blipFill>
              <a:blip r:embed="rId21"/>
              <a:stretch>
                <a:fillRect/>
              </a:stretch>
            </p:blipFill>
            <p:spPr>
              <a:xfrm>
                <a:off x="5592741" y="1069287"/>
                <a:ext cx="186840" cy="207000"/>
              </a:xfrm>
              <a:prstGeom prst="rect">
                <a:avLst/>
              </a:prstGeom>
            </p:spPr>
          </p:pic>
        </mc:Fallback>
      </mc:AlternateContent>
      <p:grpSp>
        <p:nvGrpSpPr>
          <p:cNvPr id="39" name="组合 38">
            <a:extLst>
              <a:ext uri="{FF2B5EF4-FFF2-40B4-BE49-F238E27FC236}">
                <a16:creationId xmlns:a16="http://schemas.microsoft.com/office/drawing/2014/main" id="{71C9C072-551B-99CD-DBF4-35BE3C39723B}"/>
              </a:ext>
            </a:extLst>
          </p:cNvPr>
          <p:cNvGrpSpPr/>
          <p:nvPr/>
        </p:nvGrpSpPr>
        <p:grpSpPr>
          <a:xfrm>
            <a:off x="6096021" y="617487"/>
            <a:ext cx="2274120" cy="2781000"/>
            <a:chOff x="6096021" y="617487"/>
            <a:chExt cx="2274120" cy="2781000"/>
          </a:xfrm>
        </p:grpSpPr>
        <mc:AlternateContent xmlns:mc="http://schemas.openxmlformats.org/markup-compatibility/2006">
          <mc:Choice xmlns:p14="http://schemas.microsoft.com/office/powerpoint/2010/main" Requires="p14">
            <p:contentPart p14:bwMode="auto" r:id="rId22">
              <p14:nvContentPartPr>
                <p14:cNvPr id="31" name="墨迹 30">
                  <a:extLst>
                    <a:ext uri="{FF2B5EF4-FFF2-40B4-BE49-F238E27FC236}">
                      <a16:creationId xmlns:a16="http://schemas.microsoft.com/office/drawing/2014/main" id="{F8199208-A23F-A381-F0DB-2FDB6AFF6AF7}"/>
                    </a:ext>
                  </a:extLst>
                </p14:cNvPr>
                <p14:cNvContentPartPr/>
                <p14:nvPr/>
              </p14:nvContentPartPr>
              <p14:xfrm>
                <a:off x="6729261" y="1193487"/>
                <a:ext cx="442440" cy="301320"/>
              </p14:xfrm>
            </p:contentPart>
          </mc:Choice>
          <mc:Fallback>
            <p:pic>
              <p:nvPicPr>
                <p:cNvPr id="31" name="墨迹 30">
                  <a:extLst>
                    <a:ext uri="{FF2B5EF4-FFF2-40B4-BE49-F238E27FC236}">
                      <a16:creationId xmlns:a16="http://schemas.microsoft.com/office/drawing/2014/main" id="{F8199208-A23F-A381-F0DB-2FDB6AFF6AF7}"/>
                    </a:ext>
                  </a:extLst>
                </p:cNvPr>
                <p:cNvPicPr/>
                <p:nvPr/>
              </p:nvPicPr>
              <p:blipFill>
                <a:blip r:embed="rId23"/>
                <a:stretch>
                  <a:fillRect/>
                </a:stretch>
              </p:blipFill>
              <p:spPr>
                <a:xfrm>
                  <a:off x="6720621" y="1184847"/>
                  <a:ext cx="460080" cy="318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2" name="墨迹 31">
                  <a:extLst>
                    <a:ext uri="{FF2B5EF4-FFF2-40B4-BE49-F238E27FC236}">
                      <a16:creationId xmlns:a16="http://schemas.microsoft.com/office/drawing/2014/main" id="{F65CD630-DF85-A4E1-FA45-C89A05A4269C}"/>
                    </a:ext>
                  </a:extLst>
                </p14:cNvPr>
                <p14:cNvContentPartPr/>
                <p14:nvPr/>
              </p14:nvContentPartPr>
              <p14:xfrm>
                <a:off x="6947061" y="818367"/>
                <a:ext cx="1318320" cy="2580120"/>
              </p14:xfrm>
            </p:contentPart>
          </mc:Choice>
          <mc:Fallback>
            <p:pic>
              <p:nvPicPr>
                <p:cNvPr id="32" name="墨迹 31">
                  <a:extLst>
                    <a:ext uri="{FF2B5EF4-FFF2-40B4-BE49-F238E27FC236}">
                      <a16:creationId xmlns:a16="http://schemas.microsoft.com/office/drawing/2014/main" id="{F65CD630-DF85-A4E1-FA45-C89A05A4269C}"/>
                    </a:ext>
                  </a:extLst>
                </p:cNvPr>
                <p:cNvPicPr/>
                <p:nvPr/>
              </p:nvPicPr>
              <p:blipFill>
                <a:blip r:embed="rId25"/>
                <a:stretch>
                  <a:fillRect/>
                </a:stretch>
              </p:blipFill>
              <p:spPr>
                <a:xfrm>
                  <a:off x="6938421" y="809367"/>
                  <a:ext cx="1335960" cy="25977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4" name="墨迹 33">
                  <a:extLst>
                    <a:ext uri="{FF2B5EF4-FFF2-40B4-BE49-F238E27FC236}">
                      <a16:creationId xmlns:a16="http://schemas.microsoft.com/office/drawing/2014/main" id="{E30DAD9F-7A08-D72F-3625-D234E3D9FD29}"/>
                    </a:ext>
                  </a:extLst>
                </p14:cNvPr>
                <p14:cNvContentPartPr/>
                <p14:nvPr/>
              </p14:nvContentPartPr>
              <p14:xfrm>
                <a:off x="8155581" y="3163047"/>
                <a:ext cx="214560" cy="174600"/>
              </p14:xfrm>
            </p:contentPart>
          </mc:Choice>
          <mc:Fallback>
            <p:pic>
              <p:nvPicPr>
                <p:cNvPr id="34" name="墨迹 33">
                  <a:extLst>
                    <a:ext uri="{FF2B5EF4-FFF2-40B4-BE49-F238E27FC236}">
                      <a16:creationId xmlns:a16="http://schemas.microsoft.com/office/drawing/2014/main" id="{E30DAD9F-7A08-D72F-3625-D234E3D9FD29}"/>
                    </a:ext>
                  </a:extLst>
                </p:cNvPr>
                <p:cNvPicPr/>
                <p:nvPr/>
              </p:nvPicPr>
              <p:blipFill>
                <a:blip r:embed="rId27"/>
                <a:stretch>
                  <a:fillRect/>
                </a:stretch>
              </p:blipFill>
              <p:spPr>
                <a:xfrm>
                  <a:off x="8146941" y="3154407"/>
                  <a:ext cx="23220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6" name="墨迹 35">
                  <a:extLst>
                    <a:ext uri="{FF2B5EF4-FFF2-40B4-BE49-F238E27FC236}">
                      <a16:creationId xmlns:a16="http://schemas.microsoft.com/office/drawing/2014/main" id="{E0879CDA-D1D6-C50A-B51A-2405B1893C1A}"/>
                    </a:ext>
                  </a:extLst>
                </p14:cNvPr>
                <p14:cNvContentPartPr/>
                <p14:nvPr/>
              </p14:nvContentPartPr>
              <p14:xfrm>
                <a:off x="6096021" y="617487"/>
                <a:ext cx="625680" cy="559440"/>
              </p14:xfrm>
            </p:contentPart>
          </mc:Choice>
          <mc:Fallback>
            <p:pic>
              <p:nvPicPr>
                <p:cNvPr id="36" name="墨迹 35">
                  <a:extLst>
                    <a:ext uri="{FF2B5EF4-FFF2-40B4-BE49-F238E27FC236}">
                      <a16:creationId xmlns:a16="http://schemas.microsoft.com/office/drawing/2014/main" id="{E0879CDA-D1D6-C50A-B51A-2405B1893C1A}"/>
                    </a:ext>
                  </a:extLst>
                </p:cNvPr>
                <p:cNvPicPr/>
                <p:nvPr/>
              </p:nvPicPr>
              <p:blipFill>
                <a:blip r:embed="rId29"/>
                <a:stretch>
                  <a:fillRect/>
                </a:stretch>
              </p:blipFill>
              <p:spPr>
                <a:xfrm>
                  <a:off x="6087021" y="608847"/>
                  <a:ext cx="643320" cy="577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8" name="墨迹 37">
                  <a:extLst>
                    <a:ext uri="{FF2B5EF4-FFF2-40B4-BE49-F238E27FC236}">
                      <a16:creationId xmlns:a16="http://schemas.microsoft.com/office/drawing/2014/main" id="{13CFB083-65AE-D1B9-06BA-F0432FE324B6}"/>
                    </a:ext>
                  </a:extLst>
                </p14:cNvPr>
                <p14:cNvContentPartPr/>
                <p14:nvPr/>
              </p14:nvContentPartPr>
              <p14:xfrm>
                <a:off x="6673821" y="919887"/>
                <a:ext cx="200160" cy="242280"/>
              </p14:xfrm>
            </p:contentPart>
          </mc:Choice>
          <mc:Fallback>
            <p:pic>
              <p:nvPicPr>
                <p:cNvPr id="38" name="墨迹 37">
                  <a:extLst>
                    <a:ext uri="{FF2B5EF4-FFF2-40B4-BE49-F238E27FC236}">
                      <a16:creationId xmlns:a16="http://schemas.microsoft.com/office/drawing/2014/main" id="{13CFB083-65AE-D1B9-06BA-F0432FE324B6}"/>
                    </a:ext>
                  </a:extLst>
                </p:cNvPr>
                <p:cNvPicPr/>
                <p:nvPr/>
              </p:nvPicPr>
              <p:blipFill>
                <a:blip r:embed="rId31"/>
                <a:stretch>
                  <a:fillRect/>
                </a:stretch>
              </p:blipFill>
              <p:spPr>
                <a:xfrm>
                  <a:off x="6664821" y="911247"/>
                  <a:ext cx="217800" cy="259920"/>
                </a:xfrm>
                <a:prstGeom prst="rect">
                  <a:avLst/>
                </a:prstGeom>
              </p:spPr>
            </p:pic>
          </mc:Fallback>
        </mc:AlternateContent>
      </p:grpSp>
      <p:sp>
        <p:nvSpPr>
          <p:cNvPr id="42" name="文本框 41">
            <a:extLst>
              <a:ext uri="{FF2B5EF4-FFF2-40B4-BE49-F238E27FC236}">
                <a16:creationId xmlns:a16="http://schemas.microsoft.com/office/drawing/2014/main" id="{2560044F-B5F7-1FA4-3001-4592CF0DA11F}"/>
              </a:ext>
            </a:extLst>
          </p:cNvPr>
          <p:cNvSpPr txBox="1"/>
          <p:nvPr/>
        </p:nvSpPr>
        <p:spPr>
          <a:xfrm>
            <a:off x="1536981" y="892632"/>
            <a:ext cx="1107996" cy="369332"/>
          </a:xfrm>
          <a:prstGeom prst="rect">
            <a:avLst/>
          </a:prstGeom>
          <a:noFill/>
        </p:spPr>
        <p:txBody>
          <a:bodyPr wrap="none" rtlCol="0">
            <a:spAutoFit/>
          </a:bodyPr>
          <a:lstStyle/>
          <a:p>
            <a:r>
              <a:rPr lang="zh-CN" altLang="en-US" dirty="0">
                <a:solidFill>
                  <a:srgbClr val="0000FF"/>
                </a:solidFill>
              </a:rPr>
              <a:t>成组链接</a:t>
            </a:r>
          </a:p>
        </p:txBody>
      </p:sp>
      <p:sp>
        <p:nvSpPr>
          <p:cNvPr id="43" name="文本框 42">
            <a:extLst>
              <a:ext uri="{FF2B5EF4-FFF2-40B4-BE49-F238E27FC236}">
                <a16:creationId xmlns:a16="http://schemas.microsoft.com/office/drawing/2014/main" id="{2F5D6557-DCC4-A5A8-1A4A-C9BBD1CDCC7D}"/>
              </a:ext>
            </a:extLst>
          </p:cNvPr>
          <p:cNvSpPr txBox="1"/>
          <p:nvPr/>
        </p:nvSpPr>
        <p:spPr>
          <a:xfrm>
            <a:off x="-76355" y="5102012"/>
            <a:ext cx="1338828" cy="369332"/>
          </a:xfrm>
          <a:prstGeom prst="rect">
            <a:avLst/>
          </a:prstGeom>
          <a:noFill/>
        </p:spPr>
        <p:txBody>
          <a:bodyPr wrap="none" rtlCol="0">
            <a:spAutoFit/>
          </a:bodyPr>
          <a:lstStyle/>
          <a:p>
            <a:r>
              <a:rPr lang="zh-CN" altLang="en-US" dirty="0">
                <a:solidFill>
                  <a:srgbClr val="0000FF"/>
                </a:solidFill>
              </a:rPr>
              <a:t>分配和回收</a:t>
            </a:r>
          </a:p>
        </p:txBody>
      </p:sp>
      <p:grpSp>
        <p:nvGrpSpPr>
          <p:cNvPr id="51" name="组合 50">
            <a:extLst>
              <a:ext uri="{FF2B5EF4-FFF2-40B4-BE49-F238E27FC236}">
                <a16:creationId xmlns:a16="http://schemas.microsoft.com/office/drawing/2014/main" id="{89C22D0D-7D87-7EE3-0F5A-64805B0D9641}"/>
              </a:ext>
            </a:extLst>
          </p:cNvPr>
          <p:cNvGrpSpPr/>
          <p:nvPr/>
        </p:nvGrpSpPr>
        <p:grpSpPr>
          <a:xfrm>
            <a:off x="293901" y="4387767"/>
            <a:ext cx="197280" cy="772560"/>
            <a:chOff x="293901" y="4387767"/>
            <a:chExt cx="197280" cy="772560"/>
          </a:xfrm>
        </p:grpSpPr>
        <mc:AlternateContent xmlns:mc="http://schemas.openxmlformats.org/markup-compatibility/2006">
          <mc:Choice xmlns:p14="http://schemas.microsoft.com/office/powerpoint/2010/main" Requires="p14">
            <p:contentPart p14:bwMode="auto" r:id="rId32">
              <p14:nvContentPartPr>
                <p14:cNvPr id="47" name="墨迹 46">
                  <a:extLst>
                    <a:ext uri="{FF2B5EF4-FFF2-40B4-BE49-F238E27FC236}">
                      <a16:creationId xmlns:a16="http://schemas.microsoft.com/office/drawing/2014/main" id="{D16CF53F-14AF-B583-8D0D-7C682303A4B7}"/>
                    </a:ext>
                  </a:extLst>
                </p14:cNvPr>
                <p14:cNvContentPartPr/>
                <p14:nvPr/>
              </p14:nvContentPartPr>
              <p14:xfrm>
                <a:off x="345021" y="4387767"/>
                <a:ext cx="138960" cy="772560"/>
              </p14:xfrm>
            </p:contentPart>
          </mc:Choice>
          <mc:Fallback>
            <p:pic>
              <p:nvPicPr>
                <p:cNvPr id="47" name="墨迹 46">
                  <a:extLst>
                    <a:ext uri="{FF2B5EF4-FFF2-40B4-BE49-F238E27FC236}">
                      <a16:creationId xmlns:a16="http://schemas.microsoft.com/office/drawing/2014/main" id="{D16CF53F-14AF-B583-8D0D-7C682303A4B7}"/>
                    </a:ext>
                  </a:extLst>
                </p:cNvPr>
                <p:cNvPicPr/>
                <p:nvPr/>
              </p:nvPicPr>
              <p:blipFill>
                <a:blip r:embed="rId33"/>
                <a:stretch>
                  <a:fillRect/>
                </a:stretch>
              </p:blipFill>
              <p:spPr>
                <a:xfrm>
                  <a:off x="336021" y="4378767"/>
                  <a:ext cx="156600" cy="790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8" name="墨迹 47">
                  <a:extLst>
                    <a:ext uri="{FF2B5EF4-FFF2-40B4-BE49-F238E27FC236}">
                      <a16:creationId xmlns:a16="http://schemas.microsoft.com/office/drawing/2014/main" id="{F461000D-7BC3-DEFF-9E8C-487F7868F149}"/>
                    </a:ext>
                  </a:extLst>
                </p14:cNvPr>
                <p14:cNvContentPartPr/>
                <p14:nvPr/>
              </p14:nvContentPartPr>
              <p14:xfrm>
                <a:off x="293901" y="4393167"/>
                <a:ext cx="42480" cy="255960"/>
              </p14:xfrm>
            </p:contentPart>
          </mc:Choice>
          <mc:Fallback>
            <p:pic>
              <p:nvPicPr>
                <p:cNvPr id="48" name="墨迹 47">
                  <a:extLst>
                    <a:ext uri="{FF2B5EF4-FFF2-40B4-BE49-F238E27FC236}">
                      <a16:creationId xmlns:a16="http://schemas.microsoft.com/office/drawing/2014/main" id="{F461000D-7BC3-DEFF-9E8C-487F7868F149}"/>
                    </a:ext>
                  </a:extLst>
                </p:cNvPr>
                <p:cNvPicPr/>
                <p:nvPr/>
              </p:nvPicPr>
              <p:blipFill>
                <a:blip r:embed="rId35"/>
                <a:stretch>
                  <a:fillRect/>
                </a:stretch>
              </p:blipFill>
              <p:spPr>
                <a:xfrm>
                  <a:off x="284901" y="4384167"/>
                  <a:ext cx="6012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50" name="墨迹 49">
                  <a:extLst>
                    <a:ext uri="{FF2B5EF4-FFF2-40B4-BE49-F238E27FC236}">
                      <a16:creationId xmlns:a16="http://schemas.microsoft.com/office/drawing/2014/main" id="{F7467554-A101-89A1-ABB4-08D21D96F2AD}"/>
                    </a:ext>
                  </a:extLst>
                </p14:cNvPr>
                <p14:cNvContentPartPr/>
                <p14:nvPr/>
              </p14:nvContentPartPr>
              <p14:xfrm>
                <a:off x="367701" y="4456167"/>
                <a:ext cx="123480" cy="121680"/>
              </p14:xfrm>
            </p:contentPart>
          </mc:Choice>
          <mc:Fallback>
            <p:pic>
              <p:nvPicPr>
                <p:cNvPr id="50" name="墨迹 49">
                  <a:extLst>
                    <a:ext uri="{FF2B5EF4-FFF2-40B4-BE49-F238E27FC236}">
                      <a16:creationId xmlns:a16="http://schemas.microsoft.com/office/drawing/2014/main" id="{F7467554-A101-89A1-ABB4-08D21D96F2AD}"/>
                    </a:ext>
                  </a:extLst>
                </p:cNvPr>
                <p:cNvPicPr/>
                <p:nvPr/>
              </p:nvPicPr>
              <p:blipFill>
                <a:blip r:embed="rId37"/>
                <a:stretch>
                  <a:fillRect/>
                </a:stretch>
              </p:blipFill>
              <p:spPr>
                <a:xfrm>
                  <a:off x="358701" y="4447527"/>
                  <a:ext cx="141120" cy="139320"/>
                </a:xfrm>
                <a:prstGeom prst="rect">
                  <a:avLst/>
                </a:prstGeom>
              </p:spPr>
            </p:pic>
          </mc:Fallback>
        </mc:AlternateContent>
      </p:grpSp>
      <p:grpSp>
        <p:nvGrpSpPr>
          <p:cNvPr id="52" name="组合 51">
            <a:extLst>
              <a:ext uri="{FF2B5EF4-FFF2-40B4-BE49-F238E27FC236}">
                <a16:creationId xmlns:a16="http://schemas.microsoft.com/office/drawing/2014/main" id="{BDACE596-FE42-0D52-5181-CF434BA6E12A}"/>
              </a:ext>
            </a:extLst>
          </p:cNvPr>
          <p:cNvGrpSpPr/>
          <p:nvPr/>
        </p:nvGrpSpPr>
        <p:grpSpPr>
          <a:xfrm rot="15124236">
            <a:off x="7606357" y="622099"/>
            <a:ext cx="215942" cy="1422651"/>
            <a:chOff x="293901" y="4387767"/>
            <a:chExt cx="197280" cy="772560"/>
          </a:xfrm>
        </p:grpSpPr>
        <mc:AlternateContent xmlns:mc="http://schemas.openxmlformats.org/markup-compatibility/2006">
          <mc:Choice xmlns:p14="http://schemas.microsoft.com/office/powerpoint/2010/main" Requires="p14">
            <p:contentPart p14:bwMode="auto" r:id="rId38">
              <p14:nvContentPartPr>
                <p14:cNvPr id="53" name="墨迹 52">
                  <a:extLst>
                    <a:ext uri="{FF2B5EF4-FFF2-40B4-BE49-F238E27FC236}">
                      <a16:creationId xmlns:a16="http://schemas.microsoft.com/office/drawing/2014/main" id="{1C77C568-CF91-8FEA-3D2C-88673F543ADB}"/>
                    </a:ext>
                  </a:extLst>
                </p14:cNvPr>
                <p14:cNvContentPartPr/>
                <p14:nvPr/>
              </p14:nvContentPartPr>
              <p14:xfrm>
                <a:off x="345021" y="4387767"/>
                <a:ext cx="138960" cy="772560"/>
              </p14:xfrm>
            </p:contentPart>
          </mc:Choice>
          <mc:Fallback>
            <p:pic>
              <p:nvPicPr>
                <p:cNvPr id="53" name="墨迹 52">
                  <a:extLst>
                    <a:ext uri="{FF2B5EF4-FFF2-40B4-BE49-F238E27FC236}">
                      <a16:creationId xmlns:a16="http://schemas.microsoft.com/office/drawing/2014/main" id="{1C77C568-CF91-8FEA-3D2C-88673F543ADB}"/>
                    </a:ext>
                  </a:extLst>
                </p:cNvPr>
                <p:cNvPicPr/>
                <p:nvPr/>
              </p:nvPicPr>
              <p:blipFill>
                <a:blip r:embed="rId33"/>
                <a:stretch>
                  <a:fillRect/>
                </a:stretch>
              </p:blipFill>
              <p:spPr>
                <a:xfrm>
                  <a:off x="336789" y="4382879"/>
                  <a:ext cx="155095" cy="782141"/>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54" name="墨迹 53">
                  <a:extLst>
                    <a:ext uri="{FF2B5EF4-FFF2-40B4-BE49-F238E27FC236}">
                      <a16:creationId xmlns:a16="http://schemas.microsoft.com/office/drawing/2014/main" id="{E930258D-72AF-7892-E173-487F08CCC542}"/>
                    </a:ext>
                  </a:extLst>
                </p14:cNvPr>
                <p14:cNvContentPartPr/>
                <p14:nvPr/>
              </p14:nvContentPartPr>
              <p14:xfrm>
                <a:off x="293901" y="4393167"/>
                <a:ext cx="42480" cy="255960"/>
              </p14:xfrm>
            </p:contentPart>
          </mc:Choice>
          <mc:Fallback>
            <p:pic>
              <p:nvPicPr>
                <p:cNvPr id="54" name="墨迹 53">
                  <a:extLst>
                    <a:ext uri="{FF2B5EF4-FFF2-40B4-BE49-F238E27FC236}">
                      <a16:creationId xmlns:a16="http://schemas.microsoft.com/office/drawing/2014/main" id="{E930258D-72AF-7892-E173-487F08CCC542}"/>
                    </a:ext>
                  </a:extLst>
                </p:cNvPr>
                <p:cNvPicPr/>
                <p:nvPr/>
              </p:nvPicPr>
              <p:blipFill>
                <a:blip r:embed="rId35"/>
                <a:stretch>
                  <a:fillRect/>
                </a:stretch>
              </p:blipFill>
              <p:spPr>
                <a:xfrm>
                  <a:off x="285668" y="4388279"/>
                  <a:ext cx="58616" cy="265541"/>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55" name="墨迹 54">
                  <a:extLst>
                    <a:ext uri="{FF2B5EF4-FFF2-40B4-BE49-F238E27FC236}">
                      <a16:creationId xmlns:a16="http://schemas.microsoft.com/office/drawing/2014/main" id="{594A2335-547F-3D2A-06E4-F2B5E0A0FED6}"/>
                    </a:ext>
                  </a:extLst>
                </p14:cNvPr>
                <p14:cNvContentPartPr/>
                <p14:nvPr/>
              </p14:nvContentPartPr>
              <p14:xfrm>
                <a:off x="367701" y="4456167"/>
                <a:ext cx="123480" cy="121680"/>
              </p14:xfrm>
            </p:contentPart>
          </mc:Choice>
          <mc:Fallback>
            <p:pic>
              <p:nvPicPr>
                <p:cNvPr id="55" name="墨迹 54">
                  <a:extLst>
                    <a:ext uri="{FF2B5EF4-FFF2-40B4-BE49-F238E27FC236}">
                      <a16:creationId xmlns:a16="http://schemas.microsoft.com/office/drawing/2014/main" id="{594A2335-547F-3D2A-06E4-F2B5E0A0FED6}"/>
                    </a:ext>
                  </a:extLst>
                </p:cNvPr>
                <p:cNvPicPr/>
                <p:nvPr/>
              </p:nvPicPr>
              <p:blipFill>
                <a:blip r:embed="rId37"/>
                <a:stretch>
                  <a:fillRect/>
                </a:stretch>
              </p:blipFill>
              <p:spPr>
                <a:xfrm>
                  <a:off x="359469" y="4451464"/>
                  <a:ext cx="139615" cy="131281"/>
                </a:xfrm>
                <a:prstGeom prst="rect">
                  <a:avLst/>
                </a:prstGeom>
              </p:spPr>
            </p:pic>
          </mc:Fallback>
        </mc:AlternateContent>
      </p:grpSp>
      <p:sp>
        <p:nvSpPr>
          <p:cNvPr id="56" name="文本框 55">
            <a:extLst>
              <a:ext uri="{FF2B5EF4-FFF2-40B4-BE49-F238E27FC236}">
                <a16:creationId xmlns:a16="http://schemas.microsoft.com/office/drawing/2014/main" id="{C34F0441-1195-1FC4-F542-5950BB4978FC}"/>
              </a:ext>
            </a:extLst>
          </p:cNvPr>
          <p:cNvSpPr txBox="1"/>
          <p:nvPr/>
        </p:nvSpPr>
        <p:spPr>
          <a:xfrm>
            <a:off x="8262861" y="797487"/>
            <a:ext cx="1107996" cy="369332"/>
          </a:xfrm>
          <a:prstGeom prst="rect">
            <a:avLst/>
          </a:prstGeom>
          <a:noFill/>
        </p:spPr>
        <p:txBody>
          <a:bodyPr wrap="none" rtlCol="0">
            <a:spAutoFit/>
          </a:bodyPr>
          <a:lstStyle/>
          <a:p>
            <a:r>
              <a:rPr lang="zh-CN" altLang="en-US" dirty="0">
                <a:solidFill>
                  <a:srgbClr val="0000FF"/>
                </a:solidFill>
              </a:rPr>
              <a:t>链尾标志</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9章 知识导图"/>
          <p:cNvPicPr>
            <a:picLocks noChangeAspect="1"/>
          </p:cNvPicPr>
          <p:nvPr/>
        </p:nvPicPr>
        <p:blipFill>
          <a:blip r:embed="rId4"/>
          <a:srcRect b="1580"/>
          <a:stretch>
            <a:fillRect/>
          </a:stretch>
        </p:blipFill>
        <p:spPr>
          <a:xfrm>
            <a:off x="4864735" y="828675"/>
            <a:ext cx="6333490" cy="59734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8</a:t>
            </a:r>
            <a:r>
              <a:rPr lang="zh-CN" altLang="en-US" sz="2800" b="1" dirty="0">
                <a:solidFill>
                  <a:schemeClr val="bg1"/>
                </a:solidFill>
              </a:rPr>
              <a:t>章知识导图</a:t>
            </a: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3" name="表格 2">
            <a:extLst>
              <a:ext uri="{FF2B5EF4-FFF2-40B4-BE49-F238E27FC236}">
                <a16:creationId xmlns:a16="http://schemas.microsoft.com/office/drawing/2014/main" id="{96FCA763-9EC3-1718-76EF-7B771D35C3BE}"/>
              </a:ext>
            </a:extLst>
          </p:cNvPr>
          <p:cNvGraphicFramePr/>
          <p:nvPr>
            <p:custDataLst>
              <p:tags r:id="rId1"/>
            </p:custDataLst>
            <p:extLst>
              <p:ext uri="{D42A27DB-BD31-4B8C-83A1-F6EECF244321}">
                <p14:modId xmlns:p14="http://schemas.microsoft.com/office/powerpoint/2010/main" val="2812008053"/>
              </p:ext>
            </p:ext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extLst>
                    <a:ext uri="{9D8B030D-6E8A-4147-A177-3AD203B41FA5}">
                      <a16:colId xmlns:a16="http://schemas.microsoft.com/office/drawing/2014/main" val="20000"/>
                    </a:ext>
                  </a:extLst>
                </a:gridCol>
                <a:gridCol w="2952924">
                  <a:extLst>
                    <a:ext uri="{9D8B030D-6E8A-4147-A177-3AD203B41FA5}">
                      <a16:colId xmlns:a16="http://schemas.microsoft.com/office/drawing/2014/main" val="20001"/>
                    </a:ext>
                  </a:extLst>
                </a:gridCol>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extLst>
                  <a:ext uri="{0D108BD9-81ED-4DB2-BD59-A6C34878D82A}">
                    <a16:rowId xmlns:a16="http://schemas.microsoft.com/office/drawing/2014/main" val="10000"/>
                  </a:ext>
                </a:extLst>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1"/>
                  </a:ext>
                </a:extLst>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2"/>
                  </a:ext>
                </a:extLst>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存储器管理</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3"/>
                  </a:ext>
                </a:extLst>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虚拟存储器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4"/>
                  </a:ext>
                </a:extLst>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输入输出系统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5"/>
                  </a:ext>
                </a:extLst>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微软雅黑 (正文)"/>
                          <a:ea typeface="+mn-ea"/>
                          <a:cs typeface="+mn-cs"/>
                        </a:rPr>
                        <a:t>  第7章</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71755" indent="0" algn="l" defTabSz="914400" rtl="0" eaLnBrk="1" latinLnBrk="0" hangingPunct="1">
                        <a:lnSpc>
                          <a:spcPct val="100000"/>
                        </a:lnSpc>
                        <a:spcBef>
                          <a:spcPts val="300"/>
                        </a:spcBef>
                        <a:spcAft>
                          <a:spcPts val="300"/>
                        </a:spcAft>
                        <a:buNone/>
                      </a:pPr>
                      <a:r>
                        <a:rPr lang="zh-CN" altLang="en-US" sz="2000" kern="1200" dirty="0">
                          <a:solidFill>
                            <a:schemeClr val="tx1"/>
                          </a:solidFill>
                          <a:latin typeface="微软雅黑 (正文)"/>
                          <a:ea typeface="+mn-ea"/>
                          <a:cs typeface="+mn-cs"/>
                        </a:rPr>
                        <a:t>文件管理</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extLst>
                  <a:ext uri="{0D108BD9-81ED-4DB2-BD59-A6C34878D82A}">
                    <a16:rowId xmlns:a16="http://schemas.microsoft.com/office/drawing/2014/main" val="10006"/>
                  </a:ext>
                </a:extLst>
              </a:tr>
              <a:tr h="399121">
                <a:tc>
                  <a:txBody>
                    <a:bodyPr/>
                    <a:lstStyle/>
                    <a:p>
                      <a:pPr marL="71755" indent="0" algn="ctr">
                        <a:lnSpc>
                          <a:spcPct val="100000"/>
                        </a:lnSpc>
                        <a:spcBef>
                          <a:spcPts val="300"/>
                        </a:spcBef>
                        <a:spcAft>
                          <a:spcPts val="300"/>
                        </a:spcAft>
                        <a:buNone/>
                      </a:pPr>
                      <a:r>
                        <a:rPr lang="en-US" sz="2000" b="1" kern="1200" dirty="0">
                          <a:solidFill>
                            <a:schemeClr val="bg1"/>
                          </a:solidFill>
                          <a:latin typeface="微软雅黑 (正文)"/>
                          <a:ea typeface="+mn-ea"/>
                          <a:cs typeface="+mn-cs"/>
                        </a:rPr>
                        <a:t>第8章</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altLang="zh-CN" sz="2000" b="1" kern="1200" dirty="0" err="1">
                          <a:solidFill>
                            <a:schemeClr val="bg1"/>
                          </a:solidFill>
                          <a:latin typeface="微软雅黑 (正文)"/>
                          <a:ea typeface="+mn-ea"/>
                          <a:cs typeface="+mn-cs"/>
                        </a:rPr>
                        <a:t>磁盘存储器管理</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extLst>
                  <a:ext uri="{0D108BD9-81ED-4DB2-BD59-A6C34878D82A}">
                    <a16:rowId xmlns:a16="http://schemas.microsoft.com/office/drawing/2014/main" val="10007"/>
                  </a:ext>
                </a:extLst>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zh-CN" altLang="en-US" sz="2000" dirty="0">
                          <a:latin typeface="微软雅黑 (正文)"/>
                        </a:rPr>
                        <a:t>操作系统接口</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8"/>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第10章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多处理机操作系统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9"/>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第11章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marR="0" lvl="0" indent="0" algn="l" defTabSz="914400" rtl="0" eaLnBrk="1" fontAlgn="auto" latinLnBrk="0" hangingPunct="1">
                        <a:lnSpc>
                          <a:spcPct val="100000"/>
                        </a:lnSpc>
                        <a:spcBef>
                          <a:spcPts val="300"/>
                        </a:spcBef>
                        <a:spcAft>
                          <a:spcPts val="300"/>
                        </a:spcAft>
                        <a:buClrTx/>
                        <a:buSzTx/>
                        <a:buFontTx/>
                        <a:buNone/>
                        <a:tabLst/>
                        <a:defRPr/>
                      </a:pPr>
                      <a:r>
                        <a:rPr lang="zh-CN" altLang="en-US" sz="2000" dirty="0">
                          <a:solidFill>
                            <a:schemeClr val="bg1">
                              <a:lumMod val="75000"/>
                            </a:schemeClr>
                          </a:solidFill>
                          <a:latin typeface="微软雅黑 (正文)"/>
                        </a:rPr>
                        <a:t>多媒体操作系统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0"/>
                  </a:ext>
                </a:extLst>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第12章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保护和安全</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1"/>
                  </a:ext>
                </a:extLst>
              </a:tr>
            </a:tbl>
          </a:graphicData>
        </a:graphic>
      </p:graphicFrame>
      <p:pic>
        <p:nvPicPr>
          <p:cNvPr id="5" name="图形 10" descr="徽章勾号 1 纯色填充">
            <a:extLst>
              <a:ext uri="{FF2B5EF4-FFF2-40B4-BE49-F238E27FC236}">
                <a16:creationId xmlns:a16="http://schemas.microsoft.com/office/drawing/2014/main" id="{5DC12883-DF25-6A9F-3EBB-BB77E2A6779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78661" y="1341358"/>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形 9" descr="触控屏 纯色填充">
            <a:extLst>
              <a:ext uri="{FF2B5EF4-FFF2-40B4-BE49-F238E27FC236}">
                <a16:creationId xmlns:a16="http://schemas.microsoft.com/office/drawing/2014/main" id="{CACD8802-77D9-104E-9C03-B822BE5C832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58137" y="4169838"/>
            <a:ext cx="4318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10" descr="徽章勾号 1 纯色填充">
            <a:extLst>
              <a:ext uri="{FF2B5EF4-FFF2-40B4-BE49-F238E27FC236}">
                <a16:creationId xmlns:a16="http://schemas.microsoft.com/office/drawing/2014/main" id="{623E223C-7CBA-EB98-CD2D-B131A184334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80229" y="2690965"/>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448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 </a:t>
            </a:r>
            <a:r>
              <a:rPr lang="zh-CN" altLang="en-US" sz="2800" b="1" dirty="0">
                <a:solidFill>
                  <a:schemeClr val="bg1"/>
                </a:solidFill>
              </a:rPr>
              <a:t>提高磁盘</a:t>
            </a:r>
            <a:r>
              <a:rPr lang="en-US" altLang="zh-CN" sz="2800" b="1" dirty="0">
                <a:solidFill>
                  <a:schemeClr val="bg1"/>
                </a:solidFill>
              </a:rPr>
              <a:t>I/O</a:t>
            </a:r>
            <a:r>
              <a:rPr lang="zh-CN" altLang="en-US" sz="2800" b="1" dirty="0">
                <a:solidFill>
                  <a:schemeClr val="bg1"/>
                </a:solidFill>
              </a:rPr>
              <a:t>速度的途径</a:t>
            </a:r>
          </a:p>
        </p:txBody>
      </p:sp>
      <p:grpSp>
        <p:nvGrpSpPr>
          <p:cNvPr id="4"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28057"/>
            <a:ext cx="11531600" cy="5590963"/>
            <a:chOff x="660400" y="1128057"/>
            <a:chExt cx="11531600" cy="5590963"/>
          </a:xfrm>
        </p:grpSpPr>
        <p:sp>
          <p:nvSpPr>
            <p:cNvPr id="5" name="iṥlídè"/>
            <p:cNvSpPr/>
            <p:nvPr/>
          </p:nvSpPr>
          <p:spPr>
            <a:xfrm>
              <a:off x="6958245" y="1128057"/>
              <a:ext cx="5233755" cy="5008286"/>
            </a:xfrm>
            <a:prstGeom prst="rect">
              <a:avLst/>
            </a:prstGeom>
            <a:blipFill>
              <a:blip r:embed="rId3"/>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6" name="iṡļiḓe"/>
            <p:cNvGrpSpPr/>
            <p:nvPr/>
          </p:nvGrpSpPr>
          <p:grpSpPr>
            <a:xfrm>
              <a:off x="660400" y="1214478"/>
              <a:ext cx="6151764" cy="2443121"/>
              <a:chOff x="660400" y="1214478"/>
              <a:chExt cx="6151764" cy="2443121"/>
            </a:xfrm>
          </p:grpSpPr>
          <p:grpSp>
            <p:nvGrpSpPr>
              <p:cNvPr id="16" name="iSḻíḓè"/>
              <p:cNvGrpSpPr/>
              <p:nvPr/>
            </p:nvGrpSpPr>
            <p:grpSpPr>
              <a:xfrm>
                <a:off x="1530997" y="1214478"/>
                <a:ext cx="5281167" cy="2443121"/>
                <a:chOff x="1592242" y="1214478"/>
                <a:chExt cx="6660874" cy="2443121"/>
              </a:xfrm>
            </p:grpSpPr>
            <p:sp>
              <p:nvSpPr>
                <p:cNvPr id="21" name="îṧľîḋé"/>
                <p:cNvSpPr txBox="1"/>
                <p:nvPr/>
              </p:nvSpPr>
              <p:spPr>
                <a:xfrm>
                  <a:off x="1592242" y="1214478"/>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提高文件的访问速度</a:t>
                  </a:r>
                </a:p>
              </p:txBody>
            </p:sp>
            <p:sp>
              <p:nvSpPr>
                <p:cNvPr id="22" name="íşļîḓé"/>
                <p:cNvSpPr/>
                <p:nvPr/>
              </p:nvSpPr>
              <p:spPr bwMode="auto">
                <a:xfrm>
                  <a:off x="1592242" y="1658200"/>
                  <a:ext cx="6660874" cy="1999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改进文件的目录结构以及检索目录的方法。</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t>选取好的文件存储结构。</a:t>
                  </a: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b="1" dirty="0">
                      <a:solidFill>
                        <a:srgbClr val="0000FF"/>
                      </a:solidFill>
                    </a:rPr>
                    <a:t>提高磁盘</a:t>
                  </a:r>
                  <a:r>
                    <a:rPr lang="en-US" altLang="zh-CN" sz="2400" b="1" dirty="0">
                      <a:solidFill>
                        <a:srgbClr val="0000FF"/>
                      </a:solidFill>
                    </a:rPr>
                    <a:t>I/O</a:t>
                  </a:r>
                  <a:r>
                    <a:rPr lang="zh-CN" altLang="en-US" sz="2400" b="1" dirty="0">
                      <a:solidFill>
                        <a:srgbClr val="0000FF"/>
                      </a:solidFill>
                    </a:rPr>
                    <a:t>速度。</a:t>
                  </a:r>
                </a:p>
              </p:txBody>
            </p:sp>
          </p:grpSp>
          <p:grpSp>
            <p:nvGrpSpPr>
              <p:cNvPr id="17" name="ïS1íḋé"/>
              <p:cNvGrpSpPr/>
              <p:nvPr/>
            </p:nvGrpSpPr>
            <p:grpSpPr>
              <a:xfrm>
                <a:off x="660400" y="1240976"/>
                <a:ext cx="733394" cy="733394"/>
                <a:chOff x="660400" y="1240976"/>
                <a:chExt cx="733394" cy="733394"/>
              </a:xfrm>
            </p:grpSpPr>
            <p:sp>
              <p:nvSpPr>
                <p:cNvPr id="18" name="islîḋe"/>
                <p:cNvSpPr/>
                <p:nvPr/>
              </p:nvSpPr>
              <p:spPr>
                <a:xfrm>
                  <a:off x="660400" y="1240976"/>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9" name="îŝlîďe"/>
                <p:cNvSpPr/>
                <p:nvPr/>
              </p:nvSpPr>
              <p:spPr>
                <a:xfrm>
                  <a:off x="797603" y="1425847"/>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 name="iŝļïḓê"/>
            <p:cNvGrpSpPr/>
            <p:nvPr/>
          </p:nvGrpSpPr>
          <p:grpSpPr>
            <a:xfrm>
              <a:off x="660400" y="3763656"/>
              <a:ext cx="6297845" cy="2955364"/>
              <a:chOff x="660400" y="1372312"/>
              <a:chExt cx="6297845" cy="2955364"/>
            </a:xfrm>
          </p:grpSpPr>
          <p:grpSp>
            <p:nvGrpSpPr>
              <p:cNvPr id="9" name="ïṧļïḓe"/>
              <p:cNvGrpSpPr/>
              <p:nvPr/>
            </p:nvGrpSpPr>
            <p:grpSpPr>
              <a:xfrm>
                <a:off x="1539875" y="1570058"/>
                <a:ext cx="5418370" cy="2757618"/>
                <a:chOff x="1603439" y="1570058"/>
                <a:chExt cx="6833921" cy="2757618"/>
              </a:xfrm>
            </p:grpSpPr>
            <p:sp>
              <p:nvSpPr>
                <p:cNvPr id="14" name="ïšļíďè"/>
                <p:cNvSpPr txBox="1"/>
                <p:nvPr/>
              </p:nvSpPr>
              <p:spPr>
                <a:xfrm>
                  <a:off x="1603439" y="1570058"/>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磁盘</a:t>
                  </a:r>
                  <a:r>
                    <a:rPr lang="en-US" altLang="zh-CN" sz="2400" dirty="0"/>
                    <a:t>I/O</a:t>
                  </a:r>
                  <a:r>
                    <a:rPr lang="zh-CN" altLang="en-US" sz="2400" dirty="0"/>
                    <a:t>速度远低于内存的访问速度，</a:t>
                  </a:r>
                  <a:r>
                    <a:rPr lang="zh-CN" altLang="en-US" sz="2400" dirty="0">
                      <a:solidFill>
                        <a:srgbClr val="0000FF"/>
                      </a:solidFill>
                    </a:rPr>
                    <a:t>已成为瓶颈。</a:t>
                  </a:r>
                </a:p>
              </p:txBody>
            </p:sp>
            <p:sp>
              <p:nvSpPr>
                <p:cNvPr id="15" name="íşľíḑè"/>
                <p:cNvSpPr/>
                <p:nvPr/>
              </p:nvSpPr>
              <p:spPr bwMode="auto">
                <a:xfrm>
                  <a:off x="1603439" y="2124304"/>
                  <a:ext cx="6833921" cy="2203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spcBef>
                      <a:spcPts val="600"/>
                    </a:spcBef>
                    <a:buFont typeface="Wingdings" panose="05000000000000000000" pitchFamily="2" charset="2"/>
                    <a:buChar char="Ø"/>
                  </a:pPr>
                  <a:r>
                    <a:rPr lang="zh-CN" altLang="en-US" sz="2400" b="1" dirty="0"/>
                    <a:t>磁盘高速缓存。</a:t>
                  </a:r>
                </a:p>
                <a:p>
                  <a:pPr marL="342900" lvl="1" indent="-342900">
                    <a:spcBef>
                      <a:spcPts val="600"/>
                    </a:spcBef>
                    <a:buFont typeface="Wingdings" panose="05000000000000000000" pitchFamily="2" charset="2"/>
                    <a:buChar char="Ø"/>
                  </a:pPr>
                  <a:r>
                    <a:rPr lang="zh-CN" altLang="en-US" sz="2400" b="1" dirty="0"/>
                    <a:t>其他方法	</a:t>
                  </a:r>
                </a:p>
                <a:p>
                  <a:pPr marL="800100" lvl="2" indent="-342900">
                    <a:spcBef>
                      <a:spcPts val="600"/>
                    </a:spcBef>
                    <a:buFont typeface="Wingdings" panose="05000000000000000000" pitchFamily="2" charset="2"/>
                    <a:buChar char="p"/>
                  </a:pPr>
                  <a:r>
                    <a:rPr lang="zh-CN" altLang="en-US" sz="2400" dirty="0"/>
                    <a:t>提前读、延迟写、优化物理块的分布、虚拟盘等。</a:t>
                  </a:r>
                  <a:endParaRPr lang="en-US" altLang="zh-CN" sz="2400" dirty="0"/>
                </a:p>
                <a:p>
                  <a:pPr marL="342900" lvl="1" indent="-342900">
                    <a:spcBef>
                      <a:spcPts val="600"/>
                    </a:spcBef>
                    <a:buFont typeface="Wingdings" panose="05000000000000000000" pitchFamily="2" charset="2"/>
                    <a:buChar char="Ø"/>
                  </a:pPr>
                  <a:r>
                    <a:rPr lang="zh-CN" altLang="en-US" sz="2400" b="1" dirty="0"/>
                    <a:t>廉价磁盘冗余阵列</a:t>
                  </a:r>
                  <a:r>
                    <a:rPr lang="en-US" altLang="zh-CN" sz="2400" b="1" dirty="0"/>
                    <a:t>RAID</a:t>
                  </a:r>
                  <a:r>
                    <a:rPr lang="zh-CN" altLang="en-US" sz="2400" b="1" dirty="0"/>
                    <a:t>。</a:t>
                  </a:r>
                  <a:endParaRPr lang="en-US" altLang="zh-CN" sz="2400" b="1" dirty="0"/>
                </a:p>
              </p:txBody>
            </p:sp>
          </p:grpSp>
          <p:grpSp>
            <p:nvGrpSpPr>
              <p:cNvPr id="10" name="ïŝľídè"/>
              <p:cNvGrpSpPr/>
              <p:nvPr/>
            </p:nvGrpSpPr>
            <p:grpSpPr>
              <a:xfrm>
                <a:off x="660400" y="1372312"/>
                <a:ext cx="733394" cy="733394"/>
                <a:chOff x="660400" y="1372312"/>
                <a:chExt cx="733394" cy="733394"/>
              </a:xfrm>
            </p:grpSpPr>
            <p:sp>
              <p:nvSpPr>
                <p:cNvPr id="11" name="ïṡľïde"/>
                <p:cNvSpPr/>
                <p:nvPr/>
              </p:nvSpPr>
              <p:spPr>
                <a:xfrm>
                  <a:off x="660400" y="1372312"/>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2" name="ïšliḍe"/>
                <p:cNvSpPr/>
                <p:nvPr/>
              </p:nvSpPr>
              <p:spPr>
                <a:xfrm>
                  <a:off x="806481" y="1583817"/>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8.3.1</a:t>
            </a:r>
            <a:r>
              <a:rPr lang="zh-CN" altLang="en-US" sz="2800" b="1" dirty="0">
                <a:solidFill>
                  <a:schemeClr val="bg1"/>
                </a:solidFill>
              </a:rPr>
              <a:t>磁盘高速缓存</a:t>
            </a:r>
          </a:p>
        </p:txBody>
      </p:sp>
      <p:sp>
        <p:nvSpPr>
          <p:cNvPr id="225" name="íšḻíḑê"/>
          <p:cNvSpPr/>
          <p:nvPr/>
        </p:nvSpPr>
        <p:spPr>
          <a:xfrm>
            <a:off x="1033947" y="1313068"/>
            <a:ext cx="7927445"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磁盘高速缓存</a:t>
            </a:r>
            <a:r>
              <a:rPr lang="en-US" altLang="zh-CN" sz="2400" dirty="0">
                <a:solidFill>
                  <a:srgbClr val="0000FF"/>
                </a:solidFill>
              </a:rPr>
              <a:t>(Disk</a:t>
            </a:r>
            <a:r>
              <a:rPr lang="zh-CN" altLang="en-US" sz="2400" dirty="0">
                <a:solidFill>
                  <a:srgbClr val="0000FF"/>
                </a:solidFill>
              </a:rPr>
              <a:t> </a:t>
            </a:r>
            <a:r>
              <a:rPr lang="en-US" altLang="zh-CN" sz="2400" dirty="0">
                <a:solidFill>
                  <a:srgbClr val="0000FF"/>
                </a:solidFill>
              </a:rPr>
              <a:t>Cache)</a:t>
            </a:r>
            <a:endParaRPr lang="zh-CN" altLang="en-US" sz="2400" dirty="0">
              <a:solidFill>
                <a:srgbClr val="0000FF"/>
              </a:solidFill>
            </a:endParaRPr>
          </a:p>
        </p:txBody>
      </p:sp>
      <p:sp>
        <p:nvSpPr>
          <p:cNvPr id="13"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4"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5" name="îṧľîdé"/>
          <p:cNvSpPr/>
          <p:nvPr/>
        </p:nvSpPr>
        <p:spPr>
          <a:xfrm>
            <a:off x="3703687" y="176554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6" name="内容占位符 2"/>
          <p:cNvSpPr txBox="1"/>
          <p:nvPr/>
        </p:nvSpPr>
        <p:spPr>
          <a:xfrm>
            <a:off x="894703" y="2556676"/>
            <a:ext cx="2808984" cy="258250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在内存中为磁盘盘块设置一个缓冲区，在该缓冲区中保存了某些盘块的副本。</a:t>
            </a:r>
          </a:p>
        </p:txBody>
      </p:sp>
      <p:sp>
        <p:nvSpPr>
          <p:cNvPr id="17" name="内容占位符 2"/>
          <p:cNvSpPr txBox="1"/>
          <p:nvPr/>
        </p:nvSpPr>
        <p:spPr>
          <a:xfrm>
            <a:off x="7696200" y="3235045"/>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访问磁盘时，先查看内容是否已在磁盘高速缓存中，如果在，直接从缓存中获取；如果不在，需启动磁盘将需要的盘块读入内存，并送到缓存中。</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设计磁盘高速缓存需考虑的问题</a:t>
            </a:r>
          </a:p>
        </p:txBody>
      </p:sp>
      <p:sp>
        <p:nvSpPr>
          <p:cNvPr id="14" name="íšḻîḋè"/>
          <p:cNvSpPr/>
          <p:nvPr/>
        </p:nvSpPr>
        <p:spPr>
          <a:xfrm>
            <a:off x="1691207" y="3669413"/>
            <a:ext cx="9279222"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较常用算法：</a:t>
            </a:r>
            <a:r>
              <a:rPr lang="en-US" altLang="zh-CN" sz="2200" dirty="0">
                <a:solidFill>
                  <a:srgbClr val="0000FF"/>
                </a:solidFill>
              </a:rPr>
              <a:t>LRU</a:t>
            </a:r>
            <a:r>
              <a:rPr lang="zh-CN" altLang="en-US" sz="2200" dirty="0"/>
              <a:t>、</a:t>
            </a:r>
            <a:r>
              <a:rPr lang="en-US" altLang="zh-CN" sz="2200" dirty="0"/>
              <a:t>Clock</a:t>
            </a:r>
            <a:r>
              <a:rPr lang="zh-CN" altLang="en-US" sz="2200" dirty="0"/>
              <a:t>以及最少使用</a:t>
            </a:r>
            <a:r>
              <a:rPr lang="en-US" altLang="zh-CN" sz="2200" dirty="0"/>
              <a:t>LFU</a:t>
            </a:r>
            <a:r>
              <a:rPr lang="zh-CN" altLang="en-US" sz="2200" dirty="0"/>
              <a:t>页面置换算法。</a:t>
            </a:r>
          </a:p>
        </p:txBody>
      </p:sp>
      <p:sp>
        <p:nvSpPr>
          <p:cNvPr id="15" name="i$lîďê"/>
          <p:cNvSpPr/>
          <p:nvPr/>
        </p:nvSpPr>
        <p:spPr>
          <a:xfrm>
            <a:off x="1746842" y="3139244"/>
            <a:ext cx="3696051" cy="392877"/>
          </a:xfrm>
          <a:prstGeom prst="rect">
            <a:avLst/>
          </a:prstGeom>
          <a:noFill/>
          <a:ln>
            <a:noFill/>
          </a:ln>
        </p:spPr>
        <p:txBody>
          <a:bodyPr wrap="square" lIns="91440" tIns="45720" rIns="91440" bIns="45720" anchor="ctr" anchorCtr="0">
            <a:noAutofit/>
          </a:bodyPr>
          <a:lstStyle/>
          <a:p>
            <a:r>
              <a:rPr lang="zh-CN" altLang="en-US" sz="2400" dirty="0"/>
              <a:t>置换算法</a:t>
            </a:r>
          </a:p>
        </p:txBody>
      </p:sp>
      <p:sp>
        <p:nvSpPr>
          <p:cNvPr id="16" name="î$ļíḋè"/>
          <p:cNvSpPr/>
          <p:nvPr/>
        </p:nvSpPr>
        <p:spPr>
          <a:xfrm>
            <a:off x="1746844" y="4874322"/>
            <a:ext cx="9730290"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根据</a:t>
            </a:r>
            <a:r>
              <a:rPr lang="en-US" altLang="zh-CN" sz="2200" dirty="0"/>
              <a:t>LRU</a:t>
            </a:r>
            <a:r>
              <a:rPr lang="zh-CN" altLang="en-US" sz="2200" dirty="0"/>
              <a:t>算法，经常被访问的盘块数据可能会一直保留在缓存中，长期不会被写回磁盘。</a:t>
            </a:r>
          </a:p>
          <a:p>
            <a:pPr marL="342900" indent="-342900">
              <a:lnSpc>
                <a:spcPct val="120000"/>
              </a:lnSpc>
              <a:buClr>
                <a:srgbClr val="FF0000"/>
              </a:buClr>
              <a:buFont typeface="Wingdings" panose="05000000000000000000" pitchFamily="2" charset="2"/>
              <a:buChar char="Ø"/>
            </a:pPr>
            <a:r>
              <a:rPr lang="zh-CN" altLang="en-US" sz="2200" dirty="0"/>
              <a:t>因此，</a:t>
            </a:r>
            <a:r>
              <a:rPr lang="en-US" altLang="zh-CN" sz="2200" dirty="0"/>
              <a:t>UNIX</a:t>
            </a:r>
            <a:r>
              <a:rPr lang="zh-CN" altLang="en-US" sz="2200" dirty="0"/>
              <a:t>系统增设了一个修改</a:t>
            </a:r>
            <a:r>
              <a:rPr lang="en-US" altLang="zh-CN" sz="2200" dirty="0"/>
              <a:t>(update)</a:t>
            </a:r>
            <a:r>
              <a:rPr lang="zh-CN" altLang="en-US" sz="2200" dirty="0"/>
              <a:t>程序在后台运行，周期性写回磁盘。</a:t>
            </a:r>
          </a:p>
        </p:txBody>
      </p:sp>
      <p:sp>
        <p:nvSpPr>
          <p:cNvPr id="17" name="ïṧḷïḋè"/>
          <p:cNvSpPr/>
          <p:nvPr/>
        </p:nvSpPr>
        <p:spPr>
          <a:xfrm>
            <a:off x="1746844" y="4361547"/>
            <a:ext cx="3696051" cy="415102"/>
          </a:xfrm>
          <a:prstGeom prst="rect">
            <a:avLst/>
          </a:prstGeom>
          <a:noFill/>
          <a:ln>
            <a:noFill/>
          </a:ln>
        </p:spPr>
        <p:txBody>
          <a:bodyPr wrap="square" lIns="91440" tIns="45720" rIns="91440" bIns="45720" anchor="ctr" anchorCtr="0">
            <a:noAutofit/>
          </a:bodyPr>
          <a:lstStyle/>
          <a:p>
            <a:r>
              <a:rPr lang="zh-CN" altLang="en-US" sz="2400" dirty="0"/>
              <a:t>周期性地写回磁盘</a:t>
            </a:r>
          </a:p>
        </p:txBody>
      </p:sp>
      <p:sp>
        <p:nvSpPr>
          <p:cNvPr id="18" name="îs1iďé"/>
          <p:cNvSpPr/>
          <p:nvPr/>
        </p:nvSpPr>
        <p:spPr>
          <a:xfrm>
            <a:off x="1821537" y="1830118"/>
            <a:ext cx="9711234" cy="1490610"/>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t>数据交付：直接将磁盘高速缓存中的数据送到内存。</a:t>
            </a:r>
          </a:p>
          <a:p>
            <a:pPr marL="342900" indent="-342900">
              <a:lnSpc>
                <a:spcPct val="120000"/>
              </a:lnSpc>
              <a:spcBef>
                <a:spcPts val="800"/>
              </a:spcBef>
              <a:buClr>
                <a:srgbClr val="FF0000"/>
              </a:buClr>
              <a:buFont typeface="Wingdings" panose="05000000000000000000" pitchFamily="2" charset="2"/>
              <a:buChar char="Ø"/>
            </a:pPr>
            <a:r>
              <a:rPr lang="zh-CN" altLang="en-US" sz="2400" dirty="0"/>
              <a:t>指针交付：只将指向磁盘高速缓存中某区域的指针交付给请求者进程。</a:t>
            </a:r>
            <a:r>
              <a:rPr lang="en-US" altLang="zh-CN" sz="2400" dirty="0"/>
              <a:t>	</a:t>
            </a:r>
            <a:endParaRPr lang="zh-CN" altLang="en-US" sz="2400" dirty="0"/>
          </a:p>
        </p:txBody>
      </p:sp>
      <p:sp>
        <p:nvSpPr>
          <p:cNvPr id="19" name="íšḻíḑê"/>
          <p:cNvSpPr/>
          <p:nvPr/>
        </p:nvSpPr>
        <p:spPr>
          <a:xfrm>
            <a:off x="1802480" y="1361556"/>
            <a:ext cx="3696051" cy="405747"/>
          </a:xfrm>
          <a:prstGeom prst="rect">
            <a:avLst/>
          </a:prstGeom>
          <a:noFill/>
          <a:ln>
            <a:noFill/>
          </a:ln>
        </p:spPr>
        <p:txBody>
          <a:bodyPr wrap="square" lIns="91440" tIns="45720" rIns="91440" bIns="45720" anchor="ctr" anchorCtr="0">
            <a:noAutofit/>
          </a:bodyPr>
          <a:lstStyle/>
          <a:p>
            <a:r>
              <a:rPr lang="zh-CN" altLang="en-US" sz="2400" dirty="0"/>
              <a:t>数据交付方式</a:t>
            </a:r>
          </a:p>
        </p:txBody>
      </p:sp>
      <p:sp>
        <p:nvSpPr>
          <p:cNvPr id="21"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2" name="íṥḻîḓe"/>
          <p:cNvSpPr/>
          <p:nvPr/>
        </p:nvSpPr>
        <p:spPr>
          <a:xfrm>
            <a:off x="1063340" y="427894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3" name="îşļiḓè"/>
          <p:cNvSpPr/>
          <p:nvPr/>
        </p:nvSpPr>
        <p:spPr>
          <a:xfrm>
            <a:off x="1063340" y="303871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24"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25" name="íSlíḋe"/>
          <p:cNvSpPr/>
          <p:nvPr/>
        </p:nvSpPr>
        <p:spPr>
          <a:xfrm>
            <a:off x="1253594" y="326073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26" name="ïśḷïḓe"/>
          <p:cNvSpPr/>
          <p:nvPr/>
        </p:nvSpPr>
        <p:spPr>
          <a:xfrm>
            <a:off x="1282533" y="446840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8.3.2</a:t>
            </a:r>
            <a:r>
              <a:rPr lang="zh-CN" altLang="en-US" sz="2800" b="1" dirty="0">
                <a:solidFill>
                  <a:schemeClr val="bg1"/>
                </a:solidFill>
              </a:rPr>
              <a:t>提高磁盘</a:t>
            </a:r>
            <a:r>
              <a:rPr lang="en-US" altLang="zh-CN" sz="2800" b="1" dirty="0">
                <a:solidFill>
                  <a:schemeClr val="bg1"/>
                </a:solidFill>
              </a:rPr>
              <a:t>I/O</a:t>
            </a:r>
            <a:r>
              <a:rPr lang="zh-CN" altLang="en-US" sz="2800" b="1" dirty="0">
                <a:solidFill>
                  <a:schemeClr val="bg1"/>
                </a:solidFill>
              </a:rPr>
              <a:t>速度的其他方法</a:t>
            </a:r>
          </a:p>
        </p:txBody>
      </p:sp>
      <p:sp>
        <p:nvSpPr>
          <p:cNvPr id="31" name="内容占位符 2"/>
          <p:cNvSpPr txBox="1"/>
          <p:nvPr/>
        </p:nvSpPr>
        <p:spPr>
          <a:xfrm>
            <a:off x="1734478" y="1237477"/>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提前读</a:t>
            </a:r>
            <a:endParaRPr lang="en-US" altLang="zh-CN" sz="2200" dirty="0"/>
          </a:p>
        </p:txBody>
      </p:sp>
      <p:sp>
        <p:nvSpPr>
          <p:cNvPr id="32" name="iśḷíḑe"/>
          <p:cNvSpPr/>
          <p:nvPr/>
        </p:nvSpPr>
        <p:spPr>
          <a:xfrm>
            <a:off x="784302" y="1317341"/>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01</a:t>
            </a:r>
            <a:endParaRPr lang="zh-CN" altLang="en-US" sz="2400" b="1" kern="0" dirty="0">
              <a:solidFill>
                <a:prstClr val="white"/>
              </a:solidFill>
            </a:endParaRPr>
          </a:p>
        </p:txBody>
      </p:sp>
      <p:sp>
        <p:nvSpPr>
          <p:cNvPr id="33" name="ïś1ïḑè"/>
          <p:cNvSpPr/>
          <p:nvPr/>
        </p:nvSpPr>
        <p:spPr>
          <a:xfrm>
            <a:off x="784302" y="2456743"/>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02</a:t>
            </a:r>
            <a:endParaRPr lang="zh-CN" altLang="en-US" sz="2400" b="1" kern="0" dirty="0">
              <a:solidFill>
                <a:prstClr val="white"/>
              </a:solidFill>
            </a:endParaRPr>
          </a:p>
        </p:txBody>
      </p:sp>
      <p:sp>
        <p:nvSpPr>
          <p:cNvPr id="34" name="iśḷíḑe"/>
          <p:cNvSpPr/>
          <p:nvPr/>
        </p:nvSpPr>
        <p:spPr>
          <a:xfrm>
            <a:off x="784302" y="3410574"/>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03</a:t>
            </a:r>
            <a:endParaRPr lang="zh-CN" altLang="en-US" sz="2400" b="1" kern="0" dirty="0">
              <a:solidFill>
                <a:prstClr val="white"/>
              </a:solidFill>
            </a:endParaRPr>
          </a:p>
        </p:txBody>
      </p:sp>
      <p:sp>
        <p:nvSpPr>
          <p:cNvPr id="35" name="ïś1ïḑè"/>
          <p:cNvSpPr/>
          <p:nvPr/>
        </p:nvSpPr>
        <p:spPr>
          <a:xfrm>
            <a:off x="784302" y="4867533"/>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rPr>
              <a:t>04</a:t>
            </a:r>
            <a:endParaRPr lang="zh-CN" altLang="en-US" sz="2400" b="1" kern="0" dirty="0">
              <a:solidFill>
                <a:prstClr val="white"/>
              </a:solidFill>
            </a:endParaRPr>
          </a:p>
        </p:txBody>
      </p:sp>
      <p:sp>
        <p:nvSpPr>
          <p:cNvPr id="36" name="内容占位符 2"/>
          <p:cNvSpPr txBox="1"/>
          <p:nvPr/>
        </p:nvSpPr>
        <p:spPr>
          <a:xfrm>
            <a:off x="1281717" y="1768856"/>
            <a:ext cx="10410174" cy="6261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在读当前块的同时要求将下一个盘块（提前读的盘块）中的数据也</a:t>
            </a:r>
            <a:r>
              <a:rPr lang="zh-CN" altLang="en-US" sz="2200" dirty="0">
                <a:solidFill>
                  <a:srgbClr val="0000FF"/>
                </a:solidFill>
              </a:rPr>
              <a:t>读入缓冲区</a:t>
            </a:r>
            <a:r>
              <a:rPr lang="zh-CN" altLang="en-US" sz="2200" dirty="0"/>
              <a:t>。</a:t>
            </a:r>
          </a:p>
        </p:txBody>
      </p:sp>
      <p:sp>
        <p:nvSpPr>
          <p:cNvPr id="37" name="内容占位符 2"/>
          <p:cNvSpPr txBox="1"/>
          <p:nvPr/>
        </p:nvSpPr>
        <p:spPr>
          <a:xfrm>
            <a:off x="1734478" y="2296161"/>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延迟写</a:t>
            </a:r>
          </a:p>
        </p:txBody>
      </p:sp>
      <p:sp>
        <p:nvSpPr>
          <p:cNvPr id="38" name="内容占位符 2"/>
          <p:cNvSpPr txBox="1"/>
          <p:nvPr/>
        </p:nvSpPr>
        <p:spPr>
          <a:xfrm>
            <a:off x="1281717" y="2827540"/>
            <a:ext cx="10410174" cy="6261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solidFill>
                  <a:srgbClr val="0000FF"/>
                </a:solidFill>
              </a:rPr>
              <a:t>缓冲区中的数据</a:t>
            </a:r>
            <a:r>
              <a:rPr lang="zh-CN" altLang="en-US" sz="2200" dirty="0"/>
              <a:t>延迟写回磁盘，已被广泛采用。（参考</a:t>
            </a:r>
            <a:r>
              <a:rPr lang="en-US" altLang="zh-CN" sz="2200" dirty="0"/>
              <a:t>P180PBA</a:t>
            </a:r>
            <a:r>
              <a:rPr lang="zh-CN" altLang="en-US" sz="2200" dirty="0"/>
              <a:t>算法）</a:t>
            </a:r>
          </a:p>
        </p:txBody>
      </p:sp>
      <p:sp>
        <p:nvSpPr>
          <p:cNvPr id="39" name="内容占位符 2"/>
          <p:cNvSpPr txBox="1"/>
          <p:nvPr/>
        </p:nvSpPr>
        <p:spPr>
          <a:xfrm>
            <a:off x="1805499" y="3428632"/>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优化物理块的分布</a:t>
            </a:r>
          </a:p>
        </p:txBody>
      </p:sp>
      <p:sp>
        <p:nvSpPr>
          <p:cNvPr id="40" name="内容占位符 2"/>
          <p:cNvSpPr txBox="1"/>
          <p:nvPr/>
        </p:nvSpPr>
        <p:spPr>
          <a:xfrm>
            <a:off x="1281717" y="3951853"/>
            <a:ext cx="10410174" cy="9404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为文件分配盘块时，优化盘块的分布，如将同属于一个文件的盘块安排在同一条磁道上或相邻的磁道上，减少磁头的移动距离。（分布方法：位示图、簇）</a:t>
            </a:r>
          </a:p>
        </p:txBody>
      </p:sp>
      <p:sp>
        <p:nvSpPr>
          <p:cNvPr id="41" name="内容占位符 2"/>
          <p:cNvSpPr txBox="1"/>
          <p:nvPr/>
        </p:nvSpPr>
        <p:spPr>
          <a:xfrm>
            <a:off x="1805499" y="4910571"/>
            <a:ext cx="5168423" cy="523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400" dirty="0"/>
              <a:t>虚拟盘</a:t>
            </a:r>
          </a:p>
        </p:txBody>
      </p:sp>
      <p:sp>
        <p:nvSpPr>
          <p:cNvPr id="42" name="内容占位符 2"/>
          <p:cNvSpPr txBox="1"/>
          <p:nvPr/>
        </p:nvSpPr>
        <p:spPr>
          <a:xfrm>
            <a:off x="1281717" y="5433792"/>
            <a:ext cx="10410174" cy="6030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buClr>
                <a:srgbClr val="0000FF"/>
              </a:buClr>
              <a:buFont typeface="Wingdings" panose="05000000000000000000" pitchFamily="2" charset="2"/>
              <a:buChar char="Ø"/>
            </a:pPr>
            <a:r>
              <a:rPr lang="zh-CN" altLang="en-US" sz="2200" dirty="0"/>
              <a:t>利用内存空间仿真磁盘（虚拟盘，</a:t>
            </a:r>
            <a:r>
              <a:rPr lang="en-US" altLang="zh-CN" sz="2200" dirty="0"/>
              <a:t>RAM</a:t>
            </a:r>
            <a:r>
              <a:rPr lang="zh-CN" altLang="en-US" sz="2200" dirty="0"/>
              <a:t>盘）。</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8.3.3 </a:t>
            </a:r>
            <a:r>
              <a:rPr lang="zh-CN" altLang="en-US" sz="2800" b="1" dirty="0">
                <a:solidFill>
                  <a:schemeClr val="bg1"/>
                </a:solidFill>
              </a:rPr>
              <a:t>廉价磁盘冗余阵列</a:t>
            </a:r>
          </a:p>
        </p:txBody>
      </p:sp>
      <p:sp>
        <p:nvSpPr>
          <p:cNvPr id="25" name="i$lîďê"/>
          <p:cNvSpPr/>
          <p:nvPr/>
        </p:nvSpPr>
        <p:spPr>
          <a:xfrm>
            <a:off x="1802479" y="2507781"/>
            <a:ext cx="9818391" cy="627867"/>
          </a:xfrm>
          <a:prstGeom prst="rect">
            <a:avLst/>
          </a:prstGeom>
          <a:noFill/>
          <a:ln>
            <a:noFill/>
          </a:ln>
        </p:spPr>
        <p:txBody>
          <a:bodyPr wrap="square" lIns="91440" tIns="45720" rIns="91440" bIns="45720" anchor="ctr" anchorCtr="0">
            <a:noAutofit/>
          </a:bodyPr>
          <a:lstStyle/>
          <a:p>
            <a:r>
              <a:rPr lang="en-US" altLang="zh-CN" sz="2400" dirty="0"/>
              <a:t>RAID</a:t>
            </a:r>
            <a:r>
              <a:rPr lang="zh-CN" altLang="en-US" sz="2400" dirty="0"/>
              <a:t>利用一台磁盘阵列控制器来统一管理和控制一组（几台到几十台）磁盘驱动器，进而组成一个大型磁盘系统。</a:t>
            </a:r>
          </a:p>
        </p:txBody>
      </p:sp>
      <p:sp>
        <p:nvSpPr>
          <p:cNvPr id="31" name="ïṧḷïḋè"/>
          <p:cNvSpPr/>
          <p:nvPr/>
        </p:nvSpPr>
        <p:spPr>
          <a:xfrm>
            <a:off x="1802481" y="4918871"/>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优点：</a:t>
            </a:r>
          </a:p>
        </p:txBody>
      </p:sp>
      <p:sp>
        <p:nvSpPr>
          <p:cNvPr id="32" name="îs1iďé"/>
          <p:cNvSpPr/>
          <p:nvPr/>
        </p:nvSpPr>
        <p:spPr>
          <a:xfrm>
            <a:off x="1802479" y="3260266"/>
            <a:ext cx="9711234" cy="1490610"/>
          </a:xfrm>
          <a:prstGeom prst="rect">
            <a:avLst/>
          </a:prstGeom>
          <a:noFill/>
          <a:ln>
            <a:noFill/>
          </a:ln>
        </p:spPr>
        <p:txBody>
          <a:bodyPr wrap="square" lIns="91440" tIns="45720" rIns="91440" bIns="45720" anchor="t" anchorCtr="0">
            <a:noAutofit/>
          </a:bodyPr>
          <a:lstStyle/>
          <a:p>
            <a:pPr marL="342900" indent="-342900">
              <a:lnSpc>
                <a:spcPct val="120000"/>
              </a:lnSpc>
              <a:spcBef>
                <a:spcPts val="400"/>
              </a:spcBef>
              <a:buClr>
                <a:srgbClr val="FF0000"/>
              </a:buClr>
              <a:buFont typeface="Wingdings" panose="05000000000000000000" pitchFamily="2" charset="2"/>
              <a:buChar char="Ø"/>
            </a:pPr>
            <a:r>
              <a:rPr lang="zh-CN" altLang="en-US" sz="2200" dirty="0"/>
              <a:t>大幅度增加了磁盘的容量。</a:t>
            </a:r>
          </a:p>
          <a:p>
            <a:pPr marL="342900" indent="-342900">
              <a:lnSpc>
                <a:spcPct val="120000"/>
              </a:lnSpc>
              <a:spcBef>
                <a:spcPts val="400"/>
              </a:spcBef>
              <a:buClr>
                <a:srgbClr val="FF0000"/>
              </a:buClr>
              <a:buFont typeface="Wingdings" panose="05000000000000000000" pitchFamily="2" charset="2"/>
              <a:buChar char="Ø"/>
            </a:pPr>
            <a:r>
              <a:rPr lang="zh-CN" altLang="en-US" sz="2200" dirty="0"/>
              <a:t>提高了磁盘的</a:t>
            </a:r>
            <a:r>
              <a:rPr lang="en-US" altLang="zh-CN" sz="2200" dirty="0"/>
              <a:t>I/O</a:t>
            </a:r>
            <a:r>
              <a:rPr lang="zh-CN" altLang="en-US" sz="2200" dirty="0"/>
              <a:t>速度。</a:t>
            </a:r>
          </a:p>
          <a:p>
            <a:pPr marL="342900" indent="-342900">
              <a:lnSpc>
                <a:spcPct val="120000"/>
              </a:lnSpc>
              <a:spcBef>
                <a:spcPts val="400"/>
              </a:spcBef>
              <a:buClr>
                <a:srgbClr val="FF0000"/>
              </a:buClr>
              <a:buFont typeface="Wingdings" panose="05000000000000000000" pitchFamily="2" charset="2"/>
              <a:buChar char="Ø"/>
            </a:pPr>
            <a:r>
              <a:rPr lang="zh-CN" altLang="en-US" sz="2200" dirty="0"/>
              <a:t>提高了磁盘系统的可靠性。</a:t>
            </a:r>
          </a:p>
        </p:txBody>
      </p:sp>
      <p:sp>
        <p:nvSpPr>
          <p:cNvPr id="33" name="íšḻíḑê"/>
          <p:cNvSpPr/>
          <p:nvPr/>
        </p:nvSpPr>
        <p:spPr>
          <a:xfrm>
            <a:off x="1802480" y="1361556"/>
            <a:ext cx="9463283" cy="405747"/>
          </a:xfrm>
          <a:prstGeom prst="rect">
            <a:avLst/>
          </a:prstGeom>
          <a:noFill/>
          <a:ln>
            <a:noFill/>
          </a:ln>
        </p:spPr>
        <p:txBody>
          <a:bodyPr wrap="square" lIns="91440" tIns="45720" rIns="91440" bIns="45720" anchor="ctr" anchorCtr="0">
            <a:noAutofit/>
          </a:bodyPr>
          <a:lstStyle/>
          <a:p>
            <a:r>
              <a:rPr lang="zh-CN" altLang="en-US" sz="2400" dirty="0"/>
              <a:t>由多个小磁盘所组成的一个容量很大的</a:t>
            </a:r>
            <a:r>
              <a:rPr lang="zh-CN" altLang="en-US" sz="2400" dirty="0">
                <a:solidFill>
                  <a:srgbClr val="0000FF"/>
                </a:solidFill>
              </a:rPr>
              <a:t>廉价磁盘冗余阵列</a:t>
            </a:r>
            <a:r>
              <a:rPr lang="en-US" altLang="zh-CN" sz="2400" dirty="0">
                <a:solidFill>
                  <a:srgbClr val="0000FF"/>
                </a:solidFill>
              </a:rPr>
              <a:t>RAID</a:t>
            </a:r>
            <a:r>
              <a:rPr lang="zh-CN" altLang="en-US" sz="2400" dirty="0">
                <a:solidFill>
                  <a:srgbClr val="0000FF"/>
                </a:solidFill>
              </a:rPr>
              <a:t>。</a:t>
            </a:r>
            <a:endParaRPr lang="en-US" altLang="zh-CN" sz="2400" dirty="0">
              <a:solidFill>
                <a:srgbClr val="0000FF"/>
              </a:solidFill>
            </a:endParaRPr>
          </a:p>
        </p:txBody>
      </p:sp>
      <p:sp>
        <p:nvSpPr>
          <p:cNvPr id="37"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8" name="íṥḻîḓe"/>
          <p:cNvSpPr/>
          <p:nvPr/>
        </p:nvSpPr>
        <p:spPr>
          <a:xfrm>
            <a:off x="1118977" y="483626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39" name="îşļiḓè"/>
          <p:cNvSpPr/>
          <p:nvPr/>
        </p:nvSpPr>
        <p:spPr>
          <a:xfrm>
            <a:off x="1118977" y="240725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0"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41" name="íSlíḋe"/>
          <p:cNvSpPr/>
          <p:nvPr/>
        </p:nvSpPr>
        <p:spPr>
          <a:xfrm>
            <a:off x="1309231" y="262927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42" name="ïśḷïḓe"/>
          <p:cNvSpPr/>
          <p:nvPr/>
        </p:nvSpPr>
        <p:spPr>
          <a:xfrm>
            <a:off x="1338170" y="502572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21" name="îs1iďé"/>
          <p:cNvSpPr/>
          <p:nvPr/>
        </p:nvSpPr>
        <p:spPr>
          <a:xfrm>
            <a:off x="1802479" y="5441463"/>
            <a:ext cx="2706075" cy="506573"/>
          </a:xfrm>
          <a:prstGeom prst="rect">
            <a:avLst/>
          </a:prstGeom>
          <a:noFill/>
          <a:ln>
            <a:noFill/>
          </a:ln>
        </p:spPr>
        <p:txBody>
          <a:bodyPr wrap="square" lIns="91440" tIns="45720" rIns="91440" bIns="45720" anchor="t" anchorCtr="0">
            <a:noAutofit/>
          </a:bodyPr>
          <a:lstStyle/>
          <a:p>
            <a:pPr marL="342900" indent="-342900">
              <a:lnSpc>
                <a:spcPct val="120000"/>
              </a:lnSpc>
              <a:spcBef>
                <a:spcPts val="400"/>
              </a:spcBef>
              <a:buClr>
                <a:srgbClr val="FF0000"/>
              </a:buClr>
              <a:buFont typeface="Wingdings" panose="05000000000000000000" pitchFamily="2" charset="2"/>
              <a:buChar char="Ø"/>
            </a:pPr>
            <a:r>
              <a:rPr lang="zh-CN" altLang="en-US" sz="2200" dirty="0"/>
              <a:t>可靠性高</a:t>
            </a:r>
          </a:p>
        </p:txBody>
      </p:sp>
      <p:sp>
        <p:nvSpPr>
          <p:cNvPr id="22" name="îs1iďé"/>
          <p:cNvSpPr/>
          <p:nvPr/>
        </p:nvSpPr>
        <p:spPr>
          <a:xfrm>
            <a:off x="4145494" y="5441463"/>
            <a:ext cx="2706075" cy="593482"/>
          </a:xfrm>
          <a:prstGeom prst="rect">
            <a:avLst/>
          </a:prstGeom>
          <a:noFill/>
          <a:ln>
            <a:noFill/>
          </a:ln>
        </p:spPr>
        <p:txBody>
          <a:bodyPr wrap="square" lIns="91440" tIns="45720" rIns="91440" bIns="45720" anchor="t" anchorCtr="0">
            <a:noAutofit/>
          </a:bodyPr>
          <a:lstStyle/>
          <a:p>
            <a:pPr marL="342900" indent="-342900">
              <a:lnSpc>
                <a:spcPct val="120000"/>
              </a:lnSpc>
              <a:spcBef>
                <a:spcPts val="400"/>
              </a:spcBef>
              <a:buClr>
                <a:srgbClr val="FF0000"/>
              </a:buClr>
              <a:buFont typeface="Wingdings" panose="05000000000000000000" pitchFamily="2" charset="2"/>
              <a:buChar char="Ø"/>
            </a:pPr>
            <a:r>
              <a:rPr lang="zh-CN" altLang="en-US" sz="2200" dirty="0"/>
              <a:t>磁盘</a:t>
            </a:r>
            <a:r>
              <a:rPr lang="en-US" altLang="zh-CN" sz="2200" dirty="0"/>
              <a:t>I/O</a:t>
            </a:r>
            <a:r>
              <a:rPr lang="zh-CN" altLang="en-US" sz="2200" dirty="0"/>
              <a:t>速度快</a:t>
            </a:r>
          </a:p>
        </p:txBody>
      </p:sp>
      <p:sp>
        <p:nvSpPr>
          <p:cNvPr id="24" name="îs1iďé"/>
          <p:cNvSpPr/>
          <p:nvPr/>
        </p:nvSpPr>
        <p:spPr>
          <a:xfrm>
            <a:off x="7038690" y="5441463"/>
            <a:ext cx="2706075" cy="593482"/>
          </a:xfrm>
          <a:prstGeom prst="rect">
            <a:avLst/>
          </a:prstGeom>
          <a:noFill/>
          <a:ln>
            <a:noFill/>
          </a:ln>
        </p:spPr>
        <p:txBody>
          <a:bodyPr wrap="square" lIns="91440" tIns="45720" rIns="91440" bIns="45720" anchor="t" anchorCtr="0">
            <a:noAutofit/>
          </a:bodyPr>
          <a:lstStyle/>
          <a:p>
            <a:pPr marL="342900" indent="-342900">
              <a:lnSpc>
                <a:spcPct val="120000"/>
              </a:lnSpc>
              <a:spcBef>
                <a:spcPts val="400"/>
              </a:spcBef>
              <a:buClr>
                <a:srgbClr val="FF0000"/>
              </a:buClr>
              <a:buFont typeface="Wingdings" panose="05000000000000000000" pitchFamily="2" charset="2"/>
              <a:buChar char="Ø"/>
            </a:pPr>
            <a:r>
              <a:rPr lang="zh-CN" altLang="en-US" sz="2200" dirty="0"/>
              <a:t>性价比高</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RAID</a:t>
            </a:r>
            <a:r>
              <a:rPr lang="zh-CN" altLang="en-US" sz="2800" b="1" dirty="0">
                <a:solidFill>
                  <a:schemeClr val="bg1"/>
                </a:solidFill>
              </a:rPr>
              <a:t>的技术</a:t>
            </a:r>
          </a:p>
        </p:txBody>
      </p:sp>
      <p:sp>
        <p:nvSpPr>
          <p:cNvPr id="8" name="内容占位符 2"/>
          <p:cNvSpPr txBox="1"/>
          <p:nvPr/>
        </p:nvSpPr>
        <p:spPr>
          <a:xfrm>
            <a:off x="669925" y="1037768"/>
            <a:ext cx="3396048"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b="1" dirty="0">
                <a:solidFill>
                  <a:srgbClr val="0000FF"/>
                </a:solidFill>
              </a:rPr>
              <a:t>并行交叉存取</a:t>
            </a:r>
          </a:p>
        </p:txBody>
      </p:sp>
      <p:sp>
        <p:nvSpPr>
          <p:cNvPr id="23" name="îs1iďé"/>
          <p:cNvSpPr/>
          <p:nvPr/>
        </p:nvSpPr>
        <p:spPr>
          <a:xfrm>
            <a:off x="669924" y="1657690"/>
            <a:ext cx="11048599" cy="258583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系统将每一盘块中的数据分为若干个子盘块数据，再把每一子盘块的数据分别存储到</a:t>
            </a:r>
            <a:r>
              <a:rPr lang="zh-CN" altLang="en-US" sz="2400" dirty="0">
                <a:solidFill>
                  <a:srgbClr val="0000FF"/>
                </a:solidFill>
              </a:rPr>
              <a:t>不同磁盘中的相同位置</a:t>
            </a:r>
            <a:r>
              <a:rPr lang="zh-CN" altLang="en-US" sz="2400" dirty="0"/>
              <a:t>上。</a:t>
            </a:r>
          </a:p>
          <a:p>
            <a:pPr marL="342900" indent="-342900">
              <a:lnSpc>
                <a:spcPct val="120000"/>
              </a:lnSpc>
              <a:spcBef>
                <a:spcPts val="600"/>
              </a:spcBef>
              <a:buClr>
                <a:srgbClr val="FF0000"/>
              </a:buClr>
              <a:buFont typeface="Wingdings" panose="05000000000000000000" pitchFamily="2" charset="2"/>
              <a:buChar char="Ø"/>
            </a:pPr>
            <a:r>
              <a:rPr lang="zh-CN" altLang="en-US" sz="2400" dirty="0"/>
              <a:t>当要将一个盘块的数据传送到内存时，采取</a:t>
            </a:r>
            <a:r>
              <a:rPr lang="zh-CN" altLang="en-US" sz="2400" dirty="0">
                <a:solidFill>
                  <a:srgbClr val="0000FF"/>
                </a:solidFill>
              </a:rPr>
              <a:t>并行传输</a:t>
            </a:r>
            <a:r>
              <a:rPr lang="zh-CN" altLang="en-US" sz="2400" dirty="0"/>
              <a:t>方式，将各个盘块中的子盘块数据同时向内存中传输。</a:t>
            </a:r>
          </a:p>
          <a:p>
            <a:pPr marL="342900" indent="-342900">
              <a:lnSpc>
                <a:spcPct val="120000"/>
              </a:lnSpc>
              <a:spcBef>
                <a:spcPts val="600"/>
              </a:spcBef>
              <a:buClr>
                <a:srgbClr val="FF0000"/>
              </a:buClr>
              <a:buFont typeface="Wingdings" panose="05000000000000000000" pitchFamily="2" charset="2"/>
              <a:buChar char="Ø"/>
            </a:pPr>
            <a:r>
              <a:rPr lang="zh-CN" altLang="en-US" sz="2400" dirty="0"/>
              <a:t>传输时间大大减少。</a:t>
            </a:r>
          </a:p>
        </p:txBody>
      </p:sp>
      <p:pic>
        <p:nvPicPr>
          <p:cNvPr id="24" name="图片 23"/>
          <p:cNvPicPr>
            <a:picLocks noChangeAspect="1"/>
          </p:cNvPicPr>
          <p:nvPr/>
        </p:nvPicPr>
        <p:blipFill>
          <a:blip r:embed="rId2">
            <a:clrChange>
              <a:clrFrom>
                <a:srgbClr val="FFFFFF"/>
              </a:clrFrom>
              <a:clrTo>
                <a:srgbClr val="FFFFFF">
                  <a:alpha val="0"/>
                </a:srgbClr>
              </a:clrTo>
            </a:clrChange>
          </a:blip>
          <a:stretch>
            <a:fillRect/>
          </a:stretch>
        </p:blipFill>
        <p:spPr>
          <a:xfrm>
            <a:off x="1107500" y="3899494"/>
            <a:ext cx="10173446" cy="260163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RAID</a:t>
            </a:r>
            <a:r>
              <a:rPr lang="zh-CN" altLang="en-US" sz="2800" b="1" dirty="0">
                <a:solidFill>
                  <a:schemeClr val="bg1"/>
                </a:solidFill>
              </a:rPr>
              <a:t>的分级</a:t>
            </a:r>
          </a:p>
        </p:txBody>
      </p:sp>
      <p:sp>
        <p:nvSpPr>
          <p:cNvPr id="8" name="内容占位符 2"/>
          <p:cNvSpPr txBox="1"/>
          <p:nvPr/>
        </p:nvSpPr>
        <p:spPr>
          <a:xfrm>
            <a:off x="669925" y="1037768"/>
            <a:ext cx="4630044"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RAID</a:t>
            </a:r>
            <a:r>
              <a:rPr lang="zh-CN" altLang="en-US" sz="2400" dirty="0"/>
              <a:t>被分成了多个不同级别。</a:t>
            </a:r>
          </a:p>
        </p:txBody>
      </p:sp>
      <p:sp>
        <p:nvSpPr>
          <p:cNvPr id="23" name="îs1iďé"/>
          <p:cNvSpPr/>
          <p:nvPr/>
        </p:nvSpPr>
        <p:spPr>
          <a:xfrm>
            <a:off x="669925" y="1579022"/>
            <a:ext cx="4931885" cy="5200310"/>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en-US" altLang="zh-CN" sz="2400" dirty="0">
                <a:solidFill>
                  <a:srgbClr val="0000FF"/>
                </a:solidFill>
              </a:rPr>
              <a:t>RAID0~RAID7</a:t>
            </a:r>
          </a:p>
          <a:p>
            <a:pPr marL="342900" indent="-342900">
              <a:lnSpc>
                <a:spcPct val="120000"/>
              </a:lnSpc>
              <a:spcBef>
                <a:spcPts val="600"/>
              </a:spcBef>
              <a:buClr>
                <a:srgbClr val="FF0000"/>
              </a:buClr>
              <a:buFont typeface="Wingdings" panose="05000000000000000000" pitchFamily="2" charset="2"/>
              <a:buChar char="Ø"/>
            </a:pPr>
            <a:r>
              <a:rPr lang="en-US" altLang="zh-CN" sz="2400" dirty="0"/>
              <a:t>RAID 0</a:t>
            </a:r>
            <a:r>
              <a:rPr lang="zh-CN" altLang="en-US" sz="2400" dirty="0"/>
              <a:t>：</a:t>
            </a:r>
            <a:r>
              <a:rPr lang="zh-CN" altLang="en-US" sz="2400" dirty="0">
                <a:solidFill>
                  <a:srgbClr val="0000FF"/>
                </a:solidFill>
              </a:rPr>
              <a:t>提高读写性能</a:t>
            </a:r>
          </a:p>
          <a:p>
            <a:pPr marL="800100" lvl="1" indent="-342900">
              <a:lnSpc>
                <a:spcPct val="120000"/>
              </a:lnSpc>
              <a:spcBef>
                <a:spcPts val="600"/>
              </a:spcBef>
              <a:buClr>
                <a:srgbClr val="FF0000"/>
              </a:buClr>
              <a:buFont typeface="Wingdings" panose="05000000000000000000" pitchFamily="2" charset="2"/>
              <a:buChar char="l"/>
            </a:pPr>
            <a:r>
              <a:rPr lang="zh-CN" altLang="en-US" sz="2400" dirty="0"/>
              <a:t>数据分散在多个磁盘上；</a:t>
            </a:r>
          </a:p>
          <a:p>
            <a:pPr marL="800100" lvl="1" indent="-342900">
              <a:lnSpc>
                <a:spcPct val="120000"/>
              </a:lnSpc>
              <a:spcBef>
                <a:spcPts val="600"/>
              </a:spcBef>
              <a:buClr>
                <a:srgbClr val="FF0000"/>
              </a:buClr>
              <a:buFont typeface="Wingdings" panose="05000000000000000000" pitchFamily="2" charset="2"/>
              <a:buChar char="l"/>
            </a:pPr>
            <a:r>
              <a:rPr lang="zh-CN" altLang="en-US" sz="2400" dirty="0"/>
              <a:t>条状分散技术；</a:t>
            </a:r>
          </a:p>
          <a:p>
            <a:pPr marL="342900" indent="-342900">
              <a:lnSpc>
                <a:spcPct val="120000"/>
              </a:lnSpc>
              <a:spcBef>
                <a:spcPts val="600"/>
              </a:spcBef>
              <a:buClr>
                <a:srgbClr val="FF0000"/>
              </a:buClr>
              <a:buFont typeface="Wingdings" panose="05000000000000000000" pitchFamily="2" charset="2"/>
              <a:buChar char="Ø"/>
            </a:pPr>
            <a:r>
              <a:rPr lang="en-US" altLang="zh-CN" sz="2400" dirty="0"/>
              <a:t>RAID 1</a:t>
            </a:r>
            <a:r>
              <a:rPr lang="zh-CN" altLang="en-US" sz="2400" dirty="0"/>
              <a:t>：</a:t>
            </a:r>
            <a:r>
              <a:rPr lang="zh-CN" altLang="en-US" sz="2400" dirty="0">
                <a:solidFill>
                  <a:srgbClr val="0000FF"/>
                </a:solidFill>
              </a:rPr>
              <a:t>提高可靠性</a:t>
            </a:r>
          </a:p>
          <a:p>
            <a:pPr marL="800100" lvl="1" indent="-342900">
              <a:lnSpc>
                <a:spcPct val="120000"/>
              </a:lnSpc>
              <a:spcBef>
                <a:spcPts val="600"/>
              </a:spcBef>
              <a:buClr>
                <a:srgbClr val="FF0000"/>
              </a:buClr>
              <a:buFont typeface="Wingdings" panose="05000000000000000000" pitchFamily="2" charset="2"/>
              <a:buChar char="l"/>
            </a:pPr>
            <a:r>
              <a:rPr lang="zh-CN" altLang="en-US" sz="2400" dirty="0"/>
              <a:t>磁盘</a:t>
            </a:r>
            <a:r>
              <a:rPr lang="en-US" altLang="zh-CN" sz="2400" dirty="0"/>
              <a:t>1+1</a:t>
            </a:r>
            <a:r>
              <a:rPr lang="zh-CN" altLang="en-US" sz="2400" dirty="0"/>
              <a:t>镜像；</a:t>
            </a:r>
          </a:p>
          <a:p>
            <a:pPr marL="342900" indent="-342900">
              <a:lnSpc>
                <a:spcPct val="120000"/>
              </a:lnSpc>
              <a:spcBef>
                <a:spcPts val="600"/>
              </a:spcBef>
              <a:buClr>
                <a:srgbClr val="FF0000"/>
              </a:buClr>
              <a:buFont typeface="Wingdings" panose="05000000000000000000" pitchFamily="2" charset="2"/>
              <a:buChar char="Ø"/>
            </a:pPr>
            <a:r>
              <a:rPr lang="en-US" altLang="zh-CN" sz="2400" dirty="0"/>
              <a:t>RAID 5</a:t>
            </a:r>
            <a:r>
              <a:rPr lang="zh-CN" altLang="en-US" sz="2400" dirty="0"/>
              <a:t>：</a:t>
            </a:r>
          </a:p>
          <a:p>
            <a:pPr marL="800100" lvl="1" indent="-342900">
              <a:lnSpc>
                <a:spcPct val="120000"/>
              </a:lnSpc>
              <a:spcBef>
                <a:spcPts val="600"/>
              </a:spcBef>
              <a:buClr>
                <a:srgbClr val="FF0000"/>
              </a:buClr>
              <a:buFont typeface="Wingdings" panose="05000000000000000000" pitchFamily="2" charset="2"/>
              <a:buChar char="l"/>
            </a:pPr>
            <a:r>
              <a:rPr lang="zh-CN" altLang="en-US" sz="2400" dirty="0"/>
              <a:t>分散</a:t>
            </a:r>
            <a:r>
              <a:rPr lang="en-US" altLang="zh-CN" sz="2400" dirty="0"/>
              <a:t>+</a:t>
            </a:r>
            <a:r>
              <a:rPr lang="zh-CN" altLang="en-US" sz="2400" dirty="0"/>
              <a:t>校验；</a:t>
            </a:r>
          </a:p>
          <a:p>
            <a:pPr marL="800100" lvl="1" indent="-342900">
              <a:lnSpc>
                <a:spcPct val="120000"/>
              </a:lnSpc>
              <a:spcBef>
                <a:spcPts val="600"/>
              </a:spcBef>
              <a:buClr>
                <a:srgbClr val="FF0000"/>
              </a:buClr>
              <a:buFont typeface="Wingdings" panose="05000000000000000000" pitchFamily="2" charset="2"/>
              <a:buChar char="l"/>
            </a:pPr>
            <a:r>
              <a:rPr lang="zh-CN" altLang="en-US" sz="2400" dirty="0"/>
              <a:t>校验信息分散在各个磁盘。</a:t>
            </a:r>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l="27727" t="1132" r="27901" b="1164"/>
          <a:stretch>
            <a:fillRect/>
          </a:stretch>
        </p:blipFill>
        <p:spPr bwMode="auto">
          <a:xfrm>
            <a:off x="7224922" y="1037767"/>
            <a:ext cx="4630043" cy="5257861"/>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9章 知识导图"/>
          <p:cNvPicPr>
            <a:picLocks noChangeAspect="1"/>
          </p:cNvPicPr>
          <p:nvPr/>
        </p:nvPicPr>
        <p:blipFill>
          <a:blip r:embed="rId3"/>
          <a:srcRect b="1580"/>
          <a:stretch>
            <a:fillRect/>
          </a:stretch>
        </p:blipFill>
        <p:spPr>
          <a:xfrm>
            <a:off x="4864735" y="828675"/>
            <a:ext cx="6333490" cy="59734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8</a:t>
            </a:r>
            <a:r>
              <a:rPr lang="zh-CN" altLang="en-US" sz="2800" b="1" dirty="0">
                <a:solidFill>
                  <a:schemeClr val="bg1"/>
                </a:solidFill>
              </a:rPr>
              <a:t>章知识导图</a:t>
            </a: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3" name="表格 2">
            <a:extLst>
              <a:ext uri="{FF2B5EF4-FFF2-40B4-BE49-F238E27FC236}">
                <a16:creationId xmlns:a16="http://schemas.microsoft.com/office/drawing/2014/main" id="{96FCA763-9EC3-1718-76EF-7B771D35C3BE}"/>
              </a:ext>
            </a:extLst>
          </p:cNvPr>
          <p:cNvGraphicFramePr/>
          <p:nvPr>
            <p:custDataLst>
              <p:tags r:id="rId1"/>
            </p:custDataLst>
            <p:extLst>
              <p:ext uri="{D42A27DB-BD31-4B8C-83A1-F6EECF244321}">
                <p14:modId xmlns:p14="http://schemas.microsoft.com/office/powerpoint/2010/main" val="311385035"/>
              </p:ext>
            </p:ext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extLst>
                    <a:ext uri="{9D8B030D-6E8A-4147-A177-3AD203B41FA5}">
                      <a16:colId xmlns:a16="http://schemas.microsoft.com/office/drawing/2014/main" val="20000"/>
                    </a:ext>
                  </a:extLst>
                </a:gridCol>
                <a:gridCol w="2952924">
                  <a:extLst>
                    <a:ext uri="{9D8B030D-6E8A-4147-A177-3AD203B41FA5}">
                      <a16:colId xmlns:a16="http://schemas.microsoft.com/office/drawing/2014/main" val="20001"/>
                    </a:ext>
                  </a:extLst>
                </a:gridCol>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extLst>
                  <a:ext uri="{0D108BD9-81ED-4DB2-BD59-A6C34878D82A}">
                    <a16:rowId xmlns:a16="http://schemas.microsoft.com/office/drawing/2014/main" val="10000"/>
                  </a:ext>
                </a:extLst>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1"/>
                  </a:ext>
                </a:extLst>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2"/>
                  </a:ext>
                </a:extLst>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存储器管理</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3"/>
                  </a:ext>
                </a:extLst>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虚拟存储器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4"/>
                  </a:ext>
                </a:extLst>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输入输出系统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5"/>
                  </a:ext>
                </a:extLst>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微软雅黑 (正文)"/>
                          <a:ea typeface="+mn-ea"/>
                          <a:cs typeface="+mn-cs"/>
                        </a:rPr>
                        <a:t>  第7章</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71755" indent="0" algn="l" defTabSz="914400" rtl="0" eaLnBrk="1" latinLnBrk="0" hangingPunct="1">
                        <a:lnSpc>
                          <a:spcPct val="100000"/>
                        </a:lnSpc>
                        <a:spcBef>
                          <a:spcPts val="300"/>
                        </a:spcBef>
                        <a:spcAft>
                          <a:spcPts val="300"/>
                        </a:spcAft>
                        <a:buNone/>
                      </a:pPr>
                      <a:r>
                        <a:rPr lang="zh-CN" altLang="en-US" sz="2000" kern="1200" dirty="0">
                          <a:solidFill>
                            <a:schemeClr val="tx1"/>
                          </a:solidFill>
                          <a:latin typeface="微软雅黑 (正文)"/>
                          <a:ea typeface="+mn-ea"/>
                          <a:cs typeface="+mn-cs"/>
                        </a:rPr>
                        <a:t>文件管理</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extLst>
                  <a:ext uri="{0D108BD9-81ED-4DB2-BD59-A6C34878D82A}">
                    <a16:rowId xmlns:a16="http://schemas.microsoft.com/office/drawing/2014/main" val="10006"/>
                  </a:ext>
                </a:extLst>
              </a:tr>
              <a:tr h="399121">
                <a:tc>
                  <a:txBody>
                    <a:bodyPr/>
                    <a:lstStyle/>
                    <a:p>
                      <a:pPr marL="71755" indent="0" algn="ctr">
                        <a:lnSpc>
                          <a:spcPct val="100000"/>
                        </a:lnSpc>
                        <a:spcBef>
                          <a:spcPts val="300"/>
                        </a:spcBef>
                        <a:spcAft>
                          <a:spcPts val="300"/>
                        </a:spcAft>
                        <a:buNone/>
                      </a:pPr>
                      <a:r>
                        <a:rPr lang="en-US" sz="2000" b="1" kern="1200" dirty="0">
                          <a:solidFill>
                            <a:schemeClr val="bg1"/>
                          </a:solidFill>
                          <a:latin typeface="微软雅黑 (正文)"/>
                          <a:ea typeface="+mn-ea"/>
                          <a:cs typeface="+mn-cs"/>
                        </a:rPr>
                        <a:t>第8章</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altLang="zh-CN" sz="2000" b="1" kern="1200" dirty="0" err="1">
                          <a:solidFill>
                            <a:schemeClr val="bg1"/>
                          </a:solidFill>
                          <a:latin typeface="微软雅黑 (正文)"/>
                          <a:ea typeface="+mn-ea"/>
                          <a:cs typeface="+mn-cs"/>
                        </a:rPr>
                        <a:t>磁盘存储器管理</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extLst>
                  <a:ext uri="{0D108BD9-81ED-4DB2-BD59-A6C34878D82A}">
                    <a16:rowId xmlns:a16="http://schemas.microsoft.com/office/drawing/2014/main" val="10007"/>
                  </a:ext>
                </a:extLst>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zh-CN" altLang="en-US" sz="2000" dirty="0">
                          <a:latin typeface="微软雅黑 (正文)"/>
                        </a:rPr>
                        <a:t>操作系统接口</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8"/>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第10章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多处理机操作系统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9"/>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第11章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marR="0" lvl="0" indent="0" algn="l" defTabSz="914400" rtl="0" eaLnBrk="1" fontAlgn="auto" latinLnBrk="0" hangingPunct="1">
                        <a:lnSpc>
                          <a:spcPct val="100000"/>
                        </a:lnSpc>
                        <a:spcBef>
                          <a:spcPts val="300"/>
                        </a:spcBef>
                        <a:spcAft>
                          <a:spcPts val="300"/>
                        </a:spcAft>
                        <a:buClrTx/>
                        <a:buSzTx/>
                        <a:buFontTx/>
                        <a:buNone/>
                        <a:tabLst/>
                        <a:defRPr/>
                      </a:pPr>
                      <a:r>
                        <a:rPr lang="zh-CN" altLang="en-US" sz="2000" dirty="0">
                          <a:solidFill>
                            <a:schemeClr val="bg1">
                              <a:lumMod val="75000"/>
                            </a:schemeClr>
                          </a:solidFill>
                          <a:latin typeface="微软雅黑 (正文)"/>
                        </a:rPr>
                        <a:t>多媒体操作系统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0"/>
                  </a:ext>
                </a:extLst>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第12章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保护和安全</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1"/>
                  </a:ext>
                </a:extLst>
              </a:tr>
            </a:tbl>
          </a:graphicData>
        </a:graphic>
      </p:graphicFrame>
      <p:pic>
        <p:nvPicPr>
          <p:cNvPr id="5" name="图形 10" descr="徽章勾号 1 纯色填充">
            <a:extLst>
              <a:ext uri="{FF2B5EF4-FFF2-40B4-BE49-F238E27FC236}">
                <a16:creationId xmlns:a16="http://schemas.microsoft.com/office/drawing/2014/main" id="{5DC12883-DF25-6A9F-3EBB-BB77E2A6779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78661" y="1341358"/>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形 9" descr="触控屏 纯色填充">
            <a:extLst>
              <a:ext uri="{FF2B5EF4-FFF2-40B4-BE49-F238E27FC236}">
                <a16:creationId xmlns:a16="http://schemas.microsoft.com/office/drawing/2014/main" id="{CACD8802-77D9-104E-9C03-B822BE5C832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58137" y="4971118"/>
            <a:ext cx="4318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10" descr="徽章勾号 1 纯色填充">
            <a:extLst>
              <a:ext uri="{FF2B5EF4-FFF2-40B4-BE49-F238E27FC236}">
                <a16:creationId xmlns:a16="http://schemas.microsoft.com/office/drawing/2014/main" id="{623E223C-7CBA-EB98-CD2D-B131A184334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80229" y="2690965"/>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形 10" descr="徽章勾号 1 纯色填充">
            <a:extLst>
              <a:ext uri="{FF2B5EF4-FFF2-40B4-BE49-F238E27FC236}">
                <a16:creationId xmlns:a16="http://schemas.microsoft.com/office/drawing/2014/main" id="{02FA2197-0810-4D9C-66E6-C9EE6BDAE8C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1225" y="4050000"/>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046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7.5 </a:t>
            </a:r>
            <a:r>
              <a:rPr lang="zh-CN" altLang="en-US" sz="2800" b="1" dirty="0">
                <a:solidFill>
                  <a:schemeClr val="bg1"/>
                </a:solidFill>
              </a:rPr>
              <a:t>文件保护</a:t>
            </a:r>
          </a:p>
        </p:txBody>
      </p:sp>
      <p:sp>
        <p:nvSpPr>
          <p:cNvPr id="3" name="矩形: 圆角 2"/>
          <p:cNvSpPr/>
          <p:nvPr/>
        </p:nvSpPr>
        <p:spPr>
          <a:xfrm>
            <a:off x="1399083" y="1388815"/>
            <a:ext cx="4696917"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影响文件安全性的主要因素</a:t>
            </a:r>
          </a:p>
        </p:txBody>
      </p:sp>
      <p:sp>
        <p:nvSpPr>
          <p:cNvPr id="4" name="内容占位符 2"/>
          <p:cNvSpPr txBox="1"/>
          <p:nvPr/>
        </p:nvSpPr>
        <p:spPr>
          <a:xfrm>
            <a:off x="1400389" y="2107607"/>
            <a:ext cx="5412543" cy="17136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t>人为因素</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系统因素</a:t>
            </a: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自然因素</a:t>
            </a:r>
          </a:p>
        </p:txBody>
      </p:sp>
      <p:sp>
        <p:nvSpPr>
          <p:cNvPr id="5" name="矩形: 圆角 4"/>
          <p:cNvSpPr/>
          <p:nvPr/>
        </p:nvSpPr>
        <p:spPr>
          <a:xfrm>
            <a:off x="1399084" y="3985771"/>
            <a:ext cx="4696916" cy="558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nSpc>
                <a:spcPct val="90000"/>
              </a:lnSpc>
            </a:pPr>
            <a:r>
              <a:rPr lang="zh-CN" altLang="en-US" sz="2800" dirty="0">
                <a:solidFill>
                  <a:schemeClr val="bg1"/>
                </a:solidFill>
                <a:sym typeface="Wingdings" panose="05000000000000000000" pitchFamily="2" charset="2"/>
              </a:rPr>
              <a:t>采取的措施</a:t>
            </a:r>
          </a:p>
        </p:txBody>
      </p:sp>
      <p:sp>
        <p:nvSpPr>
          <p:cNvPr id="6" name="内容占位符 2"/>
          <p:cNvSpPr txBox="1"/>
          <p:nvPr/>
        </p:nvSpPr>
        <p:spPr>
          <a:xfrm>
            <a:off x="1399083" y="4708355"/>
            <a:ext cx="4300381" cy="1374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t>存取控制机制（人为因素）</a:t>
            </a: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系统容错技术（系统因素）</a:t>
            </a:r>
            <a:endParaRPr lang="en-US" altLang="zh-CN" sz="2400" dirty="0">
              <a:solidFill>
                <a:srgbClr val="0000FF"/>
              </a:solidFill>
            </a:endParaRP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solidFill>
                  <a:srgbClr val="0000FF"/>
                </a:solidFill>
              </a:rPr>
              <a:t>建立后备系统（自然因素）</a:t>
            </a:r>
          </a:p>
        </p:txBody>
      </p:sp>
      <p:sp>
        <p:nvSpPr>
          <p:cNvPr id="7" name="íśḷíḋé"/>
          <p:cNvSpPr/>
          <p:nvPr/>
        </p:nvSpPr>
        <p:spPr bwMode="auto">
          <a:xfrm>
            <a:off x="9678744" y="4017959"/>
            <a:ext cx="2228344" cy="2240133"/>
          </a:xfrm>
          <a:prstGeom prst="ellipse">
            <a:avLst/>
          </a:prstGeom>
          <a:blipFill>
            <a:blip r:embed="rId3"/>
            <a:stretch>
              <a:fillRect l="-25098" r="-24851"/>
            </a:stretch>
          </a:blipFill>
          <a:ln w="57150">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en-US" sz="2800" b="1">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8.4 </a:t>
            </a:r>
            <a:r>
              <a:rPr lang="zh-CN" altLang="en-US" sz="2800" b="1" dirty="0">
                <a:solidFill>
                  <a:schemeClr val="bg1"/>
                </a:solidFill>
              </a:rPr>
              <a:t>提高磁盘可靠性的技术</a:t>
            </a:r>
          </a:p>
        </p:txBody>
      </p:sp>
      <p:sp>
        <p:nvSpPr>
          <p:cNvPr id="6" name="íSľïdé"/>
          <p:cNvSpPr/>
          <p:nvPr/>
        </p:nvSpPr>
        <p:spPr>
          <a:xfrm>
            <a:off x="983648" y="126788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983648" y="3872885"/>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9" name="内容占位符 2"/>
          <p:cNvSpPr txBox="1"/>
          <p:nvPr/>
        </p:nvSpPr>
        <p:spPr>
          <a:xfrm>
            <a:off x="1711448" y="1267883"/>
            <a:ext cx="4636086" cy="13954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80"/>
              </a:spcBef>
              <a:buNone/>
              <a:defRPr/>
            </a:pPr>
            <a:r>
              <a:rPr lang="zh-CN" altLang="en-US" sz="2400" dirty="0"/>
              <a:t>容错技术</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t>通过在系统中设置</a:t>
            </a:r>
            <a:r>
              <a:rPr lang="zh-CN" altLang="en-US" sz="2000" dirty="0">
                <a:solidFill>
                  <a:srgbClr val="0000FF"/>
                </a:solidFill>
              </a:rPr>
              <a:t>冗余部件</a:t>
            </a:r>
            <a:r>
              <a:rPr lang="zh-CN" altLang="en-US" sz="2000" dirty="0"/>
              <a:t>来提高系统可靠性的一种技术。</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t>广泛采用</a:t>
            </a:r>
            <a:r>
              <a:rPr lang="zh-CN" altLang="en-US" sz="2000" dirty="0">
                <a:solidFill>
                  <a:srgbClr val="0000FF"/>
                </a:solidFill>
              </a:rPr>
              <a:t>磁盘容错</a:t>
            </a:r>
            <a:r>
              <a:rPr lang="zh-CN" altLang="en-US" sz="2000" dirty="0"/>
              <a:t>技术，也称为系统容错</a:t>
            </a:r>
            <a:r>
              <a:rPr lang="en-US" altLang="zh-CN" sz="2000" dirty="0"/>
              <a:t>SFT(System Fault Tolerance)</a:t>
            </a:r>
            <a:r>
              <a:rPr lang="zh-CN" altLang="en-US" sz="2000" dirty="0"/>
              <a:t>技术。</a:t>
            </a:r>
          </a:p>
        </p:txBody>
      </p:sp>
      <p:sp>
        <p:nvSpPr>
          <p:cNvPr id="10" name="内容占位符 2"/>
          <p:cNvSpPr txBox="1"/>
          <p:nvPr/>
        </p:nvSpPr>
        <p:spPr>
          <a:xfrm>
            <a:off x="1739456" y="3962706"/>
            <a:ext cx="4608077" cy="22602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磁盘容错技术分为三个级别</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t>第一级，低级磁盘容错技术（磁盘级）</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t>第二级，中级磁盘容错技术（主机级）</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000" dirty="0"/>
              <a:t>第三级，基于集群系统的容错技术（系统级）</a:t>
            </a:r>
          </a:p>
          <a:p>
            <a:pPr marL="0" lvl="1" indent="-342900">
              <a:lnSpc>
                <a:spcPct val="132000"/>
              </a:lnSpc>
              <a:spcBef>
                <a:spcPts val="370"/>
              </a:spcBef>
              <a:buClr>
                <a:srgbClr val="E71101"/>
              </a:buClr>
              <a:buSzPct val="60000"/>
              <a:buFont typeface="Wingdings" panose="05000000000000000000" pitchFamily="2" charset="2"/>
              <a:buChar char="Ø"/>
              <a:defRPr/>
            </a:pPr>
            <a:endParaRPr lang="zh-CN" altLang="en-US" sz="2200" dirty="0">
              <a:solidFill>
                <a:srgbClr val="FF0000"/>
              </a:solidFill>
            </a:endParaRPr>
          </a:p>
        </p:txBody>
      </p:sp>
      <p:cxnSp>
        <p:nvCxnSpPr>
          <p:cNvPr id="3" name="直接连接符 2"/>
          <p:cNvCxnSpPr/>
          <p:nvPr/>
        </p:nvCxnSpPr>
        <p:spPr>
          <a:xfrm>
            <a:off x="843378" y="3311371"/>
            <a:ext cx="5504156"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8.4.1 </a:t>
            </a:r>
            <a:r>
              <a:rPr lang="zh-CN" altLang="en-US" sz="2800" b="1" dirty="0">
                <a:solidFill>
                  <a:schemeClr val="bg1"/>
                </a:solidFill>
              </a:rPr>
              <a:t>第一级容错技术</a:t>
            </a:r>
            <a:r>
              <a:rPr lang="en-US" altLang="zh-CN" sz="2800" b="1" dirty="0">
                <a:solidFill>
                  <a:schemeClr val="bg1"/>
                </a:solidFill>
              </a:rPr>
              <a:t>SFT-I</a:t>
            </a:r>
            <a:endParaRPr lang="zh-CN" altLang="en-US" sz="2800" b="1" dirty="0">
              <a:solidFill>
                <a:schemeClr val="bg1"/>
              </a:solidFill>
            </a:endParaRPr>
          </a:p>
        </p:txBody>
      </p:sp>
      <p:sp>
        <p:nvSpPr>
          <p:cNvPr id="8" name="内容占位符 2"/>
          <p:cNvSpPr txBox="1"/>
          <p:nvPr/>
        </p:nvSpPr>
        <p:spPr>
          <a:xfrm>
            <a:off x="669925" y="1126545"/>
            <a:ext cx="11119621"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SFT-1</a:t>
            </a:r>
            <a:r>
              <a:rPr lang="zh-CN" altLang="en-US" sz="2400" dirty="0"/>
              <a:t>是最基本的磁盘容错技术，主要用于</a:t>
            </a:r>
            <a:r>
              <a:rPr lang="zh-CN" altLang="en-US" sz="2400" dirty="0">
                <a:solidFill>
                  <a:srgbClr val="0000FF"/>
                </a:solidFill>
              </a:rPr>
              <a:t>防止因磁盘表面缺陷所造成的数据丢失。</a:t>
            </a:r>
          </a:p>
        </p:txBody>
      </p:sp>
      <p:sp>
        <p:nvSpPr>
          <p:cNvPr id="16" name="矩形 15"/>
          <p:cNvSpPr/>
          <p:nvPr/>
        </p:nvSpPr>
        <p:spPr>
          <a:xfrm>
            <a:off x="1198255" y="1804265"/>
            <a:ext cx="5113767" cy="461665"/>
          </a:xfrm>
          <a:prstGeom prst="rect">
            <a:avLst/>
          </a:prstGeom>
        </p:spPr>
        <p:txBody>
          <a:bodyPr wrap="square">
            <a:spAutoFit/>
          </a:bodyPr>
          <a:lstStyle/>
          <a:p>
            <a:r>
              <a:rPr lang="zh-CN" altLang="en-US" sz="2400" dirty="0">
                <a:solidFill>
                  <a:srgbClr val="0000FF"/>
                </a:solidFill>
                <a:latin typeface="+mj-ea"/>
              </a:rPr>
              <a:t>双份目录和双份文件分配表</a:t>
            </a:r>
            <a:r>
              <a:rPr lang="en-US" altLang="zh-CN" sz="2400" dirty="0">
                <a:solidFill>
                  <a:srgbClr val="0000FF"/>
                </a:solidFill>
                <a:latin typeface="+mj-ea"/>
              </a:rPr>
              <a:t>FAT</a:t>
            </a:r>
          </a:p>
        </p:txBody>
      </p:sp>
      <p:sp>
        <p:nvSpPr>
          <p:cNvPr id="17" name="矩形 16"/>
          <p:cNvSpPr/>
          <p:nvPr/>
        </p:nvSpPr>
        <p:spPr>
          <a:xfrm>
            <a:off x="1196975" y="2976688"/>
            <a:ext cx="3682151" cy="461665"/>
          </a:xfrm>
          <a:prstGeom prst="rect">
            <a:avLst/>
          </a:prstGeom>
        </p:spPr>
        <p:txBody>
          <a:bodyPr wrap="square">
            <a:spAutoFit/>
          </a:bodyPr>
          <a:lstStyle/>
          <a:p>
            <a:r>
              <a:rPr lang="zh-CN" altLang="en-US" sz="2400" dirty="0">
                <a:solidFill>
                  <a:srgbClr val="0000FF"/>
                </a:solidFill>
                <a:latin typeface="+mj-ea"/>
              </a:rPr>
              <a:t>热修复重定向</a:t>
            </a:r>
          </a:p>
        </p:txBody>
      </p:sp>
      <p:sp>
        <p:nvSpPr>
          <p:cNvPr id="18" name="矩形 17"/>
          <p:cNvSpPr/>
          <p:nvPr/>
        </p:nvSpPr>
        <p:spPr>
          <a:xfrm>
            <a:off x="1308103" y="4555053"/>
            <a:ext cx="3682150" cy="461665"/>
          </a:xfrm>
          <a:prstGeom prst="rect">
            <a:avLst/>
          </a:prstGeom>
        </p:spPr>
        <p:txBody>
          <a:bodyPr wrap="square">
            <a:spAutoFit/>
          </a:bodyPr>
          <a:lstStyle/>
          <a:p>
            <a:r>
              <a:rPr lang="zh-CN" altLang="en-US" sz="2400" dirty="0">
                <a:solidFill>
                  <a:srgbClr val="0000FF"/>
                </a:solidFill>
                <a:latin typeface="+mj-ea"/>
              </a:rPr>
              <a:t>写后读校验</a:t>
            </a:r>
          </a:p>
        </p:txBody>
      </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71205" y="1774623"/>
            <a:ext cx="527050" cy="527050"/>
          </a:xfrm>
          <a:prstGeom prst="rect">
            <a:avLst/>
          </a:prstGeom>
          <a:ln>
            <a:noFill/>
          </a:ln>
          <a:effectLst>
            <a:softEdge rad="0"/>
          </a:effectLst>
        </p:spPr>
      </p:pic>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2939000"/>
            <a:ext cx="527050" cy="527050"/>
          </a:xfrm>
          <a:prstGeom prst="rect">
            <a:avLst/>
          </a:prstGeom>
          <a:ln>
            <a:noFill/>
          </a:ln>
          <a:effectLst>
            <a:softEdge rad="0"/>
          </a:effectLst>
        </p:spPr>
      </p:pic>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69925" y="4533249"/>
            <a:ext cx="527050" cy="527050"/>
          </a:xfrm>
          <a:prstGeom prst="rect">
            <a:avLst/>
          </a:prstGeom>
          <a:ln>
            <a:noFill/>
          </a:ln>
          <a:effectLst>
            <a:softEdge rad="0"/>
          </a:effectLst>
        </p:spPr>
      </p:pic>
      <p:sp>
        <p:nvSpPr>
          <p:cNvPr id="23" name="îs1iďé"/>
          <p:cNvSpPr/>
          <p:nvPr/>
        </p:nvSpPr>
        <p:spPr>
          <a:xfrm>
            <a:off x="1196975" y="2339361"/>
            <a:ext cx="5429034" cy="652615"/>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一份为主文件目录及主</a:t>
            </a:r>
            <a:r>
              <a:rPr lang="en-US" altLang="zh-CN" sz="2400" dirty="0"/>
              <a:t>FAT</a:t>
            </a:r>
          </a:p>
        </p:txBody>
      </p:sp>
      <p:sp>
        <p:nvSpPr>
          <p:cNvPr id="24" name="îs1iďé"/>
          <p:cNvSpPr/>
          <p:nvPr/>
        </p:nvSpPr>
        <p:spPr>
          <a:xfrm>
            <a:off x="6159592" y="2339361"/>
            <a:ext cx="5429034" cy="652615"/>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另一份为备份文件目录及备份</a:t>
            </a:r>
            <a:r>
              <a:rPr lang="en-US" altLang="zh-CN" sz="2400" dirty="0"/>
              <a:t>FAT</a:t>
            </a:r>
          </a:p>
        </p:txBody>
      </p:sp>
      <p:sp>
        <p:nvSpPr>
          <p:cNvPr id="25" name="îs1iďé"/>
          <p:cNvSpPr/>
          <p:nvPr/>
        </p:nvSpPr>
        <p:spPr>
          <a:xfrm>
            <a:off x="1196974" y="3519610"/>
            <a:ext cx="10592571" cy="92379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系统将磁盘容量的很小一部分（如</a:t>
            </a:r>
            <a:r>
              <a:rPr lang="en-US" altLang="zh-CN" sz="2400" dirty="0"/>
              <a:t>2%</a:t>
            </a:r>
            <a:r>
              <a:rPr lang="zh-CN" altLang="en-US" sz="2400" dirty="0"/>
              <a:t>～</a:t>
            </a:r>
            <a:r>
              <a:rPr lang="en-US" altLang="zh-CN" sz="2400" dirty="0"/>
              <a:t>3%</a:t>
            </a:r>
            <a:r>
              <a:rPr lang="zh-CN" altLang="en-US" sz="2400" dirty="0"/>
              <a:t>）作为热修复重定向区，用于存放发现磁盘有缺陷时的待写数据。</a:t>
            </a:r>
          </a:p>
        </p:txBody>
      </p:sp>
      <p:sp>
        <p:nvSpPr>
          <p:cNvPr id="26" name="îs1iďé"/>
          <p:cNvSpPr/>
          <p:nvPr/>
        </p:nvSpPr>
        <p:spPr>
          <a:xfrm>
            <a:off x="1196974" y="5060299"/>
            <a:ext cx="10592571" cy="92379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300" dirty="0"/>
              <a:t>在每次向磁盘中写入一个数据块后立即将它读出来，并送至另一缓冲区中。</a:t>
            </a:r>
          </a:p>
          <a:p>
            <a:pPr marL="342900" indent="-342900">
              <a:lnSpc>
                <a:spcPct val="120000"/>
              </a:lnSpc>
              <a:spcBef>
                <a:spcPts val="600"/>
              </a:spcBef>
              <a:buClr>
                <a:srgbClr val="FF0000"/>
              </a:buClr>
              <a:buFont typeface="Wingdings" panose="05000000000000000000" pitchFamily="2" charset="2"/>
              <a:buChar char="Ø"/>
            </a:pPr>
            <a:r>
              <a:rPr lang="zh-CN" altLang="en-US" sz="2300" dirty="0"/>
              <a:t>将该缓冲区的内容与内存缓冲区中写后仍保留的数据进行比较，若两者一致，则认为此次写入成功；否则重写。</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8.4.2 </a:t>
            </a:r>
            <a:r>
              <a:rPr lang="zh-CN" altLang="en-US" sz="2800" b="1" dirty="0">
                <a:solidFill>
                  <a:schemeClr val="bg1"/>
                </a:solidFill>
              </a:rPr>
              <a:t>第二级容错技术</a:t>
            </a:r>
            <a:r>
              <a:rPr lang="en-US" altLang="zh-CN" sz="2800" b="1" dirty="0">
                <a:solidFill>
                  <a:schemeClr val="bg1"/>
                </a:solidFill>
              </a:rPr>
              <a:t>SFT-II(1)</a:t>
            </a:r>
            <a:endParaRPr lang="zh-CN" altLang="en-US" sz="2800" b="1" dirty="0">
              <a:solidFill>
                <a:schemeClr val="bg1"/>
              </a:solidFill>
            </a:endParaRPr>
          </a:p>
        </p:txBody>
      </p:sp>
      <p:sp>
        <p:nvSpPr>
          <p:cNvPr id="8" name="内容占位符 2"/>
          <p:cNvSpPr txBox="1"/>
          <p:nvPr/>
        </p:nvSpPr>
        <p:spPr>
          <a:xfrm>
            <a:off x="1288941" y="1126194"/>
            <a:ext cx="10231854" cy="117277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SFT-Ⅱ</a:t>
            </a:r>
            <a:r>
              <a:rPr lang="zh-CN" altLang="en-US" sz="2400" dirty="0"/>
              <a:t>主要用于</a:t>
            </a:r>
            <a:r>
              <a:rPr lang="zh-CN" altLang="en-US" sz="2400" dirty="0">
                <a:solidFill>
                  <a:srgbClr val="0000FF"/>
                </a:solidFill>
              </a:rPr>
              <a:t>防止系统因磁盘驱动器和磁盘控制器故障而无法正常工作</a:t>
            </a:r>
            <a:r>
              <a:rPr lang="zh-CN" altLang="en-US" sz="2400" dirty="0"/>
              <a:t>。</a:t>
            </a:r>
          </a:p>
          <a:p>
            <a:pPr marL="0" indent="0">
              <a:lnSpc>
                <a:spcPct val="132000"/>
              </a:lnSpc>
              <a:spcBef>
                <a:spcPts val="580"/>
              </a:spcBef>
              <a:buNone/>
              <a:defRPr/>
            </a:pPr>
            <a:r>
              <a:rPr lang="en-US" altLang="zh-CN" sz="2400" dirty="0"/>
              <a:t>1.</a:t>
            </a:r>
            <a:r>
              <a:rPr lang="zh-CN" altLang="en-US" sz="2400" dirty="0"/>
              <a:t> </a:t>
            </a:r>
            <a:r>
              <a:rPr lang="zh-CN" altLang="en-US" sz="2400" dirty="0">
                <a:solidFill>
                  <a:srgbClr val="0000FF"/>
                </a:solidFill>
              </a:rPr>
              <a:t>磁盘镜像</a:t>
            </a:r>
            <a:r>
              <a:rPr lang="zh-CN" altLang="en-US" sz="2400" dirty="0"/>
              <a:t>（</a:t>
            </a:r>
            <a:r>
              <a:rPr lang="en-US" altLang="zh-CN" sz="2400" dirty="0"/>
              <a:t>Disk Mirroring)</a:t>
            </a:r>
            <a:endParaRPr lang="zh-CN" altLang="en-US" sz="2400" dirty="0"/>
          </a:p>
        </p:txBody>
      </p: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71205" y="1134589"/>
            <a:ext cx="527050" cy="527050"/>
          </a:xfrm>
          <a:prstGeom prst="rect">
            <a:avLst/>
          </a:prstGeom>
          <a:ln>
            <a:noFill/>
          </a:ln>
          <a:effectLst>
            <a:softEdge rad="0"/>
          </a:effectLst>
        </p:spPr>
      </p:pic>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669925" y="1712580"/>
            <a:ext cx="527050" cy="527050"/>
          </a:xfrm>
          <a:prstGeom prst="rect">
            <a:avLst/>
          </a:prstGeom>
          <a:ln>
            <a:noFill/>
          </a:ln>
          <a:effectLst>
            <a:softEdge rad="0"/>
          </a:effectLst>
        </p:spPr>
      </p:pic>
      <p:grpSp>
        <p:nvGrpSpPr>
          <p:cNvPr id="27"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03483" y="2523142"/>
            <a:ext cx="10820715" cy="3558061"/>
            <a:chOff x="682048" y="1580300"/>
            <a:chExt cx="10820715" cy="3558061"/>
          </a:xfrm>
        </p:grpSpPr>
        <p:sp>
          <p:nvSpPr>
            <p:cNvPr id="28" name="íṥḻîḑe"/>
            <p:cNvSpPr/>
            <p:nvPr/>
          </p:nvSpPr>
          <p:spPr>
            <a:xfrm>
              <a:off x="682048" y="1580301"/>
              <a:ext cx="3476055" cy="1329766"/>
            </a:xfrm>
            <a:prstGeom prst="rect">
              <a:avLst/>
            </a:prstGeom>
            <a:blipFill>
              <a:blip r:embed="rId4"/>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
          <p:nvSpPr>
            <p:cNvPr id="29" name="ïşḻiḍé"/>
            <p:cNvSpPr/>
            <p:nvPr/>
          </p:nvSpPr>
          <p:spPr>
            <a:xfrm>
              <a:off x="685572" y="3009952"/>
              <a:ext cx="3495474" cy="2128409"/>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3000"/>
                </a:lnSpc>
              </a:pPr>
              <a:r>
                <a:rPr lang="zh-CN" altLang="en-US" sz="2000" dirty="0">
                  <a:solidFill>
                    <a:schemeClr val="tx1"/>
                  </a:solidFill>
                </a:rPr>
                <a:t>为了避免磁盘驱动器发生故障而丢失数据，须在</a:t>
              </a:r>
              <a:r>
                <a:rPr lang="zh-CN" altLang="en-US" sz="2000" dirty="0">
                  <a:solidFill>
                    <a:srgbClr val="0000FF"/>
                  </a:solidFill>
                </a:rPr>
                <a:t>同一磁盘控制器</a:t>
              </a:r>
              <a:r>
                <a:rPr lang="zh-CN" altLang="en-US" sz="2000" dirty="0">
                  <a:solidFill>
                    <a:schemeClr val="tx1"/>
                  </a:solidFill>
                </a:rPr>
                <a:t>下增设一个完全相同的磁盘驱动器。</a:t>
              </a:r>
            </a:p>
          </p:txBody>
        </p:sp>
        <p:sp>
          <p:nvSpPr>
            <p:cNvPr id="30" name="îŝļiḋe"/>
            <p:cNvSpPr/>
            <p:nvPr/>
          </p:nvSpPr>
          <p:spPr>
            <a:xfrm>
              <a:off x="4352677" y="1580300"/>
              <a:ext cx="3476055" cy="1329767"/>
            </a:xfrm>
            <a:prstGeom prst="rect">
              <a:avLst/>
            </a:prstGeom>
            <a:blipFill>
              <a:blip r:embed="rId5"/>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31" name="ïšlïḑè"/>
            <p:cNvSpPr/>
            <p:nvPr/>
          </p:nvSpPr>
          <p:spPr>
            <a:xfrm>
              <a:off x="4356201" y="3009952"/>
              <a:ext cx="3495474" cy="2128409"/>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33000"/>
                </a:lnSpc>
              </a:pPr>
              <a:r>
                <a:rPr lang="zh-CN" altLang="en-US" sz="2000" dirty="0">
                  <a:solidFill>
                    <a:schemeClr val="tx1"/>
                  </a:solidFill>
                </a:rPr>
                <a:t>在每次向主磁盘写入数据后，都需要将数据再写到备份磁盘上，以使两个磁盘上具有完全相同的位像图。</a:t>
              </a:r>
            </a:p>
          </p:txBody>
        </p:sp>
        <p:sp>
          <p:nvSpPr>
            <p:cNvPr id="32" name="íŝḻiďé"/>
            <p:cNvSpPr/>
            <p:nvPr/>
          </p:nvSpPr>
          <p:spPr>
            <a:xfrm>
              <a:off x="8023305" y="1580300"/>
              <a:ext cx="3476055" cy="1329767"/>
            </a:xfrm>
            <a:prstGeom prst="rect">
              <a:avLst/>
            </a:prstGeom>
            <a:blipFill>
              <a:blip r:embed="rId6"/>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33" name="í$ḷîḋe"/>
            <p:cNvSpPr/>
            <p:nvPr/>
          </p:nvSpPr>
          <p:spPr>
            <a:xfrm>
              <a:off x="8026708" y="3009952"/>
              <a:ext cx="3476055" cy="2128409"/>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3000"/>
                </a:lnSpc>
              </a:pPr>
              <a:r>
                <a:rPr lang="zh-CN" altLang="en-US" sz="2000" dirty="0">
                  <a:solidFill>
                    <a:schemeClr val="tx1"/>
                  </a:solidFill>
                </a:rPr>
                <a:t>虽有容错功能，但磁盘利用率降至原来的</a:t>
              </a:r>
              <a:r>
                <a:rPr lang="en-US" altLang="zh-CN" sz="2000" dirty="0">
                  <a:solidFill>
                    <a:schemeClr val="tx1"/>
                  </a:solidFill>
                </a:rPr>
                <a:t>50%</a:t>
              </a:r>
              <a:r>
                <a:rPr lang="zh-CN" altLang="en-US" sz="2000" dirty="0">
                  <a:solidFill>
                    <a:schemeClr val="tx1"/>
                  </a:solidFill>
                </a:rPr>
                <a:t>。</a:t>
              </a:r>
              <a:endParaRPr lang="en-US" altLang="zh-CN" sz="2000" dirty="0">
                <a:solidFill>
                  <a:schemeClr val="tx1"/>
                </a:solidFill>
              </a:endParaRPr>
            </a:p>
          </p:txBody>
        </p:sp>
      </p:grpSp>
      <p:pic>
        <p:nvPicPr>
          <p:cNvPr id="37" name="图片 224"/>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06956" y="4621462"/>
            <a:ext cx="3151621" cy="175904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第二级容错技术</a:t>
            </a:r>
            <a:r>
              <a:rPr lang="en-US" altLang="zh-CN" sz="2800" b="1" dirty="0">
                <a:solidFill>
                  <a:schemeClr val="bg1"/>
                </a:solidFill>
              </a:rPr>
              <a:t>SFT-II(2)</a:t>
            </a:r>
            <a:endParaRPr lang="zh-CN" altLang="en-US" sz="2800" b="1" dirty="0">
              <a:solidFill>
                <a:schemeClr val="bg1"/>
              </a:solidFill>
            </a:endParaRPr>
          </a:p>
        </p:txBody>
      </p:sp>
      <p:sp>
        <p:nvSpPr>
          <p:cNvPr id="8" name="内容占位符 2"/>
          <p:cNvSpPr txBox="1"/>
          <p:nvPr/>
        </p:nvSpPr>
        <p:spPr>
          <a:xfrm>
            <a:off x="1288941" y="1126194"/>
            <a:ext cx="10231854" cy="58638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2. </a:t>
            </a:r>
            <a:r>
              <a:rPr lang="zh-CN" altLang="en-US" sz="2400" dirty="0">
                <a:solidFill>
                  <a:srgbClr val="0000FF"/>
                </a:solidFill>
              </a:rPr>
              <a:t>磁盘双工</a:t>
            </a:r>
            <a:r>
              <a:rPr lang="en-US" altLang="zh-CN" sz="2400" dirty="0"/>
              <a:t>(Disk Duplexing)</a:t>
            </a:r>
            <a:endParaRPr lang="zh-CN" altLang="en-US" sz="2400" dirty="0"/>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671205" y="1134589"/>
            <a:ext cx="527050" cy="527050"/>
          </a:xfrm>
          <a:prstGeom prst="rect">
            <a:avLst/>
          </a:prstGeom>
          <a:ln>
            <a:noFill/>
          </a:ln>
          <a:effectLst>
            <a:softEdge rad="0"/>
          </a:effectLst>
        </p:spPr>
      </p:pic>
      <p:sp>
        <p:nvSpPr>
          <p:cNvPr id="35" name="îs1iďé"/>
          <p:cNvSpPr/>
          <p:nvPr/>
        </p:nvSpPr>
        <p:spPr>
          <a:xfrm>
            <a:off x="1288940" y="1712579"/>
            <a:ext cx="10231854" cy="3010341"/>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将</a:t>
            </a:r>
            <a:r>
              <a:rPr lang="zh-CN" altLang="en-US" sz="2400" dirty="0">
                <a:solidFill>
                  <a:srgbClr val="0000FF"/>
                </a:solidFill>
              </a:rPr>
              <a:t>两台磁盘驱动器</a:t>
            </a:r>
            <a:r>
              <a:rPr lang="zh-CN" altLang="en-US" sz="2400" dirty="0"/>
              <a:t>分别接到</a:t>
            </a:r>
            <a:r>
              <a:rPr lang="zh-CN" altLang="en-US" sz="2400" dirty="0">
                <a:solidFill>
                  <a:srgbClr val="0000FF"/>
                </a:solidFill>
              </a:rPr>
              <a:t>两个磁盘控制器</a:t>
            </a:r>
            <a:r>
              <a:rPr lang="zh-CN" altLang="en-US" sz="2400" dirty="0"/>
              <a:t>上，同样使这两个磁盘控制器镜像成对。</a:t>
            </a:r>
          </a:p>
        </p:txBody>
      </p:sp>
      <p:pic>
        <p:nvPicPr>
          <p:cNvPr id="36" name="图片 35"/>
          <p:cNvPicPr>
            <a:picLocks noChangeAspect="1"/>
          </p:cNvPicPr>
          <p:nvPr/>
        </p:nvPicPr>
        <p:blipFill>
          <a:blip r:embed="rId3"/>
          <a:stretch>
            <a:fillRect/>
          </a:stretch>
        </p:blipFill>
        <p:spPr>
          <a:xfrm>
            <a:off x="5672692" y="2715241"/>
            <a:ext cx="6178394" cy="3010340"/>
          </a:xfrm>
          <a:prstGeom prst="rect">
            <a:avLst/>
          </a:prstGeom>
        </p:spPr>
      </p:pic>
      <p:sp>
        <p:nvSpPr>
          <p:cNvPr id="38" name="îs1iďé"/>
          <p:cNvSpPr/>
          <p:nvPr/>
        </p:nvSpPr>
        <p:spPr>
          <a:xfrm>
            <a:off x="1288940" y="2715241"/>
            <a:ext cx="4380340" cy="3502679"/>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文件服务器同时将数据写到两个处于不同控制器下的磁盘上，使两者有完全相同的位像图。</a:t>
            </a:r>
          </a:p>
          <a:p>
            <a:pPr marL="342900" indent="-342900">
              <a:lnSpc>
                <a:spcPct val="120000"/>
              </a:lnSpc>
              <a:spcBef>
                <a:spcPts val="600"/>
              </a:spcBef>
              <a:buClr>
                <a:srgbClr val="FF0000"/>
              </a:buClr>
              <a:buFont typeface="Wingdings" panose="05000000000000000000" pitchFamily="2" charset="2"/>
              <a:buChar char="Ø"/>
            </a:pPr>
            <a:r>
              <a:rPr lang="zh-CN" altLang="en-US" sz="2400" dirty="0"/>
              <a:t>由于每个磁盘都有自己的独立通道，可同时（并行）将数据写入磁盘，或从磁盘中读出数据。</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8.4.3 </a:t>
            </a:r>
            <a:r>
              <a:rPr lang="zh-CN" altLang="en-US" sz="2800" b="1" dirty="0">
                <a:solidFill>
                  <a:schemeClr val="bg1"/>
                </a:solidFill>
              </a:rPr>
              <a:t>基于集群系统的容错技术</a:t>
            </a:r>
          </a:p>
        </p:txBody>
      </p:sp>
      <p:sp>
        <p:nvSpPr>
          <p:cNvPr id="8" name="内容占位符 2"/>
          <p:cNvSpPr txBox="1"/>
          <p:nvPr/>
        </p:nvSpPr>
        <p:spPr>
          <a:xfrm>
            <a:off x="669925" y="1108790"/>
            <a:ext cx="10586960"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所谓</a:t>
            </a:r>
            <a:r>
              <a:rPr lang="zh-CN" altLang="en-US" sz="2400" b="1" dirty="0">
                <a:solidFill>
                  <a:srgbClr val="0000FF"/>
                </a:solidFill>
              </a:rPr>
              <a:t>集群</a:t>
            </a:r>
            <a:r>
              <a:rPr lang="zh-CN" altLang="en-US" sz="2400" dirty="0"/>
              <a:t>，是指</a:t>
            </a:r>
            <a:r>
              <a:rPr lang="zh-CN" altLang="en-US" sz="2400" dirty="0">
                <a:solidFill>
                  <a:srgbClr val="0000FF"/>
                </a:solidFill>
              </a:rPr>
              <a:t>由一组互连的自主计算机组成统一的计算机系统</a:t>
            </a:r>
            <a:r>
              <a:rPr lang="zh-CN" altLang="en-US" sz="2400" dirty="0"/>
              <a:t>。</a:t>
            </a:r>
            <a:endParaRPr lang="en-US" altLang="zh-CN" sz="2400" dirty="0"/>
          </a:p>
          <a:p>
            <a:pPr marL="0" indent="0">
              <a:lnSpc>
                <a:spcPct val="132000"/>
              </a:lnSpc>
              <a:spcBef>
                <a:spcPts val="580"/>
              </a:spcBef>
              <a:buNone/>
              <a:defRPr/>
            </a:pPr>
            <a:r>
              <a:rPr lang="zh-CN" altLang="en-US" sz="2400" dirty="0"/>
              <a:t>是使用最广泛的具有容错功能的集群系统，主要工作模式：</a:t>
            </a:r>
          </a:p>
        </p:txBody>
      </p:sp>
      <p:grpSp>
        <p:nvGrpSpPr>
          <p:cNvPr id="9"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2444474"/>
            <a:ext cx="10845555" cy="3512203"/>
            <a:chOff x="653805" y="1580300"/>
            <a:chExt cx="10845555" cy="3512203"/>
          </a:xfrm>
        </p:grpSpPr>
        <p:sp>
          <p:nvSpPr>
            <p:cNvPr id="10" name="íṥḻîḑe"/>
            <p:cNvSpPr/>
            <p:nvPr/>
          </p:nvSpPr>
          <p:spPr>
            <a:xfrm>
              <a:off x="682048" y="1580300"/>
              <a:ext cx="3476055" cy="2567583"/>
            </a:xfrm>
            <a:prstGeom prst="rect">
              <a:avLst/>
            </a:prstGeom>
            <a:blipFill>
              <a:blip r:embed="rId3"/>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1" name="ïşḻiḍé"/>
            <p:cNvSpPr/>
            <p:nvPr/>
          </p:nvSpPr>
          <p:spPr>
            <a:xfrm>
              <a:off x="653805" y="4342473"/>
              <a:ext cx="3517243" cy="652615"/>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50000"/>
                </a:lnSpc>
              </a:pPr>
              <a:r>
                <a:rPr lang="zh-CN" altLang="en-US" sz="2400" dirty="0">
                  <a:solidFill>
                    <a:srgbClr val="0000FF"/>
                  </a:solidFill>
                </a:rPr>
                <a:t>双机热备份</a:t>
              </a:r>
              <a:r>
                <a:rPr lang="zh-CN" altLang="en-US" sz="2400" dirty="0">
                  <a:solidFill>
                    <a:schemeClr val="tx1"/>
                  </a:solidFill>
                </a:rPr>
                <a:t>模式（主备）</a:t>
              </a:r>
            </a:p>
          </p:txBody>
        </p:sp>
        <p:sp>
          <p:nvSpPr>
            <p:cNvPr id="12" name="îŝļiḋe"/>
            <p:cNvSpPr/>
            <p:nvPr/>
          </p:nvSpPr>
          <p:spPr>
            <a:xfrm>
              <a:off x="4352677" y="1580300"/>
              <a:ext cx="3476055" cy="2567583"/>
            </a:xfrm>
            <a:prstGeom prst="rect">
              <a:avLst/>
            </a:prstGeom>
            <a:blipFill>
              <a:blip r:embed="rId4"/>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3" name="ïšlïḑè"/>
            <p:cNvSpPr/>
            <p:nvPr/>
          </p:nvSpPr>
          <p:spPr>
            <a:xfrm>
              <a:off x="4324434" y="4342473"/>
              <a:ext cx="3517243" cy="75003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fontScale="92500"/>
            </a:bodyPr>
            <a:lstStyle/>
            <a:p>
              <a:pPr>
                <a:lnSpc>
                  <a:spcPct val="150000"/>
                </a:lnSpc>
              </a:pPr>
              <a:r>
                <a:rPr lang="zh-CN" altLang="en-US" sz="2400" dirty="0">
                  <a:solidFill>
                    <a:srgbClr val="0000FF"/>
                  </a:solidFill>
                </a:rPr>
                <a:t>双机互为备份</a:t>
              </a:r>
              <a:r>
                <a:rPr lang="zh-CN" altLang="en-US" sz="2400" dirty="0">
                  <a:solidFill>
                    <a:schemeClr val="tx1"/>
                  </a:solidFill>
                </a:rPr>
                <a:t>模式（互备）</a:t>
              </a:r>
            </a:p>
          </p:txBody>
        </p:sp>
        <p:sp>
          <p:nvSpPr>
            <p:cNvPr id="14" name="íŝḻiďé"/>
            <p:cNvSpPr/>
            <p:nvPr/>
          </p:nvSpPr>
          <p:spPr>
            <a:xfrm>
              <a:off x="8023305" y="1580300"/>
              <a:ext cx="3476055" cy="2567583"/>
            </a:xfrm>
            <a:prstGeom prst="rect">
              <a:avLst/>
            </a:prstGeom>
            <a:blipFill>
              <a:blip r:embed="rId5"/>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5" name="í$ḷîḋe"/>
            <p:cNvSpPr/>
            <p:nvPr/>
          </p:nvSpPr>
          <p:spPr>
            <a:xfrm>
              <a:off x="7995062" y="4342473"/>
              <a:ext cx="3497703" cy="652615"/>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30000"/>
                </a:lnSpc>
              </a:pPr>
              <a:r>
                <a:rPr lang="zh-CN" altLang="en-US" sz="2400" dirty="0">
                  <a:solidFill>
                    <a:srgbClr val="0000FF"/>
                  </a:solidFill>
                </a:rPr>
                <a:t>公用磁盘</a:t>
              </a:r>
              <a:r>
                <a:rPr lang="zh-CN" altLang="en-US" sz="2400" dirty="0">
                  <a:solidFill>
                    <a:schemeClr val="tx1"/>
                  </a:solidFill>
                </a:rPr>
                <a:t>模式（共享）</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1.</a:t>
            </a:r>
            <a:r>
              <a:rPr lang="zh-CN" altLang="en-US" sz="2800" b="1" dirty="0">
                <a:solidFill>
                  <a:schemeClr val="bg1"/>
                </a:solidFill>
              </a:rPr>
              <a:t>双机热备份</a:t>
            </a:r>
          </a:p>
        </p:txBody>
      </p:sp>
      <p:sp>
        <p:nvSpPr>
          <p:cNvPr id="8" name="内容占位符 2"/>
          <p:cNvSpPr txBox="1"/>
          <p:nvPr/>
        </p:nvSpPr>
        <p:spPr>
          <a:xfrm>
            <a:off x="669925" y="1108790"/>
            <a:ext cx="10586960" cy="6526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系统备有两台服务器，处理能力通常是完全相同的，</a:t>
            </a:r>
            <a:r>
              <a:rPr lang="zh-CN" altLang="en-US" sz="2400" dirty="0">
                <a:solidFill>
                  <a:srgbClr val="0000FF"/>
                </a:solidFill>
              </a:rPr>
              <a:t>一台作为主服务器</a:t>
            </a:r>
            <a:r>
              <a:rPr lang="zh-CN" altLang="en-US" sz="2400" dirty="0"/>
              <a:t>，</a:t>
            </a:r>
            <a:r>
              <a:rPr lang="zh-CN" altLang="en-US" sz="2400" dirty="0">
                <a:solidFill>
                  <a:srgbClr val="0000FF"/>
                </a:solidFill>
              </a:rPr>
              <a:t>另一台作为备份服务器。</a:t>
            </a:r>
          </a:p>
        </p:txBody>
      </p:sp>
      <p:sp>
        <p:nvSpPr>
          <p:cNvPr id="16" name="îs1iďé"/>
          <p:cNvSpPr/>
          <p:nvPr/>
        </p:nvSpPr>
        <p:spPr>
          <a:xfrm>
            <a:off x="669925" y="2209955"/>
            <a:ext cx="10586960" cy="2494145"/>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平时，主服务器运行，备份服务器则时刻监视着主服务器的运行情况，一旦主服务器出现故障，备份服务器便立即接替主服务器的工作而成为系统中的新的主服务器修复后的原来的主服务器作为备份服务器。</a:t>
            </a:r>
          </a:p>
        </p:txBody>
      </p:sp>
      <p:pic>
        <p:nvPicPr>
          <p:cNvPr id="17" name="图片 16"/>
          <p:cNvPicPr>
            <a:picLocks noChangeAspect="1"/>
          </p:cNvPicPr>
          <p:nvPr/>
        </p:nvPicPr>
        <p:blipFill>
          <a:blip r:embed="rId2"/>
          <a:stretch>
            <a:fillRect/>
          </a:stretch>
        </p:blipFill>
        <p:spPr>
          <a:xfrm>
            <a:off x="4545913" y="4172426"/>
            <a:ext cx="6859686" cy="1670463"/>
          </a:xfrm>
          <a:prstGeom prst="rect">
            <a:avLst/>
          </a:prstGeom>
        </p:spPr>
      </p:pic>
      <p:sp>
        <p:nvSpPr>
          <p:cNvPr id="18" name="îs1iďé"/>
          <p:cNvSpPr/>
          <p:nvPr/>
        </p:nvSpPr>
        <p:spPr>
          <a:xfrm>
            <a:off x="669925" y="3577940"/>
            <a:ext cx="3727274" cy="285943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优点：提高了系统的可用性，易于实现，支持远程热备份。</a:t>
            </a:r>
          </a:p>
          <a:p>
            <a:pPr marL="342900" indent="-342900">
              <a:lnSpc>
                <a:spcPct val="120000"/>
              </a:lnSpc>
              <a:spcBef>
                <a:spcPts val="600"/>
              </a:spcBef>
              <a:buClr>
                <a:srgbClr val="FF0000"/>
              </a:buClr>
              <a:buFont typeface="Wingdings" panose="05000000000000000000" pitchFamily="2" charset="2"/>
              <a:buChar char="Ø"/>
            </a:pPr>
            <a:r>
              <a:rPr lang="zh-CN" altLang="en-US" sz="2400" dirty="0"/>
              <a:t>缺点：备份服务器处于被动等待状态，整个系统的使用效率只有</a:t>
            </a:r>
            <a:r>
              <a:rPr lang="en-US" altLang="zh-CN" sz="2400" dirty="0"/>
              <a:t>50%</a:t>
            </a:r>
            <a:r>
              <a:rPr lang="zh-CN" altLang="en-US" sz="2400" dirty="0"/>
              <a:t>。</a:t>
            </a:r>
            <a:endParaRPr lang="en-US" altLang="zh-CN"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2.</a:t>
            </a:r>
            <a:r>
              <a:rPr lang="zh-CN" altLang="en-US" sz="2800" b="1" dirty="0">
                <a:solidFill>
                  <a:schemeClr val="bg1"/>
                </a:solidFill>
              </a:rPr>
              <a:t>双机互为备份模式</a:t>
            </a:r>
          </a:p>
        </p:txBody>
      </p:sp>
      <p:sp>
        <p:nvSpPr>
          <p:cNvPr id="16" name="îs1iďé"/>
          <p:cNvSpPr/>
          <p:nvPr/>
        </p:nvSpPr>
        <p:spPr>
          <a:xfrm>
            <a:off x="669925" y="1213259"/>
            <a:ext cx="3691763" cy="4254853"/>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400" dirty="0"/>
              <a:t>两台服务器在平时均为在线服务器，各自完成自己的任务，两者互为备份。</a:t>
            </a:r>
          </a:p>
          <a:p>
            <a:pPr marL="342900" indent="-342900">
              <a:lnSpc>
                <a:spcPct val="120000"/>
              </a:lnSpc>
              <a:spcBef>
                <a:spcPts val="600"/>
              </a:spcBef>
              <a:buClr>
                <a:srgbClr val="FF0000"/>
              </a:buClr>
              <a:buFont typeface="Wingdings" panose="05000000000000000000" pitchFamily="2" charset="2"/>
              <a:buChar char="Ø"/>
            </a:pPr>
            <a:r>
              <a:rPr lang="zh-CN" altLang="en-US" sz="2400" b="1" dirty="0">
                <a:solidFill>
                  <a:srgbClr val="0000FF"/>
                </a:solidFill>
              </a:rPr>
              <a:t>优点</a:t>
            </a:r>
            <a:r>
              <a:rPr lang="zh-CN" altLang="en-US" sz="2400" dirty="0"/>
              <a:t>是</a:t>
            </a:r>
            <a:r>
              <a:rPr lang="zh-CN" altLang="en-US" sz="2400" dirty="0">
                <a:solidFill>
                  <a:srgbClr val="0000FF"/>
                </a:solidFill>
              </a:rPr>
              <a:t>两台服务器都可用于处理任务，因而系统效率较高。</a:t>
            </a:r>
          </a:p>
          <a:p>
            <a:pPr marL="342900" indent="-342900">
              <a:lnSpc>
                <a:spcPct val="120000"/>
              </a:lnSpc>
              <a:spcBef>
                <a:spcPts val="600"/>
              </a:spcBef>
              <a:buClr>
                <a:srgbClr val="FF0000"/>
              </a:buClr>
              <a:buFont typeface="Wingdings" panose="05000000000000000000" pitchFamily="2" charset="2"/>
              <a:buChar char="Ø"/>
            </a:pPr>
            <a:r>
              <a:rPr lang="zh-CN" altLang="en-US" sz="2400" dirty="0"/>
              <a:t>这种模式现已从两台机器扩大到</a:t>
            </a:r>
            <a:r>
              <a:rPr lang="en-US" altLang="zh-CN" sz="2400" dirty="0"/>
              <a:t>4</a:t>
            </a:r>
            <a:r>
              <a:rPr lang="zh-CN" altLang="en-US" sz="2400" dirty="0"/>
              <a:t>台、</a:t>
            </a:r>
            <a:r>
              <a:rPr lang="en-US" altLang="zh-CN" sz="2400" dirty="0"/>
              <a:t>8</a:t>
            </a:r>
            <a:r>
              <a:rPr lang="zh-CN" altLang="en-US" sz="2400" dirty="0"/>
              <a:t>台、</a:t>
            </a:r>
            <a:r>
              <a:rPr lang="en-US" altLang="zh-CN" sz="2400" dirty="0"/>
              <a:t>16</a:t>
            </a:r>
            <a:r>
              <a:rPr lang="zh-CN" altLang="en-US" sz="2400" dirty="0"/>
              <a:t>台甚至更多。</a:t>
            </a:r>
          </a:p>
        </p:txBody>
      </p:sp>
      <p:pic>
        <p:nvPicPr>
          <p:cNvPr id="7" name="图片 6"/>
          <p:cNvPicPr>
            <a:picLocks noChangeAspect="1"/>
          </p:cNvPicPr>
          <p:nvPr/>
        </p:nvPicPr>
        <p:blipFill>
          <a:blip r:embed="rId2"/>
          <a:stretch>
            <a:fillRect/>
          </a:stretch>
        </p:blipFill>
        <p:spPr>
          <a:xfrm>
            <a:off x="4361688" y="1213259"/>
            <a:ext cx="7425627" cy="484921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3.</a:t>
            </a:r>
            <a:r>
              <a:rPr lang="zh-CN" altLang="en-US" sz="2800" b="1" dirty="0">
                <a:solidFill>
                  <a:schemeClr val="bg1"/>
                </a:solidFill>
              </a:rPr>
              <a:t>公用磁盘模式</a:t>
            </a:r>
          </a:p>
        </p:txBody>
      </p:sp>
      <p:sp>
        <p:nvSpPr>
          <p:cNvPr id="29" name="ïşľîďè"/>
          <p:cNvSpPr/>
          <p:nvPr/>
        </p:nvSpPr>
        <p:spPr>
          <a:xfrm>
            <a:off x="259042" y="1214021"/>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31" name="îŝļiḋe"/>
          <p:cNvSpPr/>
          <p:nvPr/>
        </p:nvSpPr>
        <p:spPr>
          <a:xfrm>
            <a:off x="4271749" y="1214021"/>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32" name="í$1iďè"/>
          <p:cNvGrpSpPr/>
          <p:nvPr/>
        </p:nvGrpSpPr>
        <p:grpSpPr>
          <a:xfrm>
            <a:off x="4396037" y="1491768"/>
            <a:ext cx="7381904" cy="1002148"/>
            <a:chOff x="4136995" y="1408047"/>
            <a:chExt cx="7381904" cy="1002148"/>
          </a:xfrm>
        </p:grpSpPr>
        <p:sp>
          <p:nvSpPr>
            <p:cNvPr id="34"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36" name="ïSḻiḍé"/>
            <p:cNvSpPr txBox="1"/>
            <p:nvPr/>
          </p:nvSpPr>
          <p:spPr>
            <a:xfrm>
              <a:off x="4882718" y="1408047"/>
              <a:ext cx="6636181" cy="100214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spcBef>
                  <a:spcPts val="600"/>
                </a:spcBef>
                <a:defRPr/>
              </a:pPr>
              <a:r>
                <a:rPr lang="zh-CN" altLang="en-US" sz="2400" dirty="0"/>
                <a:t>将多台计算机连接到一台公用磁盘上，该磁盘被划分为若干个卷，每台计算机使用一个卷。</a:t>
              </a:r>
            </a:p>
          </p:txBody>
        </p:sp>
      </p:grpSp>
      <p:grpSp>
        <p:nvGrpSpPr>
          <p:cNvPr id="38" name="išḷîḓé"/>
          <p:cNvGrpSpPr/>
          <p:nvPr/>
        </p:nvGrpSpPr>
        <p:grpSpPr>
          <a:xfrm>
            <a:off x="4396037" y="3073347"/>
            <a:ext cx="7536922" cy="801176"/>
            <a:chOff x="4136995" y="3233565"/>
            <a:chExt cx="7536922" cy="801176"/>
          </a:xfrm>
        </p:grpSpPr>
        <p:sp>
          <p:nvSpPr>
            <p:cNvPr id="39"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0" name="îŝľîḓè"/>
            <p:cNvSpPr txBox="1"/>
            <p:nvPr/>
          </p:nvSpPr>
          <p:spPr>
            <a:xfrm>
              <a:off x="4882719" y="3233565"/>
              <a:ext cx="6791198"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如果某台计算机发生故障，则系统将重新进行配置，即根据某种调度策略来选择另一台机器进行替代。</a:t>
              </a:r>
            </a:p>
          </p:txBody>
        </p:sp>
      </p:grpSp>
      <p:grpSp>
        <p:nvGrpSpPr>
          <p:cNvPr id="42" name="ïSlíḍê"/>
          <p:cNvGrpSpPr/>
          <p:nvPr/>
        </p:nvGrpSpPr>
        <p:grpSpPr>
          <a:xfrm>
            <a:off x="4396037" y="4451663"/>
            <a:ext cx="7637467" cy="1311067"/>
            <a:chOff x="4136995" y="4714289"/>
            <a:chExt cx="7637467" cy="1311067"/>
          </a:xfrm>
        </p:grpSpPr>
        <p:sp>
          <p:nvSpPr>
            <p:cNvPr id="4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5" name="íṧļîḋê"/>
            <p:cNvSpPr txBox="1"/>
            <p:nvPr/>
          </p:nvSpPr>
          <p:spPr>
            <a:xfrm>
              <a:off x="4882717" y="4714289"/>
              <a:ext cx="6891745"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spcBef>
                  <a:spcPts val="600"/>
                </a:spcBef>
                <a:defRPr/>
              </a:pPr>
              <a:r>
                <a:rPr lang="zh-CN" altLang="en-US" sz="2400" b="1" dirty="0">
                  <a:solidFill>
                    <a:srgbClr val="0000FF"/>
                  </a:solidFill>
                </a:rPr>
                <a:t>优点</a:t>
              </a:r>
              <a:r>
                <a:rPr lang="zh-CN" altLang="en-US" sz="2400" dirty="0"/>
                <a:t>是</a:t>
              </a:r>
              <a:r>
                <a:rPr lang="zh-CN" altLang="en-US" sz="2400" dirty="0">
                  <a:solidFill>
                    <a:srgbClr val="0000FF"/>
                  </a:solidFill>
                </a:rPr>
                <a:t>消除了信息的复制时间，因而减少了网络和服务器开销。</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8.4.4 </a:t>
            </a:r>
            <a:r>
              <a:rPr lang="zh-CN" altLang="en-US" sz="2800" b="1" dirty="0">
                <a:solidFill>
                  <a:schemeClr val="bg1"/>
                </a:solidFill>
              </a:rPr>
              <a:t>后备系统</a:t>
            </a:r>
          </a:p>
        </p:txBody>
      </p:sp>
      <p:sp>
        <p:nvSpPr>
          <p:cNvPr id="8" name="内容占位符 2"/>
          <p:cNvSpPr txBox="1"/>
          <p:nvPr/>
        </p:nvSpPr>
        <p:spPr>
          <a:xfrm>
            <a:off x="669925" y="1150670"/>
            <a:ext cx="10586960" cy="116389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rPr>
              <a:t>后备系统</a:t>
            </a:r>
            <a:r>
              <a:rPr lang="zh-CN" altLang="en-US" sz="2400" dirty="0"/>
              <a:t>：保存暂时不需要但仍然有用的数据，同时防止系统故障丢失数据。</a:t>
            </a:r>
          </a:p>
          <a:p>
            <a:pPr marL="0" indent="0">
              <a:lnSpc>
                <a:spcPct val="132000"/>
              </a:lnSpc>
              <a:spcBef>
                <a:spcPts val="580"/>
              </a:spcBef>
              <a:buNone/>
              <a:defRPr/>
            </a:pPr>
            <a:r>
              <a:rPr lang="zh-CN" altLang="en-US" sz="2400" dirty="0"/>
              <a:t>常用后备系统的设备：</a:t>
            </a:r>
          </a:p>
        </p:txBody>
      </p:sp>
      <p:grpSp>
        <p:nvGrpSpPr>
          <p:cNvPr id="7"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2613150"/>
            <a:ext cx="10845555" cy="3512203"/>
            <a:chOff x="653805" y="1580300"/>
            <a:chExt cx="10845555" cy="3512203"/>
          </a:xfrm>
        </p:grpSpPr>
        <p:sp>
          <p:nvSpPr>
            <p:cNvPr id="9" name="íṥḻîḑe"/>
            <p:cNvSpPr/>
            <p:nvPr/>
          </p:nvSpPr>
          <p:spPr>
            <a:xfrm>
              <a:off x="682048" y="1580300"/>
              <a:ext cx="3476055" cy="2567583"/>
            </a:xfrm>
            <a:prstGeom prst="rect">
              <a:avLst/>
            </a:prstGeom>
            <a:blipFill>
              <a:blip r:embed="rId3"/>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0" name="ïşḻiḍé"/>
            <p:cNvSpPr/>
            <p:nvPr/>
          </p:nvSpPr>
          <p:spPr>
            <a:xfrm>
              <a:off x="653805" y="4342473"/>
              <a:ext cx="3517243" cy="652615"/>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lnSpc>
                  <a:spcPct val="150000"/>
                </a:lnSpc>
              </a:pPr>
              <a:r>
                <a:rPr lang="zh-CN" altLang="en-US" sz="2400" dirty="0">
                  <a:solidFill>
                    <a:schemeClr val="tx1"/>
                  </a:solidFill>
                </a:rPr>
                <a:t>磁带机</a:t>
              </a:r>
            </a:p>
          </p:txBody>
        </p:sp>
        <p:sp>
          <p:nvSpPr>
            <p:cNvPr id="11" name="îŝļiḋe"/>
            <p:cNvSpPr/>
            <p:nvPr/>
          </p:nvSpPr>
          <p:spPr>
            <a:xfrm>
              <a:off x="4352677" y="1580300"/>
              <a:ext cx="3476055" cy="2567583"/>
            </a:xfrm>
            <a:prstGeom prst="rect">
              <a:avLst/>
            </a:prstGeom>
            <a:blipFill>
              <a:blip r:embed="rId4"/>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2" name="ïšlïḑè"/>
            <p:cNvSpPr/>
            <p:nvPr/>
          </p:nvSpPr>
          <p:spPr>
            <a:xfrm>
              <a:off x="4324434" y="4342473"/>
              <a:ext cx="3517243" cy="75003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gn="ctr">
                <a:lnSpc>
                  <a:spcPct val="150000"/>
                </a:lnSpc>
              </a:pPr>
              <a:r>
                <a:rPr lang="zh-CN" altLang="en-US" sz="2400" dirty="0">
                  <a:solidFill>
                    <a:schemeClr val="tx1"/>
                  </a:solidFill>
                </a:rPr>
                <a:t>硬盘</a:t>
              </a:r>
            </a:p>
          </p:txBody>
        </p:sp>
        <p:sp>
          <p:nvSpPr>
            <p:cNvPr id="13" name="íŝḻiďé"/>
            <p:cNvSpPr/>
            <p:nvPr/>
          </p:nvSpPr>
          <p:spPr>
            <a:xfrm>
              <a:off x="8023305" y="1580300"/>
              <a:ext cx="3476055" cy="2567583"/>
            </a:xfrm>
            <a:prstGeom prst="rect">
              <a:avLst/>
            </a:prstGeom>
            <a:blipFill>
              <a:blip r:embed="rId5"/>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4" name="í$ḷîḋe"/>
            <p:cNvSpPr/>
            <p:nvPr/>
          </p:nvSpPr>
          <p:spPr>
            <a:xfrm>
              <a:off x="7995062" y="4342473"/>
              <a:ext cx="3497703" cy="652615"/>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lnSpc>
                  <a:spcPct val="130000"/>
                </a:lnSpc>
              </a:pPr>
              <a:r>
                <a:rPr lang="zh-CN" altLang="en-US" sz="2400" dirty="0">
                  <a:solidFill>
                    <a:schemeClr val="tx1"/>
                  </a:solidFill>
                </a:rPr>
                <a:t>光盘驱动器</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9章 知识导图"/>
          <p:cNvPicPr>
            <a:picLocks noChangeAspect="1"/>
          </p:cNvPicPr>
          <p:nvPr/>
        </p:nvPicPr>
        <p:blipFill>
          <a:blip r:embed="rId3"/>
          <a:srcRect b="1580"/>
          <a:stretch>
            <a:fillRect/>
          </a:stretch>
        </p:blipFill>
        <p:spPr>
          <a:xfrm>
            <a:off x="4864735" y="828675"/>
            <a:ext cx="6333490" cy="59734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8</a:t>
            </a:r>
            <a:r>
              <a:rPr lang="zh-CN" altLang="en-US" sz="2800" b="1" dirty="0">
                <a:solidFill>
                  <a:schemeClr val="bg1"/>
                </a:solidFill>
              </a:rPr>
              <a:t>章知识导图</a:t>
            </a: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3" name="表格 2">
            <a:extLst>
              <a:ext uri="{FF2B5EF4-FFF2-40B4-BE49-F238E27FC236}">
                <a16:creationId xmlns:a16="http://schemas.microsoft.com/office/drawing/2014/main" id="{96FCA763-9EC3-1718-76EF-7B771D35C3BE}"/>
              </a:ext>
            </a:extLst>
          </p:cNvPr>
          <p:cNvGraphicFramePr/>
          <p:nvPr>
            <p:custDataLst>
              <p:tags r:id="rId1"/>
            </p:custDataLst>
            <p:extLst>
              <p:ext uri="{D42A27DB-BD31-4B8C-83A1-F6EECF244321}">
                <p14:modId xmlns:p14="http://schemas.microsoft.com/office/powerpoint/2010/main" val="1037014459"/>
              </p:ext>
            </p:ext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extLst>
                    <a:ext uri="{9D8B030D-6E8A-4147-A177-3AD203B41FA5}">
                      <a16:colId xmlns:a16="http://schemas.microsoft.com/office/drawing/2014/main" val="20000"/>
                    </a:ext>
                  </a:extLst>
                </a:gridCol>
                <a:gridCol w="2952924">
                  <a:extLst>
                    <a:ext uri="{9D8B030D-6E8A-4147-A177-3AD203B41FA5}">
                      <a16:colId xmlns:a16="http://schemas.microsoft.com/office/drawing/2014/main" val="20001"/>
                    </a:ext>
                  </a:extLst>
                </a:gridCol>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extLst>
                  <a:ext uri="{0D108BD9-81ED-4DB2-BD59-A6C34878D82A}">
                    <a16:rowId xmlns:a16="http://schemas.microsoft.com/office/drawing/2014/main" val="10000"/>
                  </a:ext>
                </a:extLst>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1"/>
                  </a:ext>
                </a:extLst>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2"/>
                  </a:ext>
                </a:extLst>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存储器管理</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3"/>
                  </a:ext>
                </a:extLst>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虚拟存储器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4"/>
                  </a:ext>
                </a:extLst>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输入输出系统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5"/>
                  </a:ext>
                </a:extLst>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微软雅黑 (正文)"/>
                          <a:ea typeface="+mn-ea"/>
                          <a:cs typeface="+mn-cs"/>
                        </a:rPr>
                        <a:t>  第7章</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71755" indent="0" algn="l" defTabSz="914400" rtl="0" eaLnBrk="1" latinLnBrk="0" hangingPunct="1">
                        <a:lnSpc>
                          <a:spcPct val="100000"/>
                        </a:lnSpc>
                        <a:spcBef>
                          <a:spcPts val="300"/>
                        </a:spcBef>
                        <a:spcAft>
                          <a:spcPts val="300"/>
                        </a:spcAft>
                        <a:buNone/>
                      </a:pPr>
                      <a:r>
                        <a:rPr lang="zh-CN" altLang="en-US" sz="2000" kern="1200" dirty="0">
                          <a:solidFill>
                            <a:schemeClr val="tx1"/>
                          </a:solidFill>
                          <a:latin typeface="微软雅黑 (正文)"/>
                          <a:ea typeface="+mn-ea"/>
                          <a:cs typeface="+mn-cs"/>
                        </a:rPr>
                        <a:t>文件管理</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extLst>
                  <a:ext uri="{0D108BD9-81ED-4DB2-BD59-A6C34878D82A}">
                    <a16:rowId xmlns:a16="http://schemas.microsoft.com/office/drawing/2014/main" val="10006"/>
                  </a:ext>
                </a:extLst>
              </a:tr>
              <a:tr h="399121">
                <a:tc>
                  <a:txBody>
                    <a:bodyPr/>
                    <a:lstStyle/>
                    <a:p>
                      <a:pPr marL="71755" indent="0" algn="ctr">
                        <a:lnSpc>
                          <a:spcPct val="100000"/>
                        </a:lnSpc>
                        <a:spcBef>
                          <a:spcPts val="300"/>
                        </a:spcBef>
                        <a:spcAft>
                          <a:spcPts val="300"/>
                        </a:spcAft>
                        <a:buNone/>
                      </a:pPr>
                      <a:r>
                        <a:rPr lang="en-US" sz="2000" b="1" kern="1200" dirty="0">
                          <a:solidFill>
                            <a:schemeClr val="bg1"/>
                          </a:solidFill>
                          <a:latin typeface="微软雅黑 (正文)"/>
                          <a:ea typeface="+mn-ea"/>
                          <a:cs typeface="+mn-cs"/>
                        </a:rPr>
                        <a:t>第8章</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altLang="zh-CN" sz="2000" b="1" kern="1200" dirty="0" err="1">
                          <a:solidFill>
                            <a:schemeClr val="bg1"/>
                          </a:solidFill>
                          <a:latin typeface="微软雅黑 (正文)"/>
                          <a:ea typeface="+mn-ea"/>
                          <a:cs typeface="+mn-cs"/>
                        </a:rPr>
                        <a:t>磁盘存储器管理</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extLst>
                  <a:ext uri="{0D108BD9-81ED-4DB2-BD59-A6C34878D82A}">
                    <a16:rowId xmlns:a16="http://schemas.microsoft.com/office/drawing/2014/main" val="10007"/>
                  </a:ext>
                </a:extLst>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zh-CN" altLang="en-US" sz="2000" dirty="0">
                          <a:latin typeface="微软雅黑 (正文)"/>
                        </a:rPr>
                        <a:t>操作系统接口</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8"/>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第10章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多处理机操作系统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9"/>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第11章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marR="0" lvl="0" indent="0" algn="l" defTabSz="914400" rtl="0" eaLnBrk="1" fontAlgn="auto" latinLnBrk="0" hangingPunct="1">
                        <a:lnSpc>
                          <a:spcPct val="100000"/>
                        </a:lnSpc>
                        <a:spcBef>
                          <a:spcPts val="300"/>
                        </a:spcBef>
                        <a:spcAft>
                          <a:spcPts val="300"/>
                        </a:spcAft>
                        <a:buClrTx/>
                        <a:buSzTx/>
                        <a:buFontTx/>
                        <a:buNone/>
                        <a:tabLst/>
                        <a:defRPr/>
                      </a:pPr>
                      <a:r>
                        <a:rPr lang="zh-CN" altLang="en-US" sz="2000" dirty="0">
                          <a:solidFill>
                            <a:schemeClr val="bg1">
                              <a:lumMod val="75000"/>
                            </a:schemeClr>
                          </a:solidFill>
                          <a:latin typeface="微软雅黑 (正文)"/>
                        </a:rPr>
                        <a:t>多媒体操作系统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0"/>
                  </a:ext>
                </a:extLst>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第12章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保护和安全</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1"/>
                  </a:ext>
                </a:extLst>
              </a:tr>
            </a:tbl>
          </a:graphicData>
        </a:graphic>
      </p:graphicFrame>
      <p:pic>
        <p:nvPicPr>
          <p:cNvPr id="5" name="图形 10" descr="徽章勾号 1 纯色填充">
            <a:extLst>
              <a:ext uri="{FF2B5EF4-FFF2-40B4-BE49-F238E27FC236}">
                <a16:creationId xmlns:a16="http://schemas.microsoft.com/office/drawing/2014/main" id="{5DC12883-DF25-6A9F-3EBB-BB77E2A6779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78661" y="1341358"/>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形 9" descr="触控屏 纯色填充">
            <a:extLst>
              <a:ext uri="{FF2B5EF4-FFF2-40B4-BE49-F238E27FC236}">
                <a16:creationId xmlns:a16="http://schemas.microsoft.com/office/drawing/2014/main" id="{CACD8802-77D9-104E-9C03-B822BE5C832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58137" y="6517116"/>
            <a:ext cx="4318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10" descr="徽章勾号 1 纯色填充">
            <a:extLst>
              <a:ext uri="{FF2B5EF4-FFF2-40B4-BE49-F238E27FC236}">
                <a16:creationId xmlns:a16="http://schemas.microsoft.com/office/drawing/2014/main" id="{623E223C-7CBA-EB98-CD2D-B131A184334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80229" y="2690965"/>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形 10" descr="徽章勾号 1 纯色填充">
            <a:extLst>
              <a:ext uri="{FF2B5EF4-FFF2-40B4-BE49-F238E27FC236}">
                <a16:creationId xmlns:a16="http://schemas.microsoft.com/office/drawing/2014/main" id="{02FA2197-0810-4D9C-66E6-C9EE6BDAE8C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1225" y="4050000"/>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形 10" descr="徽章勾号 1 纯色填充">
            <a:extLst>
              <a:ext uri="{FF2B5EF4-FFF2-40B4-BE49-F238E27FC236}">
                <a16:creationId xmlns:a16="http://schemas.microsoft.com/office/drawing/2014/main" id="{B7AC19AE-01A8-7E26-2D8A-CDA3E0AC9E6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2793" y="4852852"/>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997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 </a:t>
            </a:r>
            <a:r>
              <a:rPr lang="zh-CN" altLang="en-US" sz="2800" b="1" dirty="0">
                <a:solidFill>
                  <a:schemeClr val="bg1"/>
                </a:solidFill>
              </a:rPr>
              <a:t>数据一致性控制</a:t>
            </a:r>
          </a:p>
        </p:txBody>
      </p:sp>
      <p:sp>
        <p:nvSpPr>
          <p:cNvPr id="38" name="i$lîďê"/>
          <p:cNvSpPr/>
          <p:nvPr/>
        </p:nvSpPr>
        <p:spPr>
          <a:xfrm>
            <a:off x="1775848" y="2367015"/>
            <a:ext cx="9623082" cy="1223668"/>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例如，当我们发现某种商品的进价有错时，我们必须同时修改流水账、付费账、分类账以及总账等一系列文件中该商品的价格，如此才能保证数据的一致性。</a:t>
            </a:r>
          </a:p>
        </p:txBody>
      </p:sp>
      <p:sp>
        <p:nvSpPr>
          <p:cNvPr id="40" name="ïṧḷïḋè"/>
          <p:cNvSpPr/>
          <p:nvPr/>
        </p:nvSpPr>
        <p:spPr>
          <a:xfrm>
            <a:off x="1775848" y="3961127"/>
            <a:ext cx="9454404" cy="861372"/>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但如果在修改途中系统突然发生故障，则会造成各个账目中该数据的不一致性，进而就会使得多个账目不一致。</a:t>
            </a:r>
            <a:endParaRPr lang="en-US" altLang="zh-CN" sz="2800" dirty="0"/>
          </a:p>
        </p:txBody>
      </p:sp>
      <p:sp>
        <p:nvSpPr>
          <p:cNvPr id="42" name="íšḻíḑê"/>
          <p:cNvSpPr/>
          <p:nvPr/>
        </p:nvSpPr>
        <p:spPr>
          <a:xfrm>
            <a:off x="669925" y="1277156"/>
            <a:ext cx="10862844" cy="758346"/>
          </a:xfrm>
          <a:prstGeom prst="rect">
            <a:avLst/>
          </a:prstGeom>
          <a:noFill/>
          <a:ln>
            <a:noFill/>
          </a:ln>
        </p:spPr>
        <p:txBody>
          <a:bodyPr wrap="square" lIns="91440" tIns="45720" rIns="91440" bIns="45720" anchor="ctr" anchorCtr="0">
            <a:noAutofit/>
          </a:bodyPr>
          <a:lstStyle/>
          <a:p>
            <a:pPr indent="457200">
              <a:lnSpc>
                <a:spcPct val="123000"/>
              </a:lnSpc>
            </a:pPr>
            <a:r>
              <a:rPr lang="zh-CN" altLang="en-US" sz="2400" dirty="0"/>
              <a:t>所谓</a:t>
            </a:r>
            <a:r>
              <a:rPr lang="zh-CN" altLang="en-US" sz="2400" b="1" dirty="0">
                <a:solidFill>
                  <a:srgbClr val="0000FF"/>
                </a:solidFill>
              </a:rPr>
              <a:t>数据一致性</a:t>
            </a:r>
            <a:r>
              <a:rPr lang="zh-CN" altLang="en-US" sz="2400" dirty="0"/>
              <a:t>问题，是</a:t>
            </a:r>
            <a:r>
              <a:rPr lang="zh-CN" altLang="en-US" sz="2400" dirty="0">
                <a:solidFill>
                  <a:srgbClr val="0000FF"/>
                </a:solidFill>
              </a:rPr>
              <a:t>指保存在多个文件中的同一个数据，在任何情况下都必须能保证相同。</a:t>
            </a:r>
          </a:p>
        </p:txBody>
      </p:sp>
      <p:sp>
        <p:nvSpPr>
          <p:cNvPr id="44" name="íṥḻîḓe"/>
          <p:cNvSpPr/>
          <p:nvPr/>
        </p:nvSpPr>
        <p:spPr>
          <a:xfrm>
            <a:off x="1092344" y="391716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5" name="îşļiḓè"/>
          <p:cNvSpPr/>
          <p:nvPr/>
        </p:nvSpPr>
        <p:spPr>
          <a:xfrm>
            <a:off x="1092344" y="244706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7" name="íSlíḋe"/>
          <p:cNvSpPr/>
          <p:nvPr/>
        </p:nvSpPr>
        <p:spPr>
          <a:xfrm>
            <a:off x="1282598" y="2669082"/>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48" name="ïśḷïḓe"/>
          <p:cNvSpPr/>
          <p:nvPr/>
        </p:nvSpPr>
        <p:spPr>
          <a:xfrm>
            <a:off x="1311537" y="4106622"/>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4" name="íšḻíḑê"/>
          <p:cNvSpPr/>
          <p:nvPr/>
        </p:nvSpPr>
        <p:spPr>
          <a:xfrm>
            <a:off x="664578" y="5186323"/>
            <a:ext cx="10862844" cy="758346"/>
          </a:xfrm>
          <a:prstGeom prst="rect">
            <a:avLst/>
          </a:prstGeom>
          <a:noFill/>
          <a:ln>
            <a:noFill/>
          </a:ln>
        </p:spPr>
        <p:txBody>
          <a:bodyPr wrap="square" lIns="91440" tIns="45720" rIns="91440" bIns="45720" anchor="ctr" anchorCtr="0">
            <a:noAutofit/>
          </a:bodyPr>
          <a:lstStyle/>
          <a:p>
            <a:pPr indent="457200">
              <a:lnSpc>
                <a:spcPct val="123000"/>
              </a:lnSpc>
            </a:pPr>
            <a:r>
              <a:rPr lang="zh-CN" altLang="en-US" sz="2400" dirty="0"/>
              <a:t>现代</a:t>
            </a:r>
            <a:r>
              <a:rPr lang="en-US" altLang="zh-CN" sz="2400" dirty="0"/>
              <a:t>OS</a:t>
            </a:r>
            <a:r>
              <a:rPr lang="zh-CN" altLang="en-US" sz="2400" dirty="0"/>
              <a:t>中都配置了能保证数据一致性的软件。</a:t>
            </a:r>
          </a:p>
        </p:txBody>
      </p:sp>
      <p:cxnSp>
        <p:nvCxnSpPr>
          <p:cNvPr id="3" name="直接连接符 2"/>
          <p:cNvCxnSpPr/>
          <p:nvPr/>
        </p:nvCxnSpPr>
        <p:spPr>
          <a:xfrm>
            <a:off x="1092344" y="5192943"/>
            <a:ext cx="101379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92344" y="5944669"/>
            <a:ext cx="1013790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8.5.1 </a:t>
            </a:r>
            <a:r>
              <a:rPr lang="zh-CN" altLang="en-US" sz="2800" b="1" dirty="0">
                <a:solidFill>
                  <a:schemeClr val="bg1"/>
                </a:solidFill>
              </a:rPr>
              <a:t>事务（</a:t>
            </a:r>
            <a:r>
              <a:rPr lang="en-US" altLang="zh-CN" sz="2800" b="1" dirty="0">
                <a:solidFill>
                  <a:schemeClr val="bg1"/>
                </a:solidFill>
              </a:rPr>
              <a:t>1</a:t>
            </a:r>
            <a:r>
              <a:rPr lang="zh-CN" altLang="en-US" sz="2800" b="1" dirty="0">
                <a:solidFill>
                  <a:schemeClr val="bg1"/>
                </a:solidFill>
              </a:rPr>
              <a:t>）</a:t>
            </a:r>
          </a:p>
        </p:txBody>
      </p:sp>
      <p:sp>
        <p:nvSpPr>
          <p:cNvPr id="14" name="íSľïdé"/>
          <p:cNvSpPr/>
          <p:nvPr/>
        </p:nvSpPr>
        <p:spPr>
          <a:xfrm>
            <a:off x="1613964" y="130339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5" name="ïŝļíḓê"/>
          <p:cNvSpPr/>
          <p:nvPr/>
        </p:nvSpPr>
        <p:spPr bwMode="auto">
          <a:xfrm>
            <a:off x="6682939" y="1815328"/>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6" name="îṧľîdé"/>
          <p:cNvSpPr/>
          <p:nvPr/>
        </p:nvSpPr>
        <p:spPr>
          <a:xfrm>
            <a:off x="3368303" y="1206494"/>
            <a:ext cx="3014742" cy="1344732"/>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7" name="内容占位符 2"/>
          <p:cNvSpPr txBox="1"/>
          <p:nvPr/>
        </p:nvSpPr>
        <p:spPr>
          <a:xfrm>
            <a:off x="601739" y="1935240"/>
            <a:ext cx="4474757"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rPr>
              <a:t>事务</a:t>
            </a:r>
            <a:r>
              <a:rPr lang="zh-CN" altLang="en-US" sz="2400" dirty="0"/>
              <a:t>的定义</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事务是用于访问和修改各种数据项的一个程序单位。</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事务也可被看作一系列</a:t>
            </a:r>
            <a:r>
              <a:rPr lang="zh-CN" altLang="en-US" sz="2400" dirty="0">
                <a:solidFill>
                  <a:srgbClr val="0000FF"/>
                </a:solidFill>
              </a:rPr>
              <a:t>相关的读</a:t>
            </a:r>
            <a:r>
              <a:rPr lang="en-US" altLang="zh-CN" sz="2400" dirty="0">
                <a:solidFill>
                  <a:srgbClr val="0000FF"/>
                </a:solidFill>
              </a:rPr>
              <a:t>/</a:t>
            </a:r>
            <a:r>
              <a:rPr lang="zh-CN" altLang="en-US" sz="2400" dirty="0">
                <a:solidFill>
                  <a:srgbClr val="0000FF"/>
                </a:solidFill>
              </a:rPr>
              <a:t>写操作</a:t>
            </a:r>
            <a:r>
              <a:rPr lang="zh-CN" altLang="en-US" sz="2400" dirty="0"/>
              <a:t>。</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事务操作具有</a:t>
            </a:r>
            <a:r>
              <a:rPr lang="zh-CN" altLang="en-US" sz="2400" dirty="0">
                <a:solidFill>
                  <a:srgbClr val="0000FF"/>
                </a:solidFill>
              </a:rPr>
              <a:t>原子性</a:t>
            </a:r>
            <a:r>
              <a:rPr lang="en-US" altLang="zh-CN" sz="2400" dirty="0">
                <a:solidFill>
                  <a:srgbClr val="0000FF"/>
                </a:solidFill>
              </a:rPr>
              <a:t>(Atomic)</a:t>
            </a:r>
            <a:r>
              <a:rPr lang="zh-CN" altLang="en-US" sz="2400" dirty="0">
                <a:solidFill>
                  <a:schemeClr val="tx1">
                    <a:lumMod val="65000"/>
                    <a:lumOff val="35000"/>
                  </a:schemeClr>
                </a:solidFill>
              </a:rPr>
              <a:t>。</a:t>
            </a:r>
          </a:p>
        </p:txBody>
      </p:sp>
      <p:sp>
        <p:nvSpPr>
          <p:cNvPr id="18" name="内容占位符 2"/>
          <p:cNvSpPr txBox="1"/>
          <p:nvPr/>
        </p:nvSpPr>
        <p:spPr>
          <a:xfrm>
            <a:off x="6161104" y="2447264"/>
            <a:ext cx="5619564"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事务记录</a:t>
            </a:r>
            <a:endParaRPr lang="en-US" altLang="zh-CN"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是用于记录在事务运行过程中与数据项修改相关的全部信息数据结构，又被称为运行记录（</a:t>
            </a:r>
            <a:r>
              <a:rPr lang="en-US" altLang="zh-CN" sz="2200" dirty="0"/>
              <a:t>Log)</a:t>
            </a:r>
            <a:r>
              <a:rPr lang="zh-CN" altLang="en-US" sz="2200" dirty="0"/>
              <a:t>。</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事务名：用于标志该事务的唯一名字。</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数据项名：它是被修改数据项的唯一名字。</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旧值：修改前数据项的值。</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200" dirty="0"/>
              <a:t>新值：修改后数据项将具有的值。</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8.5.1 </a:t>
            </a:r>
            <a:r>
              <a:rPr lang="zh-CN" altLang="en-US" sz="2800" b="1" dirty="0">
                <a:solidFill>
                  <a:schemeClr val="bg1"/>
                </a:solidFill>
              </a:rPr>
              <a:t>事务（</a:t>
            </a:r>
            <a:r>
              <a:rPr lang="en-US" altLang="zh-CN" sz="2800" b="1" dirty="0">
                <a:solidFill>
                  <a:schemeClr val="bg1"/>
                </a:solidFill>
              </a:rPr>
              <a:t>2</a:t>
            </a:r>
            <a:r>
              <a:rPr lang="zh-CN" altLang="en-US" sz="2800" b="1" dirty="0">
                <a:solidFill>
                  <a:schemeClr val="bg1"/>
                </a:solidFill>
              </a:rPr>
              <a:t>）</a:t>
            </a:r>
          </a:p>
        </p:txBody>
      </p:sp>
      <p:sp>
        <p:nvSpPr>
          <p:cNvPr id="37" name="íšḻîḋè"/>
          <p:cNvSpPr/>
          <p:nvPr/>
        </p:nvSpPr>
        <p:spPr>
          <a:xfrm>
            <a:off x="1802479" y="4468571"/>
            <a:ext cx="9326179" cy="1870078"/>
          </a:xfrm>
          <a:prstGeom prst="rect">
            <a:avLst/>
          </a:prstGeom>
          <a:noFill/>
          <a:ln>
            <a:noFill/>
          </a:ln>
        </p:spPr>
        <p:txBody>
          <a:bodyPr wrap="square" lIns="91440" tIns="45720" rIns="91440" bIns="45720" anchor="t" anchorCtr="0">
            <a:noAutofit/>
          </a:bodyPr>
          <a:lstStyle/>
          <a:p>
            <a:pPr marL="342900" lvl="2" indent="-342900">
              <a:lnSpc>
                <a:spcPct val="123000"/>
              </a:lnSpc>
              <a:spcBef>
                <a:spcPts val="600"/>
              </a:spcBef>
              <a:spcAft>
                <a:spcPts val="600"/>
              </a:spcAft>
              <a:buClr>
                <a:srgbClr val="FF0000"/>
              </a:buClr>
              <a:buFont typeface="Wingdings" panose="05000000000000000000" pitchFamily="2" charset="2"/>
              <a:buChar char="Ø"/>
            </a:pPr>
            <a:r>
              <a:rPr lang="zh-CN" altLang="zh-CN" sz="2200" dirty="0"/>
              <a:t>一类是所包含的各类操作都已完成的事务，系统会利用</a:t>
            </a:r>
            <a:r>
              <a:rPr lang="en-US" altLang="zh-CN" sz="2200" dirty="0"/>
              <a:t>redo</a:t>
            </a:r>
            <a:r>
              <a:rPr lang="zh-CN" altLang="zh-CN" sz="2200" dirty="0"/>
              <a:t>〈</a:t>
            </a:r>
            <a:r>
              <a:rPr lang="en-US" altLang="zh-CN" sz="2200" i="1" dirty="0" err="1"/>
              <a:t>T</a:t>
            </a:r>
            <a:r>
              <a:rPr lang="en-US" altLang="zh-CN" sz="2200" i="1" baseline="-25000" dirty="0" err="1"/>
              <a:t>i</a:t>
            </a:r>
            <a:r>
              <a:rPr lang="zh-CN" altLang="zh-CN" sz="2200" dirty="0"/>
              <a:t>〉过程把所有已被修改的数据设置成新值</a:t>
            </a:r>
            <a:r>
              <a:rPr lang="zh-CN" altLang="en-US" sz="2200" dirty="0"/>
              <a:t>。</a:t>
            </a:r>
            <a:endParaRPr lang="en-US" altLang="zh-CN" sz="2200" dirty="0"/>
          </a:p>
          <a:p>
            <a:pPr marL="342900" lvl="2" indent="-342900">
              <a:lnSpc>
                <a:spcPct val="123000"/>
              </a:lnSpc>
              <a:spcBef>
                <a:spcPts val="600"/>
              </a:spcBef>
              <a:spcAft>
                <a:spcPts val="600"/>
              </a:spcAft>
              <a:buClr>
                <a:srgbClr val="FF0000"/>
              </a:buClr>
              <a:buFont typeface="Wingdings" panose="05000000000000000000" pitchFamily="2" charset="2"/>
              <a:buChar char="Ø"/>
            </a:pPr>
            <a:r>
              <a:rPr lang="zh-CN" altLang="zh-CN" sz="2200" dirty="0"/>
              <a:t>另一类是所包含的各个操作并未全部完成的事务，系统会利用</a:t>
            </a:r>
            <a:r>
              <a:rPr lang="en-US" altLang="zh-CN" sz="2200" dirty="0"/>
              <a:t>undo</a:t>
            </a:r>
            <a:r>
              <a:rPr lang="zh-CN" altLang="zh-CN" sz="2200" dirty="0"/>
              <a:t>〈</a:t>
            </a:r>
            <a:r>
              <a:rPr lang="en-US" altLang="zh-CN" sz="2200" i="1" dirty="0" err="1"/>
              <a:t>T</a:t>
            </a:r>
            <a:r>
              <a:rPr lang="en-US" altLang="zh-CN" sz="2200" i="1" baseline="-25000" dirty="0" err="1"/>
              <a:t>i</a:t>
            </a:r>
            <a:r>
              <a:rPr lang="zh-CN" altLang="zh-CN" sz="2200" dirty="0"/>
              <a:t>〉过程将所有已被修改的数据恢复为修改前的值</a:t>
            </a:r>
            <a:r>
              <a:rPr lang="zh-CN" altLang="en-US" sz="2200" dirty="0"/>
              <a:t>。</a:t>
            </a:r>
            <a:endParaRPr lang="en-US" altLang="zh-CN" sz="2200" dirty="0"/>
          </a:p>
        </p:txBody>
      </p:sp>
      <p:sp>
        <p:nvSpPr>
          <p:cNvPr id="38" name="i$lîďê"/>
          <p:cNvSpPr/>
          <p:nvPr/>
        </p:nvSpPr>
        <p:spPr>
          <a:xfrm>
            <a:off x="1802479" y="3653911"/>
            <a:ext cx="9711234" cy="740529"/>
          </a:xfrm>
          <a:prstGeom prst="rect">
            <a:avLst/>
          </a:prstGeom>
          <a:noFill/>
          <a:ln>
            <a:noFill/>
          </a:ln>
        </p:spPr>
        <p:txBody>
          <a:bodyPr wrap="square" lIns="91440" tIns="45720" rIns="91440" bIns="45720" anchor="ctr" anchorCtr="0">
            <a:noAutofit/>
          </a:bodyPr>
          <a:lstStyle/>
          <a:p>
            <a:r>
              <a:rPr lang="zh-CN" altLang="en-US" sz="2400" dirty="0"/>
              <a:t>如果系统发生故障，系统通过查找</a:t>
            </a:r>
            <a:r>
              <a:rPr lang="zh-CN" altLang="en-US" sz="2400" dirty="0">
                <a:solidFill>
                  <a:srgbClr val="0000FF"/>
                </a:solidFill>
              </a:rPr>
              <a:t>事务记录表</a:t>
            </a:r>
            <a:r>
              <a:rPr lang="zh-CN" altLang="en-US" sz="2400" dirty="0"/>
              <a:t>，对以前所发生的事务进行清理，分为两类处理：</a:t>
            </a:r>
          </a:p>
        </p:txBody>
      </p:sp>
      <p:sp>
        <p:nvSpPr>
          <p:cNvPr id="41" name="îs1iďé"/>
          <p:cNvSpPr/>
          <p:nvPr/>
        </p:nvSpPr>
        <p:spPr>
          <a:xfrm>
            <a:off x="1802479" y="2524246"/>
            <a:ext cx="9711234" cy="1079190"/>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t>（</a:t>
            </a:r>
            <a:r>
              <a:rPr lang="en-US" altLang="zh-CN" sz="2200" dirty="0"/>
              <a:t>1</a:t>
            </a:r>
            <a:r>
              <a:rPr lang="zh-CN" altLang="en-US" sz="2200" dirty="0"/>
              <a:t>）</a:t>
            </a:r>
            <a:r>
              <a:rPr lang="en-US" altLang="zh-CN" sz="2200" dirty="0" err="1"/>
              <a:t>undo〈T</a:t>
            </a:r>
            <a:r>
              <a:rPr lang="en-US" altLang="zh-CN" sz="2200" baseline="-25000" dirty="0" err="1"/>
              <a:t>i</a:t>
            </a:r>
            <a:r>
              <a:rPr lang="en-US" altLang="zh-CN" sz="2200" dirty="0"/>
              <a:t>〉</a:t>
            </a:r>
            <a:r>
              <a:rPr lang="zh-CN" altLang="en-US" sz="2200" dirty="0"/>
              <a:t>：把所有被事务</a:t>
            </a:r>
            <a:r>
              <a:rPr lang="en-US" altLang="zh-CN" sz="2200" dirty="0" err="1"/>
              <a:t>T</a:t>
            </a:r>
            <a:r>
              <a:rPr lang="en-US" altLang="zh-CN" sz="2200" baseline="-25000" dirty="0" err="1"/>
              <a:t>i</a:t>
            </a:r>
            <a:r>
              <a:rPr lang="zh-CN" altLang="en-US" sz="2200" dirty="0"/>
              <a:t>修改过的数据恢复为修改前的值。</a:t>
            </a:r>
          </a:p>
          <a:p>
            <a:pPr marL="342900" indent="-342900">
              <a:lnSpc>
                <a:spcPct val="120000"/>
              </a:lnSpc>
              <a:spcBef>
                <a:spcPts val="600"/>
              </a:spcBef>
              <a:buClr>
                <a:srgbClr val="FF0000"/>
              </a:buClr>
              <a:buFont typeface="Wingdings" panose="05000000000000000000" pitchFamily="2" charset="2"/>
              <a:buChar char="Ø"/>
            </a:pPr>
            <a:r>
              <a:rPr lang="zh-CN" altLang="en-US" sz="2200" dirty="0"/>
              <a:t>（</a:t>
            </a:r>
            <a:r>
              <a:rPr lang="en-US" altLang="zh-CN" sz="2200" dirty="0"/>
              <a:t>2</a:t>
            </a:r>
            <a:r>
              <a:rPr lang="zh-CN" altLang="en-US" sz="2200" dirty="0"/>
              <a:t>）</a:t>
            </a:r>
            <a:r>
              <a:rPr lang="en-US" altLang="zh-CN" sz="2200" dirty="0" err="1"/>
              <a:t>redo〈T</a:t>
            </a:r>
            <a:r>
              <a:rPr lang="en-US" altLang="zh-CN" sz="2200" baseline="-25000" dirty="0" err="1"/>
              <a:t>i</a:t>
            </a:r>
            <a:r>
              <a:rPr lang="en-US" altLang="zh-CN" sz="2200" dirty="0"/>
              <a:t>〉</a:t>
            </a:r>
            <a:r>
              <a:rPr lang="zh-CN" altLang="en-US" sz="2200" dirty="0"/>
              <a:t>：把所有被事务</a:t>
            </a:r>
            <a:r>
              <a:rPr lang="en-US" altLang="zh-CN" sz="2200" dirty="0" err="1"/>
              <a:t>T</a:t>
            </a:r>
            <a:r>
              <a:rPr lang="en-US" altLang="zh-CN" sz="2200" baseline="-25000" dirty="0" err="1"/>
              <a:t>i</a:t>
            </a:r>
            <a:r>
              <a:rPr lang="zh-CN" altLang="en-US" sz="2200" dirty="0"/>
              <a:t>修改过的数据设置为新值。</a:t>
            </a:r>
          </a:p>
        </p:txBody>
      </p:sp>
      <p:sp>
        <p:nvSpPr>
          <p:cNvPr id="42" name="íšḻíḑê"/>
          <p:cNvSpPr/>
          <p:nvPr/>
        </p:nvSpPr>
        <p:spPr>
          <a:xfrm>
            <a:off x="1802479" y="1729913"/>
            <a:ext cx="9730289" cy="791342"/>
          </a:xfrm>
          <a:prstGeom prst="rect">
            <a:avLst/>
          </a:prstGeom>
          <a:noFill/>
          <a:ln>
            <a:noFill/>
          </a:ln>
        </p:spPr>
        <p:txBody>
          <a:bodyPr wrap="square" lIns="91440" tIns="45720" rIns="91440" bIns="45720" anchor="ctr" anchorCtr="0">
            <a:noAutofit/>
          </a:bodyPr>
          <a:lstStyle/>
          <a:p>
            <a:r>
              <a:rPr lang="zh-CN" altLang="en-US" sz="2400" dirty="0"/>
              <a:t>系统利用</a:t>
            </a:r>
            <a:r>
              <a:rPr lang="zh-CN" altLang="en-US" sz="2400" dirty="0">
                <a:solidFill>
                  <a:srgbClr val="0000FF"/>
                </a:solidFill>
              </a:rPr>
              <a:t>事务记录表</a:t>
            </a:r>
            <a:r>
              <a:rPr lang="zh-CN" altLang="en-US" sz="2400" dirty="0"/>
              <a:t>可以处理任何故障而不致使故障造成非易失性存储器中信息的丢失：</a:t>
            </a:r>
          </a:p>
        </p:txBody>
      </p:sp>
      <p:sp>
        <p:nvSpPr>
          <p:cNvPr id="43" name="îSļiḓè"/>
          <p:cNvSpPr/>
          <p:nvPr/>
        </p:nvSpPr>
        <p:spPr>
          <a:xfrm>
            <a:off x="1118977" y="171635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5" name="îşļiḓè"/>
          <p:cNvSpPr/>
          <p:nvPr/>
        </p:nvSpPr>
        <p:spPr>
          <a:xfrm>
            <a:off x="1118977" y="360490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6" name="îṡḷíďe"/>
          <p:cNvSpPr/>
          <p:nvPr/>
        </p:nvSpPr>
        <p:spPr>
          <a:xfrm>
            <a:off x="1309232" y="191248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47" name="íSlíḋe"/>
          <p:cNvSpPr/>
          <p:nvPr/>
        </p:nvSpPr>
        <p:spPr>
          <a:xfrm>
            <a:off x="1309231" y="382691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14" name="íšḻíḑê"/>
          <p:cNvSpPr/>
          <p:nvPr/>
        </p:nvSpPr>
        <p:spPr>
          <a:xfrm>
            <a:off x="1021245" y="1145850"/>
            <a:ext cx="7297132" cy="405747"/>
          </a:xfrm>
          <a:prstGeom prst="rect">
            <a:avLst/>
          </a:prstGeom>
          <a:noFill/>
          <a:ln>
            <a:noFill/>
          </a:ln>
        </p:spPr>
        <p:txBody>
          <a:bodyPr wrap="square" lIns="91440" tIns="45720" rIns="91440" bIns="45720" anchor="ctr" anchorCtr="0">
            <a:noAutofit/>
          </a:bodyPr>
          <a:lstStyle/>
          <a:p>
            <a:r>
              <a:rPr lang="zh-CN" altLang="en-US" sz="2400" dirty="0"/>
              <a:t>恢复算法</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8.5.2 </a:t>
            </a:r>
            <a:r>
              <a:rPr lang="zh-CN" altLang="en-US" sz="2800" b="1" dirty="0">
                <a:solidFill>
                  <a:schemeClr val="bg1"/>
                </a:solidFill>
              </a:rPr>
              <a:t>检查点</a:t>
            </a:r>
          </a:p>
        </p:txBody>
      </p:sp>
      <p:grpSp>
        <p:nvGrpSpPr>
          <p:cNvPr id="11"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757985"/>
            <a:ext cx="10984047" cy="3667531"/>
            <a:chOff x="673100" y="1929384"/>
            <a:chExt cx="10984047" cy="3667531"/>
          </a:xfrm>
        </p:grpSpPr>
        <p:sp>
          <p:nvSpPr>
            <p:cNvPr id="12"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3"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5"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6"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8" name="isľîdê"/>
            <p:cNvSpPr txBox="1"/>
            <p:nvPr/>
          </p:nvSpPr>
          <p:spPr>
            <a:xfrm>
              <a:off x="709541" y="4135199"/>
              <a:ext cx="2640515" cy="982407"/>
            </a:xfrm>
            <a:prstGeom prst="rect">
              <a:avLst/>
            </a:prstGeom>
            <a:noFill/>
            <a:ln>
              <a:noFill/>
            </a:ln>
          </p:spPr>
          <p:txBody>
            <a:bodyPr wrap="square" lIns="91440" tIns="45720" rIns="91440" bIns="45720" anchor="t" anchorCtr="0">
              <a:noAutofit/>
            </a:bodyPr>
            <a:lstStyle/>
            <a:p>
              <a:pPr marL="342900" lvl="1" indent="-342900">
                <a:lnSpc>
                  <a:spcPct val="120000"/>
                </a:lnSpc>
                <a:buClr>
                  <a:srgbClr val="FFC000"/>
                </a:buClr>
                <a:buFont typeface="Wingdings" panose="05000000000000000000" pitchFamily="2" charset="2"/>
                <a:buChar char="Ø"/>
              </a:pPr>
              <a:r>
                <a:rPr lang="zh-CN" altLang="en-US" sz="2200" dirty="0"/>
                <a:t>首先，将驻留在易失性存储器（内存）中的当前事务记录表中的所有记录输出到稳定存储器中；</a:t>
              </a:r>
            </a:p>
          </p:txBody>
        </p:sp>
        <p:sp>
          <p:nvSpPr>
            <p:cNvPr id="26"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7"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8"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9"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34" name="isľîdê"/>
            <p:cNvSpPr txBox="1"/>
            <p:nvPr/>
          </p:nvSpPr>
          <p:spPr>
            <a:xfrm>
              <a:off x="3243282" y="4149385"/>
              <a:ext cx="2769797" cy="982407"/>
            </a:xfrm>
            <a:prstGeom prst="rect">
              <a:avLst/>
            </a:prstGeom>
            <a:noFill/>
            <a:ln>
              <a:noFill/>
            </a:ln>
          </p:spPr>
          <p:txBody>
            <a:bodyPr wrap="square" lIns="91440" tIns="45720" rIns="91440" bIns="45720" anchor="t" anchorCtr="0">
              <a:noAutofit/>
            </a:bodyPr>
            <a:lstStyle/>
            <a:p>
              <a:pPr marL="342900" lvl="1" indent="-342900" algn="ctr">
                <a:lnSpc>
                  <a:spcPct val="120000"/>
                </a:lnSpc>
                <a:buClr>
                  <a:srgbClr val="FFC000"/>
                </a:buClr>
                <a:buFont typeface="Wingdings" panose="05000000000000000000" pitchFamily="2" charset="2"/>
                <a:buChar char="Ø"/>
              </a:pPr>
              <a:r>
                <a:rPr lang="zh-CN" altLang="en-US" sz="2200" dirty="0"/>
                <a:t>其次，将驻留在易失性存储器中的所有已修改数据输出到稳定存储器中；</a:t>
              </a:r>
            </a:p>
          </p:txBody>
        </p:sp>
        <p:sp>
          <p:nvSpPr>
            <p:cNvPr id="35" name="isľîdê"/>
            <p:cNvSpPr txBox="1"/>
            <p:nvPr/>
          </p:nvSpPr>
          <p:spPr>
            <a:xfrm>
              <a:off x="6165124" y="4149385"/>
              <a:ext cx="2729500" cy="503359"/>
            </a:xfrm>
            <a:prstGeom prst="rect">
              <a:avLst/>
            </a:prstGeom>
            <a:noFill/>
            <a:ln>
              <a:noFill/>
            </a:ln>
          </p:spPr>
          <p:txBody>
            <a:bodyPr wrap="square" lIns="91440" tIns="45720" rIns="91440" bIns="45720" anchor="t" anchorCtr="0">
              <a:noAutofit/>
            </a:bodyPr>
            <a:lstStyle/>
            <a:p>
              <a:pPr marL="342900" lvl="1" indent="-342900" algn="ctr">
                <a:lnSpc>
                  <a:spcPct val="120000"/>
                </a:lnSpc>
                <a:buClr>
                  <a:srgbClr val="FFC000"/>
                </a:buClr>
                <a:buFont typeface="Wingdings" panose="05000000000000000000" pitchFamily="2" charset="2"/>
                <a:buChar char="Ø"/>
              </a:pPr>
              <a:r>
                <a:rPr lang="zh-CN" altLang="en-US" sz="2200" dirty="0"/>
                <a:t>再次，将事务记录表中的</a:t>
              </a:r>
              <a:r>
                <a:rPr lang="en-US" altLang="zh-CN" sz="2200" dirty="0"/>
                <a:t>〈</a:t>
              </a:r>
              <a:r>
                <a:rPr lang="zh-CN" altLang="en-US" sz="2200" dirty="0"/>
                <a:t>检查点</a:t>
              </a:r>
              <a:r>
                <a:rPr lang="en-US" altLang="zh-CN" sz="2200" dirty="0"/>
                <a:t>〉</a:t>
              </a:r>
              <a:r>
                <a:rPr lang="zh-CN" altLang="en-US" sz="2200" dirty="0"/>
                <a:t>记录输出到稳定存储器中；</a:t>
              </a:r>
            </a:p>
          </p:txBody>
        </p:sp>
        <p:sp>
          <p:nvSpPr>
            <p:cNvPr id="36" name="isľîdê"/>
            <p:cNvSpPr txBox="1"/>
            <p:nvPr/>
          </p:nvSpPr>
          <p:spPr>
            <a:xfrm>
              <a:off x="9123407" y="4135199"/>
              <a:ext cx="2533740" cy="1461716"/>
            </a:xfrm>
            <a:prstGeom prst="rect">
              <a:avLst/>
            </a:prstGeom>
            <a:noFill/>
            <a:ln>
              <a:noFill/>
            </a:ln>
          </p:spPr>
          <p:txBody>
            <a:bodyPr wrap="square" lIns="91440" tIns="45720" rIns="91440" bIns="45720" anchor="t" anchorCtr="0">
              <a:noAutofit/>
            </a:bodyPr>
            <a:lstStyle/>
            <a:p>
              <a:pPr marL="342900" lvl="1" indent="-342900" algn="ctr">
                <a:lnSpc>
                  <a:spcPct val="120000"/>
                </a:lnSpc>
                <a:buClr>
                  <a:srgbClr val="FFC000"/>
                </a:buClr>
                <a:buFont typeface="Wingdings" panose="05000000000000000000" pitchFamily="2" charset="2"/>
                <a:buChar char="Ø"/>
              </a:pPr>
              <a:r>
                <a:rPr lang="zh-CN" altLang="en-US" sz="2200" dirty="0"/>
                <a:t>最后，每当出现一个</a:t>
              </a:r>
              <a:r>
                <a:rPr lang="en-US" altLang="zh-CN" sz="2200" dirty="0"/>
                <a:t>〈</a:t>
              </a:r>
              <a:r>
                <a:rPr lang="zh-CN" altLang="en-US" sz="2200" dirty="0"/>
                <a:t>检查点</a:t>
              </a:r>
              <a:r>
                <a:rPr lang="en-US" altLang="zh-CN" sz="2200" dirty="0"/>
                <a:t>〉</a:t>
              </a:r>
              <a:r>
                <a:rPr lang="zh-CN" altLang="en-US" sz="2200" dirty="0"/>
                <a:t>记录，系统便执行一次恢复操作。</a:t>
              </a:r>
            </a:p>
          </p:txBody>
        </p:sp>
      </p:grpSp>
      <p:sp>
        <p:nvSpPr>
          <p:cNvPr id="25" name="isľîdê"/>
          <p:cNvSpPr txBox="1"/>
          <p:nvPr/>
        </p:nvSpPr>
        <p:spPr>
          <a:xfrm>
            <a:off x="591976" y="1180201"/>
            <a:ext cx="10416421" cy="665679"/>
          </a:xfrm>
          <a:prstGeom prst="rect">
            <a:avLst/>
          </a:prstGeom>
          <a:noFill/>
          <a:ln>
            <a:noFill/>
          </a:ln>
        </p:spPr>
        <p:txBody>
          <a:bodyPr wrap="square" lIns="91440" tIns="45720" rIns="91440" bIns="45720" anchor="t" anchorCtr="0">
            <a:noAutofit/>
          </a:bodyPr>
          <a:lstStyle/>
          <a:p>
            <a:pPr marL="0" lvl="1">
              <a:lnSpc>
                <a:spcPct val="120000"/>
              </a:lnSpc>
              <a:buClr>
                <a:srgbClr val="FFC000"/>
              </a:buClr>
            </a:pPr>
            <a:r>
              <a:rPr lang="zh-CN" altLang="en-US" sz="2400" dirty="0">
                <a:solidFill>
                  <a:schemeClr val="tx1">
                    <a:lumMod val="65000"/>
                    <a:lumOff val="35000"/>
                  </a:schemeClr>
                </a:solidFill>
              </a:rPr>
              <a:t>引入</a:t>
            </a:r>
            <a:r>
              <a:rPr lang="zh-CN" altLang="en-US" sz="2400" b="1" dirty="0">
                <a:solidFill>
                  <a:srgbClr val="0000FF"/>
                </a:solidFill>
              </a:rPr>
              <a:t>检查点</a:t>
            </a:r>
            <a:r>
              <a:rPr lang="zh-CN" altLang="en-US" sz="2400" dirty="0">
                <a:solidFill>
                  <a:schemeClr val="tx1">
                    <a:lumMod val="65000"/>
                    <a:lumOff val="35000"/>
                  </a:schemeClr>
                </a:solidFill>
              </a:rPr>
              <a:t>的主要目的，</a:t>
            </a:r>
            <a:r>
              <a:rPr lang="zh-CN" altLang="en-US" sz="2400" dirty="0">
                <a:solidFill>
                  <a:srgbClr val="0000FF"/>
                </a:solidFill>
              </a:rPr>
              <a:t>使事务记录表中事务记录的清理工作经常化。</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8.5.3 </a:t>
            </a:r>
            <a:r>
              <a:rPr lang="zh-CN" altLang="en-US" sz="2800" b="1" dirty="0">
                <a:solidFill>
                  <a:schemeClr val="bg1"/>
                </a:solidFill>
              </a:rPr>
              <a:t>并发控制</a:t>
            </a:r>
          </a:p>
        </p:txBody>
      </p:sp>
      <p:sp>
        <p:nvSpPr>
          <p:cNvPr id="37" name="íšḻîḋè"/>
          <p:cNvSpPr/>
          <p:nvPr/>
        </p:nvSpPr>
        <p:spPr>
          <a:xfrm>
            <a:off x="1746844" y="3577516"/>
            <a:ext cx="932617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利用互斥锁实现顺序性。</a:t>
            </a:r>
          </a:p>
          <a:p>
            <a:pPr marL="342900" indent="-342900">
              <a:lnSpc>
                <a:spcPct val="120000"/>
              </a:lnSpc>
              <a:buClr>
                <a:srgbClr val="FF0000"/>
              </a:buClr>
              <a:buFont typeface="Wingdings" panose="05000000000000000000" pitchFamily="2" charset="2"/>
              <a:buChar char="Ø"/>
            </a:pPr>
            <a:r>
              <a:rPr lang="zh-CN" altLang="en-US" sz="2200" dirty="0"/>
              <a:t> 利用互斥锁（写锁）和共享锁（读锁）实现顺序性。</a:t>
            </a:r>
          </a:p>
        </p:txBody>
      </p:sp>
      <p:sp>
        <p:nvSpPr>
          <p:cNvPr id="38" name="i$lîďê"/>
          <p:cNvSpPr/>
          <p:nvPr/>
        </p:nvSpPr>
        <p:spPr>
          <a:xfrm>
            <a:off x="1802479" y="3126390"/>
            <a:ext cx="6018748"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用于实现事务顺序性的技术</a:t>
            </a:r>
            <a:r>
              <a:rPr lang="zh-CN" altLang="en-US" sz="2400" dirty="0"/>
              <a:t>称为</a:t>
            </a:r>
            <a:r>
              <a:rPr lang="zh-CN" altLang="en-US" sz="2400" b="1" dirty="0">
                <a:solidFill>
                  <a:srgbClr val="0000FF"/>
                </a:solidFill>
              </a:rPr>
              <a:t>并发控制</a:t>
            </a:r>
          </a:p>
        </p:txBody>
      </p:sp>
      <p:sp>
        <p:nvSpPr>
          <p:cNvPr id="42" name="íšḻíḑê"/>
          <p:cNvSpPr/>
          <p:nvPr/>
        </p:nvSpPr>
        <p:spPr>
          <a:xfrm>
            <a:off x="1802479" y="1702544"/>
            <a:ext cx="9782879" cy="933134"/>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由于事务具有原子性，各个事务的执行必然会按某种次序依次执行，即各事务对数据项的修改是互斥的（称为顺序性）。</a:t>
            </a:r>
          </a:p>
        </p:txBody>
      </p:sp>
      <p:sp>
        <p:nvSpPr>
          <p:cNvPr id="43" name="îSļiḓè"/>
          <p:cNvSpPr/>
          <p:nvPr/>
        </p:nvSpPr>
        <p:spPr>
          <a:xfrm>
            <a:off x="1118977" y="168898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5" name="îşļiḓè"/>
          <p:cNvSpPr/>
          <p:nvPr/>
        </p:nvSpPr>
        <p:spPr>
          <a:xfrm>
            <a:off x="1118977" y="307738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6" name="îṡḷíďe"/>
          <p:cNvSpPr/>
          <p:nvPr/>
        </p:nvSpPr>
        <p:spPr>
          <a:xfrm>
            <a:off x="1309232" y="188512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47" name="íSlíḋe"/>
          <p:cNvSpPr/>
          <p:nvPr/>
        </p:nvSpPr>
        <p:spPr>
          <a:xfrm>
            <a:off x="1309231" y="329939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8.5.4 </a:t>
            </a:r>
            <a:r>
              <a:rPr lang="zh-CN" altLang="en-US" sz="2800" b="1" dirty="0">
                <a:solidFill>
                  <a:schemeClr val="bg1"/>
                </a:solidFill>
              </a:rPr>
              <a:t>重复数据的一致性问题</a:t>
            </a:r>
          </a:p>
        </p:txBody>
      </p:sp>
      <p:sp>
        <p:nvSpPr>
          <p:cNvPr id="42" name="íšḻíḑê"/>
          <p:cNvSpPr/>
          <p:nvPr/>
        </p:nvSpPr>
        <p:spPr>
          <a:xfrm>
            <a:off x="1802479" y="1881221"/>
            <a:ext cx="10000638" cy="933134"/>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为了保证数据的安全性，常把关键文件或关键数据结构复制（拷贝）多份。</a:t>
            </a:r>
            <a:endParaRPr lang="en-US" altLang="zh-CN" sz="2400" dirty="0"/>
          </a:p>
          <a:p>
            <a:pPr>
              <a:lnSpc>
                <a:spcPct val="123000"/>
              </a:lnSpc>
            </a:pPr>
            <a:r>
              <a:rPr lang="zh-CN" altLang="en-US" sz="2400" dirty="0"/>
              <a:t>主文件或主数据结构中的数据应与各备份数据保持一致；</a:t>
            </a:r>
            <a:endParaRPr lang="en-US" altLang="zh-CN" sz="2400" dirty="0"/>
          </a:p>
          <a:p>
            <a:pPr>
              <a:lnSpc>
                <a:spcPct val="123000"/>
              </a:lnSpc>
            </a:pPr>
            <a:r>
              <a:rPr lang="zh-CN" altLang="en-US" sz="2400" dirty="0"/>
              <a:t>应保证不同处的同一数据结构中（</a:t>
            </a:r>
            <a:r>
              <a:rPr lang="zh-CN" altLang="en-US" sz="2400" dirty="0">
                <a:solidFill>
                  <a:srgbClr val="0000FF"/>
                </a:solidFill>
              </a:rPr>
              <a:t>可能已被修改的</a:t>
            </a:r>
            <a:r>
              <a:rPr lang="zh-CN" altLang="en-US" sz="2400" dirty="0"/>
              <a:t>）数据的一致性。</a:t>
            </a:r>
          </a:p>
        </p:txBody>
      </p:sp>
      <p:sp>
        <p:nvSpPr>
          <p:cNvPr id="43" name="îSļiḓè"/>
          <p:cNvSpPr/>
          <p:nvPr/>
        </p:nvSpPr>
        <p:spPr>
          <a:xfrm>
            <a:off x="1118977" y="168898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p>
        </p:txBody>
      </p:sp>
      <p:sp>
        <p:nvSpPr>
          <p:cNvPr id="46" name="îṡḷíďe"/>
          <p:cNvSpPr/>
          <p:nvPr/>
        </p:nvSpPr>
        <p:spPr>
          <a:xfrm>
            <a:off x="1309232" y="188512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p>
        </p:txBody>
      </p:sp>
      <p:sp>
        <p:nvSpPr>
          <p:cNvPr id="33" name="íšḻîḋè"/>
          <p:cNvSpPr/>
          <p:nvPr/>
        </p:nvSpPr>
        <p:spPr>
          <a:xfrm>
            <a:off x="1746844" y="3349808"/>
            <a:ext cx="10000638" cy="1387676"/>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solidFill>
                  <a:srgbClr val="0000FF"/>
                </a:solidFill>
              </a:rPr>
              <a:t>重复文件数据一致性检查</a:t>
            </a:r>
            <a:r>
              <a:rPr lang="zh-CN" altLang="en-US" sz="2200" dirty="0"/>
              <a:t>：当有重复文件（</a:t>
            </a:r>
            <a:r>
              <a:rPr lang="zh-CN" altLang="en-US" sz="2200" dirty="0">
                <a:solidFill>
                  <a:srgbClr val="0000FF"/>
                </a:solidFill>
              </a:rPr>
              <a:t>非共享文件</a:t>
            </a:r>
            <a:r>
              <a:rPr lang="zh-CN" altLang="en-US" sz="2200" dirty="0"/>
              <a:t>）时，如果一个文件拷贝被修改，则必须同时修改其他几个文件拷贝，以保证各相应文件中数据的一致性。</a:t>
            </a:r>
          </a:p>
          <a:p>
            <a:pPr marL="342900" indent="-342900">
              <a:lnSpc>
                <a:spcPct val="120000"/>
              </a:lnSpc>
              <a:spcBef>
                <a:spcPts val="600"/>
              </a:spcBef>
              <a:spcAft>
                <a:spcPts val="600"/>
              </a:spcAft>
              <a:buClr>
                <a:srgbClr val="FF0000"/>
              </a:buClr>
              <a:buFont typeface="Wingdings" panose="05000000000000000000" pitchFamily="2" charset="2"/>
              <a:buChar char="Ø"/>
            </a:pPr>
            <a:r>
              <a:rPr lang="zh-CN" altLang="en-US" sz="2200" dirty="0">
                <a:solidFill>
                  <a:srgbClr val="0000FF"/>
                </a:solidFill>
              </a:rPr>
              <a:t>共享文件链接数一致性检查</a:t>
            </a:r>
            <a:r>
              <a:rPr lang="zh-CN" altLang="en-US" sz="2200" dirty="0"/>
              <a:t>：共享文件的索引节点使用次数与索引结点中的链接计数</a:t>
            </a:r>
            <a:r>
              <a:rPr lang="en-US" altLang="zh-CN" sz="2200" dirty="0"/>
              <a:t>count</a:t>
            </a:r>
            <a:r>
              <a:rPr lang="zh-CN" altLang="en-US" sz="2200" dirty="0"/>
              <a:t>应一致。</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9章 知识导图"/>
          <p:cNvPicPr>
            <a:picLocks noChangeAspect="1"/>
          </p:cNvPicPr>
          <p:nvPr/>
        </p:nvPicPr>
        <p:blipFill>
          <a:blip r:embed="rId3"/>
          <a:srcRect b="1580"/>
          <a:stretch>
            <a:fillRect/>
          </a:stretch>
        </p:blipFill>
        <p:spPr>
          <a:xfrm>
            <a:off x="4864735" y="828675"/>
            <a:ext cx="6333490" cy="59734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rPr>
              <a:t>第</a:t>
            </a:r>
            <a:r>
              <a:rPr lang="en-US" altLang="zh-CN" sz="2800" b="1" dirty="0">
                <a:solidFill>
                  <a:schemeClr val="bg1"/>
                </a:solidFill>
              </a:rPr>
              <a:t>8</a:t>
            </a:r>
            <a:r>
              <a:rPr lang="zh-CN" altLang="en-US" sz="2800" b="1" dirty="0">
                <a:solidFill>
                  <a:schemeClr val="bg1"/>
                </a:solidFill>
              </a:rPr>
              <a:t>章知识导图</a:t>
            </a: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3" name="表格 2">
            <a:extLst>
              <a:ext uri="{FF2B5EF4-FFF2-40B4-BE49-F238E27FC236}">
                <a16:creationId xmlns:a16="http://schemas.microsoft.com/office/drawing/2014/main" id="{96FCA763-9EC3-1718-76EF-7B771D35C3BE}"/>
              </a:ext>
            </a:extLst>
          </p:cNvPr>
          <p:cNvGraphicFramePr/>
          <p:nvPr>
            <p:custDataLst>
              <p:tags r:id="rId1"/>
            </p:custDataLst>
            <p:extLst>
              <p:ext uri="{D42A27DB-BD31-4B8C-83A1-F6EECF244321}">
                <p14:modId xmlns:p14="http://schemas.microsoft.com/office/powerpoint/2010/main" val="3945974823"/>
              </p:ext>
            </p:ext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extLst>
                    <a:ext uri="{9D8B030D-6E8A-4147-A177-3AD203B41FA5}">
                      <a16:colId xmlns:a16="http://schemas.microsoft.com/office/drawing/2014/main" val="20000"/>
                    </a:ext>
                  </a:extLst>
                </a:gridCol>
                <a:gridCol w="2952924">
                  <a:extLst>
                    <a:ext uri="{9D8B030D-6E8A-4147-A177-3AD203B41FA5}">
                      <a16:colId xmlns:a16="http://schemas.microsoft.com/office/drawing/2014/main" val="20001"/>
                    </a:ext>
                  </a:extLst>
                </a:gridCol>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extLst>
                  <a:ext uri="{0D108BD9-81ED-4DB2-BD59-A6C34878D82A}">
                    <a16:rowId xmlns:a16="http://schemas.microsoft.com/office/drawing/2014/main" val="10000"/>
                  </a:ext>
                </a:extLst>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1"/>
                  </a:ext>
                </a:extLst>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2"/>
                  </a:ext>
                </a:extLst>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存储器管理</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3"/>
                  </a:ext>
                </a:extLst>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虚拟存储器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4"/>
                  </a:ext>
                </a:extLst>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输入输出系统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5"/>
                  </a:ext>
                </a:extLst>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微软雅黑 (正文)"/>
                          <a:ea typeface="+mn-ea"/>
                          <a:cs typeface="+mn-cs"/>
                        </a:rPr>
                        <a:t>  第7章</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71755" indent="0" algn="l" defTabSz="914400" rtl="0" eaLnBrk="1" latinLnBrk="0" hangingPunct="1">
                        <a:lnSpc>
                          <a:spcPct val="100000"/>
                        </a:lnSpc>
                        <a:spcBef>
                          <a:spcPts val="300"/>
                        </a:spcBef>
                        <a:spcAft>
                          <a:spcPts val="300"/>
                        </a:spcAft>
                        <a:buNone/>
                      </a:pPr>
                      <a:r>
                        <a:rPr lang="zh-CN" altLang="en-US" sz="2000" kern="1200" dirty="0">
                          <a:solidFill>
                            <a:schemeClr val="tx1"/>
                          </a:solidFill>
                          <a:latin typeface="微软雅黑 (正文)"/>
                          <a:ea typeface="+mn-ea"/>
                          <a:cs typeface="+mn-cs"/>
                        </a:rPr>
                        <a:t>文件管理</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extLst>
                  <a:ext uri="{0D108BD9-81ED-4DB2-BD59-A6C34878D82A}">
                    <a16:rowId xmlns:a16="http://schemas.microsoft.com/office/drawing/2014/main" val="10006"/>
                  </a:ext>
                </a:extLst>
              </a:tr>
              <a:tr h="399121">
                <a:tc>
                  <a:txBody>
                    <a:bodyPr/>
                    <a:lstStyle/>
                    <a:p>
                      <a:pPr marL="71755" indent="0" algn="ctr">
                        <a:lnSpc>
                          <a:spcPct val="100000"/>
                        </a:lnSpc>
                        <a:spcBef>
                          <a:spcPts val="300"/>
                        </a:spcBef>
                        <a:spcAft>
                          <a:spcPts val="300"/>
                        </a:spcAft>
                        <a:buNone/>
                      </a:pPr>
                      <a:r>
                        <a:rPr lang="en-US" sz="2000" b="1" kern="1200" dirty="0">
                          <a:solidFill>
                            <a:schemeClr val="bg1"/>
                          </a:solidFill>
                          <a:latin typeface="微软雅黑 (正文)"/>
                          <a:ea typeface="+mn-ea"/>
                          <a:cs typeface="+mn-cs"/>
                        </a:rPr>
                        <a:t>第8章</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altLang="zh-CN" sz="2000" b="1" kern="1200" dirty="0" err="1">
                          <a:solidFill>
                            <a:schemeClr val="bg1"/>
                          </a:solidFill>
                          <a:latin typeface="微软雅黑 (正文)"/>
                          <a:ea typeface="+mn-ea"/>
                          <a:cs typeface="+mn-cs"/>
                        </a:rPr>
                        <a:t>磁盘存储器管理</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extLst>
                  <a:ext uri="{0D108BD9-81ED-4DB2-BD59-A6C34878D82A}">
                    <a16:rowId xmlns:a16="http://schemas.microsoft.com/office/drawing/2014/main" val="10007"/>
                  </a:ext>
                </a:extLst>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zh-CN" altLang="en-US" sz="2000" dirty="0">
                          <a:latin typeface="微软雅黑 (正文)"/>
                        </a:rPr>
                        <a:t>操作系统接口</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8"/>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第10章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多处理机操作系统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9"/>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第11章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zh-CN" altLang="en-US" sz="2000" dirty="0">
                          <a:solidFill>
                            <a:schemeClr val="bg1">
                              <a:lumMod val="75000"/>
                            </a:schemeClr>
                          </a:solidFill>
                          <a:latin typeface="微软雅黑 (正文)"/>
                        </a:rPr>
                        <a:t>多媒体操作系统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0"/>
                  </a:ext>
                </a:extLst>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第12章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保护和安全</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1"/>
                  </a:ext>
                </a:extLst>
              </a:tr>
            </a:tbl>
          </a:graphicData>
        </a:graphic>
      </p:graphicFrame>
      <p:pic>
        <p:nvPicPr>
          <p:cNvPr id="5" name="图形 10" descr="徽章勾号 1 纯色填充">
            <a:extLst>
              <a:ext uri="{FF2B5EF4-FFF2-40B4-BE49-F238E27FC236}">
                <a16:creationId xmlns:a16="http://schemas.microsoft.com/office/drawing/2014/main" id="{5DC12883-DF25-6A9F-3EBB-BB77E2A6779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78661" y="1341358"/>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形 9" descr="触控屏 纯色填充">
            <a:extLst>
              <a:ext uri="{FF2B5EF4-FFF2-40B4-BE49-F238E27FC236}">
                <a16:creationId xmlns:a16="http://schemas.microsoft.com/office/drawing/2014/main" id="{CACD8802-77D9-104E-9C03-B822BE5C832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58137" y="5791250"/>
            <a:ext cx="4318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形 10" descr="徽章勾号 1 纯色填充">
            <a:extLst>
              <a:ext uri="{FF2B5EF4-FFF2-40B4-BE49-F238E27FC236}">
                <a16:creationId xmlns:a16="http://schemas.microsoft.com/office/drawing/2014/main" id="{623E223C-7CBA-EB98-CD2D-B131A184334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80229" y="2690965"/>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形 10" descr="徽章勾号 1 纯色填充">
            <a:extLst>
              <a:ext uri="{FF2B5EF4-FFF2-40B4-BE49-F238E27FC236}">
                <a16:creationId xmlns:a16="http://schemas.microsoft.com/office/drawing/2014/main" id="{02FA2197-0810-4D9C-66E6-C9EE6BDAE8C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1225" y="4050000"/>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形 10" descr="徽章勾号 1 纯色填充">
            <a:extLst>
              <a:ext uri="{FF2B5EF4-FFF2-40B4-BE49-F238E27FC236}">
                <a16:creationId xmlns:a16="http://schemas.microsoft.com/office/drawing/2014/main" id="{B7AC19AE-01A8-7E26-2D8A-CDA3E0AC9E6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2793" y="4852852"/>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形 10" descr="徽章勾号 1 纯色填充">
            <a:extLst>
              <a:ext uri="{FF2B5EF4-FFF2-40B4-BE49-F238E27FC236}">
                <a16:creationId xmlns:a16="http://schemas.microsoft.com/office/drawing/2014/main" id="{8AAE59BE-508F-7DBC-DCA7-7F0E4EC0F0C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4364" y="6447554"/>
            <a:ext cx="3587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469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8.6.1 </a:t>
            </a:r>
            <a:r>
              <a:rPr lang="zh-CN" altLang="en-US" sz="2800" b="1" dirty="0">
                <a:solidFill>
                  <a:schemeClr val="bg1"/>
                </a:solidFill>
              </a:rPr>
              <a:t>传统存储系统（</a:t>
            </a:r>
            <a:r>
              <a:rPr lang="zh-CN" altLang="en-US" sz="2800" b="1" dirty="0">
                <a:solidFill>
                  <a:srgbClr val="FF0000"/>
                </a:solidFill>
              </a:rPr>
              <a:t>扩展</a:t>
            </a:r>
            <a:r>
              <a:rPr lang="zh-CN" altLang="en-US" sz="2800" b="1" dirty="0">
                <a:solidFill>
                  <a:schemeClr val="bg1"/>
                </a:solidFill>
              </a:rPr>
              <a:t>）</a:t>
            </a:r>
          </a:p>
        </p:txBody>
      </p:sp>
      <p:sp>
        <p:nvSpPr>
          <p:cNvPr id="29" name="ïşľîďè"/>
          <p:cNvSpPr/>
          <p:nvPr/>
        </p:nvSpPr>
        <p:spPr>
          <a:xfrm>
            <a:off x="259042" y="1214021"/>
            <a:ext cx="4669654" cy="5003800"/>
          </a:xfrm>
          <a:prstGeom prst="rect">
            <a:avLst/>
          </a:prstGeom>
          <a:blipFill>
            <a:blip r:embed="rId2"/>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31" name="îŝļiḋe"/>
          <p:cNvSpPr/>
          <p:nvPr/>
        </p:nvSpPr>
        <p:spPr>
          <a:xfrm>
            <a:off x="4271749" y="1214021"/>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32" name="í$1iďè"/>
          <p:cNvGrpSpPr/>
          <p:nvPr/>
        </p:nvGrpSpPr>
        <p:grpSpPr>
          <a:xfrm>
            <a:off x="4396037" y="1706620"/>
            <a:ext cx="7381904" cy="1002148"/>
            <a:chOff x="4136995" y="1408047"/>
            <a:chExt cx="7381904" cy="1002148"/>
          </a:xfrm>
        </p:grpSpPr>
        <p:sp>
          <p:nvSpPr>
            <p:cNvPr id="34"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36" name="ïSḻiḍé"/>
            <p:cNvSpPr txBox="1"/>
            <p:nvPr/>
          </p:nvSpPr>
          <p:spPr>
            <a:xfrm>
              <a:off x="4882718" y="1408047"/>
              <a:ext cx="6636181" cy="100214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ts val="600"/>
                </a:spcBef>
                <a:defRPr/>
              </a:pPr>
              <a:r>
                <a:rPr lang="zh-CN" altLang="en-US" sz="2400" dirty="0">
                  <a:solidFill>
                    <a:srgbClr val="0000FF"/>
                  </a:solidFill>
                </a:rPr>
                <a:t>直连式存储</a:t>
              </a:r>
              <a:r>
                <a:rPr lang="en-US" altLang="zh-CN" sz="2400" dirty="0">
                  <a:solidFill>
                    <a:srgbClr val="0000FF"/>
                  </a:solidFill>
                </a:rPr>
                <a:t>DAS</a:t>
              </a:r>
            </a:p>
            <a:p>
              <a:pPr marL="342900" indent="-342900">
                <a:spcBef>
                  <a:spcPts val="600"/>
                </a:spcBef>
                <a:buClr>
                  <a:srgbClr val="0000FF"/>
                </a:buClr>
                <a:buFont typeface="Wingdings" panose="05000000000000000000" pitchFamily="2" charset="2"/>
                <a:buChar char="Ø"/>
                <a:defRPr/>
              </a:pPr>
              <a:r>
                <a:rPr lang="zh-CN" altLang="en-US" sz="2200" dirty="0"/>
                <a:t>通过总线适配器直接将硬盘等存储介质连接到主机上的存储方式，也称为主机连接存储</a:t>
              </a:r>
            </a:p>
            <a:p>
              <a:pPr marL="342900" indent="-342900">
                <a:spcBef>
                  <a:spcPts val="600"/>
                </a:spcBef>
                <a:buClr>
                  <a:srgbClr val="0000FF"/>
                </a:buClr>
                <a:buFont typeface="Wingdings" panose="05000000000000000000" pitchFamily="2" charset="2"/>
                <a:buChar char="Ø"/>
                <a:defRPr/>
              </a:pPr>
              <a:r>
                <a:rPr lang="zh-CN" altLang="en-US" sz="2200" dirty="0"/>
                <a:t>在存储设备和主机之间通常没有任何网络设备的参与</a:t>
              </a:r>
            </a:p>
          </p:txBody>
        </p:sp>
      </p:grpSp>
      <p:grpSp>
        <p:nvGrpSpPr>
          <p:cNvPr id="38" name="išḷîḓé"/>
          <p:cNvGrpSpPr/>
          <p:nvPr/>
        </p:nvGrpSpPr>
        <p:grpSpPr>
          <a:xfrm>
            <a:off x="4396037" y="3073347"/>
            <a:ext cx="7536922" cy="2022436"/>
            <a:chOff x="4136995" y="3233565"/>
            <a:chExt cx="7536922" cy="2022436"/>
          </a:xfrm>
        </p:grpSpPr>
        <p:sp>
          <p:nvSpPr>
            <p:cNvPr id="39"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0" name="îŝľîḓè"/>
            <p:cNvSpPr txBox="1"/>
            <p:nvPr/>
          </p:nvSpPr>
          <p:spPr>
            <a:xfrm>
              <a:off x="4882719" y="3233565"/>
              <a:ext cx="6791198" cy="202243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网络附加存储</a:t>
              </a:r>
              <a:r>
                <a:rPr lang="en-US" altLang="zh-CN" sz="2400" dirty="0">
                  <a:solidFill>
                    <a:srgbClr val="0000FF"/>
                  </a:solidFill>
                </a:rPr>
                <a:t>NAS</a:t>
              </a:r>
            </a:p>
            <a:p>
              <a:pPr marL="342900" indent="-342900">
                <a:lnSpc>
                  <a:spcPct val="123000"/>
                </a:lnSpc>
                <a:buClr>
                  <a:srgbClr val="0000FF"/>
                </a:buClr>
                <a:buFont typeface="Wingdings" panose="05000000000000000000" pitchFamily="2" charset="2"/>
                <a:buChar char="Ø"/>
              </a:pPr>
              <a:r>
                <a:rPr lang="zh-CN" altLang="en-US" sz="2200" dirty="0"/>
                <a:t>一种提供文件级别访问接口的网络存储系统架构，通常采用</a:t>
              </a:r>
              <a:r>
                <a:rPr lang="en-US" altLang="zh-CN" sz="2200" dirty="0"/>
                <a:t>NFS</a:t>
              </a:r>
              <a:r>
                <a:rPr lang="zh-CN" altLang="en-US" sz="2200" dirty="0"/>
                <a:t>、</a:t>
              </a:r>
              <a:r>
                <a:rPr lang="en-US" altLang="zh-CN" sz="2200" dirty="0"/>
                <a:t>SMB/CIFS</a:t>
              </a:r>
              <a:r>
                <a:rPr lang="zh-CN" altLang="en-US" sz="2200" dirty="0"/>
                <a:t>等网络文件共享协议进行文件存取</a:t>
              </a:r>
            </a:p>
          </p:txBody>
        </p:sp>
      </p:grpSp>
      <p:grpSp>
        <p:nvGrpSpPr>
          <p:cNvPr id="42" name="ïSlíḍê"/>
          <p:cNvGrpSpPr/>
          <p:nvPr/>
        </p:nvGrpSpPr>
        <p:grpSpPr>
          <a:xfrm>
            <a:off x="4396037" y="4988445"/>
            <a:ext cx="7587195" cy="1311067"/>
            <a:chOff x="4136995" y="5078274"/>
            <a:chExt cx="7587195" cy="1311067"/>
          </a:xfrm>
        </p:grpSpPr>
        <p:sp>
          <p:nvSpPr>
            <p:cNvPr id="4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45" name="íṧļîḋê"/>
            <p:cNvSpPr txBox="1"/>
            <p:nvPr/>
          </p:nvSpPr>
          <p:spPr>
            <a:xfrm>
              <a:off x="4832445" y="5078274"/>
              <a:ext cx="6891745"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ts val="600"/>
                </a:spcBef>
                <a:defRPr/>
              </a:pPr>
              <a:r>
                <a:rPr lang="zh-CN" altLang="en-US" sz="2400" dirty="0">
                  <a:solidFill>
                    <a:srgbClr val="0000FF"/>
                  </a:solidFill>
                </a:rPr>
                <a:t>存储区域网络</a:t>
              </a:r>
              <a:r>
                <a:rPr lang="en-US" altLang="zh-CN" sz="2400" dirty="0">
                  <a:solidFill>
                    <a:srgbClr val="0000FF"/>
                  </a:solidFill>
                </a:rPr>
                <a:t>SAN</a:t>
              </a:r>
            </a:p>
            <a:p>
              <a:pPr marL="342900" indent="-342900">
                <a:spcBef>
                  <a:spcPts val="600"/>
                </a:spcBef>
                <a:buClr>
                  <a:srgbClr val="0000FF"/>
                </a:buClr>
                <a:buFont typeface="Wingdings" panose="05000000000000000000" pitchFamily="2" charset="2"/>
                <a:buChar char="Ø"/>
                <a:defRPr/>
              </a:pPr>
              <a:r>
                <a:rPr lang="zh-CN" altLang="en-US" sz="2200" dirty="0"/>
                <a:t>一种通过光纤交换机等高速网络设备在服务器和磁盘阵列等存储设备间搭设专门的存储网络</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8.6.2 </a:t>
            </a:r>
            <a:r>
              <a:rPr lang="zh-CN" altLang="en-US" sz="2800" b="1" dirty="0">
                <a:solidFill>
                  <a:schemeClr val="bg1"/>
                </a:solidFill>
              </a:rPr>
              <a:t>新型存储系统（</a:t>
            </a:r>
            <a:r>
              <a:rPr lang="zh-CN" altLang="en-US" sz="2800" b="1" dirty="0">
                <a:solidFill>
                  <a:srgbClr val="FF0000"/>
                </a:solidFill>
              </a:rPr>
              <a:t>扩展</a:t>
            </a:r>
            <a:r>
              <a:rPr lang="zh-CN" altLang="en-US" sz="2800" b="1" dirty="0">
                <a:solidFill>
                  <a:schemeClr val="bg1"/>
                </a:solidFill>
              </a:rPr>
              <a:t>）</a:t>
            </a:r>
          </a:p>
        </p:txBody>
      </p:sp>
      <p:sp>
        <p:nvSpPr>
          <p:cNvPr id="6" name="íSľïdé"/>
          <p:cNvSpPr/>
          <p:nvPr/>
        </p:nvSpPr>
        <p:spPr>
          <a:xfrm>
            <a:off x="983648" y="126788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983648" y="3872885"/>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9" name="内容占位符 2"/>
          <p:cNvSpPr txBox="1"/>
          <p:nvPr/>
        </p:nvSpPr>
        <p:spPr>
          <a:xfrm>
            <a:off x="1711447" y="1267883"/>
            <a:ext cx="4636087" cy="13954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zh-CN" altLang="en-US" sz="2400" dirty="0">
                <a:solidFill>
                  <a:srgbClr val="FF0000"/>
                </a:solidFill>
                <a:latin typeface="+mn-ea"/>
                <a:cs typeface="黑体" panose="02010609060101010101" charset="-122"/>
              </a:rPr>
              <a:t>分布式存储系统</a:t>
            </a:r>
          </a:p>
          <a:p>
            <a:pPr marL="34290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a:solidFill>
                  <a:schemeClr val="tx1">
                    <a:lumMod val="65000"/>
                    <a:lumOff val="35000"/>
                  </a:schemeClr>
                </a:solidFill>
              </a:rPr>
              <a:t>C/S</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client/server</a:t>
            </a:r>
            <a:r>
              <a:rPr lang="zh-CN" altLang="en-US" sz="2400" dirty="0">
                <a:solidFill>
                  <a:schemeClr val="tx1">
                    <a:lumMod val="65000"/>
                    <a:lumOff val="35000"/>
                  </a:schemeClr>
                </a:solidFill>
              </a:rPr>
              <a:t>）架构</a:t>
            </a:r>
          </a:p>
          <a:p>
            <a:pPr marL="34290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a:solidFill>
                  <a:schemeClr val="tx1">
                    <a:lumMod val="65000"/>
                    <a:lumOff val="35000"/>
                  </a:schemeClr>
                </a:solidFill>
              </a:rPr>
              <a:t>P2P</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peer-to-peer</a:t>
            </a:r>
            <a:r>
              <a:rPr lang="zh-CN" altLang="en-US" sz="2400" dirty="0">
                <a:solidFill>
                  <a:schemeClr val="tx1">
                    <a:lumMod val="65000"/>
                    <a:lumOff val="35000"/>
                  </a:schemeClr>
                </a:solidFill>
              </a:rPr>
              <a:t>）架构</a:t>
            </a:r>
          </a:p>
        </p:txBody>
      </p:sp>
      <p:sp>
        <p:nvSpPr>
          <p:cNvPr id="10" name="内容占位符 2"/>
          <p:cNvSpPr txBox="1"/>
          <p:nvPr/>
        </p:nvSpPr>
        <p:spPr>
          <a:xfrm>
            <a:off x="1739457" y="3678931"/>
            <a:ext cx="4356544" cy="169385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rPr>
              <a:t>云存储系统</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t>由第三方运营商提供的在线存储系统</a:t>
            </a:r>
          </a:p>
        </p:txBody>
      </p:sp>
      <p:cxnSp>
        <p:nvCxnSpPr>
          <p:cNvPr id="3" name="直接连接符 2"/>
          <p:cNvCxnSpPr/>
          <p:nvPr/>
        </p:nvCxnSpPr>
        <p:spPr>
          <a:xfrm>
            <a:off x="843378" y="3311371"/>
            <a:ext cx="5504156"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iṥlídè"/>
          <p:cNvSpPr/>
          <p:nvPr/>
        </p:nvSpPr>
        <p:spPr>
          <a:xfrm>
            <a:off x="6958245" y="1128057"/>
            <a:ext cx="5233755" cy="5008286"/>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rPr>
              <a:t>8.6.3 </a:t>
            </a:r>
            <a:r>
              <a:rPr lang="zh-CN" altLang="en-US" sz="2800" b="1" dirty="0">
                <a:solidFill>
                  <a:schemeClr val="bg1"/>
                </a:solidFill>
              </a:rPr>
              <a:t>硬盘新技术（</a:t>
            </a:r>
            <a:r>
              <a:rPr lang="zh-CN" altLang="en-US" sz="2800" b="1" dirty="0">
                <a:solidFill>
                  <a:srgbClr val="FF0000"/>
                </a:solidFill>
              </a:rPr>
              <a:t>扩展</a:t>
            </a:r>
            <a:r>
              <a:rPr lang="zh-CN" altLang="en-US" sz="2800" b="1" dirty="0">
                <a:solidFill>
                  <a:schemeClr val="bg1"/>
                </a:solidFill>
              </a:rPr>
              <a:t>）</a:t>
            </a:r>
          </a:p>
        </p:txBody>
      </p:sp>
      <p:sp>
        <p:nvSpPr>
          <p:cNvPr id="12" name="íSľïdé"/>
          <p:cNvSpPr/>
          <p:nvPr/>
        </p:nvSpPr>
        <p:spPr>
          <a:xfrm>
            <a:off x="1747773" y="161411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13" name="ïŝļíḓê"/>
          <p:cNvSpPr/>
          <p:nvPr/>
        </p:nvSpPr>
        <p:spPr bwMode="auto">
          <a:xfrm>
            <a:off x="8689292" y="224595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14" name="îṧľîdé"/>
          <p:cNvSpPr/>
          <p:nvPr/>
        </p:nvSpPr>
        <p:spPr>
          <a:xfrm>
            <a:off x="3703687" y="1454831"/>
            <a:ext cx="4034934" cy="1155204"/>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15" name="内容占位符 2"/>
          <p:cNvSpPr txBox="1"/>
          <p:nvPr/>
        </p:nvSpPr>
        <p:spPr>
          <a:xfrm>
            <a:off x="735549" y="2245959"/>
            <a:ext cx="4034934" cy="37464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机械磁盘（</a:t>
            </a:r>
            <a:r>
              <a:rPr lang="en-US" altLang="zh-CN" sz="2400" dirty="0"/>
              <a:t>HDD</a:t>
            </a:r>
            <a:r>
              <a:rPr lang="zh-CN" altLang="en-US" sz="2400" dirty="0"/>
              <a:t>）技术革新：</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传统磁记录（</a:t>
            </a:r>
            <a:r>
              <a:rPr lang="en-US" altLang="zh-CN" sz="2400" dirty="0">
                <a:solidFill>
                  <a:schemeClr val="tx1">
                    <a:lumMod val="65000"/>
                    <a:lumOff val="35000"/>
                  </a:schemeClr>
                </a:solidFill>
              </a:rPr>
              <a:t>CMR</a:t>
            </a:r>
            <a:r>
              <a:rPr lang="zh-CN" altLang="en-US" sz="2400" dirty="0">
                <a:solidFill>
                  <a:schemeClr val="tx1">
                    <a:lumMod val="65000"/>
                    <a:lumOff val="35000"/>
                  </a:schemeClr>
                </a:solidFill>
              </a:rPr>
              <a:t>）技术；</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叠瓦式（</a:t>
            </a:r>
            <a:r>
              <a:rPr lang="en-US" altLang="zh-CN" sz="2400" dirty="0">
                <a:solidFill>
                  <a:schemeClr val="tx1">
                    <a:lumMod val="65000"/>
                    <a:lumOff val="35000"/>
                  </a:schemeClr>
                </a:solidFill>
              </a:rPr>
              <a:t>CMR</a:t>
            </a:r>
            <a:r>
              <a:rPr lang="zh-CN" altLang="en-US" sz="2400" dirty="0">
                <a:solidFill>
                  <a:schemeClr val="tx1">
                    <a:lumMod val="65000"/>
                    <a:lumOff val="35000"/>
                  </a:schemeClr>
                </a:solidFill>
              </a:rPr>
              <a:t>）技术；</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热辅助磁记录（</a:t>
            </a:r>
            <a:r>
              <a:rPr lang="en-US" altLang="zh-CN" sz="2400" dirty="0">
                <a:solidFill>
                  <a:schemeClr val="tx1">
                    <a:lumMod val="65000"/>
                    <a:lumOff val="35000"/>
                  </a:schemeClr>
                </a:solidFill>
              </a:rPr>
              <a:t>HAMR</a:t>
            </a:r>
            <a:r>
              <a:rPr lang="zh-CN" altLang="en-US" sz="2400" dirty="0">
                <a:solidFill>
                  <a:schemeClr val="tx1">
                    <a:lumMod val="65000"/>
                    <a:lumOff val="35000"/>
                  </a:schemeClr>
                </a:solidFill>
              </a:rPr>
              <a:t>）技术；</a:t>
            </a: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双磁头驱动臂技术（</a:t>
            </a:r>
            <a:r>
              <a:rPr lang="en-US" altLang="zh-CN" sz="2400" dirty="0">
                <a:solidFill>
                  <a:schemeClr val="tx1">
                    <a:lumMod val="65000"/>
                    <a:lumOff val="35000"/>
                  </a:schemeClr>
                </a:solidFill>
              </a:rPr>
              <a:t>Mach.2</a:t>
            </a:r>
            <a:r>
              <a:rPr lang="zh-CN" altLang="en-US" sz="2400" dirty="0">
                <a:solidFill>
                  <a:schemeClr val="tx1">
                    <a:lumMod val="65000"/>
                    <a:lumOff val="35000"/>
                  </a:schemeClr>
                </a:solidFill>
              </a:rPr>
              <a:t>）。</a:t>
            </a:r>
          </a:p>
        </p:txBody>
      </p:sp>
      <p:sp>
        <p:nvSpPr>
          <p:cNvPr id="16" name="内容占位符 2"/>
          <p:cNvSpPr txBox="1"/>
          <p:nvPr/>
        </p:nvSpPr>
        <p:spPr>
          <a:xfrm>
            <a:off x="7696200" y="2924327"/>
            <a:ext cx="4062082"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rPr>
              <a:t>固态硬盘（</a:t>
            </a:r>
            <a:r>
              <a:rPr lang="en-US" altLang="zh-CN" sz="2400" dirty="0">
                <a:solidFill>
                  <a:srgbClr val="0000FF"/>
                </a:solidFill>
              </a:rPr>
              <a:t>SSD</a:t>
            </a:r>
            <a:r>
              <a:rPr lang="zh-CN" altLang="en-US" sz="2400" dirty="0">
                <a:solidFill>
                  <a:srgbClr val="0000FF"/>
                </a:solidFill>
              </a:rPr>
              <a:t>）</a:t>
            </a:r>
            <a:r>
              <a:rPr lang="zh-CN" altLang="en-US" sz="2400" dirty="0"/>
              <a:t>：用固态电子存储芯片阵列所制成的硬盘。</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基于闪存</a:t>
            </a:r>
            <a:r>
              <a:rPr lang="zh-CN" altLang="en-US" sz="2400" dirty="0">
                <a:solidFill>
                  <a:schemeClr val="tx1">
                    <a:lumMod val="65000"/>
                    <a:lumOff val="35000"/>
                  </a:schemeClr>
                </a:solidFill>
              </a:rPr>
              <a:t>的固态硬盘；</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基于</a:t>
            </a:r>
            <a:r>
              <a:rPr lang="en-US" altLang="zh-CN" sz="2400" dirty="0">
                <a:solidFill>
                  <a:srgbClr val="0000FF"/>
                </a:solidFill>
              </a:rPr>
              <a:t>DRAM</a:t>
            </a:r>
            <a:r>
              <a:rPr lang="zh-CN" altLang="en-US" sz="2400" dirty="0">
                <a:solidFill>
                  <a:schemeClr val="tx1">
                    <a:lumMod val="65000"/>
                    <a:lumOff val="35000"/>
                  </a:schemeClr>
                </a:solidFill>
              </a:rPr>
              <a:t>的固态硬盘；</a:t>
            </a: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基于</a:t>
            </a:r>
            <a:r>
              <a:rPr lang="en-US" altLang="zh-CN" sz="2400" dirty="0" err="1">
                <a:solidFill>
                  <a:srgbClr val="0000FF"/>
                </a:solidFill>
              </a:rPr>
              <a:t>Xpoint</a:t>
            </a:r>
            <a:r>
              <a:rPr lang="zh-CN" altLang="en-US" sz="2400" dirty="0">
                <a:solidFill>
                  <a:schemeClr val="tx1">
                    <a:lumMod val="65000"/>
                    <a:lumOff val="35000"/>
                  </a:schemeClr>
                </a:solidFill>
              </a:rPr>
              <a:t>类的固态磁盘。</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9章 知识导图"/>
          <p:cNvPicPr>
            <a:picLocks noChangeAspect="1"/>
          </p:cNvPicPr>
          <p:nvPr/>
        </p:nvPicPr>
        <p:blipFill>
          <a:blip r:embed="rId3"/>
          <a:srcRect b="1580"/>
          <a:stretch>
            <a:fillRect/>
          </a:stretch>
        </p:blipFill>
        <p:spPr>
          <a:xfrm>
            <a:off x="4769485" y="828675"/>
            <a:ext cx="6333490" cy="5973445"/>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sp>
        <p:nvSpPr>
          <p:cNvPr id="11" name="前凸带形 3"/>
          <p:cNvSpPr/>
          <p:nvPr/>
        </p:nvSpPr>
        <p:spPr>
          <a:xfrm>
            <a:off x="10178415" y="6330315"/>
            <a:ext cx="1756410" cy="337185"/>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mn-ea"/>
              </a:rPr>
              <a:t>本章学习结束</a:t>
            </a:r>
          </a:p>
        </p:txBody>
      </p:sp>
      <p:sp>
        <p:nvSpPr>
          <p:cNvPr id="12" name="矩形 11"/>
          <p:cNvSpPr/>
          <p:nvPr/>
        </p:nvSpPr>
        <p:spPr>
          <a:xfrm>
            <a:off x="771525" y="257830"/>
            <a:ext cx="4334841" cy="523220"/>
          </a:xfrm>
          <a:prstGeom prst="rect">
            <a:avLst/>
          </a:prstGeom>
        </p:spPr>
        <p:txBody>
          <a:bodyPr wrap="none">
            <a:spAutoFit/>
          </a:bodyPr>
          <a:lstStyle/>
          <a:p>
            <a:r>
              <a:rPr lang="zh-CN" altLang="en-US" sz="2800" b="1" dirty="0">
                <a:solidFill>
                  <a:schemeClr val="bg1"/>
                </a:solidFill>
              </a:rPr>
              <a:t>学而时习之（第</a:t>
            </a:r>
            <a:r>
              <a:rPr lang="en-US" altLang="zh-CN" sz="2800" b="1" dirty="0">
                <a:solidFill>
                  <a:schemeClr val="bg1"/>
                </a:solidFill>
              </a:rPr>
              <a:t>8</a:t>
            </a:r>
            <a:r>
              <a:rPr lang="zh-CN" altLang="en-US" sz="2800" b="1" dirty="0">
                <a:solidFill>
                  <a:schemeClr val="bg1"/>
                </a:solidFill>
              </a:rPr>
              <a:t>章总结）</a:t>
            </a:r>
          </a:p>
        </p:txBody>
      </p:sp>
      <p:graphicFrame>
        <p:nvGraphicFramePr>
          <p:cNvPr id="3" name="表格 2">
            <a:extLst>
              <a:ext uri="{FF2B5EF4-FFF2-40B4-BE49-F238E27FC236}">
                <a16:creationId xmlns:a16="http://schemas.microsoft.com/office/drawing/2014/main" id="{83582A2B-F889-AD9F-4E40-D1675ED539D5}"/>
              </a:ext>
            </a:extLst>
          </p:cNvPr>
          <p:cNvGraphicFramePr/>
          <p:nvPr>
            <p:custDataLst>
              <p:tags r:id="rId1"/>
            </p:custDataLst>
            <p:extLst>
              <p:ext uri="{D42A27DB-BD31-4B8C-83A1-F6EECF244321}">
                <p14:modId xmlns:p14="http://schemas.microsoft.com/office/powerpoint/2010/main" val="399559942"/>
              </p:ext>
            </p:ext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extLst>
                    <a:ext uri="{9D8B030D-6E8A-4147-A177-3AD203B41FA5}">
                      <a16:colId xmlns:a16="http://schemas.microsoft.com/office/drawing/2014/main" val="20000"/>
                    </a:ext>
                  </a:extLst>
                </a:gridCol>
                <a:gridCol w="2952924">
                  <a:extLst>
                    <a:ext uri="{9D8B030D-6E8A-4147-A177-3AD203B41FA5}">
                      <a16:colId xmlns:a16="http://schemas.microsoft.com/office/drawing/2014/main" val="20001"/>
                    </a:ext>
                  </a:extLst>
                </a:gridCol>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微软雅黑 (正文)"/>
                        </a:rPr>
                        <a:t>第1章</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微软雅黑 (正文)"/>
                        </a:rPr>
                        <a:t>操作系统引论</a:t>
                      </a:r>
                      <a:endParaRPr lang="en-US" altLang="en-US" sz="2000" b="0" dirty="0">
                        <a:solidFill>
                          <a:schemeClr val="tx1"/>
                        </a:solidFill>
                        <a:latin typeface="微软雅黑 (正文)"/>
                        <a:ea typeface="华文楷体" panose="02010600040101010101" charset="-122"/>
                        <a:cs typeface="华文楷体" panose="02010600040101010101" charset="-122"/>
                      </a:endParaRPr>
                    </a:p>
                  </a:txBody>
                  <a:tcPr marL="98738" marR="98738" marT="0" marB="0" anchor="ctr">
                    <a:noFill/>
                  </a:tcPr>
                </a:tc>
                <a:extLst>
                  <a:ext uri="{0D108BD9-81ED-4DB2-BD59-A6C34878D82A}">
                    <a16:rowId xmlns:a16="http://schemas.microsoft.com/office/drawing/2014/main" val="10000"/>
                  </a:ext>
                </a:extLst>
              </a:tr>
              <a:tr h="399121">
                <a:tc>
                  <a:txBody>
                    <a:bodyPr/>
                    <a:lstStyle/>
                    <a:p>
                      <a:pPr marL="71755" indent="0" algn="ctr">
                        <a:lnSpc>
                          <a:spcPct val="100000"/>
                        </a:lnSpc>
                        <a:spcBef>
                          <a:spcPts val="300"/>
                        </a:spcBef>
                        <a:spcAft>
                          <a:spcPts val="300"/>
                        </a:spcAft>
                        <a:buNone/>
                      </a:pPr>
                      <a:r>
                        <a:rPr lang="en-US" sz="2000">
                          <a:latin typeface="微软雅黑 (正文)"/>
                        </a:rPr>
                        <a:t>第2章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进程的描述与控制</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1"/>
                  </a:ext>
                </a:extLst>
              </a:tr>
              <a:tr h="399121">
                <a:tc>
                  <a:txBody>
                    <a:bodyPr/>
                    <a:lstStyle/>
                    <a:p>
                      <a:pPr marL="71755" indent="0" algn="ctr">
                        <a:lnSpc>
                          <a:spcPct val="100000"/>
                        </a:lnSpc>
                        <a:spcBef>
                          <a:spcPts val="300"/>
                        </a:spcBef>
                        <a:spcAft>
                          <a:spcPts val="300"/>
                        </a:spcAft>
                        <a:buNone/>
                      </a:pPr>
                      <a:r>
                        <a:rPr lang="en-US" sz="2000" dirty="0">
                          <a:latin typeface="微软雅黑 (正文)"/>
                        </a:rPr>
                        <a:t>第3章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微软雅黑 (正文)"/>
                        </a:rPr>
                        <a:t>处理机调度与死锁</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2"/>
                  </a:ext>
                </a:extLst>
              </a:tr>
              <a:tr h="399121">
                <a:tc>
                  <a:txBody>
                    <a:bodyPr/>
                    <a:lstStyle/>
                    <a:p>
                      <a:pPr marL="71755" indent="0" algn="ctr">
                        <a:lnSpc>
                          <a:spcPct val="100000"/>
                        </a:lnSpc>
                        <a:spcBef>
                          <a:spcPts val="300"/>
                        </a:spcBef>
                        <a:spcAft>
                          <a:spcPts val="300"/>
                        </a:spcAft>
                        <a:buNone/>
                      </a:pPr>
                      <a:r>
                        <a:rPr lang="en-US" sz="2000" dirty="0">
                          <a:latin typeface="微软雅黑 (正文)"/>
                        </a:rPr>
                        <a:t>第4章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存储器管理</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3"/>
                  </a:ext>
                </a:extLst>
              </a:tr>
              <a:tr h="399121">
                <a:tc>
                  <a:txBody>
                    <a:bodyPr/>
                    <a:lstStyle/>
                    <a:p>
                      <a:pPr marL="71755" indent="0" algn="ctr">
                        <a:lnSpc>
                          <a:spcPct val="100000"/>
                        </a:lnSpc>
                        <a:spcBef>
                          <a:spcPts val="300"/>
                        </a:spcBef>
                        <a:spcAft>
                          <a:spcPts val="300"/>
                        </a:spcAft>
                        <a:buNone/>
                      </a:pPr>
                      <a:r>
                        <a:rPr lang="en-US" sz="2000">
                          <a:latin typeface="微软雅黑 (正文)"/>
                        </a:rPr>
                        <a:t>第5章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虚拟存储器</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4"/>
                  </a:ext>
                </a:extLst>
              </a:tr>
              <a:tr h="399121">
                <a:tc>
                  <a:txBody>
                    <a:bodyPr/>
                    <a:lstStyle/>
                    <a:p>
                      <a:pPr marL="71755" indent="0" algn="ctr">
                        <a:lnSpc>
                          <a:spcPct val="100000"/>
                        </a:lnSpc>
                        <a:spcBef>
                          <a:spcPts val="300"/>
                        </a:spcBef>
                        <a:spcAft>
                          <a:spcPts val="300"/>
                        </a:spcAft>
                        <a:buNone/>
                      </a:pPr>
                      <a:r>
                        <a:rPr lang="en-US" sz="2000" dirty="0">
                          <a:latin typeface="微软雅黑 (正文)"/>
                        </a:rPr>
                        <a:t>第6章</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altLang="zh-CN" sz="2000" dirty="0" err="1">
                          <a:latin typeface="微软雅黑 (正文)"/>
                        </a:rPr>
                        <a:t>输入输出系统</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5"/>
                  </a:ext>
                </a:extLst>
              </a:tr>
              <a:tr h="399121">
                <a:tc>
                  <a:txBody>
                    <a:bodyPr/>
                    <a:lstStyle/>
                    <a:p>
                      <a:pPr marL="71755" indent="0" algn="l" defTabSz="914400" rtl="0" eaLnBrk="1" latinLnBrk="0" hangingPunct="1">
                        <a:lnSpc>
                          <a:spcPct val="100000"/>
                        </a:lnSpc>
                        <a:spcBef>
                          <a:spcPts val="300"/>
                        </a:spcBef>
                        <a:spcAft>
                          <a:spcPts val="300"/>
                        </a:spcAft>
                        <a:buNone/>
                      </a:pPr>
                      <a:r>
                        <a:rPr lang="en-US" sz="2000" kern="1200" dirty="0">
                          <a:solidFill>
                            <a:schemeClr val="tx1"/>
                          </a:solidFill>
                          <a:latin typeface="微软雅黑 (正文)"/>
                          <a:ea typeface="+mn-ea"/>
                          <a:cs typeface="+mn-cs"/>
                        </a:rPr>
                        <a:t>  第7章</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tc>
                  <a:txBody>
                    <a:bodyPr/>
                    <a:lstStyle/>
                    <a:p>
                      <a:pPr marL="71755" indent="0" algn="l" defTabSz="914400" rtl="0" eaLnBrk="1" latinLnBrk="0" hangingPunct="1">
                        <a:lnSpc>
                          <a:spcPct val="100000"/>
                        </a:lnSpc>
                        <a:spcBef>
                          <a:spcPts val="300"/>
                        </a:spcBef>
                        <a:spcAft>
                          <a:spcPts val="300"/>
                        </a:spcAft>
                        <a:buNone/>
                      </a:pPr>
                      <a:r>
                        <a:rPr lang="zh-CN" altLang="en-US" sz="2000" kern="1200" dirty="0">
                          <a:solidFill>
                            <a:schemeClr val="tx1"/>
                          </a:solidFill>
                          <a:latin typeface="微软雅黑 (正文)"/>
                          <a:ea typeface="+mn-ea"/>
                          <a:cs typeface="+mn-cs"/>
                        </a:rPr>
                        <a:t>文件管理</a:t>
                      </a:r>
                      <a:endParaRPr lang="en-US" altLang="en-US" sz="2000" kern="1200" dirty="0">
                        <a:solidFill>
                          <a:schemeClr val="tx1"/>
                        </a:solidFill>
                        <a:latin typeface="微软雅黑 (正文)"/>
                        <a:ea typeface="+mn-ea"/>
                        <a:cs typeface="+mn-cs"/>
                      </a:endParaRPr>
                    </a:p>
                  </a:txBody>
                  <a:tcPr marL="98738" marR="98738" marT="0" marB="0" anchor="ctr">
                    <a:solidFill>
                      <a:schemeClr val="bg1"/>
                    </a:solidFill>
                  </a:tcPr>
                </a:tc>
                <a:extLst>
                  <a:ext uri="{0D108BD9-81ED-4DB2-BD59-A6C34878D82A}">
                    <a16:rowId xmlns:a16="http://schemas.microsoft.com/office/drawing/2014/main" val="10006"/>
                  </a:ext>
                </a:extLst>
              </a:tr>
              <a:tr h="399121">
                <a:tc>
                  <a:txBody>
                    <a:bodyPr/>
                    <a:lstStyle/>
                    <a:p>
                      <a:pPr marL="71755" indent="0" algn="ctr">
                        <a:lnSpc>
                          <a:spcPct val="100000"/>
                        </a:lnSpc>
                        <a:spcBef>
                          <a:spcPts val="300"/>
                        </a:spcBef>
                        <a:spcAft>
                          <a:spcPts val="300"/>
                        </a:spcAft>
                        <a:buNone/>
                      </a:pPr>
                      <a:r>
                        <a:rPr lang="en-US" sz="2000" b="1" kern="1200" dirty="0">
                          <a:solidFill>
                            <a:schemeClr val="bg1"/>
                          </a:solidFill>
                          <a:latin typeface="微软雅黑 (正文)"/>
                          <a:ea typeface="+mn-ea"/>
                          <a:cs typeface="+mn-cs"/>
                        </a:rPr>
                        <a:t>第8章</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altLang="zh-CN" sz="2000" b="1" kern="1200" dirty="0" err="1">
                          <a:solidFill>
                            <a:schemeClr val="bg1"/>
                          </a:solidFill>
                          <a:latin typeface="微软雅黑 (正文)"/>
                          <a:ea typeface="+mn-ea"/>
                          <a:cs typeface="+mn-cs"/>
                        </a:rPr>
                        <a:t>磁盘存储器管理</a:t>
                      </a:r>
                      <a:endParaRPr lang="en-US" altLang="en-US" sz="2000" b="1" kern="1200" dirty="0">
                        <a:solidFill>
                          <a:schemeClr val="bg1"/>
                        </a:solidFill>
                        <a:latin typeface="微软雅黑 (正文)"/>
                        <a:ea typeface="+mn-ea"/>
                        <a:cs typeface="+mn-cs"/>
                      </a:endParaRPr>
                    </a:p>
                  </a:txBody>
                  <a:tcPr marL="98738" marR="98738" marT="0" marB="0" anchor="ctr">
                    <a:solidFill>
                      <a:schemeClr val="accent2"/>
                    </a:solidFill>
                  </a:tcPr>
                </a:tc>
                <a:extLst>
                  <a:ext uri="{0D108BD9-81ED-4DB2-BD59-A6C34878D82A}">
                    <a16:rowId xmlns:a16="http://schemas.microsoft.com/office/drawing/2014/main" val="10007"/>
                  </a:ext>
                </a:extLst>
              </a:tr>
              <a:tr h="399121">
                <a:tc>
                  <a:txBody>
                    <a:bodyPr/>
                    <a:lstStyle/>
                    <a:p>
                      <a:pPr marL="71755" indent="0" algn="ctr">
                        <a:lnSpc>
                          <a:spcPct val="100000"/>
                        </a:lnSpc>
                        <a:spcBef>
                          <a:spcPts val="300"/>
                        </a:spcBef>
                        <a:spcAft>
                          <a:spcPts val="300"/>
                        </a:spcAft>
                        <a:buNone/>
                      </a:pPr>
                      <a:r>
                        <a:rPr lang="en-US" sz="2000">
                          <a:latin typeface="微软雅黑 (正文)"/>
                        </a:rPr>
                        <a:t>第9章</a:t>
                      </a:r>
                      <a:endParaRPr lang="en-US" altLang="en-US" sz="2000" b="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zh-CN" altLang="en-US" sz="2000" dirty="0">
                          <a:latin typeface="微软雅黑 (正文)"/>
                        </a:rPr>
                        <a:t>操作系统接口</a:t>
                      </a:r>
                      <a:endParaRPr lang="en-US" altLang="en-US" sz="2000" b="0" dirty="0">
                        <a:solidFill>
                          <a:srgbClr val="000000"/>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8"/>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第10章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多处理机操作系统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09"/>
                  </a:ext>
                </a:extLst>
              </a:tr>
              <a:tr h="399121">
                <a:tc>
                  <a:txBody>
                    <a:bodyPr/>
                    <a:lstStyle/>
                    <a:p>
                      <a:pPr marL="71755" indent="0" algn="ctr">
                        <a:lnSpc>
                          <a:spcPct val="100000"/>
                        </a:lnSpc>
                        <a:spcBef>
                          <a:spcPts val="300"/>
                        </a:spcBef>
                        <a:spcAft>
                          <a:spcPts val="300"/>
                        </a:spcAft>
                        <a:buNone/>
                      </a:pPr>
                      <a:r>
                        <a:rPr lang="en-US" sz="2000" dirty="0">
                          <a:solidFill>
                            <a:schemeClr val="bg1">
                              <a:lumMod val="75000"/>
                            </a:schemeClr>
                          </a:solidFill>
                          <a:latin typeface="微软雅黑 (正文)"/>
                        </a:rPr>
                        <a:t>第11章</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zh-CN" altLang="en-US" sz="2000" dirty="0">
                          <a:solidFill>
                            <a:schemeClr val="bg1">
                              <a:lumMod val="75000"/>
                            </a:schemeClr>
                          </a:solidFill>
                          <a:latin typeface="微软雅黑 (正文)"/>
                        </a:rPr>
                        <a:t>多媒体操作系统</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0"/>
                  </a:ext>
                </a:extLst>
              </a:tr>
              <a:tr h="399121">
                <a:tc>
                  <a:txBody>
                    <a:bodyPr/>
                    <a:lstStyle/>
                    <a:p>
                      <a:pPr marL="71755" indent="0" algn="ctr">
                        <a:lnSpc>
                          <a:spcPct val="100000"/>
                        </a:lnSpc>
                        <a:spcBef>
                          <a:spcPts val="300"/>
                        </a:spcBef>
                        <a:spcAft>
                          <a:spcPts val="300"/>
                        </a:spcAft>
                        <a:buNone/>
                      </a:pPr>
                      <a:r>
                        <a:rPr lang="en-US" sz="2000">
                          <a:solidFill>
                            <a:schemeClr val="bg1">
                              <a:lumMod val="75000"/>
                            </a:schemeClr>
                          </a:solidFill>
                          <a:latin typeface="微软雅黑 (正文)"/>
                        </a:rPr>
                        <a:t>第12章</a:t>
                      </a:r>
                      <a:endParaRPr lang="en-US" altLang="en-US" sz="2000" b="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solidFill>
                            <a:schemeClr val="bg1">
                              <a:lumMod val="75000"/>
                            </a:schemeClr>
                          </a:solidFill>
                          <a:latin typeface="微软雅黑 (正文)"/>
                        </a:rPr>
                        <a:t>保护和安全</a:t>
                      </a:r>
                      <a:endParaRPr lang="en-US" altLang="en-US" sz="2000" b="0" dirty="0">
                        <a:solidFill>
                          <a:schemeClr val="bg1">
                            <a:lumMod val="75000"/>
                          </a:schemeClr>
                        </a:solidFill>
                        <a:latin typeface="微软雅黑 (正文)"/>
                        <a:ea typeface="华文楷体" panose="02010600040101010101" charset="-122"/>
                        <a:cs typeface="华文楷体" panose="02010600040101010101" charset="-122"/>
                      </a:endParaRPr>
                    </a:p>
                  </a:txBody>
                  <a:tcPr marL="98738" marR="98738" marT="0" marB="0" anchor="ctr"/>
                </a:tc>
                <a:extLst>
                  <a:ext uri="{0D108BD9-81ED-4DB2-BD59-A6C34878D82A}">
                    <a16:rowId xmlns:a16="http://schemas.microsoft.com/office/drawing/2014/main" val="10011"/>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p>
        </p:txBody>
      </p:sp>
      <p:sp>
        <p:nvSpPr>
          <p:cNvPr id="52" name="内容占位符 3"/>
          <p:cNvSpPr txBox="1"/>
          <p:nvPr/>
        </p:nvSpPr>
        <p:spPr>
          <a:xfrm>
            <a:off x="807869" y="1038422"/>
            <a:ext cx="10528916"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新一轮科技变革之际</a:t>
            </a:r>
          </a:p>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国产</a:t>
            </a:r>
            <a:r>
              <a:rPr lang="en-US" altLang="zh-CN" sz="2400" dirty="0">
                <a:solidFill>
                  <a:srgbClr val="0000FF"/>
                </a:solidFill>
                <a:latin typeface="+mn-ea"/>
                <a:cs typeface="黑体" panose="02010609060101010101" charset="-122"/>
              </a:rPr>
              <a:t>OS</a:t>
            </a:r>
            <a:r>
              <a:rPr lang="zh-CN" altLang="en-US" sz="2400" dirty="0">
                <a:solidFill>
                  <a:srgbClr val="0000FF"/>
                </a:solidFill>
                <a:latin typeface="+mn-ea"/>
                <a:cs typeface="黑体" panose="02010609060101010101" charset="-122"/>
              </a:rPr>
              <a:t>如何依托工业互联网实现“换道超车”？</a:t>
            </a:r>
          </a:p>
          <a:p>
            <a:pPr marL="0" indent="457200" algn="just">
              <a:lnSpc>
                <a:spcPct val="125000"/>
              </a:lnSpc>
              <a:spcBef>
                <a:spcPts val="300"/>
              </a:spcBef>
              <a:spcAft>
                <a:spcPts val="300"/>
              </a:spcAft>
              <a:buFont typeface="Arial" panose="020B0604020202020204" pitchFamily="34" charset="0"/>
              <a:buNone/>
            </a:pPr>
            <a:r>
              <a:rPr lang="en-US" altLang="zh-CN" sz="2400" dirty="0">
                <a:latin typeface="+mn-ea"/>
                <a:cs typeface="Times New Roman" panose="02020603050405020304" charset="0"/>
              </a:rPr>
              <a:t>2019</a:t>
            </a:r>
            <a:r>
              <a:rPr lang="zh-CN" altLang="en-US" sz="2400" dirty="0">
                <a:latin typeface="+mn-ea"/>
                <a:cs typeface="Times New Roman" panose="02020603050405020304" charset="0"/>
              </a:rPr>
              <a:t>年，国际政治关系的变化导致华为技术有限公司（以下简称华为）面临紧迫的</a:t>
            </a:r>
            <a:r>
              <a:rPr lang="en-US" altLang="zh-CN" sz="2400" dirty="0">
                <a:latin typeface="+mn-ea"/>
                <a:cs typeface="Times New Roman" panose="02020603050405020304" charset="0"/>
              </a:rPr>
              <a:t>Android</a:t>
            </a:r>
            <a:r>
              <a:rPr lang="zh-CN" altLang="en-US" sz="2400" dirty="0">
                <a:latin typeface="+mn-ea"/>
                <a:cs typeface="Times New Roman" panose="02020603050405020304" charset="0"/>
              </a:rPr>
              <a:t>（安卓）系统停供风险。在此背景下，华为毅然推出自主研发的操作系统</a:t>
            </a:r>
            <a:r>
              <a:rPr lang="en-US" altLang="zh-CN" sz="2400" dirty="0">
                <a:latin typeface="+mn-ea"/>
                <a:cs typeface="Times New Roman" panose="02020603050405020304" charset="0"/>
              </a:rPr>
              <a:t>——</a:t>
            </a:r>
            <a:r>
              <a:rPr lang="zh-CN" altLang="en-US" sz="2400" dirty="0">
                <a:latin typeface="+mn-ea"/>
                <a:cs typeface="Times New Roman" panose="02020603050405020304" charset="0"/>
              </a:rPr>
              <a:t>鸿蒙系统（</a:t>
            </a:r>
            <a:r>
              <a:rPr lang="en-US" altLang="zh-CN" sz="2400" dirty="0" err="1">
                <a:latin typeface="+mn-ea"/>
                <a:cs typeface="Times New Roman" panose="02020603050405020304" charset="0"/>
              </a:rPr>
              <a:t>HarmonyOS</a:t>
            </a:r>
            <a:r>
              <a:rPr lang="zh-CN" altLang="en-US" sz="2400" dirty="0">
                <a:latin typeface="+mn-ea"/>
                <a:cs typeface="Times New Roman" panose="02020603050405020304" charset="0"/>
              </a:rPr>
              <a:t>），以尽量减少</a:t>
            </a:r>
            <a:r>
              <a:rPr lang="en-US" altLang="zh-CN" sz="2400" dirty="0">
                <a:latin typeface="+mn-ea"/>
                <a:cs typeface="Times New Roman" panose="02020603050405020304" charset="0"/>
              </a:rPr>
              <a:t>Android</a:t>
            </a:r>
            <a:r>
              <a:rPr lang="zh-CN" altLang="en-US" sz="2400" dirty="0">
                <a:latin typeface="+mn-ea"/>
                <a:cs typeface="Times New Roman" panose="02020603050405020304" charset="0"/>
              </a:rPr>
              <a:t>系统停供所造成的损失。鸿蒙系统一经问世便引发产业界高度关注，这充分反映出大家对优秀国产操作系统的期盼。</a:t>
            </a: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charset="0"/>
              </a:rPr>
              <a:t>近年来，我国软件产业的规模和效益同步提升，企业实力和创新能力显著增强。工业和信息化部数据显示，</a:t>
            </a:r>
            <a:r>
              <a:rPr lang="en-US" altLang="zh-CN" sz="2400" dirty="0">
                <a:latin typeface="+mn-ea"/>
                <a:cs typeface="Times New Roman" panose="02020603050405020304" charset="0"/>
              </a:rPr>
              <a:t>2018</a:t>
            </a:r>
            <a:r>
              <a:rPr lang="zh-CN" altLang="en-US" sz="2400" dirty="0">
                <a:latin typeface="+mn-ea"/>
                <a:cs typeface="Times New Roman" panose="02020603050405020304" charset="0"/>
              </a:rPr>
              <a:t>年，软件著作权登记量突破</a:t>
            </a:r>
            <a:r>
              <a:rPr lang="en-US" altLang="zh-CN" sz="2400" dirty="0">
                <a:latin typeface="+mn-ea"/>
                <a:cs typeface="Times New Roman" panose="02020603050405020304" charset="0"/>
              </a:rPr>
              <a:t>110</a:t>
            </a:r>
            <a:r>
              <a:rPr lang="zh-CN" altLang="en-US" sz="2400" dirty="0">
                <a:latin typeface="+mn-ea"/>
                <a:cs typeface="Times New Roman" panose="02020603050405020304" charset="0"/>
              </a:rPr>
              <a:t>万件，同比增长</a:t>
            </a:r>
            <a:r>
              <a:rPr lang="en-US" altLang="zh-CN" sz="2400" dirty="0">
                <a:latin typeface="+mn-ea"/>
                <a:cs typeface="Times New Roman" panose="02020603050405020304" charset="0"/>
              </a:rPr>
              <a:t>48%</a:t>
            </a:r>
            <a:r>
              <a:rPr lang="zh-CN" altLang="en-US" sz="2400" dirty="0">
                <a:latin typeface="+mn-ea"/>
                <a:cs typeface="Times New Roman" panose="02020603050405020304" charset="0"/>
              </a:rPr>
              <a:t>；</a:t>
            </a:r>
            <a:r>
              <a:rPr lang="en-US" altLang="zh-CN" sz="2400" dirty="0">
                <a:latin typeface="+mn-ea"/>
                <a:cs typeface="Times New Roman" panose="02020603050405020304" charset="0"/>
              </a:rPr>
              <a:t>2019</a:t>
            </a:r>
            <a:r>
              <a:rPr lang="zh-CN" altLang="en-US" sz="2400" dirty="0">
                <a:latin typeface="+mn-ea"/>
                <a:cs typeface="Times New Roman" panose="02020603050405020304" charset="0"/>
              </a:rPr>
              <a:t>年，软件业务收入已达</a:t>
            </a:r>
            <a:r>
              <a:rPr lang="en-US" altLang="zh-CN" sz="2400" dirty="0">
                <a:latin typeface="+mn-ea"/>
                <a:cs typeface="Times New Roman" panose="02020603050405020304" charset="0"/>
              </a:rPr>
              <a:t>71 768</a:t>
            </a:r>
            <a:r>
              <a:rPr lang="zh-CN" altLang="en-US" sz="2400" dirty="0">
                <a:latin typeface="+mn-ea"/>
                <a:cs typeface="Times New Roman" panose="02020603050405020304" charset="0"/>
              </a:rPr>
              <a:t>亿元，同比增长</a:t>
            </a:r>
            <a:r>
              <a:rPr lang="en-US" altLang="zh-CN" sz="2400" dirty="0">
                <a:latin typeface="+mn-ea"/>
                <a:cs typeface="Times New Roman" panose="02020603050405020304" charset="0"/>
              </a:rPr>
              <a:t>15.4%</a:t>
            </a:r>
            <a:r>
              <a:rPr lang="zh-CN" altLang="en-US" sz="2400" dirty="0">
                <a:latin typeface="+mn-ea"/>
                <a:cs typeface="Times New Roman" panose="02020603050405020304" charset="0"/>
              </a:rPr>
              <a:t>。由此可知，软件业的发展为国产操作系统的研发提供了基础性的技术支持。</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p>
        </p:txBody>
      </p:sp>
      <p:sp>
        <p:nvSpPr>
          <p:cNvPr id="52" name="内容占位符 3"/>
          <p:cNvSpPr txBox="1"/>
          <p:nvPr/>
        </p:nvSpPr>
        <p:spPr>
          <a:xfrm>
            <a:off x="669925" y="1189346"/>
            <a:ext cx="10690533" cy="49273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新一轮科技变革之际</a:t>
            </a:r>
          </a:p>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国产</a:t>
            </a:r>
            <a:r>
              <a:rPr lang="en-US" altLang="zh-CN" sz="2400" dirty="0">
                <a:solidFill>
                  <a:srgbClr val="0000FF"/>
                </a:solidFill>
                <a:latin typeface="+mn-ea"/>
                <a:cs typeface="黑体" panose="02010609060101010101" charset="-122"/>
              </a:rPr>
              <a:t>OS</a:t>
            </a:r>
            <a:r>
              <a:rPr lang="zh-CN" altLang="en-US" sz="2400" dirty="0">
                <a:solidFill>
                  <a:srgbClr val="0000FF"/>
                </a:solidFill>
                <a:latin typeface="+mn-ea"/>
                <a:cs typeface="黑体" panose="02010609060101010101" charset="-122"/>
              </a:rPr>
              <a:t>如何依托工业互联网实现“换道超车”？</a:t>
            </a:r>
          </a:p>
          <a:p>
            <a:pPr marL="0" indent="457200" algn="just">
              <a:lnSpc>
                <a:spcPct val="125000"/>
              </a:lnSpc>
              <a:spcBef>
                <a:spcPts val="300"/>
              </a:spcBef>
              <a:spcAft>
                <a:spcPts val="300"/>
              </a:spcAft>
              <a:buFont typeface="Arial" panose="020B0604020202020204" pitchFamily="34" charset="0"/>
              <a:buNone/>
            </a:pPr>
            <a:r>
              <a:rPr lang="zh-CN" altLang="en-US" sz="2400" dirty="0">
                <a:latin typeface="+mn-ea"/>
                <a:cs typeface="Times New Roman" panose="02020603050405020304" charset="0"/>
              </a:rPr>
              <a:t> 随着云计算、大数据、人工智能等新一代信息技术与实体经济深度融合，工业互联网、工业大数据等新模式、新业态快速发展，工业已成为世界各国重点布局的领域。我国作为全世界唯一拥有联合国产业分类中所列全部工业门类的国家，在工业领域发展操作系统可谓具有独特优势。国内大量处在工业</a:t>
            </a:r>
            <a:r>
              <a:rPr lang="en-US" altLang="zh-CN" sz="2400" dirty="0">
                <a:latin typeface="+mn-ea"/>
                <a:cs typeface="Times New Roman" panose="02020603050405020304" charset="0"/>
              </a:rPr>
              <a:t>2.0</a:t>
            </a:r>
            <a:r>
              <a:rPr lang="zh-CN" altLang="en-US" sz="2400" dirty="0">
                <a:latin typeface="+mn-ea"/>
                <a:cs typeface="Times New Roman" panose="02020603050405020304" charset="0"/>
              </a:rPr>
              <a:t>、</a:t>
            </a:r>
            <a:r>
              <a:rPr lang="en-US" altLang="zh-CN" sz="2400" dirty="0">
                <a:latin typeface="+mn-ea"/>
                <a:cs typeface="Times New Roman" panose="02020603050405020304" charset="0"/>
              </a:rPr>
              <a:t>3.0</a:t>
            </a:r>
            <a:r>
              <a:rPr lang="zh-CN" altLang="en-US" sz="2400" dirty="0">
                <a:latin typeface="+mn-ea"/>
                <a:cs typeface="Times New Roman" panose="02020603050405020304" charset="0"/>
              </a:rPr>
              <a:t>和</a:t>
            </a:r>
            <a:r>
              <a:rPr lang="en-US" altLang="zh-CN" sz="2400" dirty="0">
                <a:latin typeface="+mn-ea"/>
                <a:cs typeface="Times New Roman" panose="02020603050405020304" charset="0"/>
              </a:rPr>
              <a:t>4.0</a:t>
            </a:r>
            <a:r>
              <a:rPr lang="zh-CN" altLang="en-US" sz="2400" dirty="0">
                <a:latin typeface="+mn-ea"/>
                <a:cs typeface="Times New Roman" panose="02020603050405020304" charset="0"/>
              </a:rPr>
              <a:t>不同发展阶段的企业通过“企业上云”，加速实现数字化和网络化，伴随着工业互联网基础设施的快速迭代升级，国产操作系统不仅具有广阔的市场空间，也将推动传统制造业加速向数字化、网络化和智能化转变，为国产操作系统“换道超车”提供重大历史机遇。</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rPr>
              <a:t>课程思政小讲堂</a:t>
            </a:r>
          </a:p>
        </p:txBody>
      </p:sp>
      <p:sp>
        <p:nvSpPr>
          <p:cNvPr id="52" name="内容占位符 3"/>
          <p:cNvSpPr txBox="1"/>
          <p:nvPr/>
        </p:nvSpPr>
        <p:spPr>
          <a:xfrm>
            <a:off x="669925" y="1224856"/>
            <a:ext cx="10690533" cy="30985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新一轮科技变革之际</a:t>
            </a:r>
          </a:p>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latin typeface="+mn-ea"/>
                <a:cs typeface="黑体" panose="02010609060101010101" charset="-122"/>
              </a:rPr>
              <a:t>国产</a:t>
            </a:r>
            <a:r>
              <a:rPr lang="en-US" altLang="zh-CN" sz="2400" dirty="0">
                <a:solidFill>
                  <a:srgbClr val="0000FF"/>
                </a:solidFill>
                <a:latin typeface="+mn-ea"/>
                <a:cs typeface="黑体" panose="02010609060101010101" charset="-122"/>
              </a:rPr>
              <a:t>OS</a:t>
            </a:r>
            <a:r>
              <a:rPr lang="zh-CN" altLang="en-US" sz="2400" dirty="0">
                <a:solidFill>
                  <a:srgbClr val="0000FF"/>
                </a:solidFill>
                <a:latin typeface="+mn-ea"/>
                <a:cs typeface="黑体" panose="02010609060101010101" charset="-122"/>
              </a:rPr>
              <a:t>如何依托工业互联网实现“换道超车”？</a:t>
            </a:r>
          </a:p>
          <a:p>
            <a:pPr marL="0" indent="457200" algn="just">
              <a:lnSpc>
                <a:spcPct val="125000"/>
              </a:lnSpc>
              <a:spcBef>
                <a:spcPts val="300"/>
              </a:spcBef>
              <a:spcAft>
                <a:spcPts val="300"/>
              </a:spcAft>
              <a:buFont typeface="Arial" panose="020B0604020202020204" pitchFamily="34" charset="0"/>
              <a:buNone/>
            </a:pPr>
            <a:r>
              <a:rPr lang="zh-CN" altLang="en-US" sz="2400" u="sng" dirty="0">
                <a:latin typeface="+mn-ea"/>
                <a:cs typeface="Times New Roman" panose="02020603050405020304" charset="0"/>
              </a:rPr>
              <a:t>坚信</a:t>
            </a:r>
            <a:r>
              <a:rPr lang="zh-CN" altLang="en-US" sz="2400" dirty="0">
                <a:latin typeface="+mn-ea"/>
                <a:cs typeface="Times New Roman" panose="02020603050405020304" charset="0"/>
              </a:rPr>
              <a:t>，通过①以工业互联网发展为动力推动国产操作系统在工业领域的应用和普及，②以开源为抓手提升国产操作系统技术水平，③以创新为引擎促进形成发展的内生动力，④打造以国产操作系统为核心的软硬件生态体系，</a:t>
            </a:r>
            <a:r>
              <a:rPr lang="zh-CN" altLang="en-US" sz="2400" u="sng" dirty="0">
                <a:latin typeface="+mn-ea"/>
                <a:cs typeface="Times New Roman" panose="02020603050405020304" charset="0"/>
              </a:rPr>
              <a:t>国产操作系统一定能够在新一轮科技变革之际，依托工业互联网实现“换道超车”！</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3.xml><?xml version="1.0" encoding="utf-8"?>
<p:tagLst xmlns:a="http://schemas.openxmlformats.org/drawingml/2006/main" xmlns:r="http://schemas.openxmlformats.org/officeDocument/2006/relationships" xmlns:p="http://schemas.openxmlformats.org/presentationml/2006/main">
  <p:tag name="ISLIDE.DIAGRAM" val="217641"/>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5.xml><?xml version="1.0" encoding="utf-8"?>
<p:tagLst xmlns:a="http://schemas.openxmlformats.org/drawingml/2006/main" xmlns:r="http://schemas.openxmlformats.org/officeDocument/2006/relationships" xmlns:p="http://schemas.openxmlformats.org/presentationml/2006/main">
  <p:tag name="ISLIDE.DIAGRAM" val="217641"/>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7.xml><?xml version="1.0" encoding="utf-8"?>
<p:tagLst xmlns:a="http://schemas.openxmlformats.org/drawingml/2006/main" xmlns:r="http://schemas.openxmlformats.org/officeDocument/2006/relationships" xmlns:p="http://schemas.openxmlformats.org/presentationml/2006/main">
  <p:tag name="ISLIDE.DIAGRAM" val="272399"/>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9.xml><?xml version="1.0" encoding="utf-8"?>
<p:tagLst xmlns:a="http://schemas.openxmlformats.org/drawingml/2006/main" xmlns:r="http://schemas.openxmlformats.org/officeDocument/2006/relationships" xmlns:p="http://schemas.openxmlformats.org/presentationml/2006/main">
  <p:tag name="ISLIDE.DIAGRAM" val="185926"/>
</p:tagLst>
</file>

<file path=ppt/tags/tag10.xml><?xml version="1.0" encoding="utf-8"?>
<p:tagLst xmlns:a="http://schemas.openxmlformats.org/drawingml/2006/main" xmlns:r="http://schemas.openxmlformats.org/officeDocument/2006/relationships" xmlns:p="http://schemas.openxmlformats.org/presentationml/2006/main">
  <p:tag name="ISLIDE.DIAGRAM" val="185926"/>
</p:tagLst>
</file>

<file path=ppt/tags/tag11.xml><?xml version="1.0" encoding="utf-8"?>
<p:tagLst xmlns:a="http://schemas.openxmlformats.org/drawingml/2006/main" xmlns:r="http://schemas.openxmlformats.org/officeDocument/2006/relationships" xmlns:p="http://schemas.openxmlformats.org/presentationml/2006/main">
  <p:tag name="ISLIDE.DIAGRAM" val="185926"/>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13.xml><?xml version="1.0" encoding="utf-8"?>
<p:tagLst xmlns:a="http://schemas.openxmlformats.org/drawingml/2006/main" xmlns:r="http://schemas.openxmlformats.org/officeDocument/2006/relationships" xmlns:p="http://schemas.openxmlformats.org/presentationml/2006/main">
  <p:tag name="ISLIDE.DIAGRAM" val="217641"/>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58a06314-7e72-4d48-85a8-7253ed818c17}"/>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9524</TotalTime>
  <Words>5571</Words>
  <Application>Microsoft Office PowerPoint</Application>
  <PresentationFormat>宽屏</PresentationFormat>
  <Paragraphs>627</Paragraphs>
  <Slides>61</Slides>
  <Notes>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61</vt:i4>
      </vt:variant>
    </vt:vector>
  </HeadingPairs>
  <TitlesOfParts>
    <vt:vector size="69" baseType="lpstr">
      <vt:lpstr>-apple-system</vt:lpstr>
      <vt:lpstr>宋体</vt:lpstr>
      <vt:lpstr>微软雅黑 (正文)</vt:lpstr>
      <vt:lpstr>Arial</vt:lpstr>
      <vt:lpstr>Calibri</vt:lpstr>
      <vt:lpstr>Times New Roman</vt:lpstr>
      <vt:lpstr>Wingdings</vt:lpstr>
      <vt:lpstr>主题5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李剑锋</cp:lastModifiedBy>
  <cp:revision>325</cp:revision>
  <cp:lastPrinted>2019-04-18T16:00:00Z</cp:lastPrinted>
  <dcterms:created xsi:type="dcterms:W3CDTF">2019-04-18T16:00:00Z</dcterms:created>
  <dcterms:modified xsi:type="dcterms:W3CDTF">2024-05-20T17:02:44Z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FD23EC2029474AFD9F391E6735F49F86</vt:lpwstr>
  </property>
  <property fmtid="{D5CDD505-2E9C-101B-9397-08002B2CF9AE}" pid="4" name="KSOProductBuildVer">
    <vt:lpwstr>2052-11.1.0.10356</vt:lpwstr>
  </property>
</Properties>
</file>