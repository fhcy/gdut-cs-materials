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76" r:id="rId9"/>
    <p:sldId id="271" r:id="rId10"/>
    <p:sldId id="267" r:id="rId11"/>
    <p:sldId id="272" r:id="rId12"/>
    <p:sldId id="266" r:id="rId13"/>
    <p:sldId id="268" r:id="rId14"/>
    <p:sldId id="269" r:id="rId15"/>
    <p:sldId id="277" r:id="rId16"/>
    <p:sldId id="279" r:id="rId17"/>
    <p:sldId id="278" r:id="rId18"/>
    <p:sldId id="280" r:id="rId19"/>
    <p:sldId id="270" r:id="rId20"/>
    <p:sldId id="281" r:id="rId21"/>
    <p:sldId id="273" r:id="rId22"/>
    <p:sldId id="275" r:id="rId23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0A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01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288" y="52"/>
      </p:cViewPr>
      <p:guideLst>
        <p:guide orient="horz" pos="2160"/>
        <p:guide pos="38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1654175"/>
            <a:ext cx="12134850" cy="3236595"/>
          </a:xfrm>
          <a:prstGeom prst="rect">
            <a:avLst/>
          </a:prstGeom>
          <a:gradFill>
            <a:gsLst>
              <a:gs pos="36000">
                <a:srgbClr val="E54A5C">
                  <a:alpha val="60000"/>
                </a:srgbClr>
              </a:gs>
              <a:gs pos="100000">
                <a:schemeClr val="accent6">
                  <a:alpha val="100000"/>
                </a:schemeClr>
              </a:gs>
              <a:gs pos="100000">
                <a:srgbClr val="E54A5C">
                  <a:alpha val="100000"/>
                </a:srgbClr>
              </a:gs>
              <a:gs pos="100000">
                <a:schemeClr val="accent6">
                  <a:alpha val="10000"/>
                </a:schemeClr>
              </a:gs>
            </a:gsLst>
            <a:lin ang="108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8585" y="1941195"/>
            <a:ext cx="11897487" cy="2538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sym typeface="+mn-ea"/>
              </a:rPr>
              <a:t>烟幕干扰弹最佳投放策略模型的研究与构建</a:t>
            </a:r>
            <a:endParaRPr lang="en-US" altLang="zh-CN" sz="48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zh-CN" sz="36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sym typeface="+mn-ea"/>
              </a:rPr>
              <a:t>——</a:t>
            </a:r>
            <a:r>
              <a:rPr lang="zh-CN" altLang="en-US" sz="36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sym typeface="+mn-ea"/>
              </a:rPr>
              <a:t>数学建模论文答辩展示</a:t>
            </a:r>
            <a:endParaRPr lang="en-US" altLang="zh-CN" sz="36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sym typeface="+mn-ea"/>
            </a:endParaRPr>
          </a:p>
          <a:p>
            <a:pPr algn="ctr"/>
            <a:endParaRPr lang="zh-CN" altLang="en-US" sz="4800" b="1" dirty="0">
              <a:solidFill>
                <a:schemeClr val="bg1"/>
              </a:solidFill>
            </a:endParaRPr>
          </a:p>
          <a:p>
            <a:pPr algn="ctr"/>
            <a:endParaRPr lang="en-US" altLang="zh-CN" sz="4800" b="1" dirty="0">
              <a:solidFill>
                <a:schemeClr val="bg1"/>
              </a:solidFill>
            </a:endParaRPr>
          </a:p>
        </p:txBody>
      </p:sp>
      <p:sp>
        <p:nvSpPr>
          <p:cNvPr id="3" name="TextBox 7"/>
          <p:cNvSpPr txBox="1"/>
          <p:nvPr/>
        </p:nvSpPr>
        <p:spPr>
          <a:xfrm>
            <a:off x="4919316" y="5910954"/>
            <a:ext cx="2064940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8812" y="0"/>
            <a:ext cx="4215051" cy="6858000"/>
          </a:xfrm>
          <a:prstGeom prst="rect">
            <a:avLst/>
          </a:prstGeom>
          <a:solidFill>
            <a:srgbClr val="C30A22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 dirty="0"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84530" y="2122716"/>
            <a:ext cx="2866671" cy="1483090"/>
            <a:chOff x="1819275" y="1143000"/>
            <a:chExt cx="2867025" cy="1483273"/>
          </a:xfrm>
        </p:grpSpPr>
        <p:sp>
          <p:nvSpPr>
            <p:cNvPr id="5" name="矩形 4"/>
            <p:cNvSpPr/>
            <p:nvPr/>
          </p:nvSpPr>
          <p:spPr>
            <a:xfrm>
              <a:off x="1819275" y="1143000"/>
              <a:ext cx="2590800" cy="1266825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7" name="矩形 16"/>
            <p:cNvSpPr/>
            <p:nvPr/>
          </p:nvSpPr>
          <p:spPr>
            <a:xfrm>
              <a:off x="2095500" y="1359448"/>
              <a:ext cx="2590800" cy="1266825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b="1" dirty="0">
                <a:solidFill>
                  <a:srgbClr val="4EB79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632391" y="3782686"/>
            <a:ext cx="2818810" cy="675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790" dirty="0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</a:rPr>
              <a:t>CONTENTS</a:t>
            </a:r>
            <a:endParaRPr lang="zh-CN" altLang="en-US" sz="3790" dirty="0">
              <a:solidFill>
                <a:schemeClr val="bg1"/>
              </a:solidFill>
              <a:latin typeface="Kozuka Gothic Pro M" panose="020B0700000000000000" pitchFamily="34" charset="-128"/>
              <a:ea typeface="Kozuka Gothic Pro M" panose="020B0700000000000000" pitchFamily="34" charset="-128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84009" y="2340326"/>
            <a:ext cx="18677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5469099" y="1796092"/>
            <a:ext cx="5862180" cy="539983"/>
            <a:chOff x="3303678" y="1772209"/>
            <a:chExt cx="4397208" cy="539983"/>
          </a:xfrm>
        </p:grpSpPr>
        <p:sp>
          <p:nvSpPr>
            <p:cNvPr id="27" name="TextBox 11"/>
            <p:cNvSpPr txBox="1"/>
            <p:nvPr/>
          </p:nvSpPr>
          <p:spPr>
            <a:xfrm>
              <a:off x="3303678" y="1772209"/>
              <a:ext cx="4397208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C30A2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一、问题概述</a:t>
              </a:r>
            </a:p>
          </p:txBody>
        </p:sp>
        <p:cxnSp>
          <p:nvCxnSpPr>
            <p:cNvPr id="28" name="直接连接符 27"/>
            <p:cNvCxnSpPr/>
            <p:nvPr/>
          </p:nvCxnSpPr>
          <p:spPr>
            <a:xfrm flipV="1">
              <a:off x="3419872" y="2294179"/>
              <a:ext cx="4113526" cy="18013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5469099" y="3132520"/>
            <a:ext cx="5638892" cy="539400"/>
            <a:chOff x="3303678" y="2574743"/>
            <a:chExt cx="4229720" cy="539400"/>
          </a:xfrm>
        </p:grpSpPr>
        <p:sp>
          <p:nvSpPr>
            <p:cNvPr id="30" name="TextBox 47"/>
            <p:cNvSpPr txBox="1"/>
            <p:nvPr/>
          </p:nvSpPr>
          <p:spPr>
            <a:xfrm>
              <a:off x="3303678" y="2574743"/>
              <a:ext cx="422972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C30A2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二、模型建立与求解</a:t>
              </a:r>
            </a:p>
          </p:txBody>
        </p:sp>
        <p:cxnSp>
          <p:nvCxnSpPr>
            <p:cNvPr id="31" name="直接连接符 30"/>
            <p:cNvCxnSpPr/>
            <p:nvPr/>
          </p:nvCxnSpPr>
          <p:spPr>
            <a:xfrm flipV="1">
              <a:off x="3419872" y="3096713"/>
              <a:ext cx="4113526" cy="1743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/>
        </p:nvGrpSpPr>
        <p:grpSpPr>
          <a:xfrm>
            <a:off x="5469099" y="4452184"/>
            <a:ext cx="6450965" cy="550163"/>
            <a:chOff x="3279862" y="3377277"/>
            <a:chExt cx="4663404" cy="550163"/>
          </a:xfrm>
        </p:grpSpPr>
        <p:sp>
          <p:nvSpPr>
            <p:cNvPr id="33" name="TextBox 51"/>
            <p:cNvSpPr txBox="1"/>
            <p:nvPr/>
          </p:nvSpPr>
          <p:spPr>
            <a:xfrm>
              <a:off x="3279862" y="3377277"/>
              <a:ext cx="4663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C30A2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三、模型总结</a:t>
              </a:r>
            </a:p>
          </p:txBody>
        </p:sp>
        <p:cxnSp>
          <p:nvCxnSpPr>
            <p:cNvPr id="34" name="直接连接符 33"/>
            <p:cNvCxnSpPr/>
            <p:nvPr/>
          </p:nvCxnSpPr>
          <p:spPr>
            <a:xfrm flipV="1">
              <a:off x="3419872" y="3899247"/>
              <a:ext cx="3936346" cy="28193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949575" y="2686050"/>
            <a:ext cx="9243060" cy="1543685"/>
          </a:xfrm>
          <a:prstGeom prst="rect">
            <a:avLst/>
          </a:prstGeom>
          <a:gradFill>
            <a:gsLst>
              <a:gs pos="36000">
                <a:srgbClr val="E54A5C">
                  <a:alpha val="60000"/>
                </a:srgbClr>
              </a:gs>
              <a:gs pos="100000">
                <a:schemeClr val="accent6">
                  <a:alpha val="100000"/>
                </a:schemeClr>
              </a:gs>
              <a:gs pos="100000">
                <a:srgbClr val="E54A5C">
                  <a:alpha val="100000"/>
                </a:srgbClr>
              </a:gs>
              <a:gs pos="100000">
                <a:schemeClr val="accent6">
                  <a:alpha val="10000"/>
                </a:schemeClr>
              </a:gs>
            </a:gsLst>
            <a:lin ang="108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C30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solidFill>
              <a:srgbClr val="C30A2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3075246" y="2820739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问题概述</a:t>
            </a:r>
          </a:p>
        </p:txBody>
      </p:sp>
      <p:sp>
        <p:nvSpPr>
          <p:cNvPr id="16" name="矩形 15"/>
          <p:cNvSpPr/>
          <p:nvPr/>
        </p:nvSpPr>
        <p:spPr>
          <a:xfrm>
            <a:off x="3075246" y="3651732"/>
            <a:ext cx="2169175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问题重述  模型假设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3"/>
          <p:cNvSpPr txBox="1"/>
          <p:nvPr/>
        </p:nvSpPr>
        <p:spPr>
          <a:xfrm>
            <a:off x="134620" y="182245"/>
            <a:ext cx="3621303" cy="676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一、</a:t>
            </a:r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问题概述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494071" y="987050"/>
            <a:ext cx="1927122" cy="594134"/>
            <a:chOff x="825910" y="2762865"/>
            <a:chExt cx="1927122" cy="594134"/>
          </a:xfrm>
          <a:solidFill>
            <a:srgbClr val="C30A22"/>
          </a:solidFill>
        </p:grpSpPr>
        <p:sp>
          <p:nvSpPr>
            <p:cNvPr id="12" name="矩形: 圆角 11"/>
            <p:cNvSpPr/>
            <p:nvPr/>
          </p:nvSpPr>
          <p:spPr>
            <a:xfrm>
              <a:off x="825910" y="2762865"/>
              <a:ext cx="1927122" cy="594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95044" y="2829101"/>
              <a:ext cx="1489353" cy="461661"/>
            </a:xfrm>
            <a:prstGeom prst="rect">
              <a:avLst/>
            </a:prstGeom>
            <a:grp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问题重述</a:t>
              </a:r>
            </a:p>
          </p:txBody>
        </p:sp>
      </p:grpSp>
      <p:sp>
        <p:nvSpPr>
          <p:cNvPr id="16" name="学论网-矩形 1"/>
          <p:cNvSpPr/>
          <p:nvPr/>
        </p:nvSpPr>
        <p:spPr>
          <a:xfrm>
            <a:off x="295178" y="1748222"/>
            <a:ext cx="3784171" cy="2559827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19" name="学论网-www.xuelun.me"/>
          <p:cNvSpPr txBox="1"/>
          <p:nvPr/>
        </p:nvSpPr>
        <p:spPr>
          <a:xfrm>
            <a:off x="376611" y="1748222"/>
            <a:ext cx="3621303" cy="24438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问题一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在给定的飞行方向、飞行速度、投放时间、起爆时间的情况下，建立模型计算单枚</a:t>
            </a:r>
            <a:r>
              <a:rPr lang="zh-CN" altLang="en-US" sz="2000" dirty="0"/>
              <a:t>干扰弹对导弹</a:t>
            </a:r>
            <a:r>
              <a:rPr lang="en-US" altLang="zh-CN" sz="2000" dirty="0"/>
              <a:t>M1</a:t>
            </a:r>
            <a:r>
              <a:rPr lang="zh-CN" altLang="en-US" sz="2000" dirty="0"/>
              <a:t>的有效遮蔽时长。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学论网-矩形 1"/>
          <p:cNvSpPr/>
          <p:nvPr/>
        </p:nvSpPr>
        <p:spPr>
          <a:xfrm>
            <a:off x="4344698" y="1748222"/>
            <a:ext cx="3784171" cy="2559827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3" name="学论网-www.xuelun.me"/>
          <p:cNvSpPr txBox="1"/>
          <p:nvPr/>
        </p:nvSpPr>
        <p:spPr>
          <a:xfrm>
            <a:off x="4426131" y="1755092"/>
            <a:ext cx="3621303" cy="2438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问题二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在问题一的基础上，不给出问题一各参数的具体数值，优化参数，确定</a:t>
            </a:r>
            <a:r>
              <a:rPr lang="zh-CN" altLang="en-US" sz="2000" dirty="0"/>
              <a:t>投放策略，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计算最大有效遮蔽时长</a:t>
            </a:r>
            <a:r>
              <a:rPr lang="zh-CN" altLang="en-US" sz="2000" dirty="0"/>
              <a:t>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学论网-矩形 1"/>
          <p:cNvSpPr/>
          <p:nvPr/>
        </p:nvSpPr>
        <p:spPr>
          <a:xfrm>
            <a:off x="8301002" y="1744565"/>
            <a:ext cx="3784171" cy="2559827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" name="学论网-www.xuelun.me"/>
          <p:cNvSpPr txBox="1"/>
          <p:nvPr/>
        </p:nvSpPr>
        <p:spPr>
          <a:xfrm>
            <a:off x="8382435" y="1805170"/>
            <a:ext cx="3621303" cy="19769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问题三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在问题二的基础上，使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FY1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投放三枚导弹，确定</a:t>
            </a:r>
            <a:r>
              <a:rPr lang="zh-CN" altLang="en-US" sz="2000" dirty="0"/>
              <a:t>投放策略，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计算最大有效遮蔽时长。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学论网-矩形 1"/>
          <p:cNvSpPr/>
          <p:nvPr/>
        </p:nvSpPr>
        <p:spPr>
          <a:xfrm>
            <a:off x="1658112" y="4359134"/>
            <a:ext cx="3784171" cy="2316621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8" name="学论网-矩形 1"/>
          <p:cNvSpPr/>
          <p:nvPr/>
        </p:nvSpPr>
        <p:spPr>
          <a:xfrm>
            <a:off x="5972958" y="4359134"/>
            <a:ext cx="3942539" cy="2316621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10" name="学论网-www.xuelun.me"/>
          <p:cNvSpPr txBox="1"/>
          <p:nvPr/>
        </p:nvSpPr>
        <p:spPr>
          <a:xfrm>
            <a:off x="1751305" y="4243786"/>
            <a:ext cx="3621303" cy="2438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问题四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在前问的基础上，使三架无人机各投放单枚导弹，确定</a:t>
            </a:r>
            <a:r>
              <a:rPr lang="zh-CN" altLang="en-US" sz="2000" dirty="0"/>
              <a:t>投放策略，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计算最大有效遮蔽时长。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学论网-www.xuelun.me"/>
          <p:cNvSpPr txBox="1"/>
          <p:nvPr/>
        </p:nvSpPr>
        <p:spPr>
          <a:xfrm>
            <a:off x="6088206" y="4230899"/>
            <a:ext cx="3621303" cy="2438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问题五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在前问的基础上，使五架无人机各投放三枚导弹，确定</a:t>
            </a:r>
            <a:r>
              <a:rPr lang="zh-CN" altLang="en-US" sz="2000" dirty="0"/>
              <a:t>投放策略，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计算最大有效遮蔽时长。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9" grpId="0"/>
      <p:bldP spid="19" grpId="1"/>
      <p:bldP spid="2" grpId="0" animBg="1"/>
      <p:bldP spid="2" grpId="1" animBg="1"/>
      <p:bldP spid="3" grpId="0"/>
      <p:bldP spid="3" grpId="1"/>
      <p:bldP spid="4" grpId="0" animBg="1"/>
      <p:bldP spid="4" grpId="1" animBg="1"/>
      <p:bldP spid="5" grpId="0"/>
      <p:bldP spid="5" grpId="1"/>
      <p:bldP spid="7" grpId="0" animBg="1"/>
      <p:bldP spid="7" grpId="1" animBg="1"/>
      <p:bldP spid="8" grpId="0" animBg="1"/>
      <p:bldP spid="8" grpId="1" animBg="1"/>
      <p:bldP spid="10" grpId="0"/>
      <p:bldP spid="10" grpId="1"/>
      <p:bldP spid="11" grpId="0"/>
      <p:bldP spid="1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494071" y="987050"/>
            <a:ext cx="1927122" cy="594134"/>
            <a:chOff x="825910" y="2762865"/>
            <a:chExt cx="1927122" cy="594134"/>
          </a:xfrm>
          <a:solidFill>
            <a:srgbClr val="C30A22"/>
          </a:solidFill>
        </p:grpSpPr>
        <p:sp>
          <p:nvSpPr>
            <p:cNvPr id="13" name="矩形: 圆角 12"/>
            <p:cNvSpPr/>
            <p:nvPr/>
          </p:nvSpPr>
          <p:spPr>
            <a:xfrm>
              <a:off x="825910" y="2762865"/>
              <a:ext cx="1927122" cy="594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95044" y="2829101"/>
              <a:ext cx="1489353" cy="461661"/>
            </a:xfrm>
            <a:prstGeom prst="rect">
              <a:avLst/>
            </a:prstGeom>
            <a:grp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模型假设</a:t>
              </a: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4850508" y="2435435"/>
            <a:ext cx="2611029" cy="2757198"/>
            <a:chOff x="4850508" y="2435435"/>
            <a:chExt cx="2611029" cy="2757198"/>
          </a:xfrm>
        </p:grpSpPr>
        <p:grpSp>
          <p:nvGrpSpPr>
            <p:cNvPr id="75" name="组合 74"/>
            <p:cNvGrpSpPr/>
            <p:nvPr/>
          </p:nvGrpSpPr>
          <p:grpSpPr>
            <a:xfrm>
              <a:off x="4850508" y="2435435"/>
              <a:ext cx="2611029" cy="2757198"/>
              <a:chOff x="4706145" y="2310495"/>
              <a:chExt cx="2779711" cy="2935323"/>
            </a:xfrm>
          </p:grpSpPr>
          <p:sp>
            <p:nvSpPr>
              <p:cNvPr id="80" name="Freeform 5"/>
              <p:cNvSpPr/>
              <p:nvPr/>
            </p:nvSpPr>
            <p:spPr bwMode="auto">
              <a:xfrm>
                <a:off x="5454718" y="4770794"/>
                <a:ext cx="1253081" cy="475024"/>
              </a:xfrm>
              <a:custGeom>
                <a:avLst/>
                <a:gdLst>
                  <a:gd name="T0" fmla="*/ 44 w 87"/>
                  <a:gd name="T1" fmla="*/ 10 h 33"/>
                  <a:gd name="T2" fmla="*/ 8 w 87"/>
                  <a:gd name="T3" fmla="*/ 0 h 33"/>
                  <a:gd name="T4" fmla="*/ 0 w 87"/>
                  <a:gd name="T5" fmla="*/ 13 h 33"/>
                  <a:gd name="T6" fmla="*/ 32 w 87"/>
                  <a:gd name="T7" fmla="*/ 24 h 33"/>
                  <a:gd name="T8" fmla="*/ 44 w 87"/>
                  <a:gd name="T9" fmla="*/ 33 h 33"/>
                  <a:gd name="T10" fmla="*/ 56 w 87"/>
                  <a:gd name="T11" fmla="*/ 24 h 33"/>
                  <a:gd name="T12" fmla="*/ 87 w 87"/>
                  <a:gd name="T13" fmla="*/ 13 h 33"/>
                  <a:gd name="T14" fmla="*/ 80 w 87"/>
                  <a:gd name="T15" fmla="*/ 0 h 33"/>
                  <a:gd name="T16" fmla="*/ 44 w 87"/>
                  <a:gd name="T17" fmla="*/ 1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7" h="33">
                    <a:moveTo>
                      <a:pt x="44" y="10"/>
                    </a:moveTo>
                    <a:cubicBezTo>
                      <a:pt x="31" y="10"/>
                      <a:pt x="18" y="6"/>
                      <a:pt x="8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10" y="19"/>
                      <a:pt x="21" y="23"/>
                      <a:pt x="32" y="24"/>
                    </a:cubicBezTo>
                    <a:cubicBezTo>
                      <a:pt x="44" y="33"/>
                      <a:pt x="44" y="33"/>
                      <a:pt x="44" y="33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67" y="23"/>
                      <a:pt x="78" y="19"/>
                      <a:pt x="87" y="13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69" y="6"/>
                      <a:pt x="57" y="10"/>
                      <a:pt x="44" y="10"/>
                    </a:cubicBezTo>
                    <a:close/>
                  </a:path>
                </a:pathLst>
              </a:custGeom>
              <a:solidFill>
                <a:srgbClr val="C30A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14924"/>
                  </a:solidFill>
                </a:endParaRPr>
              </a:p>
            </p:txBody>
          </p:sp>
          <p:sp>
            <p:nvSpPr>
              <p:cNvPr id="81" name="Freeform 8"/>
              <p:cNvSpPr/>
              <p:nvPr/>
            </p:nvSpPr>
            <p:spPr bwMode="auto">
              <a:xfrm>
                <a:off x="6722541" y="2669221"/>
                <a:ext cx="748573" cy="1079452"/>
              </a:xfrm>
              <a:custGeom>
                <a:avLst/>
                <a:gdLst>
                  <a:gd name="T0" fmla="*/ 37 w 52"/>
                  <a:gd name="T1" fmla="*/ 75 h 75"/>
                  <a:gd name="T2" fmla="*/ 52 w 52"/>
                  <a:gd name="T3" fmla="*/ 75 h 75"/>
                  <a:gd name="T4" fmla="*/ 45 w 52"/>
                  <a:gd name="T5" fmla="*/ 42 h 75"/>
                  <a:gd name="T6" fmla="*/ 47 w 52"/>
                  <a:gd name="T7" fmla="*/ 27 h 75"/>
                  <a:gd name="T8" fmla="*/ 33 w 52"/>
                  <a:gd name="T9" fmla="*/ 22 h 75"/>
                  <a:gd name="T10" fmla="*/ 8 w 52"/>
                  <a:gd name="T11" fmla="*/ 0 h 75"/>
                  <a:gd name="T12" fmla="*/ 0 w 52"/>
                  <a:gd name="T13" fmla="*/ 13 h 75"/>
                  <a:gd name="T14" fmla="*/ 37 w 52"/>
                  <a:gd name="T15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2" h="75">
                    <a:moveTo>
                      <a:pt x="37" y="75"/>
                    </a:moveTo>
                    <a:cubicBezTo>
                      <a:pt x="52" y="75"/>
                      <a:pt x="52" y="75"/>
                      <a:pt x="52" y="75"/>
                    </a:cubicBezTo>
                    <a:cubicBezTo>
                      <a:pt x="52" y="63"/>
                      <a:pt x="49" y="52"/>
                      <a:pt x="45" y="42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26" y="13"/>
                      <a:pt x="18" y="5"/>
                      <a:pt x="8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22" y="25"/>
                      <a:pt x="37" y="48"/>
                      <a:pt x="37" y="75"/>
                    </a:cubicBezTo>
                    <a:close/>
                  </a:path>
                </a:pathLst>
              </a:custGeom>
              <a:solidFill>
                <a:srgbClr val="C30A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14924"/>
                  </a:solidFill>
                </a:endParaRPr>
              </a:p>
            </p:txBody>
          </p:sp>
          <p:sp>
            <p:nvSpPr>
              <p:cNvPr id="82" name="Freeform 12"/>
              <p:cNvSpPr/>
              <p:nvPr/>
            </p:nvSpPr>
            <p:spPr bwMode="auto">
              <a:xfrm>
                <a:off x="6737283" y="3806003"/>
                <a:ext cx="748573" cy="1079452"/>
              </a:xfrm>
              <a:custGeom>
                <a:avLst/>
                <a:gdLst>
                  <a:gd name="T0" fmla="*/ 36 w 52"/>
                  <a:gd name="T1" fmla="*/ 0 h 75"/>
                  <a:gd name="T2" fmla="*/ 0 w 52"/>
                  <a:gd name="T3" fmla="*/ 62 h 75"/>
                  <a:gd name="T4" fmla="*/ 8 w 52"/>
                  <a:gd name="T5" fmla="*/ 75 h 75"/>
                  <a:gd name="T6" fmla="*/ 33 w 52"/>
                  <a:gd name="T7" fmla="*/ 53 h 75"/>
                  <a:gd name="T8" fmla="*/ 47 w 52"/>
                  <a:gd name="T9" fmla="*/ 47 h 75"/>
                  <a:gd name="T10" fmla="*/ 45 w 52"/>
                  <a:gd name="T11" fmla="*/ 33 h 75"/>
                  <a:gd name="T12" fmla="*/ 52 w 52"/>
                  <a:gd name="T13" fmla="*/ 0 h 75"/>
                  <a:gd name="T14" fmla="*/ 36 w 52"/>
                  <a:gd name="T1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2" h="75">
                    <a:moveTo>
                      <a:pt x="36" y="0"/>
                    </a:moveTo>
                    <a:cubicBezTo>
                      <a:pt x="36" y="26"/>
                      <a:pt x="22" y="50"/>
                      <a:pt x="0" y="62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18" y="69"/>
                      <a:pt x="26" y="62"/>
                      <a:pt x="33" y="53"/>
                    </a:cubicBezTo>
                    <a:cubicBezTo>
                      <a:pt x="47" y="47"/>
                      <a:pt x="47" y="47"/>
                      <a:pt x="47" y="47"/>
                    </a:cubicBezTo>
                    <a:cubicBezTo>
                      <a:pt x="45" y="33"/>
                      <a:pt x="45" y="33"/>
                      <a:pt x="45" y="33"/>
                    </a:cubicBezTo>
                    <a:cubicBezTo>
                      <a:pt x="49" y="22"/>
                      <a:pt x="52" y="11"/>
                      <a:pt x="52" y="0"/>
                    </a:cubicBez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C30A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14924"/>
                  </a:solidFill>
                </a:endParaRPr>
              </a:p>
            </p:txBody>
          </p:sp>
          <p:sp>
            <p:nvSpPr>
              <p:cNvPr id="83" name="Freeform 14"/>
              <p:cNvSpPr/>
              <p:nvPr/>
            </p:nvSpPr>
            <p:spPr bwMode="auto">
              <a:xfrm>
                <a:off x="5454718" y="2310495"/>
                <a:ext cx="1253081" cy="475024"/>
              </a:xfrm>
              <a:custGeom>
                <a:avLst/>
                <a:gdLst>
                  <a:gd name="T0" fmla="*/ 44 w 87"/>
                  <a:gd name="T1" fmla="*/ 24 h 33"/>
                  <a:gd name="T2" fmla="*/ 80 w 87"/>
                  <a:gd name="T3" fmla="*/ 33 h 33"/>
                  <a:gd name="T4" fmla="*/ 87 w 87"/>
                  <a:gd name="T5" fmla="*/ 20 h 33"/>
                  <a:gd name="T6" fmla="*/ 56 w 87"/>
                  <a:gd name="T7" fmla="*/ 9 h 33"/>
                  <a:gd name="T8" fmla="*/ 44 w 87"/>
                  <a:gd name="T9" fmla="*/ 0 h 33"/>
                  <a:gd name="T10" fmla="*/ 32 w 87"/>
                  <a:gd name="T11" fmla="*/ 9 h 33"/>
                  <a:gd name="T12" fmla="*/ 0 w 87"/>
                  <a:gd name="T13" fmla="*/ 20 h 33"/>
                  <a:gd name="T14" fmla="*/ 8 w 87"/>
                  <a:gd name="T15" fmla="*/ 33 h 33"/>
                  <a:gd name="T16" fmla="*/ 44 w 87"/>
                  <a:gd name="T17" fmla="*/ 24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7" h="33">
                    <a:moveTo>
                      <a:pt x="44" y="24"/>
                    </a:moveTo>
                    <a:cubicBezTo>
                      <a:pt x="57" y="24"/>
                      <a:pt x="69" y="27"/>
                      <a:pt x="80" y="33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78" y="15"/>
                      <a:pt x="67" y="11"/>
                      <a:pt x="56" y="9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1" y="11"/>
                      <a:pt x="10" y="15"/>
                      <a:pt x="0" y="20"/>
                    </a:cubicBezTo>
                    <a:cubicBezTo>
                      <a:pt x="8" y="33"/>
                      <a:pt x="8" y="33"/>
                      <a:pt x="8" y="33"/>
                    </a:cubicBezTo>
                    <a:cubicBezTo>
                      <a:pt x="18" y="27"/>
                      <a:pt x="31" y="24"/>
                      <a:pt x="44" y="24"/>
                    </a:cubicBezTo>
                    <a:close/>
                  </a:path>
                </a:pathLst>
              </a:custGeom>
              <a:solidFill>
                <a:srgbClr val="C30A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14924"/>
                  </a:solidFill>
                </a:endParaRPr>
              </a:p>
            </p:txBody>
          </p:sp>
          <p:sp>
            <p:nvSpPr>
              <p:cNvPr id="84" name="Freeform 17"/>
              <p:cNvSpPr/>
              <p:nvPr/>
            </p:nvSpPr>
            <p:spPr bwMode="auto">
              <a:xfrm>
                <a:off x="4706145" y="3806003"/>
                <a:ext cx="733831" cy="1094194"/>
              </a:xfrm>
              <a:custGeom>
                <a:avLst/>
                <a:gdLst>
                  <a:gd name="T0" fmla="*/ 15 w 51"/>
                  <a:gd name="T1" fmla="*/ 0 h 76"/>
                  <a:gd name="T2" fmla="*/ 0 w 51"/>
                  <a:gd name="T3" fmla="*/ 0 h 76"/>
                  <a:gd name="T4" fmla="*/ 6 w 51"/>
                  <a:gd name="T5" fmla="*/ 33 h 76"/>
                  <a:gd name="T6" fmla="*/ 5 w 51"/>
                  <a:gd name="T7" fmla="*/ 48 h 76"/>
                  <a:gd name="T8" fmla="*/ 18 w 51"/>
                  <a:gd name="T9" fmla="*/ 54 h 76"/>
                  <a:gd name="T10" fmla="*/ 44 w 51"/>
                  <a:gd name="T11" fmla="*/ 76 h 76"/>
                  <a:gd name="T12" fmla="*/ 51 w 51"/>
                  <a:gd name="T13" fmla="*/ 63 h 76"/>
                  <a:gd name="T14" fmla="*/ 15 w 51"/>
                  <a:gd name="T15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76">
                    <a:moveTo>
                      <a:pt x="1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2" y="23"/>
                      <a:pt x="6" y="33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25" y="63"/>
                      <a:pt x="34" y="70"/>
                      <a:pt x="44" y="76"/>
                    </a:cubicBezTo>
                    <a:cubicBezTo>
                      <a:pt x="51" y="63"/>
                      <a:pt x="51" y="63"/>
                      <a:pt x="51" y="63"/>
                    </a:cubicBezTo>
                    <a:cubicBezTo>
                      <a:pt x="30" y="50"/>
                      <a:pt x="15" y="27"/>
                      <a:pt x="15" y="0"/>
                    </a:cubicBezTo>
                    <a:close/>
                  </a:path>
                </a:pathLst>
              </a:custGeom>
              <a:solidFill>
                <a:srgbClr val="C30A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14924"/>
                  </a:solidFill>
                </a:endParaRPr>
              </a:p>
            </p:txBody>
          </p:sp>
          <p:sp>
            <p:nvSpPr>
              <p:cNvPr id="85" name="Freeform 20"/>
              <p:cNvSpPr/>
              <p:nvPr/>
            </p:nvSpPr>
            <p:spPr bwMode="auto">
              <a:xfrm>
                <a:off x="4706145" y="2669221"/>
                <a:ext cx="733831" cy="1079452"/>
              </a:xfrm>
              <a:custGeom>
                <a:avLst/>
                <a:gdLst>
                  <a:gd name="T0" fmla="*/ 51 w 51"/>
                  <a:gd name="T1" fmla="*/ 13 h 75"/>
                  <a:gd name="T2" fmla="*/ 44 w 51"/>
                  <a:gd name="T3" fmla="*/ 0 h 75"/>
                  <a:gd name="T4" fmla="*/ 18 w 51"/>
                  <a:gd name="T5" fmla="*/ 22 h 75"/>
                  <a:gd name="T6" fmla="*/ 5 w 51"/>
                  <a:gd name="T7" fmla="*/ 27 h 75"/>
                  <a:gd name="T8" fmla="*/ 6 w 51"/>
                  <a:gd name="T9" fmla="*/ 42 h 75"/>
                  <a:gd name="T10" fmla="*/ 0 w 51"/>
                  <a:gd name="T11" fmla="*/ 75 h 75"/>
                  <a:gd name="T12" fmla="*/ 15 w 51"/>
                  <a:gd name="T13" fmla="*/ 75 h 75"/>
                  <a:gd name="T14" fmla="*/ 51 w 51"/>
                  <a:gd name="T15" fmla="*/ 1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75">
                    <a:moveTo>
                      <a:pt x="51" y="13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34" y="5"/>
                      <a:pt x="25" y="13"/>
                      <a:pt x="18" y="22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2" y="52"/>
                      <a:pt x="0" y="63"/>
                      <a:pt x="0" y="75"/>
                    </a:cubicBezTo>
                    <a:cubicBezTo>
                      <a:pt x="15" y="75"/>
                      <a:pt x="15" y="75"/>
                      <a:pt x="15" y="75"/>
                    </a:cubicBezTo>
                    <a:cubicBezTo>
                      <a:pt x="15" y="48"/>
                      <a:pt x="30" y="25"/>
                      <a:pt x="51" y="13"/>
                    </a:cubicBezTo>
                    <a:close/>
                  </a:path>
                </a:pathLst>
              </a:custGeom>
              <a:solidFill>
                <a:srgbClr val="C30A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14924"/>
                  </a:solidFill>
                </a:endParaRPr>
              </a:p>
            </p:txBody>
          </p:sp>
        </p:grpSp>
        <p:grpSp>
          <p:nvGrpSpPr>
            <p:cNvPr id="76" name="Group 4"/>
            <p:cNvGrpSpPr>
              <a:grpSpLocks noChangeAspect="1"/>
            </p:cNvGrpSpPr>
            <p:nvPr/>
          </p:nvGrpSpPr>
          <p:grpSpPr bwMode="auto">
            <a:xfrm>
              <a:off x="5761459" y="3399150"/>
              <a:ext cx="776713" cy="781177"/>
              <a:chOff x="3666" y="1984"/>
              <a:chExt cx="348" cy="350"/>
            </a:xfrm>
          </p:grpSpPr>
          <p:sp>
            <p:nvSpPr>
              <p:cNvPr id="77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3666" y="1986"/>
                <a:ext cx="348" cy="3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14924"/>
                  </a:solidFill>
                </a:endParaRPr>
              </a:p>
            </p:txBody>
          </p:sp>
          <p:sp>
            <p:nvSpPr>
              <p:cNvPr id="78" name="Freeform 5"/>
              <p:cNvSpPr/>
              <p:nvPr/>
            </p:nvSpPr>
            <p:spPr bwMode="auto">
              <a:xfrm>
                <a:off x="3768" y="1984"/>
                <a:ext cx="145" cy="217"/>
              </a:xfrm>
              <a:custGeom>
                <a:avLst/>
                <a:gdLst>
                  <a:gd name="T0" fmla="*/ 101 w 145"/>
                  <a:gd name="T1" fmla="*/ 130 h 217"/>
                  <a:gd name="T2" fmla="*/ 101 w 145"/>
                  <a:gd name="T3" fmla="*/ 0 h 217"/>
                  <a:gd name="T4" fmla="*/ 43 w 145"/>
                  <a:gd name="T5" fmla="*/ 0 h 217"/>
                  <a:gd name="T6" fmla="*/ 43 w 145"/>
                  <a:gd name="T7" fmla="*/ 130 h 217"/>
                  <a:gd name="T8" fmla="*/ 0 w 145"/>
                  <a:gd name="T9" fmla="*/ 130 h 217"/>
                  <a:gd name="T10" fmla="*/ 72 w 145"/>
                  <a:gd name="T11" fmla="*/ 217 h 217"/>
                  <a:gd name="T12" fmla="*/ 145 w 145"/>
                  <a:gd name="T13" fmla="*/ 130 h 217"/>
                  <a:gd name="T14" fmla="*/ 101 w 145"/>
                  <a:gd name="T15" fmla="*/ 13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5" h="217">
                    <a:moveTo>
                      <a:pt x="101" y="130"/>
                    </a:moveTo>
                    <a:lnTo>
                      <a:pt x="101" y="0"/>
                    </a:lnTo>
                    <a:lnTo>
                      <a:pt x="43" y="0"/>
                    </a:lnTo>
                    <a:lnTo>
                      <a:pt x="43" y="130"/>
                    </a:lnTo>
                    <a:lnTo>
                      <a:pt x="0" y="130"/>
                    </a:lnTo>
                    <a:lnTo>
                      <a:pt x="72" y="217"/>
                    </a:lnTo>
                    <a:lnTo>
                      <a:pt x="145" y="130"/>
                    </a:lnTo>
                    <a:lnTo>
                      <a:pt x="101" y="130"/>
                    </a:lnTo>
                    <a:close/>
                  </a:path>
                </a:pathLst>
              </a:custGeom>
              <a:solidFill>
                <a:srgbClr val="C30A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14924"/>
                  </a:solidFill>
                </a:endParaRPr>
              </a:p>
            </p:txBody>
          </p:sp>
          <p:sp>
            <p:nvSpPr>
              <p:cNvPr id="79" name="Freeform 6"/>
              <p:cNvSpPr/>
              <p:nvPr/>
            </p:nvSpPr>
            <p:spPr bwMode="auto">
              <a:xfrm>
                <a:off x="3666" y="2013"/>
                <a:ext cx="348" cy="319"/>
              </a:xfrm>
              <a:custGeom>
                <a:avLst/>
                <a:gdLst>
                  <a:gd name="T0" fmla="*/ 271 w 348"/>
                  <a:gd name="T1" fmla="*/ 0 h 319"/>
                  <a:gd name="T2" fmla="*/ 232 w 348"/>
                  <a:gd name="T3" fmla="*/ 0 h 319"/>
                  <a:gd name="T4" fmla="*/ 232 w 348"/>
                  <a:gd name="T5" fmla="*/ 29 h 319"/>
                  <a:gd name="T6" fmla="*/ 251 w 348"/>
                  <a:gd name="T7" fmla="*/ 29 h 319"/>
                  <a:gd name="T8" fmla="*/ 317 w 348"/>
                  <a:gd name="T9" fmla="*/ 174 h 319"/>
                  <a:gd name="T10" fmla="*/ 239 w 348"/>
                  <a:gd name="T11" fmla="*/ 174 h 319"/>
                  <a:gd name="T12" fmla="*/ 210 w 348"/>
                  <a:gd name="T13" fmla="*/ 217 h 319"/>
                  <a:gd name="T14" fmla="*/ 138 w 348"/>
                  <a:gd name="T15" fmla="*/ 217 h 319"/>
                  <a:gd name="T16" fmla="*/ 109 w 348"/>
                  <a:gd name="T17" fmla="*/ 174 h 319"/>
                  <a:gd name="T18" fmla="*/ 31 w 348"/>
                  <a:gd name="T19" fmla="*/ 174 h 319"/>
                  <a:gd name="T20" fmla="*/ 97 w 348"/>
                  <a:gd name="T21" fmla="*/ 29 h 319"/>
                  <a:gd name="T22" fmla="*/ 116 w 348"/>
                  <a:gd name="T23" fmla="*/ 29 h 319"/>
                  <a:gd name="T24" fmla="*/ 116 w 348"/>
                  <a:gd name="T25" fmla="*/ 0 h 319"/>
                  <a:gd name="T26" fmla="*/ 77 w 348"/>
                  <a:gd name="T27" fmla="*/ 0 h 319"/>
                  <a:gd name="T28" fmla="*/ 0 w 348"/>
                  <a:gd name="T29" fmla="*/ 171 h 319"/>
                  <a:gd name="T30" fmla="*/ 0 w 348"/>
                  <a:gd name="T31" fmla="*/ 319 h 319"/>
                  <a:gd name="T32" fmla="*/ 348 w 348"/>
                  <a:gd name="T33" fmla="*/ 319 h 319"/>
                  <a:gd name="T34" fmla="*/ 348 w 348"/>
                  <a:gd name="T35" fmla="*/ 171 h 319"/>
                  <a:gd name="T36" fmla="*/ 271 w 348"/>
                  <a:gd name="T37" fmla="*/ 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48" h="319">
                    <a:moveTo>
                      <a:pt x="271" y="0"/>
                    </a:moveTo>
                    <a:lnTo>
                      <a:pt x="232" y="0"/>
                    </a:lnTo>
                    <a:lnTo>
                      <a:pt x="232" y="29"/>
                    </a:lnTo>
                    <a:lnTo>
                      <a:pt x="251" y="29"/>
                    </a:lnTo>
                    <a:lnTo>
                      <a:pt x="317" y="174"/>
                    </a:lnTo>
                    <a:lnTo>
                      <a:pt x="239" y="174"/>
                    </a:lnTo>
                    <a:lnTo>
                      <a:pt x="210" y="217"/>
                    </a:lnTo>
                    <a:lnTo>
                      <a:pt x="138" y="217"/>
                    </a:lnTo>
                    <a:lnTo>
                      <a:pt x="109" y="174"/>
                    </a:lnTo>
                    <a:lnTo>
                      <a:pt x="31" y="174"/>
                    </a:lnTo>
                    <a:lnTo>
                      <a:pt x="97" y="29"/>
                    </a:lnTo>
                    <a:lnTo>
                      <a:pt x="116" y="29"/>
                    </a:lnTo>
                    <a:lnTo>
                      <a:pt x="116" y="0"/>
                    </a:lnTo>
                    <a:lnTo>
                      <a:pt x="77" y="0"/>
                    </a:lnTo>
                    <a:lnTo>
                      <a:pt x="0" y="171"/>
                    </a:lnTo>
                    <a:lnTo>
                      <a:pt x="0" y="319"/>
                    </a:lnTo>
                    <a:lnTo>
                      <a:pt x="348" y="319"/>
                    </a:lnTo>
                    <a:lnTo>
                      <a:pt x="348" y="171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C30A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14924"/>
                  </a:solidFill>
                </a:endParaRPr>
              </a:p>
            </p:txBody>
          </p:sp>
        </p:grpSp>
      </p:grpSp>
      <p:grpSp>
        <p:nvGrpSpPr>
          <p:cNvPr id="86" name="组合 85"/>
          <p:cNvGrpSpPr/>
          <p:nvPr/>
        </p:nvGrpSpPr>
        <p:grpSpPr>
          <a:xfrm>
            <a:off x="324466" y="4714112"/>
            <a:ext cx="3728258" cy="1132836"/>
            <a:chOff x="324466" y="4714112"/>
            <a:chExt cx="3728258" cy="1132836"/>
          </a:xfrm>
        </p:grpSpPr>
        <p:grpSp>
          <p:nvGrpSpPr>
            <p:cNvPr id="87" name="组合 86"/>
            <p:cNvGrpSpPr/>
            <p:nvPr/>
          </p:nvGrpSpPr>
          <p:grpSpPr>
            <a:xfrm>
              <a:off x="324466" y="4714112"/>
              <a:ext cx="3728258" cy="1132836"/>
              <a:chOff x="727639" y="4714112"/>
              <a:chExt cx="3728258" cy="1132836"/>
            </a:xfrm>
          </p:grpSpPr>
          <p:sp>
            <p:nvSpPr>
              <p:cNvPr id="89" name="TextBox 76"/>
              <p:cNvSpPr txBox="1"/>
              <p:nvPr/>
            </p:nvSpPr>
            <p:spPr>
              <a:xfrm>
                <a:off x="2879064" y="4714112"/>
                <a:ext cx="1415764" cy="338550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zh-CN" dirty="0">
                    <a:solidFill>
                      <a:srgbClr val="C30A22"/>
                    </a:solidFill>
                  </a:rPr>
                  <a:t>忽略间隔时间</a:t>
                </a:r>
                <a:endParaRPr lang="zh-CN" altLang="en-US" sz="1800" dirty="0">
                  <a:solidFill>
                    <a:srgbClr val="C30A22"/>
                  </a:solidFill>
                </a:endParaRPr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727639" y="4972545"/>
                <a:ext cx="3728258" cy="874403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zh-CN" dirty="0"/>
                  <a:t>忽略人为或程序受到命令后发射烟幕干扰弹的间隔时间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8" name="椭圆 87"/>
            <p:cNvSpPr/>
            <p:nvPr/>
          </p:nvSpPr>
          <p:spPr>
            <a:xfrm>
              <a:off x="3860157" y="4847510"/>
              <a:ext cx="102532" cy="10253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14924"/>
                </a:solidFill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4403159" y="5485116"/>
            <a:ext cx="3617595" cy="1198880"/>
            <a:chOff x="4391176" y="1172752"/>
            <a:chExt cx="3617595" cy="1198880"/>
          </a:xfrm>
        </p:grpSpPr>
        <p:grpSp>
          <p:nvGrpSpPr>
            <p:cNvPr id="92" name="组合 91"/>
            <p:cNvGrpSpPr/>
            <p:nvPr/>
          </p:nvGrpSpPr>
          <p:grpSpPr>
            <a:xfrm>
              <a:off x="4391176" y="1172752"/>
              <a:ext cx="3617595" cy="1198880"/>
              <a:chOff x="4410801" y="5566424"/>
              <a:chExt cx="3617595" cy="1198880"/>
            </a:xfrm>
          </p:grpSpPr>
          <p:sp>
            <p:nvSpPr>
              <p:cNvPr id="94" name="TextBox 76"/>
              <p:cNvSpPr txBox="1"/>
              <p:nvPr/>
            </p:nvSpPr>
            <p:spPr>
              <a:xfrm>
                <a:off x="5649982" y="5566424"/>
                <a:ext cx="994410" cy="335915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algn="l"/>
                <a:r>
                  <a:rPr lang="zh-CN" altLang="zh-CN" dirty="0">
                    <a:solidFill>
                      <a:srgbClr val="C00000"/>
                    </a:solidFill>
                  </a:rPr>
                  <a:t>正常起爆</a:t>
                </a: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4410801" y="5844554"/>
                <a:ext cx="3617595" cy="920750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  <a:r>
                  <a:rPr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假设烟幕干扰弹正常起爆，烟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幕正常对真目标进行遮蔽。</a:t>
                </a:r>
              </a:p>
            </p:txBody>
          </p:sp>
        </p:grpSp>
        <p:sp>
          <p:nvSpPr>
            <p:cNvPr id="93" name="椭圆 92"/>
            <p:cNvSpPr/>
            <p:nvPr/>
          </p:nvSpPr>
          <p:spPr>
            <a:xfrm>
              <a:off x="5527825" y="1295954"/>
              <a:ext cx="102532" cy="10253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14924"/>
                </a:solidFill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7913136" y="4714112"/>
            <a:ext cx="3728258" cy="717337"/>
            <a:chOff x="8090116" y="4714112"/>
            <a:chExt cx="3551278" cy="717337"/>
          </a:xfrm>
        </p:grpSpPr>
        <p:grpSp>
          <p:nvGrpSpPr>
            <p:cNvPr id="102" name="组合 101"/>
            <p:cNvGrpSpPr/>
            <p:nvPr/>
          </p:nvGrpSpPr>
          <p:grpSpPr>
            <a:xfrm>
              <a:off x="8196987" y="4714112"/>
              <a:ext cx="3444407" cy="717337"/>
              <a:chOff x="7775642" y="4406339"/>
              <a:chExt cx="3444407" cy="717337"/>
            </a:xfrm>
          </p:grpSpPr>
          <p:sp>
            <p:nvSpPr>
              <p:cNvPr id="104" name="矩形 103"/>
              <p:cNvSpPr/>
              <p:nvPr/>
            </p:nvSpPr>
            <p:spPr>
              <a:xfrm>
                <a:off x="7775642" y="4664772"/>
                <a:ext cx="3444407" cy="458904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zh-CN" dirty="0"/>
                  <a:t>假设每个云团的有效遮挡范围</a:t>
                </a:r>
                <a:r>
                  <a:rPr lang="zh-CN" altLang="zh-CN" b="1" dirty="0"/>
                  <a:t>独立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TextBox 76"/>
              <p:cNvSpPr txBox="1"/>
              <p:nvPr/>
            </p:nvSpPr>
            <p:spPr>
              <a:xfrm>
                <a:off x="7775642" y="4406339"/>
                <a:ext cx="1005395" cy="338550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zh-CN" dirty="0">
                    <a:solidFill>
                      <a:srgbClr val="C30A22"/>
                    </a:solidFill>
                  </a:rPr>
                  <a:t>云团独立</a:t>
                </a:r>
                <a:endParaRPr lang="zh-CN" altLang="en-US" sz="1800" dirty="0">
                  <a:solidFill>
                    <a:srgbClr val="C30A22"/>
                  </a:solidFill>
                </a:endParaRPr>
              </a:p>
            </p:txBody>
          </p:sp>
        </p:grpSp>
        <p:sp>
          <p:nvSpPr>
            <p:cNvPr id="103" name="椭圆 102"/>
            <p:cNvSpPr/>
            <p:nvPr/>
          </p:nvSpPr>
          <p:spPr>
            <a:xfrm>
              <a:off x="8090116" y="4847510"/>
              <a:ext cx="102532" cy="10253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14924"/>
                </a:solidFill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86800" y="2607179"/>
            <a:ext cx="3728258" cy="1134960"/>
            <a:chOff x="386800" y="2607179"/>
            <a:chExt cx="3728258" cy="1134960"/>
          </a:xfrm>
        </p:grpSpPr>
        <p:grpSp>
          <p:nvGrpSpPr>
            <p:cNvPr id="112" name="组合 111"/>
            <p:cNvGrpSpPr/>
            <p:nvPr/>
          </p:nvGrpSpPr>
          <p:grpSpPr>
            <a:xfrm>
              <a:off x="386800" y="2607179"/>
              <a:ext cx="3728258" cy="1134960"/>
              <a:chOff x="789973" y="2590571"/>
              <a:chExt cx="3728258" cy="1134960"/>
            </a:xfrm>
          </p:grpSpPr>
          <p:sp>
            <p:nvSpPr>
              <p:cNvPr id="114" name="TextBox 76"/>
              <p:cNvSpPr txBox="1"/>
              <p:nvPr/>
            </p:nvSpPr>
            <p:spPr>
              <a:xfrm>
                <a:off x="2879064" y="2590571"/>
                <a:ext cx="1415764" cy="338550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zh-CN" dirty="0">
                    <a:solidFill>
                      <a:srgbClr val="C00000"/>
                    </a:solidFill>
                  </a:rPr>
                  <a:t>忽略空气阻力</a:t>
                </a:r>
                <a:endParaRPr lang="zh-CN" altLang="en-US" sz="180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789973" y="2851128"/>
                <a:ext cx="3728258" cy="874403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zh-CN" dirty="0"/>
                  <a:t>假设</a:t>
                </a:r>
                <a:r>
                  <a:rPr lang="zh-CN" altLang="en-US" dirty="0"/>
                  <a:t>所有物体的</a:t>
                </a:r>
                <a:r>
                  <a:rPr lang="zh-CN" altLang="zh-CN" dirty="0"/>
                  <a:t>运动不受</a:t>
                </a:r>
                <a:r>
                  <a:rPr lang="zh-CN" altLang="zh-CN" b="1" dirty="0"/>
                  <a:t>空气阻力</a:t>
                </a:r>
                <a:r>
                  <a:rPr lang="zh-CN" altLang="zh-CN" dirty="0"/>
                  <a:t>和其他</a:t>
                </a:r>
                <a:r>
                  <a:rPr lang="zh-CN" altLang="zh-CN" b="1" dirty="0"/>
                  <a:t>微小力</a:t>
                </a:r>
                <a:r>
                  <a:rPr lang="zh-CN" altLang="zh-CN" dirty="0"/>
                  <a:t>的干扰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3" name="椭圆 112"/>
            <p:cNvSpPr/>
            <p:nvPr/>
          </p:nvSpPr>
          <p:spPr>
            <a:xfrm>
              <a:off x="3840389" y="2740577"/>
              <a:ext cx="102532" cy="10253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14924"/>
                </a:solidFill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8110121" y="2607179"/>
            <a:ext cx="3619763" cy="1137324"/>
            <a:chOff x="8110121" y="2607179"/>
            <a:chExt cx="3619763" cy="1137324"/>
          </a:xfrm>
        </p:grpSpPr>
        <p:grpSp>
          <p:nvGrpSpPr>
            <p:cNvPr id="97" name="组合 96"/>
            <p:cNvGrpSpPr/>
            <p:nvPr/>
          </p:nvGrpSpPr>
          <p:grpSpPr>
            <a:xfrm>
              <a:off x="8196988" y="2607179"/>
              <a:ext cx="3532896" cy="1137324"/>
              <a:chOff x="7775642" y="4406339"/>
              <a:chExt cx="3532896" cy="1137324"/>
            </a:xfrm>
          </p:grpSpPr>
          <p:sp>
            <p:nvSpPr>
              <p:cNvPr id="99" name="矩形 98"/>
              <p:cNvSpPr/>
              <p:nvPr/>
            </p:nvSpPr>
            <p:spPr>
              <a:xfrm>
                <a:off x="7775642" y="4664772"/>
                <a:ext cx="3532896" cy="878891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zh-CN" dirty="0"/>
                  <a:t>假设烟幕干扰弹爆炸之后形成一个</a:t>
                </a:r>
                <a:r>
                  <a:rPr lang="zh-CN" altLang="zh-CN" b="1" dirty="0"/>
                  <a:t>球体</a:t>
                </a:r>
                <a:r>
                  <a:rPr lang="zh-CN" altLang="zh-CN" dirty="0"/>
                  <a:t>，其半径为</a:t>
                </a:r>
                <a:r>
                  <a:rPr lang="en-US" altLang="zh-CN" b="1" dirty="0"/>
                  <a:t>10m</a:t>
                </a:r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TextBox 76"/>
              <p:cNvSpPr txBox="1"/>
              <p:nvPr/>
            </p:nvSpPr>
            <p:spPr>
              <a:xfrm>
                <a:off x="7775642" y="4406339"/>
                <a:ext cx="1005395" cy="338550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zh-CN" dirty="0">
                    <a:solidFill>
                      <a:srgbClr val="C00000"/>
                    </a:solidFill>
                  </a:rPr>
                  <a:t>球体假设</a:t>
                </a:r>
                <a:endParaRPr lang="zh-CN" altLang="en-US" sz="1800" dirty="0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98" name="椭圆 97"/>
            <p:cNvSpPr/>
            <p:nvPr/>
          </p:nvSpPr>
          <p:spPr>
            <a:xfrm>
              <a:off x="8110121" y="2740577"/>
              <a:ext cx="102532" cy="10253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14924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836229" y="1254746"/>
            <a:ext cx="2865891" cy="1152647"/>
            <a:chOff x="4697246" y="1172752"/>
            <a:chExt cx="2865891" cy="1152647"/>
          </a:xfrm>
        </p:grpSpPr>
        <p:grpSp>
          <p:nvGrpSpPr>
            <p:cNvPr id="3" name="组合 2"/>
            <p:cNvGrpSpPr/>
            <p:nvPr/>
          </p:nvGrpSpPr>
          <p:grpSpPr>
            <a:xfrm>
              <a:off x="4697246" y="1172752"/>
              <a:ext cx="2865891" cy="1152647"/>
              <a:chOff x="4716871" y="5566424"/>
              <a:chExt cx="2865891" cy="1152647"/>
            </a:xfrm>
          </p:grpSpPr>
          <p:sp>
            <p:nvSpPr>
              <p:cNvPr id="4" name="TextBox 76"/>
              <p:cNvSpPr txBox="1"/>
              <p:nvPr/>
            </p:nvSpPr>
            <p:spPr>
              <a:xfrm>
                <a:off x="5649982" y="5566424"/>
                <a:ext cx="1005395" cy="338550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zh-CN" dirty="0">
                    <a:solidFill>
                      <a:srgbClr val="C00000"/>
                    </a:solidFill>
                  </a:rPr>
                  <a:t>间隔时间</a:t>
                </a:r>
                <a:endParaRPr lang="zh-CN" altLang="en-US" sz="180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4716871" y="5844668"/>
                <a:ext cx="2865891" cy="874403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每架无人机投放两枚烟幕干扰弹至少间隔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s</a:t>
                </a:r>
                <a:r>
                  <a:rPr lang="zh-CN" altLang="en-US" dirty="0">
                    <a:solidFill>
                      <a:schemeClr val="accent6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dirty="0">
                  <a:solidFill>
                    <a:schemeClr val="accent6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" name="椭圆 5"/>
            <p:cNvSpPr/>
            <p:nvPr/>
          </p:nvSpPr>
          <p:spPr>
            <a:xfrm>
              <a:off x="5527825" y="1295954"/>
              <a:ext cx="102532" cy="10253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14924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947246" y="2686050"/>
            <a:ext cx="9243060" cy="1543685"/>
          </a:xfrm>
          <a:prstGeom prst="rect">
            <a:avLst/>
          </a:prstGeom>
          <a:gradFill>
            <a:gsLst>
              <a:gs pos="36000">
                <a:srgbClr val="E54A5C">
                  <a:alpha val="60000"/>
                </a:srgbClr>
              </a:gs>
              <a:gs pos="100000">
                <a:schemeClr val="accent6">
                  <a:alpha val="100000"/>
                </a:schemeClr>
              </a:gs>
              <a:gs pos="100000">
                <a:srgbClr val="E54A5C">
                  <a:alpha val="100000"/>
                </a:srgbClr>
              </a:gs>
              <a:gs pos="100000">
                <a:schemeClr val="accent6">
                  <a:alpha val="10000"/>
                </a:schemeClr>
              </a:gs>
            </a:gsLst>
            <a:lin ang="108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C30A22"/>
          </a:solidFill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3075246" y="2820739"/>
            <a:ext cx="449353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模型建立与求解</a:t>
            </a:r>
          </a:p>
        </p:txBody>
      </p:sp>
      <p:sp>
        <p:nvSpPr>
          <p:cNvPr id="16" name="矩形 15"/>
          <p:cNvSpPr/>
          <p:nvPr/>
        </p:nvSpPr>
        <p:spPr>
          <a:xfrm>
            <a:off x="3075246" y="3642245"/>
            <a:ext cx="4242132" cy="369328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问题一  问题二  问题三 问题四 问题五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内容占位符 3"/>
          <p:cNvSpPr txBox="1"/>
          <p:nvPr/>
        </p:nvSpPr>
        <p:spPr>
          <a:xfrm>
            <a:off x="134620" y="182245"/>
            <a:ext cx="5511465" cy="676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</a:t>
            </a:r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模型建立与求解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494070" y="987050"/>
            <a:ext cx="2527425" cy="594134"/>
            <a:chOff x="825910" y="2762865"/>
            <a:chExt cx="1610464" cy="594134"/>
          </a:xfrm>
          <a:solidFill>
            <a:srgbClr val="C30A22"/>
          </a:solidFill>
        </p:grpSpPr>
        <p:sp>
          <p:nvSpPr>
            <p:cNvPr id="28" name="矩形: 圆角 10"/>
            <p:cNvSpPr/>
            <p:nvPr/>
          </p:nvSpPr>
          <p:spPr>
            <a:xfrm>
              <a:off x="825910" y="2762865"/>
              <a:ext cx="1610464" cy="594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899131" y="2829101"/>
              <a:ext cx="1537243" cy="461661"/>
            </a:xfrm>
            <a:prstGeom prst="rect">
              <a:avLst/>
            </a:prstGeom>
            <a:grp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问题一模型建立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995" y="1601480"/>
            <a:ext cx="1679963" cy="14386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551525" y="3216812"/>
            <a:ext cx="2527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假设导弹会形成视野</a:t>
            </a:r>
            <a:endParaRPr lang="en-US" altLang="zh-CN" sz="2000" dirty="0"/>
          </a:p>
          <a:p>
            <a:r>
              <a:rPr lang="zh-CN" altLang="en-US" sz="2000" dirty="0"/>
              <a:t>大面积向外探测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776" y="1463086"/>
            <a:ext cx="2907155" cy="1446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5212" y="1420781"/>
            <a:ext cx="3119075" cy="154651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4170738" y="3216812"/>
            <a:ext cx="36084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为简化模型，假设</a:t>
            </a:r>
            <a:r>
              <a:rPr lang="zh-CN" altLang="zh-CN" sz="2000" dirty="0"/>
              <a:t>视线等效为从导弹指向中心的一条直线</a:t>
            </a:r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8173638" y="3216812"/>
            <a:ext cx="4246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真目标被导弹发现</a:t>
            </a:r>
            <a:r>
              <a:rPr lang="zh-CN" altLang="en-US" sz="2000" dirty="0"/>
              <a:t>，即遮蔽失败</a:t>
            </a:r>
            <a:endParaRPr lang="en-US" altLang="zh-CN" sz="2000" dirty="0"/>
          </a:p>
          <a:p>
            <a:r>
              <a:rPr lang="zh-CN" altLang="en-US" sz="2000" dirty="0"/>
              <a:t>反之，则成功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69711" y="4101334"/>
            <a:ext cx="11284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有效遮蔽判定条件：</a:t>
            </a:r>
            <a:r>
              <a:rPr lang="zh-CN" altLang="zh-CN" sz="2000" dirty="0"/>
              <a:t>若导弹与真目标连线与烟幕范围相交，则认为</a:t>
            </a:r>
            <a:r>
              <a:rPr lang="zh-CN" altLang="en-US" sz="2000" dirty="0"/>
              <a:t>有效遮蔽目标，则有以下公式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021495" y="4675514"/>
                <a:ext cx="4997628" cy="7993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altLang="zh-CN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(t) </a:t>
                </a:r>
                <a:r>
                  <a:rPr lang="en-US" altLang="zh-CN" sz="2000" i="1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1,  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Ω</m:t>
                            </m:r>
                            <m:d>
                              <m:d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000" i="1" smtClean="0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∅</m:t>
                            </m:r>
                            <m:r>
                              <a:rPr lang="zh-CN" altLang="en-US" sz="2000" i="1" smtClean="0">
                                <a:latin typeface="Cambria Math" panose="02040503050406030204" pitchFamily="18" charset="0"/>
                              </a:rPr>
                              <m:t>（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有效遮蔽</m:t>
                            </m:r>
                            <m:r>
                              <a:rPr lang="zh-CN" altLang="en-US" sz="2000" i="1" smtClean="0">
                                <a:latin typeface="Cambria Math" panose="02040503050406030204" pitchFamily="18" charset="0"/>
                              </a:rPr>
                              <m:t>）</m:t>
                            </m:r>
                          </m:e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0,  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Ω</m:t>
                            </m:r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000" i="1" smtClean="0">
                                <a:latin typeface="Cambria Math" panose="02040503050406030204" pitchFamily="18" charset="0"/>
                              </a:rPr>
                              <m:t>＝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∅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（无效遮蔽）</m:t>
                            </m:r>
                          </m:e>
                        </m:eqArr>
                      </m:e>
                    </m:d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495" y="4675514"/>
                <a:ext cx="4997628" cy="799386"/>
              </a:xfrm>
              <a:prstGeom prst="rect">
                <a:avLst/>
              </a:prstGeom>
              <a:blipFill rotWithShape="1">
                <a:blip r:embed="rId5"/>
                <a:stretch>
                  <a:fillRect l="-3" t="-1" r="7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494070" y="5692140"/>
                <a:ext cx="112845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/>
                  <a:t>其中，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为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导弹</m:t>
                    </m:r>
                  </m:oMath>
                </a14:m>
                <a:r>
                  <a:rPr lang="zh-CN" altLang="en-US" sz="2000" dirty="0"/>
                  <a:t>与真目标的连线线段，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为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烟幕</m:t>
                    </m:r>
                  </m:oMath>
                </a14:m>
                <a:r>
                  <a:rPr lang="zh-CN" altLang="en-US" sz="2000" dirty="0"/>
                  <a:t>的空间区域。</a:t>
                </a: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70" y="5692140"/>
                <a:ext cx="11284576" cy="400110"/>
              </a:xfrm>
              <a:prstGeom prst="rect">
                <a:avLst/>
              </a:prstGeom>
              <a:blipFill rotWithShape="1">
                <a:blip r:embed="rId6"/>
                <a:stretch>
                  <a:fillRect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内容占位符 3"/>
          <p:cNvSpPr txBox="1"/>
          <p:nvPr/>
        </p:nvSpPr>
        <p:spPr>
          <a:xfrm>
            <a:off x="134620" y="182245"/>
            <a:ext cx="5511465" cy="676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</a:t>
            </a:r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模型建立与求解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494070" y="987050"/>
            <a:ext cx="2527425" cy="594134"/>
            <a:chOff x="825910" y="2762865"/>
            <a:chExt cx="1610464" cy="594134"/>
          </a:xfrm>
          <a:solidFill>
            <a:srgbClr val="C30A22"/>
          </a:solidFill>
        </p:grpSpPr>
        <p:sp>
          <p:nvSpPr>
            <p:cNvPr id="28" name="矩形: 圆角 10"/>
            <p:cNvSpPr/>
            <p:nvPr/>
          </p:nvSpPr>
          <p:spPr>
            <a:xfrm>
              <a:off x="825910" y="2762865"/>
              <a:ext cx="1610464" cy="594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899131" y="2829101"/>
              <a:ext cx="1537243" cy="459105"/>
            </a:xfrm>
            <a:prstGeom prst="rect">
              <a:avLst/>
            </a:prstGeom>
            <a:grp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问题一模型建立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62955" y="1578627"/>
            <a:ext cx="5939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根据动力学知识，有以下距离</a:t>
            </a:r>
            <a:r>
              <a:rPr lang="en-US" altLang="zh-CN" sz="2000" dirty="0"/>
              <a:t>—</a:t>
            </a:r>
            <a:r>
              <a:rPr lang="zh-CN" altLang="en-US" sz="2000" dirty="0"/>
              <a:t>速度</a:t>
            </a:r>
            <a:r>
              <a:rPr lang="en-US" altLang="zh-CN" sz="2000" dirty="0"/>
              <a:t>—</a:t>
            </a:r>
            <a:r>
              <a:rPr lang="zh-CN" altLang="en-US" sz="2000" dirty="0"/>
              <a:t>加速度公式：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298682" y="2044973"/>
                <a:ext cx="2811026" cy="11396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⃗"/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acc>
                                <m:accPr>
                                  <m:chr m:val="⃗"/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acc>
                                <m:accPr>
                                  <m:chr m:val="⃗"/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⃗"/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682" y="2044973"/>
                <a:ext cx="2811026" cy="1139671"/>
              </a:xfrm>
              <a:prstGeom prst="rect">
                <a:avLst/>
              </a:prstGeom>
              <a:blipFill rotWithShape="1">
                <a:blip r:embed="rId2"/>
                <a:stretch>
                  <a:fillRect l="-22" t="-24" r="-16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354" y="1193131"/>
            <a:ext cx="1851976" cy="11711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5995912" y="2374554"/>
                <a:ext cx="6096000" cy="4692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𝑓𝑦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altLang="zh-CN" sz="2000" i="1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5912" y="2374554"/>
                <a:ext cx="6096000" cy="469231"/>
              </a:xfrm>
              <a:prstGeom prst="rect">
                <a:avLst/>
              </a:prstGeom>
              <a:blipFill rotWithShape="1">
                <a:blip r:embed="rId4"/>
                <a:stretch>
                  <a:fillRect l="-4" t="-62" r="4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362955" y="3270980"/>
            <a:ext cx="67550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代入各物体相应的变量，可得到各物体的</a:t>
            </a:r>
            <a:r>
              <a:rPr lang="zh-CN" altLang="zh-CN" sz="2000" dirty="0"/>
              <a:t>运动轨迹</a:t>
            </a:r>
            <a:r>
              <a:rPr lang="zh-CN" altLang="en-US" sz="2000" dirty="0"/>
              <a:t>公式。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8706884" y="5002826"/>
                <a:ext cx="2156039" cy="3451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(0)+</m:t>
                          </m:r>
                          <m:acc>
                            <m:accPr>
                              <m:chr m:val="⃗"/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6884" y="5002826"/>
                <a:ext cx="2156039" cy="345159"/>
              </a:xfrm>
              <a:prstGeom prst="rect">
                <a:avLst/>
              </a:prstGeom>
              <a:blipFill rotWithShape="1">
                <a:blip r:embed="rId5"/>
                <a:stretch>
                  <a:fillRect l="-19" t="-86" r="-4920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5995911" y="4990947"/>
            <a:ext cx="28301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烟幕中心</a:t>
            </a:r>
            <a:r>
              <a:rPr lang="zh-CN" altLang="en-US" sz="2000" dirty="0"/>
              <a:t>运动公式：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42704" y="4136311"/>
            <a:ext cx="28301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无人机运动公式：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995911" y="4126322"/>
            <a:ext cx="28301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烟幕干扰弹运动公式：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1949" y="4990947"/>
            <a:ext cx="28301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导弹运动公式：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1021977" y="4049975"/>
                <a:ext cx="6096000" cy="4692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𝑓𝑦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𝑓𝑦</m:t>
                              </m:r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𝑓𝑦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977" y="4049975"/>
                <a:ext cx="6096000" cy="469231"/>
              </a:xfrm>
              <a:prstGeom prst="rect">
                <a:avLst/>
              </a:prstGeom>
              <a:blipFill rotWithShape="1">
                <a:blip r:embed="rId6"/>
                <a:stretch>
                  <a:fillRect l="-4" t="-124" r="4" b="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7305675" y="4002108"/>
                <a:ext cx="6096000" cy="6685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sSup>
                        <m:sSup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5675" y="4002108"/>
                <a:ext cx="6096000" cy="668516"/>
              </a:xfrm>
              <a:prstGeom prst="rect">
                <a:avLst/>
              </a:prstGeom>
              <a:blipFill rotWithShape="1">
                <a:blip r:embed="rId7"/>
                <a:stretch>
                  <a:fillRect t="-51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604456" y="4990947"/>
                <a:ext cx="6700836" cy="4374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56" y="4990947"/>
                <a:ext cx="6700836" cy="437492"/>
              </a:xfrm>
              <a:prstGeom prst="rect">
                <a:avLst/>
              </a:prstGeom>
              <a:blipFill rotWithShape="1">
                <a:blip r:embed="rId8"/>
                <a:stretch>
                  <a:fillRect l="-9" t="-110" r="4" b="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/>
          <p:cNvSpPr txBox="1"/>
          <p:nvPr/>
        </p:nvSpPr>
        <p:spPr>
          <a:xfrm>
            <a:off x="362955" y="5682910"/>
            <a:ext cx="5041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结合前文的有效判定条件，即可进行求解。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 txBox="1"/>
          <p:nvPr/>
        </p:nvSpPr>
        <p:spPr>
          <a:xfrm>
            <a:off x="134620" y="182245"/>
            <a:ext cx="5511465" cy="676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</a:t>
            </a:r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模型建立与求解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494070" y="987050"/>
            <a:ext cx="2527425" cy="594134"/>
            <a:chOff x="825910" y="2762865"/>
            <a:chExt cx="1610464" cy="594134"/>
          </a:xfrm>
          <a:solidFill>
            <a:srgbClr val="C30A22"/>
          </a:solidFill>
        </p:grpSpPr>
        <p:sp>
          <p:nvSpPr>
            <p:cNvPr id="36" name="矩形: 圆角 35"/>
            <p:cNvSpPr/>
            <p:nvPr/>
          </p:nvSpPr>
          <p:spPr>
            <a:xfrm>
              <a:off x="825910" y="2762865"/>
              <a:ext cx="1610464" cy="594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899131" y="2829101"/>
              <a:ext cx="1537243" cy="459105"/>
            </a:xfrm>
            <a:prstGeom prst="rect">
              <a:avLst/>
            </a:prstGeom>
            <a:grp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问题一模型求解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94070" y="1708653"/>
            <a:ext cx="8516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代入各值，逐步判断，递归求解，问题一的求解伪代码如下：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70" y="2236232"/>
            <a:ext cx="8872538" cy="259934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94070" y="5058846"/>
            <a:ext cx="6592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解得，问题一烟幕干扰弹对</a:t>
            </a:r>
            <a:r>
              <a:rPr lang="en-US" altLang="zh-CN" sz="2000" dirty="0"/>
              <a:t>M1</a:t>
            </a:r>
            <a:r>
              <a:rPr lang="zh-CN" altLang="en-US" sz="2000" dirty="0"/>
              <a:t>的有效遮蔽时长约为</a:t>
            </a:r>
            <a:r>
              <a:rPr lang="en-US" altLang="zh-CN" sz="2000" dirty="0"/>
              <a:t>1.40s</a:t>
            </a:r>
            <a:r>
              <a:rPr lang="zh-CN" altLang="en-US" sz="2000" dirty="0"/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内容占位符 3"/>
          <p:cNvSpPr txBox="1"/>
          <p:nvPr/>
        </p:nvSpPr>
        <p:spPr>
          <a:xfrm>
            <a:off x="134620" y="182245"/>
            <a:ext cx="5511465" cy="676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</a:t>
            </a:r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模型建立与求解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494070" y="987050"/>
            <a:ext cx="2527425" cy="594134"/>
            <a:chOff x="825910" y="2762865"/>
            <a:chExt cx="1610464" cy="594134"/>
          </a:xfrm>
          <a:solidFill>
            <a:srgbClr val="C30A22"/>
          </a:solidFill>
        </p:grpSpPr>
        <p:sp>
          <p:nvSpPr>
            <p:cNvPr id="28" name="矩形: 圆角 10"/>
            <p:cNvSpPr/>
            <p:nvPr/>
          </p:nvSpPr>
          <p:spPr>
            <a:xfrm>
              <a:off x="825910" y="2762865"/>
              <a:ext cx="1610464" cy="594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899131" y="2829101"/>
              <a:ext cx="1537243" cy="459105"/>
            </a:xfrm>
            <a:prstGeom prst="rect">
              <a:avLst/>
            </a:prstGeom>
            <a:grp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问题二模型建立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94070" y="1702857"/>
            <a:ext cx="6659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由问题一，可推导出烟幕中心的运动轨迹公式：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219199" y="2102967"/>
                <a:ext cx="10201276" cy="6685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zh-CN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𝑓𝑦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(0)+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𝑓𝑦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𝑙𝑎𝑠𝑡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𝑓𝑦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𝑒𝑥𝑝𝑙𝑜𝑑𝑒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acc>
                            <m:accPr>
                              <m:chr m:val="⃗"/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𝑒𝑥𝑝𝑙𝑜𝑑𝑒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𝑒𝑥𝑝𝑙𝑜𝑑𝑒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199" y="2102967"/>
                <a:ext cx="10201276" cy="668516"/>
              </a:xfrm>
              <a:prstGeom prst="rect">
                <a:avLst/>
              </a:prstGeom>
              <a:blipFill rotWithShape="1">
                <a:blip r:embed="rId2"/>
                <a:stretch>
                  <a:fillRect l="-6" t="-72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3048000" y="2868165"/>
                <a:ext cx="6096000" cy="469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=1</m:t>
                      </m:r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𝑠𝑒𝑔</m:t>
                              </m:r>
                            </m:sub>
                          </m:s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​</m:t>
                          </m:r>
                          <m:d>
                            <m:d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868165"/>
                <a:ext cx="6096000" cy="469552"/>
              </a:xfrm>
              <a:prstGeom prst="rect">
                <a:avLst/>
              </a:prstGeom>
              <a:blipFill rotWithShape="1">
                <a:blip r:embed="rId3"/>
                <a:stretch>
                  <a:fillRect t="-108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482428" y="2895982"/>
            <a:ext cx="6659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遮蔽条件公式可优化为：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94070" y="3590420"/>
            <a:ext cx="3381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总有效遮蔽时长可表示为</a:t>
            </a:r>
            <a:r>
              <a:rPr lang="zh-CN" altLang="en-US" sz="2000" dirty="0"/>
              <a:t>：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82428" y="4342260"/>
            <a:ext cx="56019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结合题目所给的约束条件，则有以下优化模型</a:t>
            </a:r>
            <a:r>
              <a:rPr lang="zh-CN" altLang="en-US" sz="2000" dirty="0"/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6170084" y="4950421"/>
                <a:ext cx="2497350" cy="1387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0≤ </m:t>
                                  </m:r>
                                  <m:sSub>
                                    <m:sSub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𝑓𝑦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≤ 2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70&lt;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𝑓𝑦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&lt;140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𝑙𝑎𝑠𝑡</m:t>
                                      </m:r>
                                    </m:sub>
                                  </m:sSub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&gt;0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𝑒𝑥𝑝𝑙𝑜𝑑𝑒</m:t>
                                      </m:r>
                                    </m:sub>
                                  </m:sSub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084" y="4950421"/>
                <a:ext cx="2497350" cy="1387431"/>
              </a:xfrm>
              <a:prstGeom prst="rect">
                <a:avLst/>
              </a:prstGeom>
              <a:blipFill rotWithShape="1">
                <a:blip r:embed="rId4"/>
                <a:stretch>
                  <a:fillRect l="-17" t="-43" r="-3572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表格 20"/>
              <p:cNvGraphicFramePr>
                <a:graphicFrameLocks noGrp="1"/>
              </p:cNvGraphicFramePr>
              <p:nvPr/>
            </p:nvGraphicFramePr>
            <p:xfrm>
              <a:off x="962979" y="5153504"/>
              <a:ext cx="4362450" cy="981266"/>
            </p:xfrm>
            <a:graphic>
              <a:graphicData uri="http://schemas.openxmlformats.org/drawingml/2006/table">
                <a:tbl>
                  <a:tblPr/>
                  <a:tblGrid>
                    <a:gridCol w="4362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indent="12700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nary>
                                          <m:naryPr>
                                            <m:chr m:val="∑"/>
                                            <m:limLoc m:val="undOvr"/>
                                            <m:ctrlPr>
                                              <a:rPr 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=0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𝐾</m:t>
                                            </m:r>
                                          </m:sup>
                                          <m:e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zh-CN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𝑡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𝑒𝑥𝑝𝑙𝑜𝑑𝑒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+</m:t>
                                                </m:r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𝛥</m:t>
                                                </m:r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𝑡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𝛥</m:t>
                                            </m:r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 </m:t>
                                            </m:r>
                                          </m:e>
                                        </m:nary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14300" marR="11430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表格 20"/>
              <p:cNvGraphicFramePr>
                <a:graphicFrameLocks noGrp="1"/>
              </p:cNvGraphicFramePr>
              <p:nvPr/>
            </p:nvGraphicFramePr>
            <p:xfrm>
              <a:off x="962979" y="5153504"/>
              <a:ext cx="4362450" cy="981266"/>
            </p:xfrm>
            <a:graphic>
              <a:graphicData uri="http://schemas.openxmlformats.org/drawingml/2006/table">
                <a:tbl>
                  <a:tblPr/>
                  <a:tblGrid>
                    <a:gridCol w="4362450"/>
                  </a:tblGrid>
                  <a:tr h="8686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4300" marR="11430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3812030" y="3393702"/>
                <a:ext cx="6096000" cy="9580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𝑎𝑙𝑙</m:t>
                          </m:r>
                        </m:sub>
                      </m:sSub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≈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𝑒𝑥𝑝𝑙𝑜𝑑𝑒</m:t>
                                  </m:r>
                                </m:sub>
                              </m:sSub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𝛥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⌊"/>
                              <m:endChr m:val="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⌋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𝑒𝑓𝑓𝑒𝑐𝑡𝑖𝑣𝑒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𝛥</m:t>
                                      </m:r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030" y="3393702"/>
                <a:ext cx="6096000" cy="958083"/>
              </a:xfrm>
              <a:prstGeom prst="rect">
                <a:avLst/>
              </a:prstGeom>
              <a:blipFill rotWithShape="1">
                <a:blip r:embed="rId6"/>
                <a:stretch>
                  <a:fillRect l="-2" t="-27" r="2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 txBox="1"/>
          <p:nvPr/>
        </p:nvSpPr>
        <p:spPr>
          <a:xfrm>
            <a:off x="134620" y="182245"/>
            <a:ext cx="5511465" cy="676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</a:t>
            </a:r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模型建立与求解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494070" y="987050"/>
            <a:ext cx="2527425" cy="594134"/>
            <a:chOff x="825910" y="2762865"/>
            <a:chExt cx="1610464" cy="594134"/>
          </a:xfrm>
          <a:solidFill>
            <a:srgbClr val="C30A22"/>
          </a:solidFill>
        </p:grpSpPr>
        <p:sp>
          <p:nvSpPr>
            <p:cNvPr id="36" name="矩形: 圆角 35"/>
            <p:cNvSpPr/>
            <p:nvPr/>
          </p:nvSpPr>
          <p:spPr>
            <a:xfrm>
              <a:off x="825910" y="2762865"/>
              <a:ext cx="1610464" cy="594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899131" y="2829101"/>
              <a:ext cx="1537243" cy="459105"/>
            </a:xfrm>
            <a:prstGeom prst="rect">
              <a:avLst/>
            </a:prstGeom>
            <a:grp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问题二模型求解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94070" y="1709079"/>
            <a:ext cx="9069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代入控制参数、关键参数与约束条件，使用遗传算法求解，得到以下收敛曲线：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75" y="2186465"/>
            <a:ext cx="6494646" cy="371242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94070" y="5976164"/>
            <a:ext cx="7545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可知，问题二</a:t>
            </a:r>
            <a:r>
              <a:rPr lang="zh-CN" altLang="zh-CN" sz="2000" dirty="0"/>
              <a:t>烟幕干扰弹对</a:t>
            </a:r>
            <a:r>
              <a:rPr lang="en-US" altLang="zh-CN" sz="2000" dirty="0"/>
              <a:t>M1</a:t>
            </a:r>
            <a:r>
              <a:rPr lang="zh-CN" altLang="zh-CN" sz="2000" dirty="0"/>
              <a:t>的有效遮蔽时长最大为</a:t>
            </a:r>
            <a:r>
              <a:rPr lang="en-US" altLang="zh-CN" sz="2000" dirty="0"/>
              <a:t>4.450s</a:t>
            </a:r>
            <a:r>
              <a:rPr lang="zh-CN" altLang="en-US" sz="2000" dirty="0"/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 txBox="1"/>
          <p:nvPr/>
        </p:nvSpPr>
        <p:spPr>
          <a:xfrm>
            <a:off x="134620" y="182245"/>
            <a:ext cx="5511465" cy="676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</a:t>
            </a:r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模型建立与求解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494070" y="987050"/>
            <a:ext cx="2527425" cy="594134"/>
            <a:chOff x="825910" y="2762865"/>
            <a:chExt cx="1610464" cy="594134"/>
          </a:xfrm>
          <a:solidFill>
            <a:srgbClr val="C30A22"/>
          </a:solidFill>
        </p:grpSpPr>
        <p:sp>
          <p:nvSpPr>
            <p:cNvPr id="36" name="矩形: 圆角 35"/>
            <p:cNvSpPr/>
            <p:nvPr/>
          </p:nvSpPr>
          <p:spPr>
            <a:xfrm>
              <a:off x="825910" y="2762865"/>
              <a:ext cx="1610464" cy="594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899131" y="2829101"/>
              <a:ext cx="1537243" cy="459105"/>
            </a:xfrm>
            <a:prstGeom prst="rect">
              <a:avLst/>
            </a:prstGeom>
            <a:grp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问题三模型建立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94070" y="1702857"/>
            <a:ext cx="7868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设存在</a:t>
            </a:r>
            <a:r>
              <a:rPr lang="en-US" altLang="zh-CN" sz="2000" dirty="0" err="1"/>
              <a:t>i</a:t>
            </a:r>
            <a:r>
              <a:rPr lang="zh-CN" altLang="en-US" sz="2000" dirty="0"/>
              <a:t>枚烟幕干扰弹，由问题二，可推导出多个烟幕中心的运动公式：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757782" y="2124324"/>
                <a:ext cx="9210675" cy="6685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𝑐𝑖</m:t>
                          </m:r>
                        </m:sub>
                      </m:sSub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𝑓𝑦</m:t>
                                      </m:r>
                                      <m:r>
                                        <a:rPr lang="zh-CN" altLang="en-US" sz="20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𝑓𝑦</m:t>
                                  </m:r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𝑙𝑎𝑠𝑡𝑖</m:t>
                                  </m:r>
                                </m:sub>
                              </m:sSub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𝑓𝑦</m:t>
                              </m:r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𝑒𝑥𝑝𝑙𝑜𝑑𝑒𝑖</m:t>
                              </m:r>
                            </m:sub>
                          </m:s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acc>
                            <m:accPr>
                              <m:chr m:val="⃗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sSup>
                            <m:s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𝑒𝑥𝑝𝑙𝑜𝑑𝑒𝑖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𝑒𝑥𝑝𝑙𝑜𝑑𝑒𝑖</m:t>
                              </m:r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782" y="2124324"/>
                <a:ext cx="9210675" cy="668516"/>
              </a:xfrm>
              <a:prstGeom prst="rect">
                <a:avLst/>
              </a:prstGeom>
              <a:blipFill rotWithShape="1">
                <a:blip r:embed="rId2"/>
                <a:stretch>
                  <a:fillRect l="-1" t="-37" r="1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494070" y="294666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遮蔽条件公式可优化为：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429000" y="2870238"/>
                <a:ext cx="6096000" cy="503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=1(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𝑠𝑒𝑔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d>
                        <m:d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𝑐𝑖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zh-CN" altLang="zh-CN" sz="20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870238"/>
                <a:ext cx="6096000" cy="503215"/>
              </a:xfrm>
              <a:prstGeom prst="rect">
                <a:avLst/>
              </a:prstGeom>
              <a:blipFill rotWithShape="1">
                <a:blip r:embed="rId3"/>
                <a:stretch>
                  <a:fillRect t="-8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494070" y="3636351"/>
            <a:ext cx="3381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总有效遮蔽时长可表示为</a:t>
            </a:r>
            <a:r>
              <a:rPr lang="zh-CN" altLang="en-US" sz="2000" dirty="0"/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2750485" y="3416772"/>
                <a:ext cx="6096000" cy="8392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𝑎𝑙𝑙</m:t>
                          </m:r>
                        </m:sub>
                      </m:sSub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≈</m:t>
                          </m:r>
                        </m:e>
                      </m:nary>
                      <m:nary>
                        <m:naryPr>
                          <m:chr m:val="∑"/>
                          <m:limLoc m:val="undOvr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485" y="3416772"/>
                <a:ext cx="6096000" cy="839269"/>
              </a:xfrm>
              <a:prstGeom prst="rect">
                <a:avLst/>
              </a:prstGeom>
              <a:blipFill rotWithShape="1">
                <a:blip r:embed="rId4"/>
                <a:stretch>
                  <a:fillRect l="-5" t="-56" r="5" b="-90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6809145" y="3431801"/>
                <a:ext cx="6096000" cy="8441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∈</m:t>
                      </m:r>
                      <m:nary>
                        <m:naryPr>
                          <m:chr m:val="⋃"/>
                          <m:limLoc m:val="undOvr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sepChr m:val=",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𝑒𝑥𝑝𝑙𝑜𝑑𝑒𝑖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𝑒𝑥𝑝𝑙𝑜𝑑𝑒𝑖</m:t>
                                  </m:r>
                                </m:sub>
                              </m:sSub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​+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𝑒𝑓𝑓𝑒𝑐𝑡𝑖𝑣𝑒</m:t>
                                  </m:r>
                                </m:sub>
                              </m:sSub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145" y="3431801"/>
                <a:ext cx="6096000" cy="844142"/>
              </a:xfrm>
              <a:prstGeom prst="rect">
                <a:avLst/>
              </a:prstGeom>
              <a:blipFill rotWithShape="1">
                <a:blip r:embed="rId5"/>
                <a:stretch>
                  <a:fillRect l="-1" t="-31" r="1" b="-8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494070" y="4410302"/>
            <a:ext cx="64531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/>
              <a:t>结合题目所给的约束条件，则有以下优化模型</a:t>
            </a:r>
            <a:r>
              <a:rPr lang="zh-CN" altLang="en-US" sz="2000" dirty="0"/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表格 18"/>
              <p:cNvGraphicFramePr>
                <a:graphicFrameLocks noGrp="1"/>
              </p:cNvGraphicFramePr>
              <p:nvPr/>
            </p:nvGraphicFramePr>
            <p:xfrm>
              <a:off x="316090" y="5155143"/>
              <a:ext cx="6809145" cy="812864"/>
            </p:xfrm>
            <a:graphic>
              <a:graphicData uri="http://schemas.openxmlformats.org/drawingml/2006/table">
                <a:tbl>
                  <a:tblPr/>
                  <a:tblGrid>
                    <a:gridCol w="68091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indent="12700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nary>
                                          <m:naryPr>
                                            <m:chr m:val="∑"/>
                                            <m:limLoc m:val="undOvr"/>
                                            <m:ctrlPr>
                                              <a:rPr 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 </m:t>
                                            </m:r>
                                          </m:sup>
                                          <m:e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zh-CN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𝑡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𝛥</m:t>
                                            </m:r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</m:nary>
                                      </m:e>
                                    </m:d>
                                  </m:e>
                                </m:func>
                                <m:r>
                                  <a:rPr lang="en-US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nary>
                                  <m:naryPr>
                                    <m:chr m:val="⋃"/>
                                    <m:limLoc m:val="undOvr"/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sup>
                                  <m:e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[</m:t>
                                    </m:r>
                                    <m:sSub>
                                      <m:sSub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𝑒𝑥𝑝𝑙𝑜𝑑𝑒𝑖</m:t>
                                        </m:r>
                                      </m:sub>
                                    </m:s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​,</m:t>
                                    </m:r>
                                    <m:sSub>
                                      <m:sSub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𝑒𝑥𝑝𝑙𝑜𝑑𝑒𝑖</m:t>
                                        </m:r>
                                      </m:sub>
                                    </m:s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​+</m:t>
                                    </m:r>
                                    <m:sSub>
                                      <m:sSub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𝑒𝑓𝑓𝑒𝑐𝑡𝑖𝑣𝑒</m:t>
                                        </m:r>
                                      </m:sub>
                                    </m:s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​]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14300" marR="11430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表格 18"/>
              <p:cNvGraphicFramePr>
                <a:graphicFrameLocks noGrp="1"/>
              </p:cNvGraphicFramePr>
              <p:nvPr/>
            </p:nvGraphicFramePr>
            <p:xfrm>
              <a:off x="316090" y="5155143"/>
              <a:ext cx="6809145" cy="812864"/>
            </p:xfrm>
            <a:graphic>
              <a:graphicData uri="http://schemas.openxmlformats.org/drawingml/2006/table">
                <a:tbl>
                  <a:tblPr/>
                  <a:tblGrid>
                    <a:gridCol w="6809145"/>
                  </a:tblGrid>
                  <a:tr h="97663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4300" marR="11430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6040120" y="4660441"/>
                <a:ext cx="6453186" cy="19385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. 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eqArr>
                                <m:eqArr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&amp;0≤ 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𝑓𝑦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≤ 2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e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70&lt;</m:t>
                                      </m:r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𝑓𝑦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&lt;140</m:t>
                                  </m:r>
                                </m:e>
                                <m:e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&amp;0&lt;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𝑙𝑎𝑠𝑡𝑖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&amp;0&lt;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𝑒𝑥𝑝𝑙𝑜𝑑𝑒𝑖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&amp;∀ 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1, 2,3</m:t>
                                          </m:r>
                                        </m:e>
                                      </m:d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𝑒𝑥𝑝𝑙𝑜𝑑𝑒𝑖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𝑒𝑥𝑝𝑙𝑜𝑑𝑒𝑖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≥1</m:t>
                                  </m:r>
                                </m:e>
                                <m:e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&amp;∀ 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1, 2,3</m:t>
                                          </m:r>
                                        </m:e>
                                      </m:d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𝑙𝑎𝑠𝑡𝑖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𝑙𝑎𝑠𝑡𝑖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≥1</m:t>
                                  </m:r>
                                </m:e>
                              </m:eqAr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0120" y="4660441"/>
                <a:ext cx="6453186" cy="1938544"/>
              </a:xfrm>
              <a:prstGeom prst="rect">
                <a:avLst/>
              </a:prstGeom>
              <a:blipFill rotWithShape="1">
                <a:blip r:embed="rId7"/>
                <a:stretch>
                  <a:fillRect t="-9" r="5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 txBox="1"/>
          <p:nvPr/>
        </p:nvSpPr>
        <p:spPr>
          <a:xfrm>
            <a:off x="134620" y="182245"/>
            <a:ext cx="5511465" cy="676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</a:t>
            </a:r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模型建立与求解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494070" y="987050"/>
            <a:ext cx="2527425" cy="594134"/>
            <a:chOff x="825910" y="2762865"/>
            <a:chExt cx="1610464" cy="594134"/>
          </a:xfrm>
          <a:solidFill>
            <a:srgbClr val="C30A22"/>
          </a:solidFill>
        </p:grpSpPr>
        <p:sp>
          <p:nvSpPr>
            <p:cNvPr id="36" name="矩形: 圆角 35"/>
            <p:cNvSpPr/>
            <p:nvPr/>
          </p:nvSpPr>
          <p:spPr>
            <a:xfrm>
              <a:off x="825910" y="2762865"/>
              <a:ext cx="1610464" cy="594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899131" y="2829101"/>
              <a:ext cx="1537243" cy="459105"/>
            </a:xfrm>
            <a:prstGeom prst="rect">
              <a:avLst/>
            </a:prstGeom>
            <a:grp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问题三模型求解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94069" y="1709079"/>
            <a:ext cx="9592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代入控制参数、关键参数与约束条件，使用模拟退火算法求解，得到以下收敛曲线：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2674" y="2086136"/>
            <a:ext cx="6106651" cy="355616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474365" y="5804714"/>
            <a:ext cx="7545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可知，问题三</a:t>
            </a:r>
            <a:r>
              <a:rPr lang="zh-CN" altLang="zh-CN" sz="2000" dirty="0"/>
              <a:t>烟幕干扰弹对</a:t>
            </a:r>
            <a:r>
              <a:rPr lang="en-US" altLang="zh-CN" sz="2000" dirty="0"/>
              <a:t>M1</a:t>
            </a:r>
            <a:r>
              <a:rPr lang="zh-CN" altLang="zh-CN" sz="2000" dirty="0"/>
              <a:t>的</a:t>
            </a:r>
            <a:r>
              <a:rPr lang="zh-CN" altLang="en-US" sz="2000" dirty="0"/>
              <a:t>总</a:t>
            </a:r>
            <a:r>
              <a:rPr lang="zh-CN" altLang="zh-CN" sz="2000" dirty="0"/>
              <a:t>有效遮蔽时长最大为</a:t>
            </a:r>
            <a:r>
              <a:rPr lang="en-US" altLang="zh-CN" sz="2000" dirty="0"/>
              <a:t>6.300s</a:t>
            </a:r>
            <a:r>
              <a:rPr lang="zh-CN" altLang="en-US" sz="2000" dirty="0"/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 txBox="1"/>
          <p:nvPr/>
        </p:nvSpPr>
        <p:spPr>
          <a:xfrm>
            <a:off x="134620" y="182245"/>
            <a:ext cx="5511465" cy="676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</a:t>
            </a:r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模型建立与求解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494070" y="987050"/>
            <a:ext cx="2527425" cy="594134"/>
            <a:chOff x="825910" y="2762865"/>
            <a:chExt cx="1610464" cy="594134"/>
          </a:xfrm>
          <a:solidFill>
            <a:srgbClr val="C30A22"/>
          </a:solidFill>
        </p:grpSpPr>
        <p:sp>
          <p:nvSpPr>
            <p:cNvPr id="36" name="矩形: 圆角 35"/>
            <p:cNvSpPr/>
            <p:nvPr/>
          </p:nvSpPr>
          <p:spPr>
            <a:xfrm>
              <a:off x="825910" y="2762865"/>
              <a:ext cx="1610464" cy="594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899131" y="2829101"/>
              <a:ext cx="1537243" cy="459105"/>
            </a:xfrm>
            <a:prstGeom prst="rect">
              <a:avLst/>
            </a:prstGeom>
            <a:grp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问题四模型建立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94069" y="1709079"/>
            <a:ext cx="87830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设存在</a:t>
            </a:r>
            <a:r>
              <a:rPr lang="en-US" altLang="zh-CN" sz="2000" dirty="0"/>
              <a:t>j</a:t>
            </a:r>
            <a:r>
              <a:rPr lang="zh-CN" altLang="en-US" sz="2000" dirty="0"/>
              <a:t>架无人机，由问题三，可推导出多个烟幕中心的运动公式：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757782" y="2064596"/>
                <a:ext cx="9505951" cy="6685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𝑓𝑦𝑗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𝑓𝑦𝑗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𝑙𝑎𝑠𝑡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𝑓𝑦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𝑒𝑥𝑝𝑙𝑜𝑑𝑒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acc>
                            <m:accPr>
                              <m:chr m:val="⃗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sSup>
                            <m:s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𝑒𝑥𝑝𝑙𝑜𝑑𝑒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𝑒𝑥𝑝𝑙𝑜𝑑𝑒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782" y="2064596"/>
                <a:ext cx="9505951" cy="668516"/>
              </a:xfrm>
              <a:prstGeom prst="rect">
                <a:avLst/>
              </a:prstGeom>
              <a:blipFill rotWithShape="1">
                <a:blip r:embed="rId2"/>
                <a:stretch>
                  <a:fillRect l="-1" t="-32" r="1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494070" y="283387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遮蔽条件公式可优化为：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3542070" y="2733012"/>
                <a:ext cx="6096000" cy="6365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=1</m:t>
                      </m:r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𝑠𝑒𝑔</m:t>
                              </m:r>
                            </m:sub>
                            <m:sup>
                              <m:d>
                                <m:dPr>
                                  <m:sepChr m:val=",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p>
                          </m:sSubSup>
                          <m:d>
                            <m:d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2070" y="2733012"/>
                <a:ext cx="6096000" cy="636585"/>
              </a:xfrm>
              <a:prstGeom prst="rect">
                <a:avLst/>
              </a:prstGeom>
              <a:blipFill rotWithShape="1">
                <a:blip r:embed="rId3"/>
                <a:stretch>
                  <a:fillRect l="-1" t="-95" r="1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494070" y="3470360"/>
            <a:ext cx="3381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总有效遮蔽时长可表示为</a:t>
            </a:r>
            <a:r>
              <a:rPr lang="zh-CN" altLang="en-US" sz="2000" dirty="0"/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3743937" y="3429000"/>
                <a:ext cx="9144000" cy="4608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𝑎𝑙𝑙</m:t>
                        </m:r>
                      </m:sub>
                    </m:sSub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zh-CN" altLang="zh-CN" sz="20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𝑑𝑡</m:t>
                        </m:r>
                        <m: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≈</m:t>
                        </m:r>
                      </m:e>
                    </m:nary>
                    <m:nary>
                      <m:naryPr>
                        <m:chr m:val="∑"/>
                        <m:limLoc m:val="undOvr"/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</m:sup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zh-CN" altLang="zh-CN" sz="20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𝛥</m:t>
                        </m:r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nary>
                  </m:oMath>
                </a14:m>
                <a:r>
                  <a:rPr lang="en-US" altLang="zh-CN" sz="2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nary>
                      <m:naryPr>
                        <m:chr m:val="⋃"/>
                        <m:limLoc m:val="undOvr"/>
                        <m:supHide m:val="on"/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⋃"/>
                            <m:limLoc m:val="undOvr"/>
                            <m:ctrlPr>
                              <a:rPr lang="zh-CN" altLang="zh-CN" sz="20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p>
                          <m:e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zh-CN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𝑒𝑥𝑝𝑙𝑜𝑑𝑒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​,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zh-CN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𝑒𝑥𝑝𝑙𝑜𝑑𝑒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𝑒𝑓𝑓𝑒𝑐𝑡𝑖𝑣𝑒</m:t>
                                </m:r>
                              </m:sub>
                            </m:sSub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​]</m:t>
                            </m:r>
                          </m:e>
                        </m:nary>
                      </m:e>
                    </m:nary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937" y="3429000"/>
                <a:ext cx="9144000" cy="460895"/>
              </a:xfrm>
              <a:prstGeom prst="rect">
                <a:avLst/>
              </a:prstGeom>
              <a:blipFill rotWithShape="1">
                <a:blip r:embed="rId4"/>
                <a:stretch>
                  <a:fillRect l="-7" r="7" b="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494070" y="4126270"/>
            <a:ext cx="64531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/>
              <a:t>结合题目所给的约束条件，则有以下优化模型</a:t>
            </a:r>
            <a:r>
              <a:rPr lang="zh-CN" altLang="en-US" sz="2000" dirty="0"/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表格 16"/>
              <p:cNvGraphicFramePr>
                <a:graphicFrameLocks noGrp="1"/>
              </p:cNvGraphicFramePr>
              <p:nvPr/>
            </p:nvGraphicFramePr>
            <p:xfrm>
              <a:off x="363793" y="5148921"/>
              <a:ext cx="7167717" cy="812864"/>
            </p:xfrm>
            <a:graphic>
              <a:graphicData uri="http://schemas.openxmlformats.org/drawingml/2006/table">
                <a:tbl>
                  <a:tblPr/>
                  <a:tblGrid>
                    <a:gridCol w="71677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indent="12700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nary>
                                          <m:naryPr>
                                            <m:chr m:val="∑"/>
                                            <m:limLoc m:val="undOvr"/>
                                            <m:ctrlPr>
                                              <a:rPr 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 </m:t>
                                            </m:r>
                                          </m:sup>
                                          <m:e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zh-CN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𝑡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h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𝛥</m:t>
                                            </m:r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</m:nary>
                                      </m:e>
                                    </m:d>
                                  </m:e>
                                </m:func>
                                <m:r>
                                  <a:rPr lang="en-US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nary>
                                  <m:naryPr>
                                    <m:chr m:val="⋃"/>
                                    <m:limLoc m:val="undOvr"/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sup>
                                  <m:e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[</m:t>
                                    </m:r>
                                    <m:sSub>
                                      <m:sSub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𝑒𝑥𝑝𝑙𝑜𝑑𝑒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​,</m:t>
                                    </m:r>
                                    <m:sSub>
                                      <m:sSub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𝑒𝑥𝑝𝑙𝑜𝑑𝑒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​+</m:t>
                                    </m:r>
                                    <m:sSub>
                                      <m:sSub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𝑒𝑓𝑓𝑒𝑐𝑡𝑖𝑣𝑒</m:t>
                                        </m:r>
                                      </m:sub>
                                    </m:s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​]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14300" marR="11430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表格 16"/>
              <p:cNvGraphicFramePr>
                <a:graphicFrameLocks noGrp="1"/>
              </p:cNvGraphicFramePr>
              <p:nvPr/>
            </p:nvGraphicFramePr>
            <p:xfrm>
              <a:off x="363793" y="5148921"/>
              <a:ext cx="7167717" cy="812864"/>
            </p:xfrm>
            <a:graphic>
              <a:graphicData uri="http://schemas.openxmlformats.org/drawingml/2006/table">
                <a:tbl>
                  <a:tblPr/>
                  <a:tblGrid>
                    <a:gridCol w="7167717"/>
                  </a:tblGrid>
                  <a:tr h="97663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4300" marR="11430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5646085" y="4598389"/>
                <a:ext cx="6445044" cy="18966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. 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eqArr>
                                <m:eqArr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&amp;0≤ </m:t>
                                  </m:r>
                                  <m:sSub>
                                    <m:sSub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≤ 2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e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0">
                                          <a:latin typeface="Cambria Math" panose="02040503050406030204" pitchFamily="18" charset="0"/>
                                        </a:rPr>
                                        <m:t>70&lt;</m:t>
                                      </m:r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𝑓𝑦𝑗</m:t>
                                      </m:r>
                                    </m:sub>
                                  </m:sSub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&lt;140</m:t>
                                  </m:r>
                                </m:e>
                                <m:e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𝑙𝑎𝑠𝑡</m:t>
                                          </m:r>
                                        </m:sub>
                                      </m:sSub>
                                    </m:e>
                                    <m:sub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zh-CN" altLang="en-US" sz="20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＞</m:t>
                                  </m:r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𝑒𝑥𝑝𝑙𝑜𝑑𝑒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zh-CN" altLang="en-US" sz="2000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&gt;0</m:t>
                                  </m:r>
                                </m:e>
                                <m:e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sepChr m:val=","/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zh-CN" altLang="en-US" sz="2000" i="0">
                                          <a:latin typeface="Cambria Math" panose="02040503050406030204" pitchFamily="18" charset="0"/>
                                        </a:rPr>
                                        <m:t>2,3</m:t>
                                      </m:r>
                                    </m:e>
                                  </m:d>
                                </m:e>
                              </m:eqAr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6085" y="4598389"/>
                <a:ext cx="6445044" cy="1896673"/>
              </a:xfrm>
              <a:prstGeom prst="rect">
                <a:avLst/>
              </a:prstGeom>
              <a:blipFill rotWithShape="1">
                <a:blip r:embed="rId6"/>
                <a:stretch>
                  <a:fillRect l="-5" t="-19" r="1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 txBox="1"/>
          <p:nvPr/>
        </p:nvSpPr>
        <p:spPr>
          <a:xfrm>
            <a:off x="134620" y="182245"/>
            <a:ext cx="5511465" cy="676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</a:t>
            </a:r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模型建立与求解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494070" y="987050"/>
            <a:ext cx="2527425" cy="594134"/>
            <a:chOff x="825910" y="2762865"/>
            <a:chExt cx="1610464" cy="594134"/>
          </a:xfrm>
          <a:solidFill>
            <a:srgbClr val="C30A22"/>
          </a:solidFill>
        </p:grpSpPr>
        <p:sp>
          <p:nvSpPr>
            <p:cNvPr id="36" name="矩形: 圆角 35"/>
            <p:cNvSpPr/>
            <p:nvPr/>
          </p:nvSpPr>
          <p:spPr>
            <a:xfrm>
              <a:off x="825910" y="2762865"/>
              <a:ext cx="1610464" cy="594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899131" y="2829101"/>
              <a:ext cx="1537243" cy="459105"/>
            </a:xfrm>
            <a:prstGeom prst="rect">
              <a:avLst/>
            </a:prstGeom>
            <a:grp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问题四模型求解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08981" y="1734597"/>
            <a:ext cx="9592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代入控制参数、关键参数与约束条件，使用遗传算法求解，得到以下收敛曲线：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495" y="2134707"/>
            <a:ext cx="5803943" cy="367000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608981" y="5804714"/>
            <a:ext cx="7545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可知，问题四</a:t>
            </a:r>
            <a:r>
              <a:rPr lang="zh-CN" altLang="zh-CN" sz="2000" dirty="0"/>
              <a:t>烟幕干扰弹对</a:t>
            </a:r>
            <a:r>
              <a:rPr lang="en-US" altLang="zh-CN" sz="2000" dirty="0"/>
              <a:t>M1</a:t>
            </a:r>
            <a:r>
              <a:rPr lang="zh-CN" altLang="zh-CN" sz="2000" dirty="0"/>
              <a:t>的</a:t>
            </a:r>
            <a:r>
              <a:rPr lang="zh-CN" altLang="en-US" sz="2000" dirty="0"/>
              <a:t>总</a:t>
            </a:r>
            <a:r>
              <a:rPr lang="zh-CN" altLang="zh-CN" sz="2000" dirty="0"/>
              <a:t>有效遮蔽时长最大为</a:t>
            </a:r>
            <a:r>
              <a:rPr lang="en-US" altLang="zh-CN" sz="2000" dirty="0"/>
              <a:t>12.88s</a:t>
            </a:r>
            <a:r>
              <a:rPr lang="zh-CN" altLang="en-US" sz="2000" dirty="0"/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 txBox="1"/>
          <p:nvPr/>
        </p:nvSpPr>
        <p:spPr>
          <a:xfrm>
            <a:off x="134620" y="182245"/>
            <a:ext cx="5511465" cy="676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</a:t>
            </a:r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模型建立与求解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494070" y="987050"/>
            <a:ext cx="2527425" cy="594134"/>
            <a:chOff x="825910" y="2762865"/>
            <a:chExt cx="1610464" cy="594134"/>
          </a:xfrm>
          <a:solidFill>
            <a:srgbClr val="C30A22"/>
          </a:solidFill>
        </p:grpSpPr>
        <p:sp>
          <p:nvSpPr>
            <p:cNvPr id="36" name="矩形: 圆角 35"/>
            <p:cNvSpPr/>
            <p:nvPr/>
          </p:nvSpPr>
          <p:spPr>
            <a:xfrm>
              <a:off x="825910" y="2762865"/>
              <a:ext cx="1610464" cy="594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899131" y="2829101"/>
              <a:ext cx="1537243" cy="459105"/>
            </a:xfrm>
            <a:prstGeom prst="rect">
              <a:avLst/>
            </a:prstGeom>
            <a:grp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问题五模型建立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94070" y="170907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由问题四，可知多个烟幕中心的运动公式：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657350" y="2109189"/>
                <a:ext cx="9734550" cy="6685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𝑓𝑦𝑗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𝑓𝑦𝑗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𝑙𝑎𝑠𝑡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𝑓𝑦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𝑒𝑥𝑝𝑙𝑜𝑑𝑒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acc>
                            <m:accPr>
                              <m:chr m:val="⃗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sSup>
                            <m:s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𝑒𝑥𝑝𝑙𝑜𝑑𝑒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𝑒𝑥𝑝𝑙𝑜𝑑𝑒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350" y="2109189"/>
                <a:ext cx="9734550" cy="668516"/>
              </a:xfrm>
              <a:prstGeom prst="rect">
                <a:avLst/>
              </a:prstGeom>
              <a:blipFill rotWithShape="1">
                <a:blip r:embed="rId2"/>
                <a:stretch>
                  <a:fillRect t="-53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494070" y="2878468"/>
            <a:ext cx="6492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设存在</a:t>
            </a:r>
            <a:r>
              <a:rPr lang="en-US" altLang="zh-CN" sz="2000" dirty="0"/>
              <a:t>k</a:t>
            </a:r>
            <a:r>
              <a:rPr lang="zh-CN" altLang="en-US" sz="2000" dirty="0"/>
              <a:t>枚导弹，并将导弹的运动轨迹扩展到三维：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285750" y="3509602"/>
                <a:ext cx="6096000" cy="4374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𝑚𝑘</m:t>
                          </m:r>
                        </m:sub>
                      </m:sSub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𝑚𝑘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𝑚𝑘</m:t>
                          </m:r>
                        </m:sub>
                      </m:sSub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0" y="3509602"/>
                <a:ext cx="6096000" cy="437492"/>
              </a:xfrm>
              <a:prstGeom prst="rect">
                <a:avLst/>
              </a:prstGeom>
              <a:blipFill rotWithShape="1">
                <a:blip r:embed="rId3"/>
                <a:stretch>
                  <a:fillRect t="-135" b="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12"/>
              <p:cNvGraphicFramePr>
                <a:graphicFrameLocks noGrp="1"/>
              </p:cNvGraphicFramePr>
              <p:nvPr/>
            </p:nvGraphicFramePr>
            <p:xfrm>
              <a:off x="5324475" y="3429422"/>
              <a:ext cx="7162800" cy="646621"/>
            </p:xfrm>
            <a:graphic>
              <a:graphicData uri="http://schemas.openxmlformats.org/drawingml/2006/table">
                <a:tbl>
                  <a:tblPr/>
                  <a:tblGrid>
                    <a:gridCol w="7162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indent="12700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0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𝑚𝑘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𝑚𝑘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𝑚𝑘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i="1" kern="100" dirty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indent="12700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altLang="zh-CN" sz="20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zh-CN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𝑚𝑘</m:t>
                                    </m:r>
                                  </m:sub>
                                </m:sSub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𝑐𝑜𝑠</m:t>
                                    </m:r>
                                    <m:sSub>
                                      <m:sSub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𝑐𝑜𝑠</m:t>
                                    </m:r>
                                    <m:sSub>
                                      <m:sSub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𝑐𝑜𝑠</m:t>
                                    </m:r>
                                    <m:sSub>
                                      <m:sSub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𝑠𝑖𝑛</m:t>
                                    </m:r>
                                    <m:sSub>
                                      <m:sSub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𝑠𝑖𝑛</m:t>
                                    </m:r>
                                    <m:sSub>
                                      <m:sSub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14300" marR="11430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12"/>
              <p:cNvGraphicFramePr>
                <a:graphicFrameLocks noGrp="1"/>
              </p:cNvGraphicFramePr>
              <p:nvPr/>
            </p:nvGraphicFramePr>
            <p:xfrm>
              <a:off x="5324475" y="3429422"/>
              <a:ext cx="7162800" cy="646621"/>
            </p:xfrm>
            <a:graphic>
              <a:graphicData uri="http://schemas.openxmlformats.org/drawingml/2006/table">
                <a:tbl>
                  <a:tblPr/>
                  <a:tblGrid>
                    <a:gridCol w="7162800"/>
                  </a:tblGrid>
                  <a:tr h="6400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4300" marR="11430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5" name="文本框 14"/>
          <p:cNvSpPr txBox="1"/>
          <p:nvPr/>
        </p:nvSpPr>
        <p:spPr>
          <a:xfrm>
            <a:off x="494070" y="4307067"/>
            <a:ext cx="6243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遮蔽条件公式可优化为：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3402806" y="4212362"/>
                <a:ext cx="7265193" cy="644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=1</m:t>
                      </m:r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𝑠𝑒𝑔</m:t>
                              </m:r>
                            </m:sub>
                            <m:sup>
                              <m:d>
                                <m:dPr>
                                  <m:sepChr m:val=",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  <m:d>
                            <m:d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𝑚𝑘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806" y="4212362"/>
                <a:ext cx="7265193" cy="644472"/>
              </a:xfrm>
              <a:prstGeom prst="rect">
                <a:avLst/>
              </a:prstGeom>
              <a:blipFill rotWithShape="1">
                <a:blip r:embed="rId5"/>
                <a:stretch>
                  <a:fillRect l="-7" t="-63" r="9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/>
          <p:cNvSpPr txBox="1"/>
          <p:nvPr/>
        </p:nvSpPr>
        <p:spPr>
          <a:xfrm>
            <a:off x="494070" y="5216807"/>
            <a:ext cx="3381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总有效遮蔽时长可表示为</a:t>
            </a:r>
            <a:r>
              <a:rPr lang="zh-CN" altLang="en-US" sz="2000" dirty="0"/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1138817" y="5746442"/>
                <a:ext cx="8065293" cy="4608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𝑎𝑙𝑙</m:t>
                        </m:r>
                      </m:sub>
                    </m:sSub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zh-CN" altLang="zh-CN" sz="20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𝑑𝑡</m:t>
                        </m:r>
                        <m: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≈</m:t>
                        </m:r>
                      </m:e>
                    </m:nary>
                    <m:nary>
                      <m:naryPr>
                        <m:chr m:val="∑"/>
                        <m:limLoc m:val="undOvr"/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  <m:sup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</m:sup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zh-CN" altLang="zh-CN" sz="20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𝛥</m:t>
                        </m:r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nary>
                  </m:oMath>
                </a14:m>
                <a:r>
                  <a:rPr lang="en-US" altLang="zh-CN" sz="2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nary>
                      <m:naryPr>
                        <m:chr m:val="⋃"/>
                        <m:limLoc m:val="undOvr"/>
                        <m:supHide m:val="on"/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⋃"/>
                            <m:limLoc m:val="undOvr"/>
                            <m:ctrlPr>
                              <a:rPr lang="zh-CN" altLang="zh-CN" sz="20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p>
                          <m:e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zh-CN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𝑒𝑥𝑝𝑙𝑜𝑑𝑒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​,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zh-CN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𝑒𝑥𝑝𝑙𝑜𝑑𝑒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𝑒𝑓𝑓𝑒𝑐𝑡𝑖𝑣𝑒</m:t>
                                </m:r>
                              </m:sub>
                            </m:sSub>
                            <m:r>
                              <a:rPr lang="en-US" altLang="zh-CN" sz="20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​]</m:t>
                            </m:r>
                          </m:e>
                        </m:nary>
                      </m:e>
                    </m:nary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817" y="5746442"/>
                <a:ext cx="8065293" cy="460895"/>
              </a:xfrm>
              <a:prstGeom prst="rect">
                <a:avLst/>
              </a:prstGeom>
              <a:blipFill rotWithShape="1">
                <a:blip r:embed="rId6"/>
                <a:stretch>
                  <a:fillRect l="-3" t="-71" r="5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 txBox="1"/>
          <p:nvPr/>
        </p:nvSpPr>
        <p:spPr>
          <a:xfrm>
            <a:off x="134620" y="182245"/>
            <a:ext cx="5511465" cy="676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</a:t>
            </a:r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模型建立与求解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494070" y="987050"/>
            <a:ext cx="2527425" cy="594134"/>
            <a:chOff x="825910" y="2762865"/>
            <a:chExt cx="1610464" cy="594134"/>
          </a:xfrm>
          <a:solidFill>
            <a:srgbClr val="C30A22"/>
          </a:solidFill>
        </p:grpSpPr>
        <p:sp>
          <p:nvSpPr>
            <p:cNvPr id="36" name="矩形: 圆角 35"/>
            <p:cNvSpPr/>
            <p:nvPr/>
          </p:nvSpPr>
          <p:spPr>
            <a:xfrm>
              <a:off x="825910" y="2762865"/>
              <a:ext cx="1610464" cy="594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899131" y="2829101"/>
              <a:ext cx="1537243" cy="459105"/>
            </a:xfrm>
            <a:prstGeom prst="rect">
              <a:avLst/>
            </a:prstGeom>
            <a:grp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问题五模型建立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94070" y="1792645"/>
            <a:ext cx="64531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/>
              <a:t>结合题目所给的约束条件，则有以下优化模型</a:t>
            </a:r>
            <a:r>
              <a:rPr lang="zh-CN" altLang="en-US" sz="2000" dirty="0"/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/>
            </p:nvGraphicFramePr>
            <p:xfrm>
              <a:off x="2809875" y="2313381"/>
              <a:ext cx="7877175" cy="812864"/>
            </p:xfrm>
            <a:graphic>
              <a:graphicData uri="http://schemas.openxmlformats.org/drawingml/2006/table">
                <a:tbl>
                  <a:tblPr/>
                  <a:tblGrid>
                    <a:gridCol w="78771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indent="12700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nary>
                                          <m:naryPr>
                                            <m:chr m:val="∑"/>
                                            <m:limLoc m:val="undOvr"/>
                                            <m:ctrlPr>
                                              <a:rPr 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 </m:t>
                                            </m:r>
                                          </m:sup>
                                          <m:e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zh-CN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𝑡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h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𝛥</m:t>
                                            </m:r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</m:nary>
                                      </m:e>
                                    </m:d>
                                  </m:e>
                                </m:func>
                                <m:r>
                                  <a:rPr lang="en-US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nary>
                                  <m:naryPr>
                                    <m:chr m:val="⋃"/>
                                    <m:limLoc m:val="undOvr"/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sup>
                                  <m:e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[</m:t>
                                    </m:r>
                                    <m:sSub>
                                      <m:sSub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𝑒𝑥𝑝𝑙𝑜𝑑𝑒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​,</m:t>
                                    </m:r>
                                    <m:sSub>
                                      <m:sSub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𝑒𝑥𝑝𝑙𝑜𝑑𝑒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​+</m:t>
                                    </m:r>
                                    <m:sSub>
                                      <m:sSub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𝑒𝑓𝑓𝑒𝑐𝑡𝑖𝑣𝑒</m:t>
                                        </m:r>
                                      </m:sub>
                                    </m:sSub>
                                    <m:r>
                                      <a:rPr lang="en-US" sz="20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​]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14300" marR="11430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/>
            </p:nvGraphicFramePr>
            <p:xfrm>
              <a:off x="2809875" y="2313381"/>
              <a:ext cx="7877175" cy="812864"/>
            </p:xfrm>
            <a:graphic>
              <a:graphicData uri="http://schemas.openxmlformats.org/drawingml/2006/table">
                <a:tbl>
                  <a:tblPr/>
                  <a:tblGrid>
                    <a:gridCol w="7877175"/>
                  </a:tblGrid>
                  <a:tr h="97663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4300" marR="11430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3021495" y="3429000"/>
              <a:ext cx="6343651" cy="2914079"/>
            </p:xfrm>
            <a:graphic>
              <a:graphicData uri="http://schemas.openxmlformats.org/drawingml/2006/table">
                <a:tbl>
                  <a:tblPr/>
                  <a:tblGrid>
                    <a:gridCol w="634365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indent="12700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  <m:r>
                                  <a:rPr lang="en-US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r>
                                  <a:rPr lang="en-US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. 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eqArrPr>
                                      <m:e>
                                        <m:eqArr>
                                          <m:eqArrPr>
                                            <m:ctrlPr>
                                              <a:rPr 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≤</m:t>
                                            </m:r>
                                            <m:r>
                                              <a:rPr 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 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≤</m:t>
                                            </m:r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 2</m:t>
                                            </m:r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70&lt;</m:t>
                                                </m:r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𝑣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𝑓𝑦𝑗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&lt;140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zh-CN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𝑡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𝑙𝑎𝑠𝑡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sub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zh-CN" sz="2000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Cambria Math" panose="02040503050406030204" pitchFamily="18" charset="0"/>
                                              </a:rPr>
                                              <m:t>＞</m:t>
                                            </m:r>
                                            <m:r>
                                              <a:rPr lang="en-US" sz="2000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𝑡</m:t>
                                                </m:r>
                                              </m:e>
                                              <m:sub>
                                                <m:sSub>
                                                  <m:sSubPr>
                                                    <m:ctrlPr>
                                                      <a:rPr lang="zh-CN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𝑒𝑥𝑝𝑙𝑜𝑑𝑒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,</m:t>
                                                    </m:r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sub>
                                            </m:sSub>
                                            <m:r>
                                              <a:rPr lang="en-US" sz="2000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Cambria Math" panose="02040503050406030204" pitchFamily="18" charset="0"/>
                                              </a:rPr>
                                              <m:t>&gt;</m:t>
                                            </m:r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∀ </m:t>
                                            </m:r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等线" panose="02010600030101010101" pitchFamily="2" charset="-122"/>
                                                    <a:cs typeface="Cambria Math" panose="02040503050406030204" pitchFamily="18" charset="0"/>
                                                  </a:rPr>
                                                  <m:t>∈</m:t>
                                                </m:r>
                                                <m:d>
                                                  <m:dPr>
                                                    <m:begChr m:val="["/>
                                                    <m:endChr m:val="]"/>
                                                    <m:ctrlPr>
                                                      <a:rPr lang="zh-CN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等线" panose="02010600030101010101" pitchFamily="2" charset="-122"/>
                                                        <a:cs typeface="Cambria Math" panose="02040503050406030204" pitchFamily="18" charset="0"/>
                                                      </a:rPr>
                                                      <m:t>1, 2,3,4,5</m:t>
                                                    </m:r>
                                                  </m:e>
                                                </m:d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等线" panose="02010600030101010101" pitchFamily="2" charset="-122"/>
                                                    <a:cs typeface="Cambria Math" panose="02040503050406030204" pitchFamily="18" charset="0"/>
                                                  </a:rPr>
                                                  <m:t>, </m:t>
                                                </m:r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e>
                                              <m:sub>
                                                <m:sSub>
                                                  <m:sSubPr>
                                                    <m:ctrlPr>
                                                      <a:rPr lang="zh-CN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𝑒𝑥𝑝𝑙𝑜𝑑𝑒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+1,</m:t>
                                                    </m:r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sub>
                                            </m:sSub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𝑡</m:t>
                                                </m:r>
                                              </m:e>
                                              <m:sub>
                                                <m:sSub>
                                                  <m:sSubPr>
                                                    <m:ctrlPr>
                                                      <a:rPr lang="zh-CN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𝑒𝑥𝑝𝑙𝑜𝑑𝑒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,</m:t>
                                                    </m:r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sub>
                                            </m:sSub>
                                            <m:r>
                                              <a:rPr 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Cambria Math" panose="02040503050406030204" pitchFamily="18" charset="0"/>
                                              </a:rPr>
                                              <m:t>≥</m:t>
                                            </m:r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∀ </m:t>
                                            </m:r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等线" panose="02010600030101010101" pitchFamily="2" charset="-122"/>
                                                    <a:cs typeface="Cambria Math" panose="02040503050406030204" pitchFamily="18" charset="0"/>
                                                  </a:rPr>
                                                  <m:t>∈</m:t>
                                                </m:r>
                                                <m:d>
                                                  <m:dPr>
                                                    <m:begChr m:val="["/>
                                                    <m:endChr m:val="]"/>
                                                    <m:ctrlPr>
                                                      <a:rPr lang="zh-CN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等线" panose="02010600030101010101" pitchFamily="2" charset="-122"/>
                                                        <a:cs typeface="Cambria Math" panose="02040503050406030204" pitchFamily="18" charset="0"/>
                                                      </a:rPr>
                                                      <m:t>1, 2,3,4,5</m:t>
                                                    </m:r>
                                                  </m:e>
                                                </m:d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等线" panose="02010600030101010101" pitchFamily="2" charset="-122"/>
                                                    <a:cs typeface="Cambria Math" panose="02040503050406030204" pitchFamily="18" charset="0"/>
                                                  </a:rPr>
                                                  <m:t>, </m:t>
                                                </m:r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e>
                                              <m:sub>
                                                <m:sSub>
                                                  <m:sSubPr>
                                                    <m:ctrlPr>
                                                      <a:rPr lang="zh-CN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sSub>
                                                      <m:sSubPr>
                                                        <m:ctrlPr>
                                                          <a:rPr lang="zh-CN" sz="2000" i="1" kern="100"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  <a:cs typeface="Times New Roman" panose="020206030504050203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sz="2000" i="1" kern="100"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宋体" panose="02010600030101010101" pitchFamily="2" charset="-122"/>
                                                            <a:cs typeface="Times New Roman" panose="02020603050405020304" pitchFamily="18" charset="0"/>
                                                          </a:rPr>
                                                          <m:t>𝑡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2000" i="1" kern="100"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宋体" panose="02010600030101010101" pitchFamily="2" charset="-122"/>
                                                            <a:cs typeface="Times New Roman" panose="02020603050405020304" pitchFamily="18" charset="0"/>
                                                          </a:rPr>
                                                          <m:t>𝑙𝑎𝑠𝑡</m:t>
                                                        </m:r>
                                                      </m:sub>
                                                    </m:sSub>
                                                  </m:e>
                                                  <m:sub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+1,</m:t>
                                                    </m:r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sub>
                                            </m:sSub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zh-CN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𝑡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𝑙𝑎𝑠𝑡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sub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Cambria Math" panose="02040503050406030204" pitchFamily="18" charset="0"/>
                                              </a:rPr>
                                              <m:t>≥</m:t>
                                            </m:r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Cambria Math" panose="02040503050406030204" pitchFamily="18" charset="0"/>
                                              </a:rPr>
                                              <m:t>∈</m:t>
                                            </m:r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Cambria Math" panose="02040503050406030204" pitchFamily="18" charset="0"/>
                                                  </a:rPr>
                                                  <m:t>1,</m:t>
                                                </m:r>
                                                <m:r>
                                                  <a:rPr lang="en-US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等线" panose="02010600030101010101" pitchFamily="2" charset="-122"/>
                                                    <a:cs typeface="Cambria Math" panose="02040503050406030204" pitchFamily="18" charset="0"/>
                                                  </a:rPr>
                                                  <m:t>2,3</m:t>
                                                </m:r>
                                              </m:e>
                                            </m:d>
                                          </m:e>
                                          <m:e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Cambria Math" panose="02040503050406030204" pitchFamily="18" charset="0"/>
                                              </a:rPr>
                                              <m:t>∈</m:t>
                                            </m:r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[</m:t>
                                            </m:r>
                                            <m:r>
                                              <a:rPr lang="en-US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Cambria Math" panose="02040503050406030204" pitchFamily="18" charset="0"/>
                                              </a:rPr>
                                              <m:t>1,2,3]</m:t>
                                            </m:r>
                                          </m:e>
                                        </m:eqAr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zh-CN" sz="20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14300" marR="11430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3021495" y="3429000"/>
              <a:ext cx="6343651" cy="2924683"/>
            </p:xfrm>
            <a:graphic>
              <a:graphicData uri="http://schemas.openxmlformats.org/drawingml/2006/table">
                <a:tbl>
                  <a:tblPr/>
                  <a:tblGrid>
                    <a:gridCol w="6343651"/>
                  </a:tblGrid>
                  <a:tr h="284861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4300" marR="11430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 txBox="1"/>
          <p:nvPr/>
        </p:nvSpPr>
        <p:spPr>
          <a:xfrm>
            <a:off x="134620" y="182245"/>
            <a:ext cx="5511465" cy="676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</a:t>
            </a:r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模型建立与求解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494070" y="987050"/>
            <a:ext cx="2527425" cy="594134"/>
            <a:chOff x="825910" y="2762865"/>
            <a:chExt cx="1610464" cy="594134"/>
          </a:xfrm>
          <a:solidFill>
            <a:srgbClr val="C30A22"/>
          </a:solidFill>
        </p:grpSpPr>
        <p:sp>
          <p:nvSpPr>
            <p:cNvPr id="36" name="矩形: 圆角 35"/>
            <p:cNvSpPr/>
            <p:nvPr/>
          </p:nvSpPr>
          <p:spPr>
            <a:xfrm>
              <a:off x="825910" y="2762865"/>
              <a:ext cx="1610464" cy="594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899131" y="2829101"/>
              <a:ext cx="1537243" cy="459105"/>
            </a:xfrm>
            <a:prstGeom prst="rect">
              <a:avLst/>
            </a:prstGeom>
            <a:grp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问题五模型求解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08981" y="1734597"/>
            <a:ext cx="9592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代入控制参数、关键参数与约束条件，使用遗传算法求解，得到以下收敛曲线：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53290" y="5804714"/>
            <a:ext cx="8714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可知，问题五</a:t>
            </a:r>
            <a:r>
              <a:rPr lang="zh-CN" altLang="zh-CN" sz="2000" dirty="0"/>
              <a:t>烟幕干扰弹对</a:t>
            </a:r>
            <a:r>
              <a:rPr lang="zh-CN" altLang="en-US" sz="2000" dirty="0"/>
              <a:t>多枚导弹</a:t>
            </a:r>
            <a:r>
              <a:rPr lang="zh-CN" altLang="zh-CN" sz="2000" dirty="0"/>
              <a:t>的</a:t>
            </a:r>
            <a:r>
              <a:rPr lang="zh-CN" altLang="en-US" sz="2000" dirty="0"/>
              <a:t>总</a:t>
            </a:r>
            <a:r>
              <a:rPr lang="zh-CN" altLang="zh-CN" sz="2000" dirty="0"/>
              <a:t>有效遮蔽时长最大为</a:t>
            </a:r>
            <a:r>
              <a:rPr lang="en-US" altLang="zh-CN" sz="2000" dirty="0"/>
              <a:t>21.18s</a:t>
            </a:r>
            <a:r>
              <a:rPr lang="zh-CN" altLang="en-US" sz="2000" dirty="0"/>
              <a:t>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494" y="2169160"/>
            <a:ext cx="5856467" cy="3635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949575" y="2686050"/>
            <a:ext cx="9243060" cy="1543685"/>
          </a:xfrm>
          <a:prstGeom prst="rect">
            <a:avLst/>
          </a:prstGeom>
          <a:gradFill>
            <a:gsLst>
              <a:gs pos="36000">
                <a:srgbClr val="E54A5C">
                  <a:alpha val="60000"/>
                </a:srgbClr>
              </a:gs>
              <a:gs pos="100000">
                <a:schemeClr val="accent6">
                  <a:alpha val="100000"/>
                </a:schemeClr>
              </a:gs>
              <a:gs pos="100000">
                <a:srgbClr val="E54A5C">
                  <a:alpha val="100000"/>
                </a:srgbClr>
              </a:gs>
              <a:gs pos="100000">
                <a:schemeClr val="accent6">
                  <a:alpha val="10000"/>
                </a:schemeClr>
              </a:gs>
            </a:gsLst>
            <a:lin ang="108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C30A22"/>
          </a:solidFill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3075246" y="2820739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模型总结</a:t>
            </a:r>
          </a:p>
        </p:txBody>
      </p:sp>
      <p:sp>
        <p:nvSpPr>
          <p:cNvPr id="16" name="矩形 15"/>
          <p:cNvSpPr/>
          <p:nvPr/>
        </p:nvSpPr>
        <p:spPr>
          <a:xfrm>
            <a:off x="3075246" y="3642245"/>
            <a:ext cx="2100247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模型的分析 优缺点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494070" y="987050"/>
            <a:ext cx="1843613" cy="594134"/>
            <a:chOff x="825910" y="2762865"/>
            <a:chExt cx="1610464" cy="594134"/>
          </a:xfrm>
          <a:solidFill>
            <a:srgbClr val="C30A22"/>
          </a:solidFill>
        </p:grpSpPr>
        <p:sp>
          <p:nvSpPr>
            <p:cNvPr id="13" name="矩形: 圆角 12"/>
            <p:cNvSpPr/>
            <p:nvPr/>
          </p:nvSpPr>
          <p:spPr>
            <a:xfrm>
              <a:off x="825910" y="2762865"/>
              <a:ext cx="1610464" cy="594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99131" y="2829101"/>
              <a:ext cx="1537243" cy="461661"/>
            </a:xfrm>
            <a:prstGeom prst="rect">
              <a:avLst/>
            </a:prstGeom>
            <a:grp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灵敏度分析</a:t>
              </a:r>
            </a:p>
          </p:txBody>
        </p:sp>
      </p:grpSp>
      <p:sp>
        <p:nvSpPr>
          <p:cNvPr id="10" name="内容占位符 3"/>
          <p:cNvSpPr txBox="1"/>
          <p:nvPr/>
        </p:nvSpPr>
        <p:spPr>
          <a:xfrm>
            <a:off x="134621" y="182245"/>
            <a:ext cx="3570688" cy="676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</a:t>
            </a:r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模型总结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72801" y="1709079"/>
            <a:ext cx="11446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取问题二模型，将部分环境变量的初值上下连续波动</a:t>
            </a:r>
            <a:r>
              <a:rPr lang="en-US" altLang="zh-CN" sz="2000" dirty="0"/>
              <a:t>5%</a:t>
            </a:r>
            <a:r>
              <a:rPr lang="zh-CN" altLang="en-US" sz="2000" dirty="0"/>
              <a:t>，绘制它们</a:t>
            </a:r>
            <a:r>
              <a:rPr lang="zh-CN" altLang="zh-CN" sz="2000" dirty="0"/>
              <a:t>与有效遮蔽时间之间的示意图</a:t>
            </a:r>
            <a:r>
              <a:rPr lang="zh-CN" altLang="en-US" sz="2000" dirty="0"/>
              <a:t>：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995" y="2109189"/>
            <a:ext cx="5956007" cy="35228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文本框 16"/>
          <p:cNvSpPr txBox="1"/>
          <p:nvPr/>
        </p:nvSpPr>
        <p:spPr>
          <a:xfrm>
            <a:off x="372801" y="5804714"/>
            <a:ext cx="101472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>
                <a:effectLst/>
                <a:latin typeface="+mn-ea"/>
                <a:cs typeface="Times New Roman" panose="02020603050405020304" pitchFamily="18" charset="0"/>
              </a:rPr>
              <a:t>问题二</a:t>
            </a:r>
            <a:r>
              <a:rPr lang="zh-CN" altLang="en-US" sz="2000" dirty="0">
                <a:effectLst/>
                <a:latin typeface="+mn-ea"/>
                <a:cs typeface="Times New Roman" panose="02020603050405020304" pitchFamily="18" charset="0"/>
              </a:rPr>
              <a:t>对</a:t>
            </a:r>
            <a:r>
              <a:rPr lang="zh-CN" altLang="zh-CN" sz="2000" dirty="0">
                <a:effectLst/>
                <a:latin typeface="+mn-ea"/>
                <a:cs typeface="Times New Roman" panose="02020603050405020304" pitchFamily="18" charset="0"/>
              </a:rPr>
              <a:t>这三个参数的变化都较为敏感，其中导弹的速度会对有效遮蔽时间造成较大影响。</a:t>
            </a:r>
            <a:endParaRPr lang="en-US" altLang="zh-CN" sz="20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也反映模型具有较好的鲁棒性。</a:t>
            </a:r>
            <a:endParaRPr lang="zh-CN" altLang="en-US" sz="2000" dirty="0">
              <a:latin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2519083" y="2007117"/>
            <a:ext cx="7944448" cy="1946317"/>
          </a:xfrm>
          <a:prstGeom prst="rect">
            <a:avLst/>
          </a:prstGeom>
          <a:gradFill>
            <a:gsLst>
              <a:gs pos="36000">
                <a:srgbClr val="E54A5C">
                  <a:alpha val="60000"/>
                </a:srgbClr>
              </a:gs>
              <a:gs pos="100000">
                <a:schemeClr val="accent6">
                  <a:alpha val="100000"/>
                </a:schemeClr>
              </a:gs>
              <a:gs pos="100000">
                <a:srgbClr val="E54A5C">
                  <a:alpha val="100000"/>
                </a:srgbClr>
              </a:gs>
              <a:gs pos="100000">
                <a:schemeClr val="accent6">
                  <a:alpha val="10000"/>
                </a:schemeClr>
              </a:gs>
            </a:gsLst>
            <a:lin ang="108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>
            <a:off x="494070" y="987050"/>
            <a:ext cx="1843613" cy="594134"/>
            <a:chOff x="825910" y="2762865"/>
            <a:chExt cx="1610464" cy="594134"/>
          </a:xfrm>
          <a:solidFill>
            <a:srgbClr val="C30A22"/>
          </a:solidFill>
        </p:grpSpPr>
        <p:sp>
          <p:nvSpPr>
            <p:cNvPr id="13" name="矩形: 圆角 12"/>
            <p:cNvSpPr/>
            <p:nvPr>
              <p:custDataLst>
                <p:tags r:id="rId8"/>
              </p:custDataLst>
            </p:nvPr>
          </p:nvSpPr>
          <p:spPr>
            <a:xfrm>
              <a:off x="825910" y="2762865"/>
              <a:ext cx="1610464" cy="594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899131" y="2829101"/>
              <a:ext cx="1537243" cy="461661"/>
            </a:xfrm>
            <a:prstGeom prst="rect">
              <a:avLst/>
            </a:prstGeom>
            <a:grp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模型优缺点</a:t>
              </a:r>
            </a:p>
          </p:txBody>
        </p:sp>
      </p:grpSp>
      <p:sp>
        <p:nvSpPr>
          <p:cNvPr id="10" name="内容占位符 3"/>
          <p:cNvSpPr txBox="1"/>
          <p:nvPr/>
        </p:nvSpPr>
        <p:spPr>
          <a:xfrm>
            <a:off x="134621" y="182245"/>
            <a:ext cx="3570688" cy="676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</a:t>
            </a:r>
            <a:r>
              <a:rPr lang="zh-CN" altLang="en-US" sz="44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模型总结</a:t>
            </a:r>
          </a:p>
        </p:txBody>
      </p:sp>
      <p:grpSp>
        <p:nvGrpSpPr>
          <p:cNvPr id="5" name="组合 4"/>
          <p:cNvGrpSpPr/>
          <p:nvPr>
            <p:custDataLst>
              <p:tags r:id="rId2"/>
            </p:custDataLst>
          </p:nvPr>
        </p:nvGrpSpPr>
        <p:grpSpPr>
          <a:xfrm>
            <a:off x="644871" y="2423840"/>
            <a:ext cx="1542009" cy="594134"/>
            <a:chOff x="825910" y="2762865"/>
            <a:chExt cx="1610464" cy="594134"/>
          </a:xfrm>
          <a:solidFill>
            <a:srgbClr val="C30A22"/>
          </a:solidFill>
        </p:grpSpPr>
        <p:sp>
          <p:nvSpPr>
            <p:cNvPr id="6" name="矩形: 圆角 3"/>
            <p:cNvSpPr/>
            <p:nvPr>
              <p:custDataLst>
                <p:tags r:id="rId6"/>
              </p:custDataLst>
            </p:nvPr>
          </p:nvSpPr>
          <p:spPr>
            <a:xfrm>
              <a:off x="825910" y="2762865"/>
              <a:ext cx="1610464" cy="594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文本框 6"/>
            <p:cNvSpPr txBox="1"/>
            <p:nvPr>
              <p:custDataLst>
                <p:tags r:id="rId7"/>
              </p:custDataLst>
            </p:nvPr>
          </p:nvSpPr>
          <p:spPr>
            <a:xfrm>
              <a:off x="899131" y="2829101"/>
              <a:ext cx="1537243" cy="461661"/>
            </a:xfrm>
            <a:prstGeom prst="rect">
              <a:avLst/>
            </a:prstGeom>
            <a:grp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模型优点</a:t>
              </a:r>
            </a:p>
          </p:txBody>
        </p:sp>
      </p:grpSp>
      <p:grpSp>
        <p:nvGrpSpPr>
          <p:cNvPr id="8" name="组合 7"/>
          <p:cNvGrpSpPr/>
          <p:nvPr>
            <p:custDataLst>
              <p:tags r:id="rId3"/>
            </p:custDataLst>
          </p:nvPr>
        </p:nvGrpSpPr>
        <p:grpSpPr>
          <a:xfrm>
            <a:off x="644870" y="4998198"/>
            <a:ext cx="1542009" cy="594134"/>
            <a:chOff x="825910" y="2762865"/>
            <a:chExt cx="1610464" cy="594134"/>
          </a:xfrm>
          <a:solidFill>
            <a:srgbClr val="C30A22"/>
          </a:solidFill>
        </p:grpSpPr>
        <p:sp>
          <p:nvSpPr>
            <p:cNvPr id="9" name="矩形: 圆角 6"/>
            <p:cNvSpPr/>
            <p:nvPr>
              <p:custDataLst>
                <p:tags r:id="rId4"/>
              </p:custDataLst>
            </p:nvPr>
          </p:nvSpPr>
          <p:spPr>
            <a:xfrm>
              <a:off x="825910" y="2762865"/>
              <a:ext cx="1610464" cy="594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/>
            <p:cNvSpPr txBox="1"/>
            <p:nvPr>
              <p:custDataLst>
                <p:tags r:id="rId5"/>
              </p:custDataLst>
            </p:nvPr>
          </p:nvSpPr>
          <p:spPr>
            <a:xfrm>
              <a:off x="899131" y="2829101"/>
              <a:ext cx="1537243" cy="461661"/>
            </a:xfrm>
            <a:prstGeom prst="rect">
              <a:avLst/>
            </a:prstGeom>
            <a:grp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模型缺点</a:t>
              </a: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2625837" y="2014442"/>
            <a:ext cx="72275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模型具有较好的鲁棒性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模型统一，通用性强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考虑了实际物理约束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优化合理，结果可靠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模型简单灵活，具有较强的推广性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19083" y="4619173"/>
            <a:ext cx="7944448" cy="1946317"/>
          </a:xfrm>
          <a:prstGeom prst="rect">
            <a:avLst/>
          </a:prstGeom>
          <a:gradFill>
            <a:gsLst>
              <a:gs pos="36000">
                <a:srgbClr val="E54A5C">
                  <a:alpha val="60000"/>
                </a:srgbClr>
              </a:gs>
              <a:gs pos="100000">
                <a:schemeClr val="accent6">
                  <a:alpha val="100000"/>
                </a:schemeClr>
              </a:gs>
              <a:gs pos="100000">
                <a:srgbClr val="E54A5C">
                  <a:alpha val="100000"/>
                </a:srgbClr>
              </a:gs>
              <a:gs pos="100000">
                <a:schemeClr val="accent6">
                  <a:alpha val="10000"/>
                </a:schemeClr>
              </a:gs>
            </a:gsLst>
            <a:lin ang="108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625837" y="4619173"/>
            <a:ext cx="72275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忽略了空气阻力和风场影响</a:t>
            </a:r>
          </a:p>
          <a:p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缺乏多导弹协同攻击情况下的适应性</a:t>
            </a:r>
          </a:p>
          <a:p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有效判别条件不够深入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/>
      <p:bldP spid="21" grpId="1"/>
      <p:bldP spid="2" grpId="0" animBg="1"/>
      <p:bldP spid="2" grpId="1" animBg="1"/>
      <p:bldP spid="3" grpId="0"/>
      <p:bldP spid="3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0800000">
            <a:off x="0" y="-7"/>
            <a:ext cx="12192000" cy="2426618"/>
          </a:xfrm>
          <a:prstGeom prst="rect">
            <a:avLst/>
          </a:prstGeom>
          <a:solidFill>
            <a:srgbClr val="C30A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0800000">
            <a:off x="0" y="2493941"/>
            <a:ext cx="12192000" cy="70698"/>
          </a:xfrm>
          <a:prstGeom prst="rect">
            <a:avLst/>
          </a:prstGeom>
          <a:solidFill>
            <a:srgbClr val="C30A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604260" y="3034665"/>
            <a:ext cx="4888230" cy="1141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8800" b="1" dirty="0">
                <a:solidFill>
                  <a:srgbClr val="C30A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谢谢大家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23851" y="-24013"/>
            <a:ext cx="11544299" cy="3154706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>
            <a:defPPr>
              <a:defRPr lang="zh-CN"/>
            </a:defPPr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en-US" altLang="zh-CN" sz="19900" b="1" dirty="0">
                <a:solidFill>
                  <a:schemeClr val="bg1">
                    <a:alpha val="10000"/>
                  </a:schemeClr>
                </a:solidFill>
              </a:rPr>
              <a:t>THANKS</a:t>
            </a:r>
            <a:endParaRPr lang="zh-CN" altLang="en-US" sz="19900" b="1" dirty="0">
              <a:solidFill>
                <a:schemeClr val="bg1">
                  <a:alpha val="1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448800" y="6547365"/>
            <a:ext cx="2743200" cy="365125"/>
          </a:xfrm>
        </p:spPr>
        <p:txBody>
          <a:bodyPr/>
          <a:lstStyle/>
          <a:p>
            <a:fld id="{BFD5625F-B72A-45EC-8DC9-EB451D8EA7F9}" type="slidenum">
              <a:rPr lang="zh-CN" altLang="en-US" smtClean="0"/>
              <a:t>22</a:t>
            </a:fld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JiZGNlNTM4NzIyZjY1MDcyMDAyOTdlNTIxM2Q1Nz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6206299212599,&quot;left&quot;:38.90314960629921,&quot;top&quot;:77.72047244094487,&quot;width&quot;:145.166377952755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6206299212599,&quot;left&quot;:38.90314960629921,&quot;top&quot;:77.72047244094487,&quot;width&quot;:145.1663779527559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6206299212599,&quot;left&quot;:38.90314960629921,&quot;top&quot;:77.72047244094487,&quot;width&quot;:145.1663779527559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6206299212599,&quot;left&quot;:38.90314960629921,&quot;top&quot;:77.72047244094487,&quot;width&quot;:145.1663779527559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6206299212599,&quot;left&quot;:38.90314960629921,&quot;top&quot;:77.72047244094487,&quot;width&quot;:145.1663779527559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6206299212599,&quot;left&quot;:38.90314960629921,&quot;top&quot;:77.72047244094487,&quot;width&quot;:145.1663779527559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6206299212599,&quot;left&quot;:38.90314960629921,&quot;top&quot;:77.72047244094487,&quot;width&quot;:145.1663779527559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6206299212599,&quot;left&quot;:38.90314960629921,&quot;top&quot;:77.72047244094487,&quot;width&quot;:145.1663779527559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6206299212599,&quot;left&quot;:38.90314960629921,&quot;top&quot;:77.72047244094487,&quot;width&quot;:145.1663779527559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1287</Words>
  <Application>Microsoft Office PowerPoint</Application>
  <PresentationFormat>宽屏</PresentationFormat>
  <Paragraphs>161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Kozuka Gothic Pro M</vt:lpstr>
      <vt:lpstr>微软雅黑</vt:lpstr>
      <vt:lpstr>Arial</vt:lpstr>
      <vt:lpstr>Calibri</vt:lpstr>
      <vt:lpstr>Cambria Math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</dc:creator>
  <cp:lastModifiedBy>CY FH</cp:lastModifiedBy>
  <cp:revision>28</cp:revision>
  <dcterms:created xsi:type="dcterms:W3CDTF">2023-08-09T12:44:00Z</dcterms:created>
  <dcterms:modified xsi:type="dcterms:W3CDTF">2025-10-25T09:49:15Z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3C924E8884E5493780C9BB6F960EAE35_12</vt:lpwstr>
  </property>
</Properties>
</file>